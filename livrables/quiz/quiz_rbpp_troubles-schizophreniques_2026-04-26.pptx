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</p:sldIdLst>
  <p:notesMasterIdLst>
    <p:notesMasterId r:id="rId20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notesMaster" Target="notesMasters/notesMaster1.xml"/><Relationship Id="rId205" Type="http://schemas.openxmlformats.org/officeDocument/2006/relationships/presProps" Target="presProps.xml"/><Relationship Id="rId206" Type="http://schemas.openxmlformats.org/officeDocument/2006/relationships/viewProps" Target="viewProps.xml"/><Relationship Id="rId207" Type="http://schemas.openxmlformats.org/officeDocument/2006/relationships/theme" Target="theme/theme1.xml"/><Relationship Id="rId20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RBPP HAS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évaluation des troubles schizophréniques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— Adoptée le 8 avril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 QCM — Professionnels ESSMS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le 26 avril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4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mondiale de la schizophrénie selon la note de cadrage HAS 2026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0,43 % (23 millions)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1,2 % (86 millions)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0,1 % (7 millions)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2,0 % (154 millions)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mondiale de la schizophrénie selon la note de cadrage HAS 2026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0,43 % (23 millions)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touche environ 23 millions de personnes dans le monde, soit 0,43 % de la population.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100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28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personnes sont atteintes de schizophrénie en France selon les estimations HAS 2026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235 000 (3,7 ‰)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500 000 (7,5 ‰)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100 000 (1,5 ‰)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 million (15 ‰)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personnes sont atteintes de schizophrénie en France selon les estimations HAS 2026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235 000 (3,7 ‰)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235 000 personnes en France, soit 3,7 pour mille habitants.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/ 100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42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nombre de personnes reconnues en ALD (affection longue durée) psychiatrique pour la schizophrénie en France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294 000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150 000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500 000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80 000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nombre de personnes reconnues en ALD (affection longue durée) psychiatrique pour la schizophrénie en France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294 000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294 000 personnes sont reconnues en ALD pour la schizophrénie (données CNAMTS).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100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57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délai diagnostique (DUP) moyen pour la schizophrénie selon les méta-analyses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42,6 semaines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12 semaines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 semaines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104 semaines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délai diagnostique (DUP) moyen pour la schizophrénie selon les méta-analyses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42,6 semaines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DUP (Duration of Untreated Psychosis) moyen est de 42,6 semaines selon les méta-analyses.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100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71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l'enquête UNAFAM 2023, quelle proportion de personnes atteint de schizophrénie attend plus de 2 ans avant d'avoir un diagnostic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47 %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15 %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62 %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30 %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l'enquête UNAFAM 2023, quelle proportion de personnes atteint de schizophrénie attend plus de 2 ans avant d'avoir un diagnostic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47 %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 des personnes atteintes de schizophrénie attendent plus de 2 ans pour obtenir un diagnostic selon l'UNAFAM 2023.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/ 100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85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quelle proportion de cas la schizophrénie s'installe-t-elle de façon insidieuse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70 %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30 %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90 %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quelle proportion de cas la schizophrénie s'installe-t-elle de façon insidieuse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70 %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70 % des cas, l'installation de la schizophrénie est insidieuse, ce qui rend le diagnostic précoce difficile.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/ 100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00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sex-ratio pour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 fois plus fréquent chez les hommes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 fois plus fréquent chez les femmes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Identique chez les deux sexes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3 fois plus fréquent chez les femmes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sex-ratio pour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2 fois plus fréquent chez les hommes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est environ 2 fois plus fréquente chez les hommes, avec un début plus précoce.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/ 100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14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part du budget de l'Assurance Maladie la schizophrénie représente-t-elle en France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0,5 %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part du budget de l'Assurance Maladie la schizophrénie représente-t-elle en France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3 %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représente environ 3 % du budget de l'Assurance Maladie, un impact économique considérable.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/ 100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28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combien d'années l'espérance de vie est-elle réduite pour les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11 à 18 ans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 à 5 ans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25 à 30 ans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 à 3 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combien d'années l'espérance de vie est-elle réduite pour les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11 à 18 ans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 de vie est réduite de 11 à 18 ans par rapport à la population générale.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/ 100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43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taux de rémission à 20 ans pour la schizophrénie selon les données épidémiologiques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24,2 %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60 %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80 %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10 %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taux de rémission à 20 ans pour la schizophrénie selon les données épidémiologiques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24,2 %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24,2 % des personnes atteintes de schizophrénie sont en rémission à 20 ans d'évolution.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/ 100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257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de patients atteints de schizophrénie présente une résistance aux traitements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30 %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10 %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60 %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pourcentage de patients atteints de schizophrénie présente une résistance aux traitements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30 %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30 % des patients présentent une résistance thérapeutique aux antipsychotiques conventionnels.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/ 100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371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de décès par suicide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 à 13 %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&lt; 1 %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20 à 30 %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2 à 3 %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de décès par suicide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5 à 13 %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13 % des personnes atteintes de schizophrénie décèdent par suicide, nécessitant des protocoles de prévention rigoureux.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/ 100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485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étude française a fourni des données épidémiologiques importantes sur la schizophrénie citées dans la note de cadrage HAS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FACE-SZ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ETUDE-MH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PSYCH-FR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COHESION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étude française a fourni des données épidémiologiques importantes sur la schizophrénie citées dans la note de cadrage HAS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FACE-SZ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L'étude FACE-SZ (FondaMental Academic Centers of Excellence - Schizophrenia) a fourni des données épidémiologiques françaises.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/ 100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600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du syndrome métabolique chez les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41,3 %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10 %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25 %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60 %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prévalence du syndrome métabolique chez les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41,3 %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41,3 % des personnes atteintes de schizophrénie présentent un syndrome métabolique, une comorbidité majeure.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/ 100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714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du diabète de type 2 chez les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 2,15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OR 0,5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OR 5,0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OR 1,1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du diabète de type 2 chez les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OR 2,15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diabète de type 2 est 2,15 fois plus fréquent chez les personnes atteintes de schizophrénie (OR 2,15).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/ 100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828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à la consommation de cannabis pour le risque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 2,88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OR 0,5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OR 10,0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OR 1,2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à la consommation de cannabis pour le risque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OR 2,88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consommation de cannabis multiplie le risque de schizophrénie par 2,88 (OR 2,88 en méta-analyse).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/ 100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943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facteur environnemental présente un OR de 2,37 pour le risque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milieu urbain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pauvreté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tabagisme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sédentarité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facteur environnemental présente un OR de 2,37 pour le risque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 milieu urbain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Vivre en milieu urbain est associé à un odds ratio de 2,37 pour le développement de la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/ 100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057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au statut migratoire pour le risque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 2,22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OR 1,05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OR 4,5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OR 0,8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associé au statut migratoire pour le risque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OR 2,22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migrantes présentent un risque 2,22 fois plus élevé de développer une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/ 100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171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des traumatismes précoces (maltraitance, abus) pour le développement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 2,81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OR 1,3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OR 7,0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OR 0,6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l'odds ratio des traumatismes précoces (maltraitance, abus) pour le développement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OR 2,81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traumatismes précoces (maltraitance, abus) multiplient le risque par 2,81 (OR 2,81).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/ 100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286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l'héritabilité estimée de la schizophrénie selon les études de jumeaux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60 à 80 %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 à 10 %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30 à 40 %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90 à 99 %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l'héritabilité estimée de la schizophrénie selon les études de jumeaux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60 à 80 %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L'héritabilité de la schizophrénie est estimée entre 60 et 80 % selon les études de jumeaux.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/ 100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400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facteurs de risque suivants, lequel présente le plus haut odds ratio pour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Cannabis (OR 2,88)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Migration (OR 2,22)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Milieu urbain (OR 2,37)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Traumatismes (OR 2,81)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facteurs de risque suivants, lequel présente le plus haut odds ratio pour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Cannabis (OR 2,88)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facteurs environnementaux mesurés, le cannabis présente le plus haut OR (2,88).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/ 100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514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contexte les facteurs de risque environnementaux s'expriment-ils principalement selon la note de cadrage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Interaction avec une vulnérabilité génétique préexistante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Indépendamment de tout facteur génétique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en cas d'antécédents familiaux directs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Exclusivement pendant l'enfance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contexte les facteurs de risque environnementaux s'expriment-ils principalement selon la note de cadrage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Interaction avec une vulnérabilité génétique préexistante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facteurs environnementaux interagissent avec une vulnérabilité génétique préexistante (modèle stress-vulnérabilité).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/ 100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628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cannabis est le plus fortement associé au risque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Cannabis à haute teneur en THC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Cannabis à haute teneur en CBD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Cannabis thérapeutique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Tous les types de cannabis à égalité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type de cannabis est le plus fortement associé au risque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Cannabis à haute teneur en THC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cannabis à haute teneur en THC est le plus fortement associé au risque de psychose et de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/ 100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743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moment de la vie les traumatismes augmentent-ils le plus le risque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Durant l'enfance et l'adolescence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À l'âge adulte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Durant la grossesse de la mère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À la naissance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moment de la vie les traumatismes augmentent-ils le plus le risque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Durant l'enfance et l'adolescence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traumatismes survenant durant l'enfance et l'adolescence (période de développement cérébral) augmentent le plus le risque.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/ 100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857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terme désigne la période entre l'apparition des premiers symptômes et l'instauration du traitement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DUP (Duration of Untreated Psychosis)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DUP (Durée Unique de Psychose)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TAP (Temps Avant Prise en charge)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IPT (Intervalle Pre-Traitement)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terme désigne la période entre l'apparition des premiers symptômes et l'instauration du traitement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DUP (Duration of Untreated Psychosis)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= Duration of Untreated Psychosis, délai entre premiers symptômes psychotiques et début du traitement.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/ 100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971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milieu urbain est-il un facteur de risque pour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Stress social, isolement, densité, exposition à des substances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Pollution atmosphérique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Accès réduit aux soins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Bruit chronique seul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milieu urbain est-il un facteur de risque pour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Stress social, isolement, densité, exposition à des substances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milieu urbain cumule plusieurs facteurs : stress social, isolement relatif, densité de population, et exposition potentielle à des substances.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 / 100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086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ESSMS accompagnant des personnes atteintes de schizophrénie, quelle surveillance est prioritaire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Bilan métabolique (poids, glycémie, lipides) et prévention du risque suicidaire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Bilan neurologique annuel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Dépistage auditif annuel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Contrôle de la vue uniquement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ESSMS accompagnant des personnes atteintes de schizophrénie, quelle surveillance est prioritaire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Bilan métabolique (poids, glycémie, lipides) et prévention du risque suicidaire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syndrome métabolique (41,3 %) et le risque suicidaire (5-13 %) sont les priorités de surveillance en ESSMS.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 / 100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200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des symptômes 'positifs'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Ajouts pathologiques à l'expérience normale (hallucinations, délires)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Améliorations du fonctionnement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Comportements adaptatifs renforcés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Compétences sociales accrues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des symptômes 'positifs'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Ajouts pathologiques à l'expérience normale (hallucinations, délires)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positifs représentent des ajouts à l'expérience normale : hallucinations, idées délirantes, désorganisation.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 / 100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314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modalité d'hallucination est la plus fréquente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Hallucinations auditives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Hallucinations visuelles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Hallucinations tactiles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Hallucinations olfactives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modalité d'hallucination est la plus fréquente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Hallucinations auditives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hallucinations auditives (voix, bruits) sont de loin les plus fréquentes dans la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 / 100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429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l'anhédonie dans le cadre des symptômes négatifs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Réduction ou absence de capacité à ressentir du plaisir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Hallucinations agréables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Pensées intrusives positives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Comportement excessivement joyeux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l'anhédonie dans le cadre des symptômes négatifs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Réduction ou absence de capacité à ressentir du plaisir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L'anhédonie est la réduction ou l'absence de la capacité à ressentir du plaisir, un symptôme négatif central.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 / 100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543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l'alogie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Appauvrissement du discours et du contenu de pensée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Absence de langage due à une atteinte neurologique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Trouble de la mémoire des mots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Refus de parler par opposition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l'alogie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Appauvrissement du discours et du contenu de pensée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L'alogie est un symptôme négatif caractérisé par l'appauvrissement du discours et de la pensée.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 / 100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657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l'aboulie dans le contexte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Déficit de la motivation à initier des activités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Peur excessive de l'avenir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Agitation incontrôlable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Trouble de l'équilibre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l'aboulie dans le contexte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Déficit de la motivation à initier des activités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L'aboulie est un déficit de la motivation qui empêche d'initier et de maintenir des activités orientées vers un but.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 / 100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771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cognitifs de la schizophrénie concernent principalement quel domaine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Mémoire de travail, attention, fonctions exécutives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Mémoire procédurale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Intelligence générale (QI)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Mémoire autobiographique ancienne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cognitifs de la schizophrénie concernent principalement quel domaine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Mémoire de travail, attention, fonctions exécutives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déficits cognitifs touchent principalement la mémoire de travail, l'attention, la vitesse de traitement et les fonctions exécutives.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 / 100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3886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comportement catatonique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Immobilité ou agitation motrice extrême, postures rigides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Comportement répétitif adapté à la situation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Comportement impulsif lié à l'anxiété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Tics moteurs involontaires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comportement catatonique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Immobilité ou agitation motrice extrême, postures rigides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catatonie se manifeste par une immobilité motrice, des postures rigides, un négativisme ou une agitation extrême.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 / 100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000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les symptômes négatifs primaires et secondaires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Primaires : inhérents à la maladie ; secondaires : liés aux traitements, dépression ou contexte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Primaires : moins graves ; secondaires : plus invalidants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Primaires : apparus après, secondaires : apparus avant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Aucune distinction clinique reconnue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les symptômes négatifs primaires et secondaires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Primaires : inhérents à la maladie ; secondaires : liés aux traitements, dépression ou contexte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symptômes négatifs primaires sont intrinsèques à la maladie ; les secondaires résultent des effets des antipsychotiques, de la dépression ou de l'environnement appauvri.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 / 100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114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association de symptômes est la plus caractéristique d'un épisode psychotique aigu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Hallucinations auditives + idées délirantes + désorganisation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Dépression + anhédonie + insomnie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Anxiété + agitation + compulsions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Apathie + alogie + isolement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association de symptômes est la plus caractéristique d'un épisode psychotique aigu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Hallucinations auditives + idées délirantes + désorganisation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L'épisode psychotique aigu associe classiquement hallucinations auditives, idées délirantes et désorganisation formelle de la pensée.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 / 100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229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Qu'entend-on par 'désorganisation formelle de la pensée'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Rupture dans la logique du discours, coq-à-l'âne, néologismes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Pensées trop rapides et organisées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Pensées trop lentes et cohérentes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Absence totale de pensées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Qu'entend-on par 'désorganisation formelle de la pensée'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Rupture dans la logique du discours, coq-à-l'âne, néologismes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désorganisation formelle de la pensée se manifeste par une incohérence du discours, des digressions, des coq-à-l'âne, parfois des néologismes.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 / 100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343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schizophrénie affecte-t-elle le fonctionnement social des personnes accompagnées en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Retrait social, difficultés à maintenir des relations, perte d'emploi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Hyperactivité sociale compensatoire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Amélioration des relations intimes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Aucune atteinte du fonctionnement social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schizophrénie affecte-t-elle le fonctionnement social des personnes accompagnées en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Retrait social, difficultés à maintenir des relations, perte d'emploi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schizophrénie altère significativement le fonctionnement social : retrait, difficultés relationnelles, perte d'emploi, isolement.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 / 100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457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dimension de l'affect est souvent altérée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Expression émotionnelle aplatie ou inappropriée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Réponse émotionnelle exacerbée à tout stimulus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Incapacité totale à reconnaître les émotions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Hypersensibilité aux émotions positives uniquement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dimension de l'affect est souvent altérée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Expression émotionnelle aplatie ou inappropriée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 peut être émoussé (peu d'expression) ou inapproprié (décalé par rapport à la situation).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 / 100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572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standardisé est utilisé pour évaluer les symptômes positifs, négatifs et généraux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PANSS (Positive and Negative Syndrome Scale)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MMSE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GHQ-28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PHQ-9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standardisé est utilisé pour évaluer les symptômes positifs, négatifs et généraux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PANSS (Positive and Negative Syndrome Scale)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PANSS (Positive and Negative Syndrome Scale) évalue 30 items couvrant les symptômes positifs, négatifs et la psychopathologie générale.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 / 100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686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BNSS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Brief Negative Symptom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Brief Neuropsychological Screening Scale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Basic Neurological Symptom Score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Behavioral Negative Symptom Survey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l'acronyme BNSS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Brief Negative Symptom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= Brief Negative Symptom Scale, outil validé pour l'évaluation précise des symptômes négatifs de la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 / 100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800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la CAINS dans l'évaluation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Évaluer les symptômes négatifs (motivation et plaisir)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Évaluer les symptômes positifs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Mesurer le risque suicidaire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Évaluer les fonctions cognitives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la CAINS dans l'évaluation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Évaluer les symptômes négatifs (motivation et plaisir)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CAINS (Clinical Assessment Interview for Negative Symptoms) évalue spécifiquement les symptômes négatifs, notamment la motivation et le plaisir.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Q42 / 100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4914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d'entretien structuré est recommandé pour le diagnostic selon le DSM-5-TR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MINI (Mini International Neuropsychiatric Interview)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EGF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PSP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d'entretien structuré est recommandé pour le diagnostic selon le DSM-5-TR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MINI (Mini International Neuropsychiatric Interview)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 (Mini International Neuropsychiatric Interview) est un entretien structuré validé pour le diagnostic selon le DSM-5-TR et la CIM-11.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Q43 / 100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029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mesure le niveau global de fonctionnement en psychiatrie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EGF (Échelle Globale de Fonctionnement)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CGI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STORI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mesure le niveau global de fonctionnement en psychiatrie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EGF (Échelle Globale de Fonctionnement)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L'EGF (Échelle Globale de Fonctionnement) cote sur 100 le niveau de fonctionnement global de la personne (psychologique, social, professionnel).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Q44 / 100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143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PSP (Personal and Social Performance scale)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performances personnelles et sociales dans 4 domaines de vie quotidienne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symptômes positifs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risque de rechute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L'efficacité du traitement médicamenteux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PSP (Personal and Social Performance scale)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Les performances personnelles et sociales dans 4 domaines de vie quotidienne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PSP évalue le fonctionnement dans 4 domaines : activités sociales, relations personnelles/sociales, auto-soins, comportements perturbateurs.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 / 100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257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de l'outil STORI dans le cadre du rétablissement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Mesurer les stades de rétablissement personnel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Évaluer les symptômes positifs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Calculer la dose optimale d'antipsychotiques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Mesurer l'insight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de l'outil STORI dans le cadre du rétablissement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Mesurer les stades de rétablissement personnel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STORI (Stages of Recovery Instrument) identifie le stade de rétablissement de la personne (moratoire, sensibilisation, préparation, reconstruction, croissance).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Q46 / 100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372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la SERS dans l'évaluation des personnes en rétablissement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L'estime de soi et le sentiment d'efficacité personnelle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symptômes de résistance au traitement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sévérité des hallucinations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compliance médicamenteuse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la SERS dans l'évaluation des personnes en rétablissement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L'estime de soi et le sentiment d'efficacité personnelle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SERS (Self Esteem Rating Scale) mesure l'estime de soi, un indicateur du rétablissement psychosocial.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Q47 / 100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486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l'ISMI et à quoi sert cet outil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Internalized Stigma of Mental Illness — mesure la stigmatisation intériorisée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International Scale for Mental Illness — classification diagnostique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Index de Sévérité des Maladies Mentales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Indicateur de Suivi des Médicaments Injectables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l'ISMI et à quoi sert cet outil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Internalized Stigma of Mental Illness — mesure la stigmatisation intériorisée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L'ISMI mesure le niveau de stigmatisation intériorisée, indicateur clé pour le rétablissement identitaire.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Q48 / 100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600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permet à la personne elle-même d'évaluer sa qualité de vie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ELADEB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EGF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CGI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permet à la personne elle-même d'évaluer sa qualité de vie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ELADEB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L'ELADEB (Échelle Lausannoise d'Auto-évaluation des Difficultés et des Besoins) est un outil d'auto-évaluation permettant la parole de la personne sur sa propre qualité de vie.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Q49 / 100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715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le mini-Zarit dans le contexte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fardeau des proches aidants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fatigue des professionnels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effets secondaires des traitements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compliance du patient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 le mini-Zarit dans le contexte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 fardeau des proches aidants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mini-Zarit évalue le fardeau ressenti par les proches aidants de personnes atteintes de schizophrénie.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Q50 / 100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829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la résilience et les ressources des aidants familiaux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SCORE (échelle de résilience familiale)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EGF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STORI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la résilience et les ressources des aidants familiaux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SCORE (échelle de résilience familiale)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mesure les forces et la résilience du système familial autour de la personne accompagnée.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Q51 / 100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5943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CGI (Clinical Global Impression)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L'impression clinique globale sur la sévérité et l'amélioration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critères diagnostiques du DSM-5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niveau de fonctionnement social uniquement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compliance médicamenteuse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Qu'évalue la CGI (Clinical Global Impression)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L'impression clinique globale sur la sévérité et l'amélioration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CGI évalue l'impression clinique globale : sévérité de la maladie (CGI-S) et amélioration depuis le traitement (CGI-I).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Q52 / 100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057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positifs (hallucinations, délires) selon une grille structurée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SAPS (Scale for the Assessment of Positive Symptoms)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STORI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positifs (hallucinations, délires) selon une grille structurée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SAPS (Scale for the Assessment of Positive Symptoms)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SAPS (Scale for the Assessment of Positive Symptoms) évalue de façon structurée les hallucinations, délires, troubles formels de la pensée et comportements bizarres.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Q53 / 100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172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négatifs selon la classification d'Andreasen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SANS (Scale for the Assessment of Negative Symptoms)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CGI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PSP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évalue spécifiquement les symptômes négatifs selon la classification d'Andreasen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SANS (Scale for the Assessment of Negative Symptoms)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SANS (Scale for the Assessment of Negative Symptoms), développée par Andreasen, évalue les symptômes négatifs : alogie, anhédonie, avolition, affect émoussé, inattention.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Q54 / 100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286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classification diagnostique internationale est utilisée en Europe et recommandée par la HAS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CIM-11 (Classification Internationale des Maladies, 11e révision)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DSM-5-TR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CCMD-3 (classification chinoise)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ICD-9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classification diagnostique internationale est utilisée en Europe et recommandée par la HAS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CIM-11 (Classification Internationale des Maladies, 11e révision)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CIM-11 (OMS) est la classification internationale utilisée en Europe, aux côtés du DSM-5-TR utilisé en recherche.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Q55 / 100</a:t>
            </a:r>
            <a:endParaRPr lang="en-US" sz="13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400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FLII-11 est associé à quel outil dans la note de cadrage HAS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 MINI pour le diagnostic selon la CIM-11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À la PANSS pour les symptômes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À l'EGF pour le fonctionnement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À la PSP pour l'évaluation sociale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FLII-11 est associé à quel outil dans la note de cadrage HAS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Au MINI pour le diagnostic selon la CIM-11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FLII-11 (First-Line Interview for ICD-11) est mentionné avec le MINI comme outil d'entretien structuré pour le diagnostic selon la CIM-11.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Q56 / 100</a:t>
            </a:r>
            <a:endParaRPr lang="en-US" sz="13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515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l'utilisation d'une batterie standardisée d'évaluation est-elle particulièrement recommandée en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Lors de l'élaboration du projet personnalisé d'accompagnement (PPA)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Uniquement lors des épisodes aigus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Exclusivement lors des évaluations ARS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Lors de l'admission uniquement, jamais lors du suivi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l'utilisation d'une batterie standardisée d'évaluation est-elle particulièrement recommandée en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Lors de l'élaboration du projet personnalisé d'accompagnement (PPA)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d'évaluation standardisés doivent alimenter le PPA à son élaboration et lors de ses révisions annuelles.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Q57 / 100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629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5 stades du rétablissement identifiés par le STORI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Moratoire, sensibilisation, préparation, reconstruction, croissance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Déni, colère, marchandage, dépression, acceptation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Crise, stabilisation, réhabilitation, intégration, autonomie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Choc, réaction, mobilisation, intégration, adaptation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5 stades du rétablissement identifiés par le STORI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Moratoire, sensibilisation, préparation, reconstruction, croissance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STORI identifie 5 stades : moratoire (espoir absent), sensibilisation (prise de conscience), préparation, reconstruction (identité), croissance.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Q58 / 100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743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sont les 4 dimensions du rétablissement selon le modèle de la HAS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Espoir, identité positive, sens de la vie, responsabilité personnelle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Médication, hospitalisation, réhabilitation, autonomie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Symptômes, insight, compliance, socialisation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Logement, emploi, famille, soins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sont les 4 dimensions du rétablissement selon le modèle de la HAS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Espoir, identité positive, sens de la vie, responsabilité personnelle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s'appuie sur : espoir, construction d'une identité positive, sens donné à l'expérience, et prise de responsabilité personnelle.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Q59 / 100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858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l'insight en psychiatrie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conscience qu'a la personne d'être malade et de ses symptômes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capacité à résoudre des problèmes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L'intelligence émotionnelle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connaissance des traitements disponibles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l'insight en psychiatrie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La conscience qu'a la personne d'être malade et de ses symptômes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L'insight est la conscience de la maladie et de ses symptômes par la personne elle-même. Son déficit (anosognosie) complique l'adhésion au traitement.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Q60 / 100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6972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est recommandée pour les personnes présentant une anosognosie (absence d'insight)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Travail avec l'entourage et alliance thérapeutique progressive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Forcer la prise de médicaments sans explication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Ignorer l'absence d'insight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Augmenter les hospitalisations sans consentement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est recommandée pour les personnes présentant une anosognosie (absence d'insight)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Travail avec l'entourage et alliance thérapeutique progressive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L'anosognosie requiert un travail relationnel progressif, l'implication de l'entourage et une alliance thérapeutique patiente.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Q61 / 100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086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l'importance du projet personnalisé d'accompagnement (PPA) pour les personnes atteintes de schizophrénie en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Il intègre les outils d'évaluation standardisés et le soutien au rétablissement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Il se limite à la gestion des médicaments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Il remplace le suivi psychiatrique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Il est réservé aux personnes en rémission complète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l'importance du projet personnalisé d'accompagnement (PPA) pour les personnes atteintes de schizophrénie en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Il intègre les outils d'évaluation standardisés et le soutien au rétablissement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doit intégrer les évaluations standardisées et les objectifs de rétablissement (espoir, identité, sens, responsabilité).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Q62 / 100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200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peuvent-ils soutenir le rétablissement des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Accompagnement aux activités signifiantes, pair-aidance, habitat adapté, lien social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Surveillance médicale exclusive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Limitation des sorties pour la sécurité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Administration systématique de médicaments injectables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peuvent-ils soutenir le rétablissement des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Accompagnement aux activités signifiantes, pair-aidance, habitat adapté, lien social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passe par des activités signifiantes, la pair-aidance, un habitat adapté et le maintien du lien social.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Q63 / 100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315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pair-aidance dans le contexte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Soutien par des personnes ayant elles-mêmes vécu la maladie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Aide apportée par deux professionnels en binôme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Échanges entre proches aidants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Groupes animés par des infirmières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pair-aidance dans le contexte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Soutien par des personnes ayant elles-mêmes vécu la maladie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pair-aidance mobilise des personnes ayant vécu la maladie comme soutien et modèle d'espoir pour celles en cours de rétablissement.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Q64 / 100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429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UNAFAM dans le contexte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Association nationale de familles — source de données épidémiologiques et de plaidoyer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Institution hospitalière spécialisée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Agence gouvernementale de soins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École de formation des psychiatres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UNAFAM dans le contexte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Association nationale de familles — source de données épidémiologiques et de plaidoyer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L'UNAFAM est l'union nationale de familles et amis de personnes malades psychiques, qui a fourni des données d'enquête citées dans la note de cadrage (UNAFAM 2023).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Q65 / 100</a:t>
            </a:r>
            <a:endParaRPr lang="en-US" sz="13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543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réduction de la stigmatisation est-elle un enjeu en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stigmatisation intériorisée freine le rétablissement et l'accès aux soins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stigmatisation n'a pas d'impact sur le rétablissement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stigmatisation aide à distinguer les patients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stigmatisation est uniquement un problème social extérieur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réduction de la stigmatisation est-elle un enjeu en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La stigmatisation intériorisée freine le rétablissement et l'accès aux soins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stigmatisation intériorisée (mesurée par l'ISMI) réduit l'estime de soi, freine la demande de soins et compromet le rétablissement.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Q66 / 100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658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du rétablissement selon l'approche orientée rétablissement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Processus personnel de vie satisfaisante malgré les symptômes persistants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Absence totale de symptômes psychiatriques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Retour au fonctionnement pré-morbide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Arrêt des médicaments avec stabilisation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du rétablissement selon l'approche orientée rétablissement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Processus personnel de vie satisfaisante malgré les symptômes persistants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est un processus personnel (pas uniquement clinique) permettant de vivre une vie satisfaisante et digne malgré les symptômes.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Q67 / 100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772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professionnels d'ESSMS peuvent-ils soutenir l'estime de soi des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Valoriser les compétences, les réussites, les projets personnels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Mettre en avant la maladie et les limitations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Réduire toute prise de décision autonome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Éviter les responsabilités pour préserver la personne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professionnels d'ESSMS peuvent-ils soutenir l'estime de soi des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Valoriser les compétences, les réussites, les projets personnels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compétences et les petites réussites quotidiennes renforce l'estime de soi (mesurée par SERS) et soutient le rétablissement.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Q68 / 100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7886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réglementaire garantit le droit des personnes accompagnées en ESSMS à participer à l'élaboration de leur projet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Loi 2002-2 rénovant l'action sociale et médico-sociale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Loi Léonetti de 2005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Loi de 1838 sur l'aliénation mentale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Loi NOTRe de 2015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réglementaire garantit le droit des personnes accompagnées en ESSMS à participer à l'élaboration de leur projet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Loi 2002-2 rénovant l'action sociale et médico-sociale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2002-2 garantit le droit des personnes à participer à l'élaboration de leur projet personnalisé d'accompagnement.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Q69 / 100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001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RBPP et quel est son statut réglementaire pour les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Recommandation de Bonnes Pratiques Professionnelles — opposable dans le cadre des évaluations HAS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Règlement Budgétaire et de Pratiques Professionnelles — obligatoire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Référentiel de Base de Pratiques Pédagogiques — indicatif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Règles de Bonnes Pratiques Pharmaceutiques — réservé aux médecins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RBPP et quel est son statut réglementaire pour les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Recommandation de Bonnes Pratiques Professionnelles — opposable dans le cadre des évaluations HAS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sont des recommandations opposables lors des évaluations HAS des ESSMS depuis la réforme de l'évaluation 2021-2022.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Q70 / 100</a:t>
            </a:r>
            <a:endParaRPr lang="en-US" sz="13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115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d'adoption de la note de cadrage HAS sur les troubles schizophréniques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8 avril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8 avril 2025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8 janvier 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8 avril 2024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d'adoption de la note de cadrage HAS sur les troubles schizophréniques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8 avril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sur le diagnostic et l'évaluation des troubles schizophréniques a été adoptée le 8 avril 2026.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Q71 / 100</a:t>
            </a:r>
            <a:endParaRPr lang="en-US" sz="13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229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limite prévue pour la réception des commentaires lors de la consultation publique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Novembre 2027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Novembre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Janvier 2027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Mars 2028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date limite prévue pour la réception des commentaires lors de la consultation publique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Novembre 2027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précise une date limite de fin novembre 2027 pour la réception des commentaires dans le cadre de la participation publique.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Q72 / 100</a:t>
            </a:r>
            <a:endParaRPr lang="en-US" sz="13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343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principal de la note de cadrage HAS sur les troubles schizophréniques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Cadrer la future RBPP sur le diagnostic et l'évaluation — définir le périmètre et les questions clés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Remplacer immédiatement les pratiques actuelles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Définir un protocole de traitement médicamenteux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Réglementer le financement des structures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principal de la note de cadrage HAS sur les troubles schizophréniques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Cadrer la future RBPP sur le diagnostic et l'évaluation — définir le périmètre et les questions clés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définit le périmètre de la future recommandation, les questions clés et la méthode retenue.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Q73 / 100</a:t>
            </a:r>
            <a:endParaRPr lang="en-US" sz="13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458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produit les RBPP destinées aux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HAS (Haute Autorité de Santé)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DGCS (Direction Générale de la Cohésion Sociale)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CNSA (Caisse Nationale de Solidarité pour l'Autonomie)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ARS (Agence Régionale de Santé)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produit les RBPP destinées aux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HAS (Haute Autorité de Santé)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sont produites par la HAS depuis 2018, qui a repris cette mission de l'ANESM.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Q74 / 100</a:t>
            </a:r>
            <a:endParaRPr lang="en-US" sz="13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572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doivent-ils s'approprier une note de cadrage comme celle-ci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Anticiper dès maintenant l'évolution des pratiques pour être prêts lors de la publication de la RBPP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Attendre la publication de la RBPP pour agir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Ignorer les notes de cadrage car non opposables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Appliquer immédiatement la note comme si c'était une RBPP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ESSMS doivent-ils s'approprier une note de cadrage comme celle-ci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Anticiper dès maintenant l'évolution des pratiques pour être prêts lors de la publication de la RBPP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permet d'anticiper les évolutions et de préparer les équipes avant la publication officielle de la RBPP.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Q75 / 100</a:t>
            </a:r>
            <a:endParaRPr lang="en-US" sz="13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686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enjeu lié à SERAFIN-PH 2027 est particulièrement pertinent pour les ESSMS accompagnant des personnes atteintes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L'évaluation des besoins individuels fondée sur des outils standardisés (SERAFIN utilise une nomenclature besoins/réponses)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L'augmentation automatique des dotations financières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suppression des projets personnalisés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transfert de compétences aux ARS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enjeu lié à SERAFIN-PH 2027 est particulièrement pertinent pour les ESSMS accompagnant des personnes atteintes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L'évaluation des besoins individuels fondée sur des outils standardisés (SERAFIN utilise une nomenclature besoins/réponses)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SERAFIN-PH exige une évaluation fine des besoins individuels — les outils comme PSP, EGF, ELADEB s'inscrivent directement dans cette logique.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Q76 / 100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801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l'évaluation HAS des ESSMS, quels éléments en lien avec la schizophrénie sont examinés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Utilisation des RBPP, qualité des PPA, respect des droits, protocoles de gestion des crises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Uniquement les résultats des bilans médicaux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nombre d'hospitalisations évitées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compliance médicamenteuse des résidents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l'évaluation HAS des ESSMS, quels éléments en lien avec la schizophrénie sont examinés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Utilisation des RBPP, qualité des PPA, respect des droits, protocoles de gestion des crises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HAS examine l'application des RBPP, la qualité des PPA, le respect des droits et les protocoles de prévention de la maltraitance.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Q77 / 100</a:t>
            </a:r>
            <a:endParaRPr lang="en-US" sz="13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8915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de loi encadre les droits des personnes en soins psychiatriques sans consentement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Loi du 5 juillet 2011 modifiée en 2013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Loi 2002-2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Loi Jardé de 2012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Code de déontologie médicale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texte de loi encadre les droits des personnes en soins psychiatriques sans consentement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Loi du 5 juillet 2011 modifiée en 2013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5 juillet 2011 (modifiée en 2013) encadre les soins psychiatriques sans consentement : SPDT, SPDRE, mesures de surveillance.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Q78 / 100</a:t>
            </a:r>
            <a:endParaRPr lang="en-US" sz="13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029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du CASF (Code de l'Action Sociale et des Familles) vis-à-vis des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Cadre législatif organisant les droits des personnes et les obligations des établissements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Code applicable uniquement aux services financiers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Réglementation réservée aux établissements hospitaliers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Guide pédagogique non contraignant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du CASF (Code de l'Action Sociale et des Familles) vis-à-vis des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Cadre législatif organisant les droits des personnes et les obligations des établissements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CASF est le code de référence pour les ESSMS : droits des personnes, obligations des structures, autorisation, évaluation.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Q79 / 100</a:t>
            </a:r>
            <a:endParaRPr lang="en-US" sz="13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144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responsabilité du chef de service éducatif face à une note de cadrage HAS sur les troubles schizophréniques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Informer l'équipe, anticiper les besoins en formation, adapter les pratiques d'évaluation dans les PPA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 rien changer car ce n'est pas encore une RBPP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Transmettre uniquement à la direction sans suite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Appliquer immédiatement tous les outils cités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responsabilité du chef de service éducatif face à une note de cadrage HAS sur les troubles schizophréniques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Informer l'équipe, anticiper les besoins en formation, adapter les pratiques d'évaluation dans les PPA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de service doit informer l'équipe, identifier les besoins de formation et adapter progressivement les pratiques d'évaluation dans les PPA.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Q80 / 100</a:t>
            </a:r>
            <a:endParaRPr lang="en-US" sz="13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258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résident en ESSMS présente soudainement un discours incohérent et affirme entendre des voix. Quelle est la première étape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Contacter le psychiatre référent et sécuriser l'environnement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Administrer des médicaments de la dotation de garde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Signaler en AGEVAL et attendre la réunion d'équipe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Appeler directement le SAMU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résident en ESSMS présente soudainement un discours incohérent et affirme entendre des voix. Quelle est la première étape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Contacter le psychiatre référent et sécuriser l'environnement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étape est de contacter le psychiatre référent pour évaluation et de sécuriser l'environnement. L'AGEVAL sera rempli ensuite.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Q81 / 100</a:t>
            </a:r>
            <a:endParaRPr lang="en-US" sz="13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372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remarque qu'un résident se retire progressivement des activités et cesse de s'alimenter correctement. À quoi pense-t-on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Exacerbation des symptômes négatifs ou début de décompensation — alerter l'équipe soignante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Simple mauvaise humeur passagère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Besoin de changer d'activités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Problème d'intégration au groupe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remarque qu'un résident se retire progressivement des activités et cesse de s'alimenter correctement. À quoi pense-t-on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Exacerbation des symptômes négatifs ou début de décompensation — alerter l'équipe soignante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retrait progressif et l'anorexie peuvent signaler une exacerbation des symptômes négatifs ou une décompensation imminente — alerte de l'équipe soignante requise.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Q82 / 100</a:t>
            </a:r>
            <a:endParaRPr lang="en-US" sz="13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486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ESSMS, comment utiliser la PSP lors de la révision annuelle du PPA d'un résident atteint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Coter les 4 domaines avec la personne et l'équipe, objectiver les progrès et fixer des objectifs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Faire compléter par la personne seule sans guidance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L'utiliser uniquement en cas de crise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réserver au psychiatre lors des consultations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ESSMS, comment utiliser la PSP lors de la révision annuelle du PPA d'un résident atteint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Coter les 4 domaines avec la personne et l'équipe, objectiver les progrès et fixer des objectifs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PSP se cote en impliquant la personne et l'équipe, permettant d'objectiver les évolutions et de coconstruire les objectifs du PPA.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Q83 / 100</a:t>
            </a:r>
            <a:endParaRPr lang="en-US" sz="13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601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aidant familial exprime un épuisement lors d'un entretien. Quel outil d'évaluation peut être proposé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mini-Zarit (fardeau) et SCORE (résilience familiale)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PANSS (symptômes du proche)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EGF (fonctionnement du proche)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STORI (rétablissement de l'aidant)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aidant familial exprime un épuisement lors d'un entretien. Quel outil d'évaluation peut être proposé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mini-Zarit (fardeau) et SCORE (résilience familiale)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mini-Zarit évalue le fardeau de l'aidant, le SCORE évalue la résilience familiale. Les deux orientent les soutiens à mettre en place.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Q84 / 100</a:t>
            </a:r>
            <a:endParaRPr lang="en-US" sz="13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715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adapter la communication avec une personne atteinte de schizophrénie présentant des symptômes cognitifs importants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Phrases courtes, une consigne à la fois, répétition, supports visuels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Discours rapide pour maintenir l'attention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Communication uniquement par écrit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Éviter tout contact et laisser la personne seule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adapter la communication avec une personne atteinte de schizophrénie présentant des symptômes cognitifs importants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Phrases courtes, une consigne à la fois, répétition, supports visuels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déficits cognitifs requièrent une communication adaptée : phrases courtes, consignes simples et répétées, supports visuels.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Q85 / 100</a:t>
            </a:r>
            <a:endParaRPr lang="en-US" sz="13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829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 refus de traitement médicamenteux d'un résident atteint de schizophrénie, quelle posture adopter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Explorer les raisons du refus, dialoguer avec le psychiatre, soutenir l'alliance thérapeutique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Forcer l'administration sans explication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Ignorer le refus et ne pas le signaler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Appeler immédiatement les forces de l'ordre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 refus de traitement médicamenteux d'un résident atteint de schizophrénie, quelle posture adopter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Explorer les raisons du refus, dialoguer avec le psychiatre, soutenir l'alliance thérapeutique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refus de traitement nécessite une écoute des raisons, un dialogue avec le psychiatre référent et un travail sur l'alliance thérapeutique.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Q86 / 100</a:t>
            </a:r>
            <a:endParaRPr lang="en-US" sz="13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9944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est-il important de surveiller le poids et le tour de taille d'un résident atteint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Risque de syndrome métabolique (41,3 %) lié aux antipsychotiques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Obligation réglementaire sans lien avec la maladie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Prévention de la dénutrition uniquement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Critère d'admission à l'ALD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est-il important de surveiller le poids et le tour de taille d'un résident atteint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Risque de syndrome métabolique (41,3 %) lié aux antipsychotiques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favorisent le syndrome métabolique. La surveillance du poids et du tour de taille fait partie du suivi somatique recommandé.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Q87 / 100</a:t>
            </a:r>
            <a:endParaRPr lang="en-US" sz="13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058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la notion de rétablissement dans les activités quotidiennes d'un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Proposer des activités signifiantes choisies par la personne, valoriser les compétences, soutenir les projets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Imposer un programme d'activités standardisé à tous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Limiter les activités pour éviter les échecs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Réserver les activités aux personnes en rémission totale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la notion de rétablissement dans les activités quotidiennes d'un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Proposer des activités signifiantes choisies par la personne, valoriser les compétences, soutenir les projets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rétablissement se soutient en laissant la personne choisir des activités signifiantes, en valorisant ses compétences et en accompagnant ses projets.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Q88 / 100</a:t>
            </a:r>
            <a:endParaRPr lang="en-US" sz="13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172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ESSMS est le plus directement impacté par les outils d'évaluation recommandés dans la note de cadrage HAS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Projet Personnalisé d'Accompagnement (PPA)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règlement de fonctionnement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rapport d'activité annuel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budget prévisionnel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document ESSMS est le plus directement impacté par les outils d'évaluation recommandés dans la note de cadrage HAS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 Projet Personnalisé d'Accompagnement (PPA)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est l'outil central qui doit intégrer les évaluations standardisées (PSP, EGF, ELADEB, STORI...) pour personnaliser l'accompagnement.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Q89 / 100</a:t>
            </a:r>
            <a:endParaRPr lang="en-US" sz="13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287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l'autodétermination (RBPP HAS), quel principe doit guider l'accompagnement d'une personne atteinte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Respecter ses choix et décisions même imparfaits, en l'accompagnant dans les risques calculés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Prendre toutes les décisions à sa place pour la protéger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Limiter ses sorties et ses contacts sociaux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Ne pas l'informer de son diagnostic pour éviter la stigmatisation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l'autodétermination (RBPP HAS), quel principe doit guider l'accompagnement d'une personne atteinte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Respecter ses choix et décisions même imparfaits, en l'accompagnant dans les risques calculés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(RBPP HAS 2022) implique de respecter les choix de la personne et de l'accompagner dans des prises de risques calculées et consenties.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Q90 / 100</a:t>
            </a:r>
            <a:endParaRPr lang="en-US" sz="13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Q91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4013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traitement médicamenteux est la pierre angulaire du traitement de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antipsychotiques (neuroleptiques)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anxiolytiques benzodiazépines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antidépresseurs ISRS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thymorégulateurs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traitement médicamenteux est la pierre angulaire du traitement de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Les antipsychotiques (neuroleptiques)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antipsychotiques sont le traitement de référence de la schizophrénie, agissant principalement sur les récepteurs dopaminergiques.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Q91 / 100</a:t>
            </a:r>
            <a:endParaRPr lang="en-US" sz="13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Q92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5156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traitement antipsychotique de longue action (TALA)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Injection retard mensuelle ou bimestrielle évitant les oublis de comprimés quotidiens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Traitement oral pris une fois par semaine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Perfusion intraveineuse quotidienne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Patch cutané renouvelé chaque jour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traitement antipsychotique de longue action (TALA)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Injection retard mensuelle ou bimestrielle évitant les oublis de comprimés quotidiens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TALA (injectables retard) permettent d'éviter les oublis de traitement oral, améliorant l'observance et réduisant les rechutes.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Q92 / 100</a:t>
            </a:r>
            <a:endParaRPr lang="en-US" sz="13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Q93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6299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critère définit la résistance thérapeutique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Persistance des symptômes malgré deux essais d'antipsychotiques bien conduits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Refus de prendre les médicaments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Intolérance aux effets secondaires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Impossibilité de prendre des médicaments oraux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critère définit la résistance thérapeutique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Persistance des symptômes malgré deux essais d'antipsychotiques bien conduits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résistance thérapeutique est définie par la persistance des symptômes malgré au moins deux essais d'antipsychotiques à doses adéquates et durée suffisante.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Q93 / 100</a:t>
            </a:r>
            <a:endParaRPr lang="en-US" sz="13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Q94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7442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médicament est recommandé en cas de résistance thérapeutique avérée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clozapine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rispéridone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L'halopéridol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quetiapine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médicament est recommandé en cas de résistance thérapeutique avérée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La clozapine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clozapine est le seul antipsychotique ayant prouvé son efficacité dans les schizophrénies résistantes, mais nécessite une surveillance hématologique.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Q94 / 100</a:t>
            </a:r>
            <a:endParaRPr lang="en-US" sz="13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Q95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8585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dehors des médicaments, quelles approches non médicamenteuses sont recommandées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Remédiation cognitive, psychoéducation, thérapies cognitivo-comportementales (TCC), entraînement aux habiletés sociales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Hypnose seule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Isolement sensoriel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Régimes alimentaires spécifiques uniquement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dehors des médicaments, quelles approches non médicamenteuses sont recommandées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Remédiation cognitive, psychoéducation, thérapies cognitivo-comportementales (TCC), entraînement aux habiletés sociales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interventions non médicamenteuses incluent : remédiation cognitive, psychoéducation (patient et famille), TCC, entraînement aux habiletés sociales.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Q95 / 100</a:t>
            </a:r>
            <a:endParaRPr lang="en-US" sz="13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Q96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09728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psychoéducation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Programme structuré d'information de la personne et de ses proches sur la maladie et les traitements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Formation des professionnels en psychiatrie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Enseignement scolaire adapté aux personnes malades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Programme de relaxation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psychoéducation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Programme structuré d'information de la personne et de ses proches sur la maladie et les traitements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psychoéducation est un programme structuré permettant à la personne et ses proches de mieux comprendre la maladie, ses traitements et d'améliorer la gestion des symptômes.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Q96 / 100</a:t>
            </a:r>
            <a:endParaRPr lang="en-US" sz="13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Q97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0871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remédiation cognitive dans la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Rééducation des fonctions cognitives affectées (mémoire, attention, fonctions exécutives)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Suppression des médicaments cognitifs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Traitement chirurgical des troubles cognitifs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Apprentissage de techniques de mémorisation uniquement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remédiation cognitive dans la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Rééducation des fonctions cognitives affectées (mémoire, attention, fonctions exécutives)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remédiation cognitive est une intervention structurée visant à améliorer les performances cognitives (mémoire, attention, flexibilité) par des exercices répétés.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Q97 / 100</a:t>
            </a:r>
            <a:endParaRPr lang="en-US" sz="13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Q98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2014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des professionnels ESSMS dans le suivi médicamenteux des résidents atteints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Observer la prise, signaler les oublis et effets secondaires au psychiatre, ne pas modifier les prescriptions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Modifier les doses selon l'état de la personne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Arrêter le traitement si la personne va mieux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Remplacer le psychiatre dans les décisions médicales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des professionnels ESSMS dans le suivi médicamenteux des résidents atteints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Observer la prise, signaler les oublis et effets secondaires au psychiatre, ne pas modifier les prescriptions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ESSMS observent la prise, signalent oublis et effets secondaires, mais ne modifient jamais les prescriptions médicales.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Q98 / 100</a:t>
            </a:r>
            <a:endParaRPr lang="en-US" sz="13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Q99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3157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signes doivent alerter sur une décompensation imminente chez un résident atteint de schizophrénie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Insomnie, irritabilité, retrait social, discours incohérent, comportements inhabituels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Amélioration soudaine de l'humeur et de l'énergie uniquement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Augmentation de l'appétit seule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signe précurseur n'est identifiable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signes doivent alerter sur une décompensation imminente chez un résident atteint de schizophrénie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Insomnie, irritabilité, retrait social, discours incohérent, comportements inhabituels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signes précurseurs de décompensation incluent : insomnie, irritabilité, retrait, discours incohérent, comportements inhabituels.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Q99 / 100</a:t>
            </a:r>
            <a:endParaRPr lang="en-US" sz="13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Q100 / 100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11430000" cy="73152"/>
          </a:xfrm>
          <a:prstGeom prst="rect">
            <a:avLst/>
          </a:prstGeom>
          <a:solidFill>
            <a:srgbClr val="00FF99"/>
          </a:solidFill>
          <a:ln w="127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continuité des soins psychiatriques est-elle particulièrement cruciale pour les personnes atteintes de schizophrénie en ESSMS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ruptures de soins augmentent le risque de rechute, d'hospitalisation et de décompensation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5000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continuité des soins est uniquement un confort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rechutes sont sans danger si brèves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E4A80"/>
          </a:solidFill>
          <a:ln w="12700">
            <a:solidFill>
              <a:srgbClr val="3A6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médication est facultative en période de stabilité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Voir slide suivante pour la réponse</a:t>
            </a:r>
            <a:endParaRPr lang="en-US" sz="13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Q100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continuité des soins psychiatriques est-elle particulièrement cruciale pour les personnes atteintes de schizophrénie en ESSMS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868680"/>
          </a:xfrm>
          <a:prstGeom prst="roundRect">
            <a:avLst>
              <a:gd name="adj" fmla="val 7368"/>
            </a:avLst>
          </a:prstGeom>
          <a:solidFill>
            <a:srgbClr val="0B2B50"/>
          </a:solidFill>
          <a:ln w="25400">
            <a:solidFill>
              <a:srgbClr val="00F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A. Les ruptures de soins augmentent le risque de rechute, d'hospitalisation et de décompensation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Explication 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 de soins sont la principale cause de rechute et d'hospitalisation psychiatrique. La continuité du lien thérapeutique est protectrice.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0" y="420624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Q100 / 100</a:t>
            </a:r>
            <a:endParaRPr lang="en-US" sz="13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terminé 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 sur le diagnostic et l'évaluation des troubles schizophréniques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Note de cadrage HAS — Adoptée le 8 avril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le 26 avril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202</Slides>
  <Notes>202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202</vt:i4>
      </vt:variant>
    </vt:vector>
  </HeadingPairs>
  <TitlesOfParts>
    <vt:vector size="2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2026-04-26T13:21:18Z</dcterms:created>
  <dcterms:modified xsi:type="dcterms:W3CDTF">2026-04-26T13:21:18Z</dcterms:modified>
</cp:coreProperties>
</file>