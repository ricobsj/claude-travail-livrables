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Lst>
  <p:notesMasterIdLst>
    <p:notesMasterId r:id="rId2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notesMaster" Target="notesMasters/notesMaster1.xml"/><Relationship Id="rId218" Type="http://schemas.openxmlformats.org/officeDocument/2006/relationships/presProps" Target="presProps.xml"/><Relationship Id="rId219" Type="http://schemas.openxmlformats.org/officeDocument/2006/relationships/viewProps" Target="viewProps.xml"/><Relationship Id="rId220" Type="http://schemas.openxmlformats.org/officeDocument/2006/relationships/theme" Target="theme/theme1.xml"/><Relationship Id="rId2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8321040" y="0"/>
            <a:ext cx="3840480" cy="6858000"/>
          </a:xfrm>
          <a:prstGeom prst="rect">
            <a:avLst/>
          </a:prstGeom>
          <a:solidFill>
            <a:srgbClr val="7B61FF">
              <a:alpha val="20000"/>
            </a:srgbClr>
          </a:solidFill>
          <a:ln w="12700">
            <a:solidFill>
              <a:srgbClr val="7B61FF">
                <a:alpha val="20000"/>
              </a:srgbClr>
            </a:solidFill>
            <a:prstDash val="solid"/>
          </a:ln>
        </p:spPr>
      </p:sp>
      <p:sp>
        <p:nvSpPr>
          <p:cNvPr id="3" name="Shape 1"/>
          <p:cNvSpPr/>
          <p:nvPr/>
        </p:nvSpPr>
        <p:spPr>
          <a:xfrm>
            <a:off x="8686800" y="-548640"/>
            <a:ext cx="2926080" cy="2926080"/>
          </a:xfrm>
          <a:prstGeom prst="ellipse">
            <a:avLst/>
          </a:prstGeom>
          <a:solidFill>
            <a:srgbClr val="7B61FF">
              <a:alpha val="35000"/>
            </a:srgbClr>
          </a:solidFill>
          <a:ln w="12700">
            <a:solidFill>
              <a:srgbClr val="7B61FF">
                <a:alpha val="35000"/>
              </a:srgbClr>
            </a:solidFill>
            <a:prstDash val="solid"/>
          </a:ln>
        </p:spPr>
      </p:sp>
      <p:sp>
        <p:nvSpPr>
          <p:cNvPr id="4" name="Shape 2"/>
          <p:cNvSpPr/>
          <p:nvPr/>
        </p:nvSpPr>
        <p:spPr>
          <a:xfrm>
            <a:off x="9875520" y="4572000"/>
            <a:ext cx="2560320" cy="2560320"/>
          </a:xfrm>
          <a:prstGeom prst="ellipse">
            <a:avLst/>
          </a:prstGeom>
          <a:solidFill>
            <a:srgbClr val="F9C846">
              <a:alpha val="30000"/>
            </a:srgbClr>
          </a:solidFill>
          <a:ln w="12700">
            <a:solidFill>
              <a:srgbClr val="F9C846">
                <a:alpha val="30000"/>
              </a:srgbClr>
            </a:solidFill>
            <a:prstDash val="solid"/>
          </a:ln>
        </p:spPr>
      </p:sp>
      <p:sp>
        <p:nvSpPr>
          <p:cNvPr id="5" name="Shape 3"/>
          <p:cNvSpPr/>
          <p:nvPr/>
        </p:nvSpPr>
        <p:spPr>
          <a:xfrm>
            <a:off x="-365760" y="5029200"/>
            <a:ext cx="2011680" cy="2011680"/>
          </a:xfrm>
          <a:prstGeom prst="ellipse">
            <a:avLst/>
          </a:prstGeom>
          <a:solidFill>
            <a:srgbClr val="F9C846">
              <a:alpha val="25000"/>
            </a:srgbClr>
          </a:solidFill>
          <a:ln w="12700">
            <a:solidFill>
              <a:srgbClr val="F9C846">
                <a:alpha val="25000"/>
              </a:srgbClr>
            </a:solidFill>
            <a:prstDash val="solid"/>
          </a:ln>
        </p:spPr>
      </p:sp>
      <p:sp>
        <p:nvSpPr>
          <p:cNvPr id="6" name="Shape 4"/>
          <p:cNvSpPr/>
          <p:nvPr/>
        </p:nvSpPr>
        <p:spPr>
          <a:xfrm>
            <a:off x="548640" y="3063240"/>
            <a:ext cx="6858000" cy="0"/>
          </a:xfrm>
          <a:prstGeom prst="line">
            <a:avLst/>
          </a:prstGeom>
          <a:noFill/>
          <a:ln w="25400">
            <a:solidFill>
              <a:srgbClr val="F9C846"/>
            </a:solidFill>
            <a:prstDash val="solid"/>
          </a:ln>
        </p:spPr>
      </p:sp>
      <p:sp>
        <p:nvSpPr>
          <p:cNvPr id="7" name="Shape 5"/>
          <p:cNvSpPr/>
          <p:nvPr/>
        </p:nvSpPr>
        <p:spPr>
          <a:xfrm>
            <a:off x="548640" y="1234440"/>
            <a:ext cx="3291840" cy="438912"/>
          </a:xfrm>
          <a:prstGeom prst="roundRect">
            <a:avLst>
              <a:gd name="adj" fmla="val 20833"/>
            </a:avLst>
          </a:prstGeom>
          <a:solidFill>
            <a:srgbClr val="7B61FF"/>
          </a:solidFill>
          <a:ln w="12700">
            <a:solidFill>
              <a:srgbClr val="7B61FF"/>
            </a:solidFill>
            <a:prstDash val="solid"/>
          </a:ln>
        </p:spPr>
      </p:sp>
      <p:sp>
        <p:nvSpPr>
          <p:cNvPr id="8" name="Text 6"/>
          <p:cNvSpPr/>
          <p:nvPr/>
        </p:nvSpPr>
        <p:spPr>
          <a:xfrm>
            <a:off x="548640" y="1234440"/>
            <a:ext cx="329184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CNT · Compétences Non Techniques — HAS 2026</a:t>
            </a:r>
            <a:endParaRPr lang="en-US" sz="1300" dirty="0"/>
          </a:p>
        </p:txBody>
      </p:sp>
      <p:sp>
        <p:nvSpPr>
          <p:cNvPr id="9" name="Text 7"/>
          <p:cNvSpPr/>
          <p:nvPr/>
        </p:nvSpPr>
        <p:spPr>
          <a:xfrm>
            <a:off x="548640" y="1755648"/>
            <a:ext cx="7772400" cy="11887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Compétences Non Techniques</a:t>
            </a:r>
            <a:endParaRPr lang="en-US" sz="3400" dirty="0"/>
          </a:p>
        </p:txBody>
      </p:sp>
      <p:sp>
        <p:nvSpPr>
          <p:cNvPr id="10" name="Text 8"/>
          <p:cNvSpPr/>
          <p:nvPr/>
        </p:nvSpPr>
        <p:spPr>
          <a:xfrm>
            <a:off x="548640" y="2944368"/>
            <a:ext cx="7498080" cy="548640"/>
          </a:xfrm>
          <a:prstGeom prst="rect">
            <a:avLst/>
          </a:prstGeom>
          <a:noFill/>
          <a:ln/>
        </p:spPr>
        <p:txBody>
          <a:bodyPr wrap="square" lIns="0" tIns="0" rIns="0" bIns="0" rtlCol="0" anchor="ctr"/>
          <a:lstStyle/>
          <a:p>
            <a:pPr indent="0" marL="0">
              <a:buNone/>
            </a:pPr>
            <a:r>
              <a:rPr lang="en-US" sz="1700" dirty="0">
                <a:solidFill>
                  <a:srgbClr val="7B61FF"/>
                </a:solidFill>
                <a:latin typeface="Calibri" pitchFamily="34" charset="0"/>
                <a:ea typeface="Calibri" pitchFamily="34" charset="-122"/>
                <a:cs typeface="Calibri" pitchFamily="34" charset="-120"/>
              </a:rPr>
              <a:t>Référentiel de formation interprofessionnelle — HAS &amp; FHS 2026</a:t>
            </a:r>
            <a:endParaRPr lang="en-US" sz="1700" dirty="0"/>
          </a:p>
        </p:txBody>
      </p:sp>
      <p:sp>
        <p:nvSpPr>
          <p:cNvPr id="11" name="Text 9"/>
          <p:cNvSpPr/>
          <p:nvPr/>
        </p:nvSpPr>
        <p:spPr>
          <a:xfrm>
            <a:off x="548640" y="3657600"/>
            <a:ext cx="7315200" cy="640080"/>
          </a:xfrm>
          <a:prstGeom prst="rect">
            <a:avLst/>
          </a:prstGeom>
          <a:noFill/>
          <a:ln/>
        </p:spPr>
        <p:txBody>
          <a:bodyPr wrap="square" lIns="0" tIns="0" rIns="0" bIns="0" rtlCol="0" anchor="ctr"/>
          <a:lstStyle/>
          <a:p>
            <a:pPr indent="0" marL="0">
              <a:buNone/>
            </a:pPr>
            <a:r>
              <a:rPr lang="en-US" sz="2800" b="1" dirty="0">
                <a:solidFill>
                  <a:srgbClr val="F9C846"/>
                </a:solidFill>
                <a:latin typeface="Calibri" pitchFamily="34" charset="0"/>
                <a:ea typeface="Calibri" pitchFamily="34" charset="-122"/>
                <a:cs typeface="Calibri" pitchFamily="34" charset="-120"/>
              </a:rPr>
              <a:t>107 questions</a:t>
            </a:r>
            <a:pPr indent="0" marL="0">
              <a:buNone/>
            </a:pPr>
            <a:r>
              <a:rPr lang="en-US" sz="1400" dirty="0">
                <a:solidFill>
                  <a:srgbClr val="8B8EC8"/>
                </a:solidFill>
                <a:latin typeface="Calibri" pitchFamily="34" charset="0"/>
                <a:ea typeface="Calibri" pitchFamily="34" charset="-122"/>
                <a:cs typeface="Calibri" pitchFamily="34" charset="-120"/>
              </a:rPr>
              <a:t>  Niveau professionnel de santé</a:t>
            </a:r>
            <a:endParaRPr lang="en-US" sz="2800" dirty="0"/>
          </a:p>
        </p:txBody>
      </p:sp>
      <p:sp>
        <p:nvSpPr>
          <p:cNvPr id="12" name="Text 10"/>
          <p:cNvSpPr/>
          <p:nvPr/>
        </p:nvSpPr>
        <p:spPr>
          <a:xfrm>
            <a:off x="548640" y="5074920"/>
            <a:ext cx="7315200" cy="365760"/>
          </a:xfrm>
          <a:prstGeom prst="rect">
            <a:avLst/>
          </a:prstGeom>
          <a:noFill/>
          <a:ln/>
        </p:spPr>
        <p:txBody>
          <a:bodyPr wrap="square" lIns="0" tIns="0" rIns="0" bIns="0" rtlCol="0" anchor="ctr"/>
          <a:lstStyle/>
          <a:p>
            <a:pPr indent="0" marL="0">
              <a:buNone/>
            </a:pPr>
            <a:r>
              <a:rPr lang="en-US" sz="1100" i="1" dirty="0">
                <a:solidFill>
                  <a:srgbClr val="8B8EC8"/>
                </a:solidFill>
                <a:latin typeface="Calibri" pitchFamily="34" charset="0"/>
                <a:ea typeface="Calibri" pitchFamily="34" charset="-122"/>
                <a:cs typeface="Calibri" pitchFamily="34" charset="-120"/>
              </a:rPr>
              <a:t>Source : Référentiel HAS/Facteurs humains en santé — Compétences Non Techniques, 2026</a:t>
            </a:r>
            <a:endParaRPr lang="en-US" sz="1100" dirty="0"/>
          </a:p>
        </p:txBody>
      </p:sp>
      <p:sp>
        <p:nvSpPr>
          <p:cNvPr id="13" name="Shape 11"/>
          <p:cNvSpPr/>
          <p:nvPr/>
        </p:nvSpPr>
        <p:spPr>
          <a:xfrm>
            <a:off x="548640" y="5760720"/>
            <a:ext cx="347472" cy="347472"/>
          </a:xfrm>
          <a:prstGeom prst="ellipse">
            <a:avLst/>
          </a:prstGeom>
          <a:solidFill>
            <a:srgbClr val="7B61FF"/>
          </a:solidFill>
          <a:ln w="12700">
            <a:solidFill>
              <a:srgbClr val="7B61FF"/>
            </a:solidFill>
            <a:prstDash val="solid"/>
          </a:ln>
        </p:spPr>
      </p:sp>
      <p:sp>
        <p:nvSpPr>
          <p:cNvPr id="14" name="Shape 12"/>
          <p:cNvSpPr/>
          <p:nvPr/>
        </p:nvSpPr>
        <p:spPr>
          <a:xfrm>
            <a:off x="1051560" y="5760720"/>
            <a:ext cx="347472" cy="347472"/>
          </a:xfrm>
          <a:prstGeom prst="ellipse">
            <a:avLst/>
          </a:prstGeom>
          <a:solidFill>
            <a:srgbClr val="F9C846"/>
          </a:solidFill>
          <a:ln w="12700">
            <a:solidFill>
              <a:srgbClr val="F9C846"/>
            </a:solidFill>
            <a:prstDash val="solid"/>
          </a:ln>
        </p:spPr>
      </p:sp>
      <p:sp>
        <p:nvSpPr>
          <p:cNvPr id="15" name="Shape 13"/>
          <p:cNvSpPr/>
          <p:nvPr/>
        </p:nvSpPr>
        <p:spPr>
          <a:xfrm>
            <a:off x="1554480" y="5760720"/>
            <a:ext cx="347472" cy="347472"/>
          </a:xfrm>
          <a:prstGeom prst="ellipse">
            <a:avLst/>
          </a:prstGeom>
          <a:solidFill>
            <a:srgbClr val="FF6B9D"/>
          </a:solidFill>
          <a:ln w="12700">
            <a:solidFill>
              <a:srgbClr val="FF6B9D"/>
            </a:solidFill>
            <a:prstDash val="solid"/>
          </a:ln>
        </p:spPr>
      </p:sp>
      <p:sp>
        <p:nvSpPr>
          <p:cNvPr id="16" name="Shape 14"/>
          <p:cNvSpPr/>
          <p:nvPr/>
        </p:nvSpPr>
        <p:spPr>
          <a:xfrm>
            <a:off x="2057400" y="5760720"/>
            <a:ext cx="347472" cy="347472"/>
          </a:xfrm>
          <a:prstGeom prst="ellipse">
            <a:avLst/>
          </a:prstGeom>
          <a:solidFill>
            <a:srgbClr val="3DD9C5"/>
          </a:solidFill>
          <a:ln w="12700">
            <a:solidFill>
              <a:srgbClr val="3DD9C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l'acronyme CNT dans ce référentiel HAS 2026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Contrôle Non Technique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Compétences Non Techniques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Coordination Nécessaire au Travail</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Capacités Neuro-Transversales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Compétences Non Techniques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référentiel HAS 2026 utilise l'expression « compétences non techniques » (CNT) par cohérence avec la littérature internationale (Non-Technical Skills – NTS). Elles désignent des ressources cognitives, sociales et personnelles mobilisées au service de l'action professionnelle.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ce référentiel, les CNT sont à considérer strictement comme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diplômes spécialisés en communication</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ressources cognitives, sociales et personnelles mobilisées dans l'action professionnelle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protocoles de soins standardisés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formations certifiantes obligatoires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Des ressources cognitives, sociales et personnelles mobilisées dans l'action professionnelle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CNT ne sont pas des compétences isolées mais des ressources transversales mobilisées simultanément dans des situations réelles de soins. Elles sont interdépendantes et indissociables des dimensions techniques.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organisme a co-promu ce référentiel avec la HAS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DGOS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L'ANACT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L'association Facteurs humains en santé</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L'ANAES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L'association Facteurs humains en santé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a été co-piloté par la HAS (service SEVOQSS) et l'association Facteurs humains en santé, co-pilotage Dr Régis Fuzier et Mme Yasmine Sami.</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Dans quelle industrie est née la notion de compétences non techniques (NTS)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L'industrie nucléaire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L'aéronautique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chimie industrielle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secteur ferroviaire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L'aéronautique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L'émergence de la notion de « compétences non techniques » (Non-Technical Skills – NTS) est fortement liée à l'aéronautique, notamment à la prise de conscience que de nombreux accidents n'étaient pas dus à des défaillances techniques mais humaines et organisationnelles.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CNT doivent-elles être enseignées de manière isolée, fiche par fiche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pour garantir une évaluation précise de chaque compétence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elles sont toujours mobilisées conjointement dans les situations réelles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en formation initiale uniquement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seulement en formation continue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elles sont toujours mobilisées conjointement dans les situations réelles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référentiel précise que les fiches sont des entrées thématiques didactiques, non une invitation à enseigner chaque CNT isolément. Dans la réalité des soins, plusieurs CNT sont toujours mobilisées de façon conjointe et indissociable des dimensions techniques.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À qui s'adresse principalement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Aux patients uniquement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Aux structures souhaitant intégrer des programmes de formation sur les CNT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Aux directeurs d'établissements exclusivement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Aux médecins spécialistes en formation initiale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Aux structures souhaitant intégrer des programmes de formation sur les CNT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s'adresse aux structures et organisations souhaitant intégrer des programmes de formation sur les CNT. Il concerne tous les professionnels de santé, étudiants, patients partenaires et encadrants.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date de validation de ce référentiel par le Collège de la HAS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15 janvier 2026</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2 avril 2026</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1er mars 2025</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12 juin 2026</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 avril 2026</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référentiel de compétences en facteurs humains a été validé par le Collège de la HAS le 2 avril 2026, dans le cadre d'une co-production avec l'association Facteurs humains en santé.</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finalité première du développement des CNT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Réduire les coûts de formation</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Améliorer la qualité, la sécurité des soins et le bien-être des professionnels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Standardiser les pratiques cliniques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Remplacer les compétences techniques par des compétences relationnelles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Améliorer la qualité, la sécurité des soins et le bien-être des professionnels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Travailler sur les CNT est un levier pour améliorer la qualité, la sécurité, la fiabilité des soins ET le bien-être des professionnels. Performance des soins et bien-être des soignants sont indissociables selon ce référentiel.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l'acronyme FOH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Formation aux Outils Hospitaliers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Facteurs Organisationnels et Humains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Fonctions Opérationnelles Hospitalières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Fédération des Organisations de Soins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Facteurs Organisationnels et Humains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FOH regroupent l'ensemble des éléments qui influencent les performances humaines dans un système de travail. Ils considèrent que l'erreur est inévitable et que ses conséquences peuvent être prévenues en agissant sur les situations, l'organisation et les collectifs.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les FOH, quel est le principe fondamental concernant l'erreur humaine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L'erreur est le signe d'une incompétence individuelle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L'erreur est inévitable, mais ses conséquences peuvent être prévenues et récupérées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L'erreur doit être sanctionnée pour éviter sa récurrence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L'erreur ne peut pas être anticipée dans les systèmes complexes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L'erreur est inévitable, mais ses conséquences peuvent être prévenues et récupérées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FOH considèrent que l'erreur est inévitable (inhérente au système) et que ses conséquences peuvent être prévenues et récupérées en agissant sur les situations, l'organisation et les collectifs, et non uniquement sur les individus.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Sur quoi les FOH recommandent-ils d'agir pour prévenir les erreurs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Sur la sanction individuelle des professionnels défaillants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Sur les situations, l'organisation et les collectifs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Sur la seule formation technique des soignants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Sur le renforcement des procédures administratives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Sur les situations, l'organisation et les collectifs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FOH visent à agir sur les situations, l'organisation et les collectifs — pas uniquement sur les individus. L'humain est aussi un facteur de fiabilité, pas seulement une source d'erreur.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célèbre rapport américain de 2000 a mis en évidence l'ampleur des erreurs médicales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Human Factor Report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 err is human (Institute of Medicine)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Patient Safety First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Medical Error Atlas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To err is human (Institute of Medicine)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rapport « To err is human » de l'Institute of Medicine (Kohn, Corrigan, Donaldson, 2000) a mis en lumière que les erreurs médicales constituaient une cause significative de morbidité et mortalité, souvent liées à des défaillances humaines et organisationnelles.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L'humain dans les FOH est-il uniquement considéré comme une source d'erreur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il est le principal facteur de risque dans les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il est aussi un facteur de fiabilité, de sécurité et de performance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d'où la nécessité d'automatiser un maximum de tâches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mais seulement dans les situations non stressantes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il est aussi un facteur de fiabilité, de sécurité et de performance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Sans l'intervention de l'homme, de nombreux incidents auraient dégénéré en accidents. Les FOH reconnaissent que l'humain est à la fois source d'erreur potentielle ET facteur de fiabilité, de sécurité et de performance.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l'étude de 1994 qui a mis en évidence le retard de la médecine dans la gestion des erreurs humaines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L'étude de Reason sur le fromage suisse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L'étude de Lucian Leape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L'étude de Kahneman sur les biais cognitifs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L'étude de Salas sur le travail en équipe</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L'étude de Lucian Leape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L'étude de Lucian Leape (1994) a mis en évidence le retard de la médecine dans la gestion des erreurs humaines par rapport à d'autres industries (aéronautique, nucléaire), ouvrant la voie à l'intégration des FOH en santé.</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trois piliers d'une organisation sûre selon ce référentiel sont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Protocoles, Équipements, Personnel</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Sécurité technique, Système de management de la sécurité, FOH</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Direction, Équipes, Patients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Formation, Évaluation, Amélioration continue</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Sécurité technique, Système de management de la sécurité, FOH</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organisation sûre repose sur trois piliers complémentaires : la sécurité technique (équipements, procédures), le système de management de la sécurité (gouvernance, politique), et les facteurs organisationnels et humains (FOH).</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organisation a défini la culture de sécurité des soins en 2006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L'OMS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Société européenne pour la qualité des soins (ESQHC)</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HAS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Comité européen de sécurité des patients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Société européenne pour la qualité des soins (ESQHC)</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définition adoptée en 2006 par la Société européenne pour la qualité des soins est la plus connue : « La culture de sécurité désigne un ensemble cohérent et intégré de comportements individuels et organisationnels, fondé sur des croyances et des valeurs partagées, qui cherche continuellement à réduire les dommages aux patients. »</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culture de sécurité punitive a-t-elle un effet positif sur le signalement des EIAS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la peur de la sanction incite à signaler davantage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elle inhibe le signalement et l'apprentissage collectif</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elle responsabilise les professionnels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dépend du contexte de l'établissement</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elle inhibe le signalement et l'apprentissage collectif</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culture punitive favorise le silence et la dissimulation des erreurs. À l'inverse, une culture juste (just culture) où les événements sont analysés de manière constructive favorise le signalement, le retour d'expérience et l'amélioration continue.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qu'une « culture juste » (just culture) dans le domaine des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culture où tous les professionnels ont les mêmes droits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culture où les événements indésirables sont analysés de façon constructive plutôt que punitive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culture basée sur la justice procédurale uniquement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culture d'égalité entre patients et soignants</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culture où les événements indésirables sont analysés de façon constructive plutôt que punitive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culture juste (just culture) permet d'analyser les événements de manière constructive. Elle distingue les erreurs systémiques des fautes intentionnelles, favorise le signalement et l'apprentissage collectif sans culpabilisation injuste.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impact direct a une culture de sécurité positive sur les pratiques professionnelles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augmente le turn-over des équipes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favorise le signalement, le retour d'expérience et l'amélioration continue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réduit la charge de travail administrative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simplifie les protocoles cliniques</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favorise le signalement, le retour d'expérience et l'amélioration continue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culture de sécurité positive favorise le signalement des événements, le retour d'expérience (RETEX), l'apprentissage collectif et l'amélioration continue des pratiques. C'est un élément primordial pour mener des actions d'amélioration efficaces.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Après la fiche 2, quel est l'objectif pédagogique principal de l'apprenant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Maîtriser les protocoles de signalement réglementaires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Proposer des actions concrètes pour améliorer la culture de sécurité dans son environnement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Connaître par cœur la définition européenne de la culture de sécurité</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Évaluer les compétences techniques de ses collègues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Proposer des actions concrètes pour améliorer la culture de sécurité dans son environnement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L'objectif pédagogique de la fiche 2 vise à ce que l'apprenant soit capable de proposer des actions concrètes pour améliorer la culture de sécurité (ex : contribuer à la culture du retour d'expérience, aménager les postes pour limiter les interruptions de tâche).</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discipline étudie spécifiquement le cerveau et son influence sur les comportements et les erreurs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psychologie sociale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neurosciences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L'ergonomie cognitive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sociologie des organisations</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neurosciences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neurosciences sont un ensemble de disciplines scientifiques qui étudient le système nerveux, notamment le cerveau, son fonctionnement, sa structure et son influence sur les comportements, les émotions, la mémoire, les erreurs et l'apprentissage.</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le « Système 2 » dans la théorie de Kahneman appliquée aux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deuxième niveau d'urgence dans les soins critiques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raisonnement analytique, délibéré et conscient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automatismes inconscients liés à l'expérience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système de surveillance des erreurs en équipe</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raisonnement analytique, délibéré et conscient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Système 2 de Kahneman désigne le raisonnement analytique, délibéré, logique et conscient. Il est mobilisé dans la prise de décision complexe quand le temps le permet. Le Système 1, à l'inverse, est rapide, intuitif et automatique.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le cerveau commet-il des erreurs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manque de motivation ou de formation</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raison de ses propriétés (automatismes, biais cognitifs, limites attentionnelles)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À cause du stress uniquement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défaut de protocoles adaptés</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raison de ses propriétés (automatismes, biais cognitifs, limites attentionnelles)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cerveau commet des erreurs en raison de ses propriétés propres : les automatismes (actions sans traitement conscient), les biais cognitifs (raccourcis mentaux), les limites de l'attention et de la mémoire de travail. Ces mécanismes sont normaux mais peuvent induire des erreurs en soins.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finalité pédagogique centrale de la formation aux neurosciences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Mémoriser les circuits neuronaux impliqués dans les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Passer d'une obligation d'appliquer les bonnes pratiques à une adhésion volontaire par la compréhension du cerveau</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Former les soignants à la neurologie clinique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Développer les capacités de mémorisation des protocoles</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Passer d'une obligation d'appliquer les bonnes pratiques à une adhésion volontaire par la compréhension du cerveau</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L'objectif est de permettre aux professionnels de passer d'un sentiment d'obligation à l'application des bonnes pratiques de sécurité à une adhésion volontaire, grâce à la compréhension du fonctionnement du cerveau et des mécanismes de l'erreur.</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qu'un automatisme dans le contexte des neurosciences appliquées aux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système automatisé de surveillance patient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action réalisée sans traitement conscient de l'information</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standardisé de soins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réflexe conditionné par la peur des erreurs</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action réalisée sans traitement conscient de l'information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 automatisme est une action réalisée sans traitement conscient de l'information (Système 1). En soins, les automatismes peuvent être utiles (efficacité) mais aussi dangereux (exécution d'une action habituelle dans un contexte différent).</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méthode pédagogique est proposée pour « libérer la parole » sur les erreurs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débriefing individuel post-incident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jeu sur l'erreur</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simulation haute fidélité uniquement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L'audit de pratiques professionnelles</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jeu sur l'erreur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jeu sur l'erreur est proposé comme méthode pédagogique active pour libérer la parole et permettre aux apprenants de commencer à parler de leurs propres erreurs dans un cadre sécurisé et ludique.</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est définie la fatigue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état de somnolence mesurable par EEG</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symptôme subjectif d'épuisement non nécessairement soulagé par le repos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conséquence directe du manque de sommeil uniquement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état pathologique nécessitant un arrêt de travail</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symptôme subjectif d'épuisement non nécessairement soulagé par le repos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fatigue est définie comme un symptôme subjectif se manifestant par une sensation d'épuisement et de baisse d'énergie, sans forcément être soulagée par le repos. Elle est multifactorielle (physique, mentale, émotionnelle).</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Quels sont les trois types de fatigue identifiés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Aiguë, chronique et professionnelle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Physique, mentale et émotionnelle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Somatique, cognitive et psychologique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Individuelle, collective et organisationnelle</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Physique, mentale et émotionnelle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identifie trois types de fatigue : physique (effort, manque de sommeil), mentale (surcharge cognitive, vigilance continue) et émotionnelle (usure compassionnelle, traumatisme vicariant lié à l'exposition à des situations dramatiques).</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29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29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le « traumatisme vicariant » dans le contexte de la fatigue émotionnelle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traumatisme physique lié à des gestes de soins répétitifs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fatigue émotionnelle liée à l'exposition répétée à des situations dramatiques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forme de burn-out due à la charge administrative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traumatisme causé par une erreur médicale personnelle</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29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fatigue émotionnelle liée à l'exposition répétée à des situations dramatiques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traumatisme vicariant (ou fatigue compassionnelle) est une forme de fatigue émotionnelle liée à l'exposition répétée à des situations dramatiques vécues par les patients. Il est particulièrement fréquent chez les soignants exposés à la souffrance et à la mort.</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cycle circadien en relation avec la fatigue des soignants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cycle de sommeil de 90 minutes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cycle biologique de 24 heures qui régule la vigilance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de gestion des gardes de nuit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cycle d'évaluation annuelle des pratiques</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cycle biologique de 24 heures qui régule la vigilance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cycle circadien (processus C) est le cycle biologique de 24 heures. Sa perturbation par les gardes de nuit, les horaires décalés et la désynchronisation impacte directement la vigilance, les performances cognitives et la sécurité des soins.</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Vers quel état grave peut évoluer une fatigue chronique non reconnue chez un soignant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tachycardie chronique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burn-out ou la dépression professionnelle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L'hypertension artérielle uniquement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L'insomnie primaire irréversible</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burn-out ou la dépression professionnelle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fatigue chronique non reconnue ou banalisée peut évoluer vers des états graves tels que le burn-out (épuisement professionnel) ou la dépression professionnelle. La reconnaissance précoce des signes de fatigue est donc un enjeu de sécurité.</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méthode pédagogique originale est proposée dans la formation sur la fatigue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simulation d'urgence nocturne en conditions réelles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sieste courte découverte proposée en session de formation</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stage d'observation dans un service de garde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module d'hypnose de régulation du sommeil</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sieste courte découverte proposée en session de formation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fiche 4 propose une méthode originale : la sieste courte découverte en session de formation, pour permettre aux apprenants d'expérimenter les effets d'une micro-récupération et de comprendre son intérêt comme contre-mesure à la fatigue.</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l'acronyme CINE de Lupien (2010), qu'est-ce qui déclenche le stress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Complexité, Incertitude, Nouveauté, Épuisement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Contrôle faible, Imprévisibilité, Nouveauté, Ego menacé</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Charge, Interruption, Nouveauté, Erreur</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Conflit, Isolement, Négation, Épuisement</a:t>
            </a:r>
            <a:endParaRPr lang="en-US" sz="13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Contrôle faible, Imprévisibilité, Nouveauté, Ego menacé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Selon Sonia Lupien (2010), le stress se déclenche quand au moins une de ces situations apparaît : Contrôle faible (C), Imprévisibilité (I), Nouveauté (N), Ego menacé (E). Cet acronyme CINE permet d'identifier les déclencheurs du stress.</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stress est-il toujours néfaste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tout stress est délétère pour la performance en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c'est d'abord une adaptation physiologique permettant de faire face à un danger ou un défi</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mais seulement le stress chronique est bénéfique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il doit être systématiquement éliminé par des techniques de relaxation</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c'est d'abord une adaptation physiologique permettant de faire face à un danger ou un défi</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stress est une adaptation physiologique et comportementale qui permet de faire face à un danger réel ou supposé. Le stress aigu peut améliorer la performance (courbe de Yerkes-Dodson). C'est le stress chronique non géré qui devient délétère.</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 stressabilité » d'un professionnel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 résistance physique aux agents stressants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 propension à être affecté par les stresseurs dans son quotidien professionnel</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 capacité à gérer le stress des patients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Son niveau de stress mesuré par cortisol</a:t>
            </a:r>
            <a:endParaRPr lang="en-US" sz="13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Sa propension à être affecté par les stresseurs dans son quotidien professionnel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stressabilité désigne la propension individuelle à être affecté par les stresseurs. Elle varie selon les individus et peut être réduite par des techniques spécifiques (relaxation, cohérence cardiaque, restructuration cognitive).</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RETEX dans la gestion du stress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traitement médicamenteux anti-stress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Retour d'Expérience utilisé pour améliorer les pratiques après des événements stressants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registre des événements traumatisants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technique de relaxation post-garde</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Retour d'Expérience utilisé pour améliorer les pratiques après des événements stressants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RETEX (Retour d'Expérience) est utilisé après des événements stressants pour analyser collectivement ce qui s'est passé, identifier ce qui aurait pu être fait différemment et améliorer les pratiques. C'est un outil d'apprentissage organisationnel.</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approche pédagogique est préconisée pour travailler sur la gestion du stress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Formation théorique exclusive sur les mécanismes neurobiologiques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Combinaison de formation théorique, mises en situation et analyse des retours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Auto-formation par des lectures recommandées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Formation individuelle uniquement par un psychologue du travail</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Combinaison de formation théorique, mises en situation et analyse des retours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combinant formation théorique, mises en situation et analyse des retours des participants, il est possible d'améliorer considérablement la capacité à prendre en charge son stress. L'approche multimodale est plus efficace que la théorie seule.</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Combien de personnes minimum composent une équipe selon la définition retenue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3 personnes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2 personnes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4 personnes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5 personnes</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 personnes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Selon ce référentiel, « une équipe est définie comme un ensemble de deux personnes ou plus qui vont interagir » pour atteindre un objectif commun. Les caractéristiques d'une équipe efficace incluent : objectif commun, rôles définis, cohésion et communication.</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39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39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différence entre une « équipe d'experts » et une « équipe experte »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L'équipe d'experts est certifiée, l'équipe experte ne l'est pas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L'équipe experte sait travailler ensemble de façon coordonnée, l'équipe d'experts est un groupe de spécialistes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L'équipe d'experts a plus d'ancienneté</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Aucune différence dans ce référentiel</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39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L'équipe experte sait travailler ensemble de façon coordonnée, l'équipe d'experts est un groupe de spécialistes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équipe d'experts regroupe des professionnels très compétents individuellement. Une équipe experte maîtrise le travail collectif : communication, coordination, leadership partagé. Ce référentiel insiste : une équipe techniquement compétente mais mal coordonnée est plus à risque.</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décrit le modèle de Tuckman utilisé dans la fiche 6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phases de deuil d'un professionnel après une erreur</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phases de développement par lesquelles passent les équipes pour devenir efficaces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étapes de la certification d'une équipe qualité</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niveaux de compétence individuelle en soins</a:t>
            </a:r>
            <a:endParaRPr lang="en-US" sz="13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phases de développement par lesquelles passent les équipes pour devenir efficaces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modèle de Tuckman décrit 4 phases : Forming (constitution), Storming (conflits), Norming (normalisation) et Performing (performance). Ce cadre aide à comprendre pourquoi une équipe traverse des tensions avant de devenir efficace.</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l'assertivité dans le travail en équipe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imposer ses décisions à ses collègues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s'exprimer avec confiance tout en respectant les autres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compétence à évaluer les performances de l'équipe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gérer les conflits par l'évitement</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s'exprimer avec confiance tout en respectant les autres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L'assertivité est la capacité à s'exprimer, à défendre ses positions et à alerter, tout en respectant les autres. Dans les soins, elle est essentielle pour améliorer la communication, prévenir les conflits et garantir la sécurité des patients (ex : alerter face à un gradient d'autorité).</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la « sécurité psychologique » dans une équipe de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L'absence de risques physiques pour les soignants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environnement où les membres se sentent en sécurité pour s'exprimer, alerter et prendre des risques interpersonnels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protection juridique des professionnels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L'application systématique des protocoles de sécurité</a:t>
            </a:r>
            <a:endParaRPr lang="en-US" sz="13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environnement où les membres se sentent en sécurité pour s'exprimer, alerter et prendre des risques interpersonnels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sécurité psychologique (Amy Edmondson) désigne un climat d'équipe où les membres osent s'exprimer, poser des questions, signaler des erreurs et remettre en question les décisions sans craindre d'être jugés ou sanctionnés.</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signifie CRM dans le contexte de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Contrôle de Résultats Médicaux</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Crew Resource Management (Gestion des ressources d'équipe)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Communication Renforcée en Médecine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Comité de Retour sur Mission</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Crew Resource Management (Gestion des ressources d'équipe)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CRM (Crew Resource Management) est un programme de formation aux CNT issu de l'aéronautique, adapté à la santé (CRM santé). Il vise à optimiser l'utilisation des ressources humaines, matérielles et informationnelles pour améliorer la sécurité et l'efficacité d'équipe.</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outil d'évaluation du fonctionnement d'équipe est mentionné dans la fiche 6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SERVQUAL</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NOTECH / ANTS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TeamCheck</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ISBAR Pro</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NOTECH / ANTS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NOTECH (Non-Technical Skills) et ANTS (Anaesthetists' Non-Technical Skills) sont des outils d'évaluation du fonctionnement d'équipe mentionnés dans ce référentiel. Ils permettent d'observer et d'évaluer les CNT lors de simulations ou de pratiques réelles.</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institution internationale promeut la reconnaissance du patient comme membre actif de l'équipe de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L'Union européenne et le Conseil de l'Europe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L'OMS et la HAS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L'OCDE et la Banque mondiale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Conseil International des Infirmières</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L'OMS et la HAS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L'OMS (Organisation mondiale de la santé) et la HAS promeuvent la reconnaissance du patient comme membre actif de l'équipe de santé. Cette approche repose sur l'idée que l'engagement du patient contribue à la prévention et la récupération des EIAS.</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l'empowerment du patient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droit du patient à refuser tout traitement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L'engagement et la capacité du patient à participer activement à son parcours de soins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formation du patient aux gestes d'urgence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transmission du dossier médical au patient</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L'engagement et la capacité du patient à participer activement à son parcours de soins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L'empowerment désigne la capacité et l'engagement du patient à participer activement à son parcours de soins. Il s'appuie sur l'information, la formation et la reconnaissance du savoir expérientiel du patient.</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l'intégration du patient dans l'équipe impacte-t-elle la sécurité des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complexifie la prise de charge sans bénéfice démontré</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contribue à la prévention et à la récupération des EIAS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augmente la charge administrative des équipes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bénéfique uniquement pour les maladies chroniques</a:t>
            </a:r>
            <a:endParaRPr lang="en-US" sz="13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contribue à la prévention et à la récupération des EIAS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reconnaissance du patient comme membre actif de l'équipe est un levier essentiel pour améliorer la sécurité des soins. Le patient peut signaler des anomalies, apporter des informations cruciales et contribuer activement à la prévention des erreurs.</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loi française garantit les droits des malades et leur participation aux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du 31 juillet 1991 portant réforme hospitalière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du 4 mars 2002 relative aux droits des malades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du 13 août 2004 sur l'assurance maladie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du 21 juillet 2009 HPST</a:t>
            </a:r>
            <a:endParaRPr lang="en-US" sz="13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loi du 4 mars 2002 relative aux droits des malades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loi du 4 mars 2002 relative aux droits des malades et à la qualité du système de santé (loi Kouchner) constitue le cadre juridique fondamental garantissant les droits des patients, notamment leur participation aux décisions de soins.</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49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49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ce référentiel définit-il le leadership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L'autorité hiérarchique d'un chef de service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influencer positivement une équipe pour atteindre un objectif commun en mobilisant les ressources disponibles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gestion administrative d'un service de soins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compétence à former les nouveaux professionnels</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49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influencer positivement une équipe pour atteindre un objectif commun en mobilisant les ressources disponibles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leadership est défini comme la capacité d'un professionnel à influencer positivement une équipe afin d'atteindre un objectif commun, en mobilisant les ressources disponibles et en garantissant un cadre de sécurité. Ce n'est pas une caractéristique innée mais une compétence apprise.</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leadership est-il une caractéristique innée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les leaders naissent avec des qualités naturelles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c'est une compétence qui s'apprend et se développe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mais uniquement chez les médecins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dépend du contexte culturel de l'établissement</a:t>
            </a:r>
            <a:endParaRPr lang="en-US" sz="13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c'est une compétence qui s'apprend et se développe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affirme explicitement que le leadership et le travail en équipe ne sont pas des caractéristiques innées des individus, mais des compétences qui s'apprennent. La formation aux CNT permet de renforcer les capacités de leadership des soignants.</a:t>
            </a:r>
            <a:endParaRPr lang="en-US" sz="1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métaphore ce référentiel utilise-t-il pour illustrer le leadership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capitaine de bateau</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chef d'orchestre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commandant de bord</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chef cuisinier</a:t>
            </a:r>
            <a:endParaRPr lang="en-US" sz="13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chef d'orchestre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utilise la métaphore du chef d'orchestre pour illustrer le leadership : « Le leader s'apparente à un chef d'orchestre qui réussit à exalter ses musiciens tout en arrivant à les faire jouer ensemble en harmonie. »</a:t>
            </a:r>
            <a:endParaRPr lang="en-US" sz="1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 leadership partagé »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leadership exercé par deux co-chefs de service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approche où le leadership est distribué entre les membres de l'équipe selon les situations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leadership exercé lors des seules réunions d'équipe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partage des décisions avec les patients</a:t>
            </a:r>
            <a:endParaRPr lang="en-US" sz="13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approche où le leadership est distribué entre les membres de l'équipe selon les situations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leadership partagé désigne une approche où le leadership n'est pas l'apanage d'une seule personne mais est distribué entre les membres de l'équipe selon les situations, les compétences et les besoins. Il améliore la performance et la sécurité des soins.</a:t>
            </a:r>
            <a:endParaRPr lang="en-US" sz="1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l'impact d'un leadership adaptatif sur la sécurité des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augmente la complexité des décisions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favorise la sécurité psychologique, la cohésion d'équipe et la répartition efficace des ressources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réduit l'autonomie des professionnels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améliore uniquement la satisfaction au travail</a:t>
            </a:r>
            <a:endParaRPr lang="en-US" sz="13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 favorise la sécurité psychologique, la cohésion d'équipe et la répartition efficace des ressources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 leadership adaptatif permet de favoriser la sécurité psychologique, d'adopter des méthodes de dynamique d'équipe, de répartir efficacement les ressources, de sécuriser la communication et de créer de la cohésion — tous des facteurs de sécurité des soins.</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Quels comportements observables caractérisent un leadership efficace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Contrôler toutes les décisions et minimiser les délégations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Clarifier les objectifs, répartir les tâches, encourager l'expression et réguler les tensions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Maintenir une hiérarchie stricte et des règles rigides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Éviter les conflits en acceptant toutes les propositions de l'équipe</a:t>
            </a:r>
            <a:endParaRPr lang="en-US" sz="13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Clarifier les objectifs, répartir les tâches, encourager l'expression et réguler les tensions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comportements observables d'un leadership efficace incluent : clarifier les objectifs, répartir les tâches, encourager l'expression de tous, réguler les tensions et adapter son style selon la situation et les besoins de l'équipe.</a:t>
            </a:r>
            <a:endParaRPr lang="en-US" sz="1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est définie la conscience de soi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surveiller les performances de ses collègues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reconnaître et comprendre ses propres émotions, pensées, motivations et comportements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compétence à auto-évaluer ses gestes techniques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conscience des risques présents dans l'environnement de soins</a:t>
            </a:r>
            <a:endParaRPr lang="en-US" sz="13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reconnaître et comprendre ses propres émotions, pensées, motivations et comportements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conscience de soi est définie comme la capacité à reconnaître et comprendre ses propres émotions, pensées, motivations et comportements, et leur impact sur son travail et ses interactions avec les patients et l'équipe.</a:t>
            </a:r>
            <a:endParaRPr lang="en-US" sz="1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la « conscience externe » dans la conscience de soi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surveillance de l'environnement physique de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perception de la façon dont les autres nous perçoivent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conscience des risques extérieurs au patient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conscience de l'environnement sonore en soins critiques</a:t>
            </a:r>
            <a:endParaRPr lang="en-US" sz="13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perception de la façon dont les autres nous perçoivent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conscience de soi implique deux dimensions : la conscience interne (compréhension de ses valeurs, émotions et réactions) et la conscience externe (perception de la façon dont les autres nous voient, impact de ses comportements sur l'équipe).</a:t>
            </a:r>
            <a:endParaRPr lang="en-US" sz="1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métacognition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mémoriser de grandes quantités d'informations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surveiller, évaluer et réguler ses propres processus mentaux</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outil d'évaluation des apprentissages en simulation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connaissance des mécanismes neurologiques des soins</a:t>
            </a:r>
            <a:endParaRPr lang="en-US" sz="13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surveiller, évaluer et réguler ses propres processus mentaux</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métacognition est la capacité d'un individu à surveiller, évaluer et réguler ses propres processus mentaux (penser sur ses propres pensées). La conscience de soi en est la porte d'entrée et constitue une composante primordiale de la métacognition.</a:t>
            </a:r>
            <a:endParaRPr lang="en-US" sz="1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lien établit ce référentiel entre conscience de soi et prévention du burn-out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Aucun lien direct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conscience de soi permet d'identifier les signaux précoces de stress et d'épuisement professionnel</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conscience de soi aggrave la perception du burn-out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permet uniquement d'identifier le burn-out chez les collègues</a:t>
            </a:r>
            <a:endParaRPr lang="en-US" sz="13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conscience de soi permet d'identifier les signaux précoces de stress et d'épuisement professionnel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Parmi les objectifs pédagogiques de la fiche 9, l'apprenant doit être capable d'identifier les signaux de stress et d'épuisement professionnel (éviter le burn-out). La conscience de soi permet une reconnaissance précoce avant l'installation d'un état chronique.</a:t>
            </a:r>
            <a:endParaRPr lang="en-US" sz="1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59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59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technique pédagogique consiste à demander au participant de verbaliser son raisonnement pendant l'action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débriefing structuré</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micro-stimulation cognitive (Think-Aloud Cognitive)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L'entretien d'explicitation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feedback à 360°</a:t>
            </a:r>
            <a:endParaRPr lang="en-US" sz="13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59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micro-stimulation cognitive (Think-Aloud Cognitive)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micro-stimulation cognitive (Think-Aloud Cognitive) consiste à demander au participant de verbaliser son raisonnement pendant qu'il agit. Cela renforce le contrôle métacognitif et permet d'identifier les biais et les automatismes en action.</a:t>
            </a:r>
            <a:endParaRPr lang="en-US" sz="1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relation entre conscience de soi et intelligence émotionnelle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 sont deux compétences indépendantes et non liées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conscience de soi est une composante fondamentale de l'intelligence émotionnelle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L'intelligence émotionnelle précède nécessairement la conscience de soi</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en concurrence dans les situations de soins complexes</a:t>
            </a:r>
            <a:endParaRPr lang="en-US" sz="13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conscience de soi est une composante fondamentale de l'intelligence émotionnelle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conscience de soi est une composante essentielle de l'intelligence émotionnelle. Relier intelligence émotionnelle et efficacité professionnelle est un objectif pédagogique clé de la fiche 9.</a:t>
            </a:r>
            <a:endParaRPr lang="en-US" sz="1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Quelles sont les formes de communication identifiées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Formelle, informelle et institutionnelle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Verbale, non verbale, paraverbale et écrite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Orale, visuelle et numérique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Directe, indirecte et systémique</a:t>
            </a:r>
            <a:endParaRPr lang="en-US" sz="13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Verbale, non verbale, paraverbale et écrite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identifie différentes formes de communication en milieu soignant : verbale (le contenu des mots), non verbale (posture, gestuelle), paraverbale (ton, débit, intonation) et écrite. Toutes jouent un rôle dans la sécurité des soins.</a:t>
            </a:r>
            <a:endParaRPr lang="en-US" sz="1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l'écoute active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Écouter sans interrompre pendant toute la durée d'une réunion</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technique basée sur la reformulation, la clarification et la validation du message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L'utilisation de techniques d'enregistrement des transmissions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Écouter en silence en prenant des notes détaillées</a:t>
            </a:r>
            <a:endParaRPr lang="en-US" sz="13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technique basée sur la reformulation, la clarification et la validation du message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L'écoute active est une technique de communication qui repose sur la reformulation (redire ce qu'on a compris), la clarification (demander des précisions) et la validation du message (confirmer la compréhension). Elle prévient les malentendus en soins.</a:t>
            </a:r>
            <a:endParaRPr lang="en-US" sz="14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signifie l'acronyme SAED dans les pratiques de fiabilisation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Sécurité, Anticipation, Équipe, Débriefing</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Situation, Antécédents, Évaluation, Demande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Signalement, Analyse, Enquête, Décision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Synthèse, Action, Évaluation, Documentation</a:t>
            </a:r>
            <a:endParaRPr lang="en-US" sz="13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Situation, Antécédents, Évaluation, Demande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SAED est une pratique de fiabilisation pour transmettre un message structuré : Situation (que se passe-t-il ?), Antécédents (contexte), Évaluation (analyse de la situation), Demande (ce que l'on attend). C'est l'équivalent du SBAR anglophone.</a:t>
            </a:r>
            <a:endParaRPr lang="en-US" sz="14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l'acronyme DESC dans la communication en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Décrire, Exprimer, Spécifier, Conclure avec les conséquences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Diagnostic, Évaluation, Stratégie, Compétences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Délai, Expertise, Signalement, Contrôle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Discussion, Échange, Synthèse, Conclusion</a:t>
            </a:r>
            <a:endParaRPr lang="en-US" sz="13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Décrire les faits, Exprimer ses émotions, Spécifier des solutions, Conclure avec les conséquences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DESC est une méthode de communication permettant d'exprimer un désaccord de manière constructive : Décrire les faits objectivement, Exprimer ses émotions, Spécifier des solutions envisagées, Conclure avec les conséquences si rien ne change.</a:t>
            </a:r>
            <a:endParaRPr lang="en-US" sz="14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l'impact des défaillances de communication sur les EIAS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représentent moins de 10% des causes d'EIAS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sont à l'origine de nombreux événements indésirables associés aux soins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Leur impact est difficile à mesurer et donc négligé</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n'impactent que la satisfaction des patients</a:t>
            </a:r>
            <a:endParaRPr lang="en-US" sz="13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Elles sont à l'origine de nombreux événements indésirables associés aux soins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Différentes études (Sutcliffe 2004, Haller 2011) ont montré que les défaillances de communication sont à l'origine de nombreux EIAS. La communication est une CNT essentielle entre soignants et avec les patients (ex : annonce d'un diagnostic).</a:t>
            </a:r>
            <a:endParaRPr lang="en-US" sz="1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pratique « Faire dire » comme outil de fiabilisation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Demander à un patient de signer un consentement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Demander à l'autre de reformuler pour vérifier sa compréhension du message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Encourager un collègue à signaler un événement indésirable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Faire verbaliser un stagiaire ses observations cliniques</a:t>
            </a:r>
            <a:endParaRPr lang="en-US" sz="13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Demander à l'autre de reformuler pour vérifier sa compréhension du message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 Faire dire » est une pratique de fiabilisation qui consiste à demander à son interlocuteur de reformuler ce qu'il a compris. Cela permet de vérifier la transmission correcte de l'information et d'éviter les malentendus en soins.</a:t>
            </a:r>
            <a:endParaRPr lang="en-US" sz="14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Communication Non Violente (CNV)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méthode de communication à distance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méthode favorisant une communication respectueuse et claire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technique de gestion des plaintes patients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de réunion d'équipe</a:t>
            </a:r>
            <a:endParaRPr lang="en-US" sz="13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méthode favorisant une communication respectueuse et claire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Communication Non Violente (CNV, Marshall Rosenberg) est une approche qui favorise une communication respectueuse et claire, basée sur l'observation des faits, l'expression des émotions et des besoins, et la formulation de demandes concrètes.</a:t>
            </a:r>
            <a:endParaRPr lang="en-US" sz="14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ce référentiel définit-il la gestion de la charge de travail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effectuer le maximum de tâches possible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organiser, prioriser et répartir efficacement ses tâches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gestion des plannings d'équipe par l'encadrant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réduction systématique du nombre de tâches à réaliser</a:t>
            </a:r>
            <a:endParaRPr lang="en-US" sz="13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organiser, prioriser et répartir efficacement ses tâches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gestion de la charge de travail est définie comme la capacité des professionnels de santé à organiser, prioriser et répartir efficacement leurs tâches pour assurer un travail de qualité tout en préservant leur bien-être et celui de leur équipe.</a:t>
            </a:r>
            <a:endParaRPr lang="en-US" sz="14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69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69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Est-il possible de réaliser plusieurs tâches simultanément de façon consciente et efficace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c'est une compétence développable avec l'expérience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c'est un leurre selon ce référentiel</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mais uniquement chez les professionnels expérimentés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dépend du type de tâches à réaliser</a:t>
            </a:r>
            <a:endParaRPr lang="en-US" sz="13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69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c'est un leurre selon ce référentiel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affirme explicitement que la réalisation de tâches multiples simultanément de façon consciente est un leurre. Il est donc nécessaire de gérer la charge de travail en hiérarchisant et répartissant les tâches en adéquation avec les ressources disponibles.</a:t>
            </a:r>
            <a:endParaRPr lang="en-US" sz="14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matrice d'Eisenhower comme outil de gestion de la charge de travail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outil pour évaluer les performances d'une équipe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outil pour distinguer ce qui est urgent de ce qui est important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tableau de bord des indicateurs de soins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de délégation des tâches médicales</a:t>
            </a:r>
            <a:endParaRPr lang="en-US" sz="13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outil pour distinguer ce qui est urgent de ce qui est important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matrice d'Eisenhower est un outil de gestion du temps et des priorités qui classe les tâches selon deux axes : urgence et importance. Elle aide à distinguer ce qui doit être fait maintenant (urgent+important) de ce qui peut être planifié ou délégué.</a:t>
            </a:r>
            <a:endParaRPr lang="en-US" sz="1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Quelles compétences doit développer un professionnel face à une surcharge de travail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travailler plus vite pour rattraper le retard</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Savoir détecter la surcharge et gérer la situation par délégation, répartition et gestion du temps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L'aptitude à ignorer les tâches moins prioritaires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demander un arrêt de travail préventif</a:t>
            </a:r>
            <a:endParaRPr lang="en-US" sz="13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Savoir détecter la surcharge et gérer la situation par délégation, répartition et gestion du temps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souligne la nécessité de développer des capacités à détecter des situations où la charge de travail est supérieure à ses possibilités, et à savoir gérer ces situations par la délégation, la répartition et la gestion du temps et du stress.</a:t>
            </a:r>
            <a:endParaRPr lang="en-US" sz="14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l'impact d'une mauvaise gestion de la charge de travail sur la sécurité des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Aucun impact si les protocoles sont bien suivis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augmente le risque d'erreurs liées à la surcharge cognitive et à la fatigue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impacte uniquement la satisfaction professionnelle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augmente uniquement le temps de prise en charge</a:t>
            </a:r>
            <a:endParaRPr lang="en-US" sz="13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augmente le risque d'erreurs liées à la surcharge cognitive et à la fatigue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mauvaise gestion de la charge de travail entraîne une surcharge cognitive, de la fatigue et du stress, qui augmentent significativement le risque d'erreurs dans les soins. La gestion efficace de la charge est un facteur direct de sécurité des patients.</a:t>
            </a:r>
            <a:endParaRPr lang="en-US" sz="14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est définie la conscience de la situation (COS)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conscience des risques présents dans la salle de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percevoir ce qui se passe, comprendre ce que cela signifie et anticiper ce qui pourrait arriver</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connaissance des protocoles de sécurité de l'établissement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à surveiller les constantes vitales d'un patient</a:t>
            </a:r>
            <a:endParaRPr lang="en-US" sz="13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à percevoir ce qui se passe, comprendre ce que cela signifie et anticiper ce qui pourrait arriver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conscience de la situation (COS, Situation Awareness) est définie par Endsley comme la capacité à percevoir les éléments pertinents de l'environnement, à comprendre leur signification et à anticiper leur évolution future. Elle est clé dans la prise de décision.</a:t>
            </a:r>
            <a:endParaRPr lang="en-US" sz="14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Combien d'étapes composent l'élaboration de la conscience de la situation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2 étapes : percevoir et agir</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3 étapes : percevoir, comprendre et anticiper</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4 étapes : alerter, analyser, décider, agir</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5 étapes du cycle OODA</a:t>
            </a:r>
            <a:endParaRPr lang="en-US" sz="13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3 étapes : percevoir, comprendre et anticiper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conscience de la situation se construit en 3 étapes : (1) Perception des informations pertinentes dans l'environnement, (2) Compréhension de la situation globale (ce que cela signifie), (3) Anticipation de l'évolution possible (ce qui pourrait arriver).</a:t>
            </a:r>
            <a:endParaRPr lang="en-US" sz="14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désigne le SAGAT comme outil d'évaluation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audit de sécurité des établissements de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Situation Awareness Global Assessment Technique, outil d'évaluation de la COS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système d'alerte et de gestion des EIAS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grille d'évaluation du travail en équipe</a:t>
            </a:r>
            <a:endParaRPr lang="en-US" sz="13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Situation Awareness Global Assessment Technique, outil d'évaluation de la COS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SAGAT (Situation Awareness Global Assessment Technique) est un outil permettant d'évaluer la conscience de la situation. Il repose sur des interruptions aléatoires pendant une tâche pour évaluer la perception, la compréhension et l'anticipation de la situation.</a:t>
            </a:r>
            <a:endParaRPr lang="en-US" sz="14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proportion des dommages évitables serait liée à des défaillances de conscience de la situation selon une étude de 2024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quart (25%)</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moitié (50%)</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Trois quarts (75%)</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quasi-totalité (90%)</a:t>
            </a:r>
            <a:endParaRPr lang="en-US" sz="13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Trois quarts (75%)</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Selon Tscholl et Gasciauskaite (APSF Newsletter 2024), trois quarts des dommages évitables aux patients proviendraient de défaillances de conscience de la situation (situation awareness breakdowns). Cela souligne l'importance majeure de cette CNT.</a:t>
            </a:r>
            <a:endParaRPr lang="en-US" sz="14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la fatigue affecte-t-elle la conscience de la situation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améliore la concentration par un effet d'éveil accru</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réduit la capacité à percevoir et traiter les informations pertinentes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n'a d'impact que sur les tâches techniques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augmente paradoxalement la vigilance en situation critique</a:t>
            </a:r>
            <a:endParaRPr lang="en-US" sz="13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réduit la capacité à percevoir et traiter les informations pertinentes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fatigue est l'un des facteurs internes qui influencent négativement la conscience de la situation. Elle réduit la capacité à percevoir les informations pertinentes, à les comprendre correctement et à anticiper l'évolution de la situation.</a:t>
            </a:r>
            <a:endParaRPr lang="en-US" sz="14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conscience de la situation partagée dans une équipe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connaissance commune des protocoles de l'établissement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compréhension de la situation partagée par tous les membres de l'équipe à un moment donné</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partage électronique des informations patient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supervision mutuelle des gestes techniques</a:t>
            </a:r>
            <a:endParaRPr lang="en-US" sz="13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compréhension de la situation partagée par tous les membres de l'équipe à un moment donné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Selon Salas (1995), la conscience de la situation de l'équipe est la compréhension commune de la situation partagée par les membres d'une équipe à un moment donné. La communication et le briefing sont des outils essentiels pour la construire.</a:t>
            </a:r>
            <a:endParaRPr lang="en-US" sz="14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79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79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 minute d'arrêt » comme outil de conscience de la situation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pause café réglementaire entre deux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temps court de réflexion et de vérification avant d'agir</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procédure de signalement d'urgence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temps de débriefing d'une minute après un EIAS</a:t>
            </a:r>
            <a:endParaRPr lang="en-US" sz="13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79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temps court de réflexion et de vérification avant d'agir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minute d'arrêt (ou « stop action ») est une pratique de fiabilisation consistant à marquer une pause avant un acte pour percevoir la situation, vérifier les informations et partager sa conscience de la situation avec l'équipe. Elle prévient les erreurs de précipitation.</a:t>
            </a:r>
            <a:endParaRPr lang="en-US" sz="14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Quelles sont les deux formes de prise de décision identifiées dans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décision individuelle et la décision collective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prise de décision analytique (Système 2) et intuitive (basée sur l'expérience)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décision médicale et la décision paramédicale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décision urgente et la décision programmée</a:t>
            </a:r>
            <a:endParaRPr lang="en-US" sz="13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prise de décision analytique (Système 2) et intuitive (basée sur l'expérience)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distingue deux formes : la prise de décision analytique (délibérée, logique, Système 2 de Kahneman, pour les situations complexes) et la prise de décision intuitive (basée sur l'expérience, rapide, Système 1, pour les situations familières urgentes).</a:t>
            </a:r>
            <a:endParaRPr lang="en-US" sz="14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signifie l'acronyme T-FORDEC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Technique de Formation, Organisation, Résolution, Délégation, Évaluation, Contrôle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Temps, Faits, Options, Risques/opportunités, Décision, Exécution, Contrôle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Triage, Formation, Observation, Réactivité, Décision, Équipe, Coordination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Transfert, Fiabilité, Objectifs, Résultats, Données, Évaluation, Communication</a:t>
            </a:r>
            <a:endParaRPr lang="en-US" sz="13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Temps, Faits, Options, Risques/opportunités, Décision, Exécution, Contrôle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T-FORDEC est une méthode analytique de prise de décision issue de l'aéronautique : Temps (se donner un délai de réflexion), Faits (rassembler les données objectives), Options (identifier les possibles), Risques/Opportunités (évaluer), Décision (choisir), Exécution (agir), Contrôle (vérifier).</a:t>
            </a:r>
            <a:endParaRPr lang="en-US" sz="14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facteur interne peut biaiser la prise de décision en situation de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connaissance approfondie des protocoles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stress, la fatigue, les émotions et le gradient d'autorité</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L'expérience clinique prolongée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présence d'un observateur extérieur</a:t>
            </a:r>
            <a:endParaRPr lang="en-US" sz="13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stress, la fatigue, les émotions et le gradient d'autorité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Plusieurs facteurs internes peuvent biaiser la prise de décision : le stress (pensée tunnel), la fatigue (erreurs de jugement), les émotions (décisions irrationnelles), le gradient d'autorité (déférence à la hiérarchie) et l'insécurité psychologique.</a:t>
            </a:r>
            <a:endParaRPr lang="en-US" sz="14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 gradient d'autorité » dans la prise de décision en équipe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hiérarchie des décisions cliniques selon la gravité</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tendance à suivre la décision du supérieur hiérarchique même si on estime qu'elle est erronée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délégation progressive des responsabilités selon l'expérience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niveau d'autorisation requis pour chaque acte de soins</a:t>
            </a:r>
            <a:endParaRPr lang="en-US" sz="13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tendance à suivre la décision du supérieur hiérarchique même si on estime qu'elle est erronée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gradient d'autorité est un facteur qui peut biaiser la prise de décision : la tendance à ne pas contester la décision de la personne hiérarchiquement supérieure, même lorsqu'on la juge incorrecte. Il peut conduire à des erreurs graves. L'assertivité et la sécurité psychologique permettent de le réduire.</a:t>
            </a:r>
            <a:endParaRPr lang="en-US" sz="14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méthode POUR-DÉCIDER mentionnée dans la fiche 13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méthode de décision partagée avec le patient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outil d'aide à la décision pour les situations complexes en soins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de décision médicale en urgence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grille d'évaluation des décisions prises en équipe</a:t>
            </a:r>
            <a:endParaRPr lang="en-US" sz="13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outil d'aide à la décision pour les situations complexes en soins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POUR-DÉCIDER est citée comme outil d'aide à la décision dans la fiche 13. Comme T-FORDEC, elle vise à structurer la prise de décision et à éviter les décisions précipitées basées sur des biais cognitifs ou l'intuition seule.</a:t>
            </a:r>
            <a:endParaRPr lang="en-US" sz="14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qu'une aide cognitive de crise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médicament anxiolytique pour les soignants sous pression</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document structuré (check-list, algorithme) pour guider la prise de décision en situation critique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système informatique de surveillance automatique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de debriefing post-crise</a:t>
            </a:r>
            <a:endParaRPr lang="en-US" sz="13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document structuré (check-list, algorithme) pour guider la prise de décision en situation critique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aides cognitives de crise sont des documents structurés (check-lists, algorithmes, fiches mémo) conçus pour guider les professionnels dans la prise de décision lors de situations critiques, en compensant les limites cognitives liées au stress et à la charge mentale.</a:t>
            </a:r>
            <a:endParaRPr lang="en-US" sz="14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briefing comme pratique de fiabilisation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compte-rendu écrit après une réunion d'équipe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courte rencontre d'équipe avant d'agir pour partager les objectifs, rôles et anticipations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formation accélérée pour les nouveaux arrivants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échange informel entre collègues pendant les pauses</a:t>
            </a:r>
            <a:endParaRPr lang="en-US" sz="13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courte rencontre d'équipe avant d'agir pour partager les objectifs, rôles et anticipations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briefing est une courte rencontre des membres d'une équipe avant de débuter une activité, permettant d'échanger sur l'activité prévue, de répartir les rôles et responsabilités, de partager les attentes et de décider des objectifs. Il est issu de l'aéronautique.</a:t>
            </a:r>
            <a:endParaRPr lang="en-US" sz="14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durée indicative d'un briefing efficace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30 minutes de discussion approfondie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Environ 5 minutes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 moins une heure en équipe pluriprofessionnelle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durée est variable et ne peut pas être standardisée</a:t>
            </a:r>
            <a:endParaRPr lang="en-US" sz="13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Environ 5 minutes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mémo briefing de ce référentiel précise qu'en 5 minutes, il s'agit de savoir : qui fait quoi, ce qui est prévu, si quelqu'un a un sujet ou une situation à risque à évoquer, et de valider l'organisation. Un briefing court mais structuré est plus efficace qu'une réunion longue.</a:t>
            </a:r>
            <a:endParaRPr lang="en-US" sz="14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différence entre un briefing et un débriefing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briefing est écrit, le débriefing est oral</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briefing se fait avant l'action pour anticiper, le débriefing après pour analyser et améliorer</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briefing concerne l'équipe, le débriefing concerne le patient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n'y a pas de différence fondamentale</a:t>
            </a:r>
            <a:endParaRPr lang="en-US" sz="13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briefing se fait avant l'action pour anticiper, le débriefing après pour analyser et améliorer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briefing est un temps d'échange avant l'action (anticipation, répartition des rôles). Le débriefing est un temps d'échange après l'action pour améliorer la performance et partager les expériences. Ensemble, ils constituent une boucle d'amélioration continue.</a:t>
            </a:r>
            <a:endParaRPr lang="en-US" sz="14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89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89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À quelle CNT principale est associé le briefing selon le tableau des pratiques de fiabilisation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Gestion du stress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Leadership</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Conscience de soi</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Prise de décision</a:t>
            </a:r>
            <a:endParaRPr lang="en-US" sz="13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89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Leadership</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Selon le tableau des pratiques de fiabilisation, le briefing est associé principalement au leadership et à l'amélioration du fonctionnement de l'équipe. Il est animé par le cadre ou un membre de l'équipe désigné.</a:t>
            </a:r>
            <a:endParaRPr lang="en-US" sz="14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 modèle d'ingénierie pédagogique préconisé par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modèle en silo avec des modules indépendants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modèle intégré où les CNT se développent conjointement avec les compétences techniques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modèle de formation par correspondance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modèle évaluatif centré sur la certification des CNT</a:t>
            </a:r>
            <a:endParaRPr lang="en-US" sz="13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modèle intégré où les CNT se développent conjointement avec les compétences techniques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propose un modèle d'ingénierie pédagogique où les CNT ne constituent pas un bloc séparé mais sont des composantes de la compétence professionnelle qui se développent en même temps que les dimensions techniques, dans les mêmes situations.</a:t>
            </a:r>
            <a:endParaRPr lang="en-US" sz="14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méthode pédagogique la plus adaptée pour développer les CNT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cours magistraux et la mémorisation</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méthodes actives et expérientielles plaçant l'apprenant en situation</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lecture d'ouvrages de référence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L'observation silencieuse des professionnels expérimentés</a:t>
            </a:r>
            <a:endParaRPr lang="en-US" sz="13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méthodes actives et expérientielles plaçant l'apprenant en situation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méthodes pédagogiques les plus adaptées sont celles qui placent les apprenants en situation active, réflexive et collaborative : simulation, jeux de rôle, études de cas, débriefing structuré. L'approche la plus efficace combine théorie et pratique active avec retour réflexif.</a:t>
            </a:r>
            <a:endParaRPr lang="en-US" sz="14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simulation en santé dans le contexte des CNT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application informatique de gestion des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dispositif permettant de travailler en équipe dans un contexte réaliste sur les CNT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formation théorique sur les situations d'urgence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exercice individuel de mémorisation des protocoles</a:t>
            </a:r>
            <a:endParaRPr lang="en-US" sz="13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dispositif permettant de travailler en équipe dans un contexte réaliste sur les CNT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simulation en santé (haute et basse technologie : patient simulé, mannequin, réalité virtuelle) permet de travailler en équipe dans un contexte réaliste sur la communication, la gestion du stress, la prise de décision et le leadership, sans risque pour les patients.</a:t>
            </a:r>
            <a:endParaRPr lang="en-US" sz="14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distinction ce référentiel fait-il entre évaluation formative et évaluation sommative des CNT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L'évaluation formative est réalisée par les pairs, la sommative par la hiérarchie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L'évaluation formative est centrée sur l'apprentissage, la sommative sur la certification</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deux types sont équivalents pour les CNT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 l'évaluation formative est recommandée pour les CNT</a:t>
            </a:r>
            <a:endParaRPr lang="en-US" sz="13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L'évaluation formative est centrée sur l'apprentissage, la sommative sur la certification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distingue les évaluations formatives (centrées sur l'apprentissage : auto-évaluation, co-évaluation, feedback en simulation) des évaluations sommatives/certificatives (intégrées aux évaluations de compétences professionnelles : OSCE, mini-CEX, observations structurées).</a:t>
            </a:r>
            <a:endParaRPr lang="en-US" sz="14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ce référentiel, peut-on « certifier » une CNT de manière isolée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chaque CNT fait l'objet d'une certification spécifique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 on certifie un ensemble de ressources mobilisées dans une situation, pas une CNT isolée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Oui, mais uniquement pour le leadership et la communication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dépend des exigences réglementaires de chaque profession</a:t>
            </a:r>
            <a:endParaRPr lang="en-US" sz="13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Non, on certifie un ensemble de ressources mobilisées dans une situation, pas une CNT isolée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précise qu'on ne « certifie » pas une CNT isolément, mais un ensemble de ressources mobilisées dans une situation. Cela reflète la nature interdépendante des CNT dans la pratique professionnelle réelle.</a:t>
            </a:r>
            <a:endParaRPr lang="en-US" sz="14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l'étape « E » (Exécution) dans la méthode T-FORDEC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Évaluer les résultats de la décision prise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Mettre en œuvre la décision avec attribution claire des rôles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Expliquer la décision aux membres de l'équipe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Estimer le temps nécessaire à la réalisation</a:t>
            </a:r>
            <a:endParaRPr lang="en-US" sz="13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Mettre en œuvre la décision avec attribution claire des rôles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Dans T-FORDEC, l'Exécution consiste à mettre en œuvre la décision choisie, en attribuant clairement les rôles à chaque membre de l'équipe. Cette attribution explicite évite les ambiguïtés sur « qui fait quoi » en situation critique.</a:t>
            </a:r>
            <a:endParaRPr lang="en-US" sz="14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 communication en 3 temps » comme pratique de fiabilisation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Trois étapes de communication avec le patient lors d'un soin</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méthode pour vérifier que l'information émise a été correctement comprise par le récepteur</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Trois temps de briefing journalier en équipe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de communication téléphonique en 3 étapes</a:t>
            </a:r>
            <a:endParaRPr lang="en-US" sz="13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méthode pour vérifier que l'information émise a été correctement comprise par le récepteur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communication en 3 temps est une pratique de fiabilisation : (1) Émettre l'information, (2) Demander à l'autre de la répéter (« Faire dire »), (3) Confirmer ou corriger. Elle structure la communication et vérifie la compréhension pour éviter les malentendus.</a:t>
            </a:r>
            <a:endParaRPr lang="en-US" sz="14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ce référentiel, quelle est la relation entre performance des soins et bien-être des soignants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 sont deux objectifs en tension et difficiles à concilier</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indissociables : le développement des CNT bénéficie aux deux</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bien-être des soignants est secondaire par rapport à la performance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performance des soins est prioritaire sur le bien-être individuel</a:t>
            </a:r>
            <a:endParaRPr lang="en-US" sz="13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Ils sont indissociables : le développement des CNT bénéficie aux deux</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affirme explicitement que « performance des soins et bien-être des soignants sont indissociables ». Les CNT aident les professionnels à mieux gérer le stress et la fatigue, prévenir l'épuisement et renforcer la sécurité psychologique.</a:t>
            </a:r>
            <a:endParaRPr lang="en-US" sz="14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98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Dans quel contexte les CNT sont-elles particulièrement mobilisées selon le cas clinique de l'annexe 1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lors des urgences cardiologiques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Dans toute prise en charge complexe pluriprofessionnelle (ex : traumatisme aux urgences)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Seulement lors des interventions chirurgicales programmées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consultation médicale de routine uniquement</a:t>
            </a:r>
            <a:endParaRPr lang="en-US" sz="13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98</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Dans toute prise en charge complexe pluriprofessionnelle (ex : traumatisme aux urgences)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cas clinique de l'Annexe 1 (accident de bûcheronnage aux urgences) illustre comment les CNT (conscience de la situation, communication, leadership, prise de décision) sont mobilisées dans toute prise en charge complexe impliquant plusieurs professionnels.</a:t>
            </a:r>
            <a:endParaRPr lang="en-US" sz="14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99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99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représente le « gradient d'autorité » dans le contexte du cas clinique aux urgences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L'organisation hiérarchique du service des urgences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risque d'erreur lié à la déférence à la hiérarchie qui empêche un soignant d'alerter</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délégation progressive des soins selon le niveau d'expertise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niveau d'urgence clinique du patient</a:t>
            </a:r>
            <a:endParaRPr lang="en-US" sz="13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99</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risque d'erreur lié à la déférence à la hiérarchie qui empêche un soignant d'alerter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Dans le cas clinique, le gradient d'autorité est identifié comme un risque d'erreur : la tendance à ne pas remettre en question la décision du médecin senior, même lorsqu'un soignant perçoit une anomalie. L'assertivité et la sécurité psychologique permettent de le réduire.</a:t>
            </a:r>
            <a:endParaRPr lang="en-US" sz="14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100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ce référentiel, quel est le facteur clé pour transformer l'expérience en apprentissage lors d'une simulation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réalisme du scénario simulé</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retour réflexif structuré (débriefing)</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durée de la simulation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nombre de participants à la simulation</a:t>
            </a:r>
            <a:endParaRPr lang="en-US" sz="13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100</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retour réflexif structuré (débriefing)</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souligne que la clé pour transformer l'expérience en apprentissage réside dans le retour réflexif structuré (débriefing). Sans débriefing, la simulation peut renforcer de mauvaises pratiques. Le débriefing structuré est l'élément pédagogique central.</a:t>
            </a:r>
            <a:endParaRPr lang="en-US" sz="14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101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Quels publics sont ciblés par le dispositif de formation aux CNT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médecins uniquement en formation initiale</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étudiants en santé, les professionnels, les non-soignants et les patients partenaires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infirmiers et aides-soignants uniquement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directeurs d'établissements et gestionnaires de risques</a:t>
            </a:r>
            <a:endParaRPr lang="en-US" sz="13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101</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étudiants en santé, les professionnels, les non-soignants et les patients partenaires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cible une grande diversité de publics : étudiants en santé (formation initiale), professionnels quel que soit le secteur (soignants et non-soignants : ingénieurs qualité, gestionnaires des risques, encadrants, secrétaires), et les patients/usagers.</a:t>
            </a:r>
            <a:endParaRPr lang="en-US" sz="14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102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l'objectif du module 1 en formation initiale selon ce référentiel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Maîtriser les techniques de simulation haute fidélité</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S'approprier les concepts de base et développer une conscience réflexive individuelle et collective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Certifier les CNT des étudiants en fin de formation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Former les formateurs aux méthodes pédagogiques actives</a:t>
            </a:r>
            <a:endParaRPr lang="en-US" sz="13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102</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S'approprier les concepts de base et développer une conscience réflexive individuelle et collective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Module 1 de formation initiale vise à s'approprier les concepts de base des CNT et à développer une conscience réflexive individuelle et collective. Il couvre les thèmes FOH, culture de sécurité, neurosciences, fatigue, stress et travail en équipe.</a:t>
            </a:r>
            <a:endParaRPr lang="en-US" sz="14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103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spécificité est soulignée pour la formation continue aux CNT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se fait exclusivement en e-learning</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réalisée en équipe pluriprofessionnelle identifiée, à partir de situations de travail réelles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individuelle et centrée sur l'auto-évaluation</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s'adresse uniquement aux professionnels avec plus de 10 ans d'expérience</a:t>
            </a:r>
            <a:endParaRPr lang="en-US" sz="13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103</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est réalisée en équipe pluriprofessionnelle identifiée, à partir de situations de travail réelles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formation continue présente des spécificités importantes : elle est réalisée en équipe pluriprofessionnelle identifiée par l'équipe elle-même, à partir de situations de travail réelles, avec des modules adaptables aux besoins identifiés par les équipes et les structures.</a:t>
            </a:r>
            <a:endParaRPr lang="en-US" sz="14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104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acronyme désigne la compétence collective à identifier et partager la conscience de la situation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CRM</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SAGAT</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ISBAR</a:t>
            </a:r>
            <a:endParaRPr lang="en-US" sz="13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104</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COS désigne la Conscience de la Situation (Situation Awareness en anglais). Elle est individuelle (perception, compréhension, anticipation de la situation par une personne) et collective (compréhension partagée par l'équipe). La COS collective se construit par la communication et le briefing.</a:t>
            </a:r>
            <a:endParaRPr lang="en-US" sz="14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105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le cas de l'annexe 2 (extraction dentaire), quelle CNT principale est mobilisée face à la pression temporelle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communication avec le patient</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prise de décision sous pression malgré le stress et la routine</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leadership en situation critique</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gestion de la fatigue en fin de journée</a:t>
            </a:r>
            <a:endParaRPr lang="en-US" sz="13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105</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prise de décision sous pression malgré le stress et la routine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cas de l'annexe 2 illustre la prise de décision sous pression : le praticien chargé, en retard, doit maintenir une prise de décision adaptée malgré le stress, la routine et la contrainte temporelle. La ritualisation des actes et la check-list sont proposées comme pratiques de fiabilisation.</a:t>
            </a:r>
            <a:endParaRPr lang="en-US" sz="14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106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 lien entre les CNT et les EIAS (Événements Indésirables Associés aux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CNT n'ont pas d'impact direct sur la fréquence des EIAS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développement des CNT contribue à réduire et récupérer les EIAS</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EIAS sont exclusivement liés à des erreurs techniques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CNT ne réduisent que les EIAS mineurs</a:t>
            </a:r>
            <a:endParaRPr lang="en-US" sz="13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106</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développement des CNT contribue à réduire et récupérer les EIAS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référentiel établit un lien direct : des équipes maîtrisant les CNT peuvent significativement réduire et récupérer les EIAS, améliorer les résultats cliniques et diminuer l'absentéisme. Le développement des CNT est un facteur clé pour une culture de sécurité durable.</a:t>
            </a:r>
            <a:endParaRPr lang="en-US" sz="14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7B61FF"/>
          </a:solidFill>
          <a:ln w="12700">
            <a:solidFill>
              <a:srgbClr val="7B61FF"/>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164592" y="201168"/>
            <a:ext cx="1024128" cy="1024128"/>
          </a:xfrm>
          <a:prstGeom prst="ellipse">
            <a:avLst/>
          </a:prstGeom>
          <a:solidFill>
            <a:srgbClr val="F9C846"/>
          </a:solidFill>
          <a:ln w="12700">
            <a:solidFill>
              <a:srgbClr val="F9C84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110E2A"/>
                </a:solidFill>
                <a:latin typeface="Calibri" pitchFamily="34" charset="0"/>
                <a:ea typeface="Calibri" pitchFamily="34" charset="-122"/>
                <a:cs typeface="Calibri" pitchFamily="34" charset="-120"/>
              </a:rPr>
              <a:t>107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0E2A"/>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107 / 107</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conclusion centrale du référentiel sur la nature des compétences en soins ?</a:t>
            </a:r>
            <a:endParaRPr lang="en-US" sz="1700" dirty="0"/>
          </a:p>
        </p:txBody>
      </p:sp>
      <p:sp>
        <p:nvSpPr>
          <p:cNvPr id="9" name="Shape 7"/>
          <p:cNvSpPr/>
          <p:nvPr/>
        </p:nvSpPr>
        <p:spPr>
          <a:xfrm>
            <a:off x="164592" y="1865376"/>
            <a:ext cx="11832336" cy="36576"/>
          </a:xfrm>
          <a:prstGeom prst="rect">
            <a:avLst/>
          </a:prstGeom>
          <a:solidFill>
            <a:srgbClr val="F9C846">
              <a:alpha val="70000"/>
            </a:srgbClr>
          </a:solidFill>
          <a:ln w="12700">
            <a:solidFill>
              <a:srgbClr val="F9C846">
                <a:alpha val="70000"/>
              </a:srgbClr>
            </a:solidFill>
            <a:prstDash val="solid"/>
          </a:ln>
        </p:spPr>
      </p:sp>
      <p:sp>
        <p:nvSpPr>
          <p:cNvPr id="10" name="Shape 8"/>
          <p:cNvSpPr/>
          <p:nvPr/>
        </p:nvSpPr>
        <p:spPr>
          <a:xfrm>
            <a:off x="164592" y="1956816"/>
            <a:ext cx="11832336" cy="987552"/>
          </a:xfrm>
          <a:prstGeom prst="rect">
            <a:avLst/>
          </a:prstGeom>
          <a:solidFill>
            <a:srgbClr val="1E1847"/>
          </a:solidFill>
          <a:ln w="9525">
            <a:solidFill>
              <a:srgbClr val="7B61FF"/>
            </a:solidFill>
            <a:prstDash val="solid"/>
          </a:ln>
        </p:spPr>
      </p:sp>
      <p:sp>
        <p:nvSpPr>
          <p:cNvPr id="11" name="Shape 9"/>
          <p:cNvSpPr/>
          <p:nvPr/>
        </p:nvSpPr>
        <p:spPr>
          <a:xfrm>
            <a:off x="164592" y="1956816"/>
            <a:ext cx="73152" cy="987552"/>
          </a:xfrm>
          <a:prstGeom prst="rect">
            <a:avLst/>
          </a:prstGeom>
          <a:solidFill>
            <a:srgbClr val="7B61FF"/>
          </a:solidFill>
          <a:ln w="12700">
            <a:solidFill>
              <a:srgbClr val="7B61FF"/>
            </a:solidFill>
            <a:prstDash val="solid"/>
          </a:ln>
        </p:spPr>
      </p:sp>
      <p:sp>
        <p:nvSpPr>
          <p:cNvPr id="12" name="Shape 10"/>
          <p:cNvSpPr/>
          <p:nvPr/>
        </p:nvSpPr>
        <p:spPr>
          <a:xfrm>
            <a:off x="320040" y="2130552"/>
            <a:ext cx="640080" cy="640080"/>
          </a:xfrm>
          <a:prstGeom prst="ellipse">
            <a:avLst/>
          </a:prstGeom>
          <a:solidFill>
            <a:srgbClr val="7B61FF"/>
          </a:solidFill>
          <a:ln w="12700">
            <a:solidFill>
              <a:srgbClr val="7B61FF"/>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compétences techniques suffisent à garantir la sécurité des soins</a:t>
            </a:r>
            <a:endParaRPr lang="en-US" sz="1350" dirty="0"/>
          </a:p>
        </p:txBody>
      </p:sp>
      <p:sp>
        <p:nvSpPr>
          <p:cNvPr id="15" name="Shape 13"/>
          <p:cNvSpPr/>
          <p:nvPr/>
        </p:nvSpPr>
        <p:spPr>
          <a:xfrm>
            <a:off x="164592" y="3026664"/>
            <a:ext cx="11832336" cy="987552"/>
          </a:xfrm>
          <a:prstGeom prst="rect">
            <a:avLst/>
          </a:prstGeom>
          <a:solidFill>
            <a:srgbClr val="1E1847"/>
          </a:solidFill>
          <a:ln w="9525">
            <a:solidFill>
              <a:srgbClr val="F9C846"/>
            </a:solidFill>
            <a:prstDash val="solid"/>
          </a:ln>
        </p:spPr>
      </p:sp>
      <p:sp>
        <p:nvSpPr>
          <p:cNvPr id="16" name="Shape 14"/>
          <p:cNvSpPr/>
          <p:nvPr/>
        </p:nvSpPr>
        <p:spPr>
          <a:xfrm>
            <a:off x="164592" y="3026664"/>
            <a:ext cx="73152" cy="987552"/>
          </a:xfrm>
          <a:prstGeom prst="rect">
            <a:avLst/>
          </a:prstGeom>
          <a:solidFill>
            <a:srgbClr val="F9C846"/>
          </a:solidFill>
          <a:ln w="12700">
            <a:solidFill>
              <a:srgbClr val="F9C846"/>
            </a:solidFill>
            <a:prstDash val="solid"/>
          </a:ln>
        </p:spPr>
      </p:sp>
      <p:sp>
        <p:nvSpPr>
          <p:cNvPr id="17" name="Shape 15"/>
          <p:cNvSpPr/>
          <p:nvPr/>
        </p:nvSpPr>
        <p:spPr>
          <a:xfrm>
            <a:off x="320040" y="3200400"/>
            <a:ext cx="640080" cy="640080"/>
          </a:xfrm>
          <a:prstGeom prst="ellipse">
            <a:avLst/>
          </a:prstGeom>
          <a:solidFill>
            <a:srgbClr val="F9C846"/>
          </a:solidFill>
          <a:ln w="12700">
            <a:solidFill>
              <a:srgbClr val="F9C846"/>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compétence est un tout : elle intègre les dimensions techniques ET non techniques indissociablement</a:t>
            </a:r>
            <a:endParaRPr lang="en-US" sz="1350" dirty="0"/>
          </a:p>
        </p:txBody>
      </p:sp>
      <p:sp>
        <p:nvSpPr>
          <p:cNvPr id="20" name="Shape 18"/>
          <p:cNvSpPr/>
          <p:nvPr/>
        </p:nvSpPr>
        <p:spPr>
          <a:xfrm>
            <a:off x="164592" y="4096512"/>
            <a:ext cx="11832336" cy="987552"/>
          </a:xfrm>
          <a:prstGeom prst="rect">
            <a:avLst/>
          </a:prstGeom>
          <a:solidFill>
            <a:srgbClr val="1E1847"/>
          </a:solidFill>
          <a:ln w="9525">
            <a:solidFill>
              <a:srgbClr val="FF6B9D"/>
            </a:solidFill>
            <a:prstDash val="solid"/>
          </a:ln>
        </p:spPr>
      </p:sp>
      <p:sp>
        <p:nvSpPr>
          <p:cNvPr id="21" name="Shape 19"/>
          <p:cNvSpPr/>
          <p:nvPr/>
        </p:nvSpPr>
        <p:spPr>
          <a:xfrm>
            <a:off x="164592" y="4096512"/>
            <a:ext cx="73152" cy="987552"/>
          </a:xfrm>
          <a:prstGeom prst="rect">
            <a:avLst/>
          </a:prstGeom>
          <a:solidFill>
            <a:srgbClr val="FF6B9D"/>
          </a:solidFill>
          <a:ln w="12700">
            <a:solidFill>
              <a:srgbClr val="FF6B9D"/>
            </a:solidFill>
            <a:prstDash val="solid"/>
          </a:ln>
        </p:spPr>
      </p:sp>
      <p:sp>
        <p:nvSpPr>
          <p:cNvPr id="22" name="Shape 20"/>
          <p:cNvSpPr/>
          <p:nvPr/>
        </p:nvSpPr>
        <p:spPr>
          <a:xfrm>
            <a:off x="320040" y="4270248"/>
            <a:ext cx="640080" cy="640080"/>
          </a:xfrm>
          <a:prstGeom prst="ellipse">
            <a:avLst/>
          </a:prstGeom>
          <a:solidFill>
            <a:srgbClr val="FF6B9D"/>
          </a:solidFill>
          <a:ln w="12700">
            <a:solidFill>
              <a:srgbClr val="FF6B9D"/>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CNT doivent remplacer progressivement les compétences techniques</a:t>
            </a:r>
            <a:endParaRPr lang="en-US" sz="1350" dirty="0"/>
          </a:p>
        </p:txBody>
      </p:sp>
      <p:sp>
        <p:nvSpPr>
          <p:cNvPr id="25" name="Shape 23"/>
          <p:cNvSpPr/>
          <p:nvPr/>
        </p:nvSpPr>
        <p:spPr>
          <a:xfrm>
            <a:off x="164592" y="5166360"/>
            <a:ext cx="11832336" cy="987552"/>
          </a:xfrm>
          <a:prstGeom prst="rect">
            <a:avLst/>
          </a:prstGeom>
          <a:solidFill>
            <a:srgbClr val="1E1847"/>
          </a:solidFill>
          <a:ln w="9525">
            <a:solidFill>
              <a:srgbClr val="3DD9C5"/>
            </a:solidFill>
            <a:prstDash val="solid"/>
          </a:ln>
        </p:spPr>
      </p:sp>
      <p:sp>
        <p:nvSpPr>
          <p:cNvPr id="26" name="Shape 24"/>
          <p:cNvSpPr/>
          <p:nvPr/>
        </p:nvSpPr>
        <p:spPr>
          <a:xfrm>
            <a:off x="164592" y="5166360"/>
            <a:ext cx="73152" cy="987552"/>
          </a:xfrm>
          <a:prstGeom prst="rect">
            <a:avLst/>
          </a:prstGeom>
          <a:solidFill>
            <a:srgbClr val="3DD9C5"/>
          </a:solidFill>
          <a:ln w="12700">
            <a:solidFill>
              <a:srgbClr val="3DD9C5"/>
            </a:solidFill>
            <a:prstDash val="solid"/>
          </a:ln>
        </p:spPr>
      </p:sp>
      <p:sp>
        <p:nvSpPr>
          <p:cNvPr id="27" name="Shape 25"/>
          <p:cNvSpPr/>
          <p:nvPr/>
        </p:nvSpPr>
        <p:spPr>
          <a:xfrm>
            <a:off x="320040" y="5340096"/>
            <a:ext cx="640080" cy="640080"/>
          </a:xfrm>
          <a:prstGeom prst="ellipse">
            <a:avLst/>
          </a:prstGeom>
          <a:solidFill>
            <a:srgbClr val="3DD9C5"/>
          </a:solidFill>
          <a:ln w="12700">
            <a:solidFill>
              <a:srgbClr val="3DD9C5"/>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compétences techniques restent prioritaires sur les CNT</a:t>
            </a:r>
            <a:endParaRPr lang="en-US" sz="13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110E2A"/>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3DD9C5"/>
          </a:solidFill>
          <a:ln w="12700">
            <a:solidFill>
              <a:srgbClr val="3DD9C5"/>
            </a:solidFill>
            <a:prstDash val="solid"/>
          </a:ln>
        </p:spPr>
      </p:sp>
      <p:sp>
        <p:nvSpPr>
          <p:cNvPr id="3" name="Shape 1"/>
          <p:cNvSpPr/>
          <p:nvPr/>
        </p:nvSpPr>
        <p:spPr>
          <a:xfrm>
            <a:off x="0" y="6739128"/>
            <a:ext cx="12161520" cy="118872"/>
          </a:xfrm>
          <a:prstGeom prst="rect">
            <a:avLst/>
          </a:prstGeom>
          <a:solidFill>
            <a:srgbClr val="F9C846"/>
          </a:solidFill>
          <a:ln w="12700">
            <a:solidFill>
              <a:srgbClr val="F9C846"/>
            </a:solidFill>
            <a:prstDash val="solid"/>
          </a:ln>
        </p:spPr>
      </p:sp>
      <p:sp>
        <p:nvSpPr>
          <p:cNvPr id="4" name="Shape 2"/>
          <p:cNvSpPr/>
          <p:nvPr/>
        </p:nvSpPr>
        <p:spPr>
          <a:xfrm>
            <a:off x="0" y="0"/>
            <a:ext cx="201168" cy="6858000"/>
          </a:xfrm>
          <a:prstGeom prst="rect">
            <a:avLst/>
          </a:prstGeom>
          <a:solidFill>
            <a:srgbClr val="3DD9C5"/>
          </a:solidFill>
          <a:ln w="12700">
            <a:solidFill>
              <a:srgbClr val="3DD9C5"/>
            </a:solidFill>
            <a:prstDash val="solid"/>
          </a:ln>
        </p:spPr>
      </p:sp>
      <p:sp>
        <p:nvSpPr>
          <p:cNvPr id="5" name="Shape 3"/>
          <p:cNvSpPr/>
          <p:nvPr/>
        </p:nvSpPr>
        <p:spPr>
          <a:xfrm>
            <a:off x="320040" y="182880"/>
            <a:ext cx="548640" cy="548640"/>
          </a:xfrm>
          <a:prstGeom prst="ellipse">
            <a:avLst/>
          </a:prstGeom>
          <a:solidFill>
            <a:srgbClr val="3DD9C5"/>
          </a:solidFill>
          <a:ln w="12700">
            <a:solidFill>
              <a:srgbClr val="3DD9C5"/>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3DD9C5"/>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5A8A"/>
                </a:solidFill>
                <a:latin typeface="Calibri" pitchFamily="34" charset="0"/>
                <a:ea typeface="Calibri" pitchFamily="34" charset="-122"/>
                <a:cs typeface="Calibri" pitchFamily="34" charset="-120"/>
              </a:rPr>
              <a:t>Q 107</a:t>
            </a:r>
            <a:endParaRPr lang="en-US" sz="1100" dirty="0"/>
          </a:p>
        </p:txBody>
      </p:sp>
      <p:sp>
        <p:nvSpPr>
          <p:cNvPr id="9" name="Shape 7"/>
          <p:cNvSpPr/>
          <p:nvPr/>
        </p:nvSpPr>
        <p:spPr>
          <a:xfrm>
            <a:off x="201168" y="822960"/>
            <a:ext cx="11960352" cy="1078992"/>
          </a:xfrm>
          <a:prstGeom prst="rect">
            <a:avLst/>
          </a:prstGeom>
          <a:solidFill>
            <a:srgbClr val="0A2D2B"/>
          </a:solidFill>
          <a:ln w="9525">
            <a:solidFill>
              <a:srgbClr val="3DD9C5"/>
            </a:solidFill>
            <a:prstDash val="solid"/>
          </a:ln>
        </p:spPr>
      </p:sp>
      <p:sp>
        <p:nvSpPr>
          <p:cNvPr id="10" name="Shape 8"/>
          <p:cNvSpPr/>
          <p:nvPr/>
        </p:nvSpPr>
        <p:spPr>
          <a:xfrm>
            <a:off x="347472" y="1042416"/>
            <a:ext cx="640080" cy="640080"/>
          </a:xfrm>
          <a:prstGeom prst="ellipse">
            <a:avLst/>
          </a:prstGeom>
          <a:solidFill>
            <a:srgbClr val="3DD9C5"/>
          </a:solidFill>
          <a:ln w="12700">
            <a:solidFill>
              <a:srgbClr val="3DD9C5"/>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compétence est un tout : elle intègre les dimensions techniques ET non techniques indissociablement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3DD9C5"/>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A1440"/>
          </a:solidFill>
          <a:ln w="12700">
            <a:solidFill>
              <a:srgbClr val="1A1440"/>
            </a:solidFill>
            <a:prstDash val="solid"/>
          </a:ln>
        </p:spPr>
      </p:sp>
      <p:sp>
        <p:nvSpPr>
          <p:cNvPr id="15" name="Shape 13"/>
          <p:cNvSpPr/>
          <p:nvPr/>
        </p:nvSpPr>
        <p:spPr>
          <a:xfrm>
            <a:off x="201168" y="2350008"/>
            <a:ext cx="54864" cy="4389120"/>
          </a:xfrm>
          <a:prstGeom prst="rect">
            <a:avLst/>
          </a:prstGeom>
          <a:solidFill>
            <a:srgbClr val="F9C846"/>
          </a:solidFill>
          <a:ln w="12700">
            <a:solidFill>
              <a:srgbClr val="F9C84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conclusion du référentiel est explicite : « Stricto sensu, une compétence est un tout ! C'est un savoir-agir complexe qui doit prendre en compte non seulement l'aspect technique, mais aussi la façon de le réaliser. La dissociation des CNT et des compétences techniques est artificielle.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215</Slides>
  <Notes>215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215</vt:i4>
      </vt:variant>
    </vt:vector>
  </HeadingPairs>
  <TitlesOfParts>
    <vt:vector size="2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Compétences Non Techniques — HAS 2026</dc:title>
  <dc:subject>PptxGenJS Presentation</dc:subject>
  <dc:creator>PptxGenJS</dc:creator>
  <cp:lastModifiedBy>PptxGenJS</cp:lastModifiedBy>
  <cp:revision>1</cp:revision>
  <dcterms:created xsi:type="dcterms:W3CDTF">2026-04-05T12:03:36Z</dcterms:created>
  <dcterms:modified xsi:type="dcterms:W3CDTF">2026-04-05T12:03:36Z</dcterms:modified>
</cp:coreProperties>
</file>