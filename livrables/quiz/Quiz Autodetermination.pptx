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69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tableStyles" Target="tableStyle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microsoft.com/office/2016/11/relationships/changesInfo" Target="changesInfos/changesInfo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AUBRUN" userId="4fc61db2-4c88-4eb6-b1fc-02ee2d950335" providerId="ADAL" clId="{C01C4F0C-6981-4347-B642-73587BE73484}"/>
    <pc:docChg chg="modSld">
      <pc:chgData name="Eric AUBRUN" userId="4fc61db2-4c88-4eb6-b1fc-02ee2d950335" providerId="ADAL" clId="{C01C4F0C-6981-4347-B642-73587BE73484}" dt="2026-03-23T20:14:44.570" v="0"/>
      <pc:docMkLst>
        <pc:docMk/>
      </pc:docMkLst>
      <pc:sldChg chg="modTransition">
        <pc:chgData name="Eric AUBRUN" userId="4fc61db2-4c88-4eb6-b1fc-02ee2d950335" providerId="ADAL" clId="{C01C4F0C-6981-4347-B642-73587BE73484}" dt="2026-03-23T20:14:44.570" v="0"/>
        <pc:sldMkLst>
          <pc:docMk/>
          <pc:sldMk cId="0" sldId="256"/>
        </pc:sldMkLst>
      </pc:sldChg>
      <pc:sldChg chg="modTransition">
        <pc:chgData name="Eric AUBRUN" userId="4fc61db2-4c88-4eb6-b1fc-02ee2d950335" providerId="ADAL" clId="{C01C4F0C-6981-4347-B642-73587BE73484}" dt="2026-03-23T20:14:44.570" v="0"/>
        <pc:sldMkLst>
          <pc:docMk/>
          <pc:sldMk cId="0" sldId="257"/>
        </pc:sldMkLst>
      </pc:sldChg>
      <pc:sldChg chg="modTransition">
        <pc:chgData name="Eric AUBRUN" userId="4fc61db2-4c88-4eb6-b1fc-02ee2d950335" providerId="ADAL" clId="{C01C4F0C-6981-4347-B642-73587BE73484}" dt="2026-03-23T20:14:44.570" v="0"/>
        <pc:sldMkLst>
          <pc:docMk/>
          <pc:sldMk cId="0" sldId="258"/>
        </pc:sldMkLst>
      </pc:sldChg>
      <pc:sldChg chg="modTransition">
        <pc:chgData name="Eric AUBRUN" userId="4fc61db2-4c88-4eb6-b1fc-02ee2d950335" providerId="ADAL" clId="{C01C4F0C-6981-4347-B642-73587BE73484}" dt="2026-03-23T20:14:44.570" v="0"/>
        <pc:sldMkLst>
          <pc:docMk/>
          <pc:sldMk cId="0" sldId="259"/>
        </pc:sldMkLst>
      </pc:sldChg>
      <pc:sldChg chg="modTransition">
        <pc:chgData name="Eric AUBRUN" userId="4fc61db2-4c88-4eb6-b1fc-02ee2d950335" providerId="ADAL" clId="{C01C4F0C-6981-4347-B642-73587BE73484}" dt="2026-03-23T20:14:44.570" v="0"/>
        <pc:sldMkLst>
          <pc:docMk/>
          <pc:sldMk cId="0" sldId="260"/>
        </pc:sldMkLst>
      </pc:sldChg>
      <pc:sldChg chg="modTransition">
        <pc:chgData name="Eric AUBRUN" userId="4fc61db2-4c88-4eb6-b1fc-02ee2d950335" providerId="ADAL" clId="{C01C4F0C-6981-4347-B642-73587BE73484}" dt="2026-03-23T20:14:44.570" v="0"/>
        <pc:sldMkLst>
          <pc:docMk/>
          <pc:sldMk cId="0" sldId="261"/>
        </pc:sldMkLst>
      </pc:sldChg>
      <pc:sldChg chg="modTransition">
        <pc:chgData name="Eric AUBRUN" userId="4fc61db2-4c88-4eb6-b1fc-02ee2d950335" providerId="ADAL" clId="{C01C4F0C-6981-4347-B642-73587BE73484}" dt="2026-03-23T20:14:44.570" v="0"/>
        <pc:sldMkLst>
          <pc:docMk/>
          <pc:sldMk cId="0" sldId="262"/>
        </pc:sldMkLst>
      </pc:sldChg>
      <pc:sldChg chg="modTransition">
        <pc:chgData name="Eric AUBRUN" userId="4fc61db2-4c88-4eb6-b1fc-02ee2d950335" providerId="ADAL" clId="{C01C4F0C-6981-4347-B642-73587BE73484}" dt="2026-03-23T20:14:44.570" v="0"/>
        <pc:sldMkLst>
          <pc:docMk/>
          <pc:sldMk cId="0" sldId="263"/>
        </pc:sldMkLst>
      </pc:sldChg>
      <pc:sldChg chg="modTransition">
        <pc:chgData name="Eric AUBRUN" userId="4fc61db2-4c88-4eb6-b1fc-02ee2d950335" providerId="ADAL" clId="{C01C4F0C-6981-4347-B642-73587BE73484}" dt="2026-03-23T20:14:44.570" v="0"/>
        <pc:sldMkLst>
          <pc:docMk/>
          <pc:sldMk cId="0" sldId="264"/>
        </pc:sldMkLst>
      </pc:sldChg>
      <pc:sldChg chg="modTransition">
        <pc:chgData name="Eric AUBRUN" userId="4fc61db2-4c88-4eb6-b1fc-02ee2d950335" providerId="ADAL" clId="{C01C4F0C-6981-4347-B642-73587BE73484}" dt="2026-03-23T20:14:44.570" v="0"/>
        <pc:sldMkLst>
          <pc:docMk/>
          <pc:sldMk cId="0" sldId="265"/>
        </pc:sldMkLst>
      </pc:sldChg>
      <pc:sldChg chg="modTransition">
        <pc:chgData name="Eric AUBRUN" userId="4fc61db2-4c88-4eb6-b1fc-02ee2d950335" providerId="ADAL" clId="{C01C4F0C-6981-4347-B642-73587BE73484}" dt="2026-03-23T20:14:44.570" v="0"/>
        <pc:sldMkLst>
          <pc:docMk/>
          <pc:sldMk cId="0" sldId="266"/>
        </pc:sldMkLst>
      </pc:sldChg>
      <pc:sldChg chg="modTransition">
        <pc:chgData name="Eric AUBRUN" userId="4fc61db2-4c88-4eb6-b1fc-02ee2d950335" providerId="ADAL" clId="{C01C4F0C-6981-4347-B642-73587BE73484}" dt="2026-03-23T20:14:44.570" v="0"/>
        <pc:sldMkLst>
          <pc:docMk/>
          <pc:sldMk cId="0" sldId="267"/>
        </pc:sldMkLst>
      </pc:sldChg>
      <pc:sldChg chg="modTransition">
        <pc:chgData name="Eric AUBRUN" userId="4fc61db2-4c88-4eb6-b1fc-02ee2d950335" providerId="ADAL" clId="{C01C4F0C-6981-4347-B642-73587BE73484}" dt="2026-03-23T20:14:44.570" v="0"/>
        <pc:sldMkLst>
          <pc:docMk/>
          <pc:sldMk cId="0" sldId="268"/>
        </pc:sldMkLst>
      </pc:sldChg>
      <pc:sldChg chg="modTransition">
        <pc:chgData name="Eric AUBRUN" userId="4fc61db2-4c88-4eb6-b1fc-02ee2d950335" providerId="ADAL" clId="{C01C4F0C-6981-4347-B642-73587BE73484}" dt="2026-03-23T20:14:44.570" v="0"/>
        <pc:sldMkLst>
          <pc:docMk/>
          <pc:sldMk cId="0" sldId="269"/>
        </pc:sldMkLst>
      </pc:sldChg>
      <pc:sldChg chg="modTransition">
        <pc:chgData name="Eric AUBRUN" userId="4fc61db2-4c88-4eb6-b1fc-02ee2d950335" providerId="ADAL" clId="{C01C4F0C-6981-4347-B642-73587BE73484}" dt="2026-03-23T20:14:44.570" v="0"/>
        <pc:sldMkLst>
          <pc:docMk/>
          <pc:sldMk cId="0" sldId="270"/>
        </pc:sldMkLst>
      </pc:sldChg>
      <pc:sldChg chg="modTransition">
        <pc:chgData name="Eric AUBRUN" userId="4fc61db2-4c88-4eb6-b1fc-02ee2d950335" providerId="ADAL" clId="{C01C4F0C-6981-4347-B642-73587BE73484}" dt="2026-03-23T20:14:44.570" v="0"/>
        <pc:sldMkLst>
          <pc:docMk/>
          <pc:sldMk cId="0" sldId="271"/>
        </pc:sldMkLst>
      </pc:sldChg>
      <pc:sldChg chg="modTransition">
        <pc:chgData name="Eric AUBRUN" userId="4fc61db2-4c88-4eb6-b1fc-02ee2d950335" providerId="ADAL" clId="{C01C4F0C-6981-4347-B642-73587BE73484}" dt="2026-03-23T20:14:44.570" v="0"/>
        <pc:sldMkLst>
          <pc:docMk/>
          <pc:sldMk cId="0" sldId="272"/>
        </pc:sldMkLst>
      </pc:sldChg>
      <pc:sldChg chg="modTransition">
        <pc:chgData name="Eric AUBRUN" userId="4fc61db2-4c88-4eb6-b1fc-02ee2d950335" providerId="ADAL" clId="{C01C4F0C-6981-4347-B642-73587BE73484}" dt="2026-03-23T20:14:44.570" v="0"/>
        <pc:sldMkLst>
          <pc:docMk/>
          <pc:sldMk cId="0" sldId="273"/>
        </pc:sldMkLst>
      </pc:sldChg>
      <pc:sldChg chg="modTransition">
        <pc:chgData name="Eric AUBRUN" userId="4fc61db2-4c88-4eb6-b1fc-02ee2d950335" providerId="ADAL" clId="{C01C4F0C-6981-4347-B642-73587BE73484}" dt="2026-03-23T20:14:44.570" v="0"/>
        <pc:sldMkLst>
          <pc:docMk/>
          <pc:sldMk cId="0" sldId="274"/>
        </pc:sldMkLst>
      </pc:sldChg>
      <pc:sldChg chg="modTransition">
        <pc:chgData name="Eric AUBRUN" userId="4fc61db2-4c88-4eb6-b1fc-02ee2d950335" providerId="ADAL" clId="{C01C4F0C-6981-4347-B642-73587BE73484}" dt="2026-03-23T20:14:44.570" v="0"/>
        <pc:sldMkLst>
          <pc:docMk/>
          <pc:sldMk cId="0" sldId="275"/>
        </pc:sldMkLst>
      </pc:sldChg>
      <pc:sldChg chg="modTransition">
        <pc:chgData name="Eric AUBRUN" userId="4fc61db2-4c88-4eb6-b1fc-02ee2d950335" providerId="ADAL" clId="{C01C4F0C-6981-4347-B642-73587BE73484}" dt="2026-03-23T20:14:44.570" v="0"/>
        <pc:sldMkLst>
          <pc:docMk/>
          <pc:sldMk cId="0" sldId="276"/>
        </pc:sldMkLst>
      </pc:sldChg>
      <pc:sldChg chg="modTransition">
        <pc:chgData name="Eric AUBRUN" userId="4fc61db2-4c88-4eb6-b1fc-02ee2d950335" providerId="ADAL" clId="{C01C4F0C-6981-4347-B642-73587BE73484}" dt="2026-03-23T20:14:44.570" v="0"/>
        <pc:sldMkLst>
          <pc:docMk/>
          <pc:sldMk cId="0" sldId="277"/>
        </pc:sldMkLst>
      </pc:sldChg>
      <pc:sldChg chg="modTransition">
        <pc:chgData name="Eric AUBRUN" userId="4fc61db2-4c88-4eb6-b1fc-02ee2d950335" providerId="ADAL" clId="{C01C4F0C-6981-4347-B642-73587BE73484}" dt="2026-03-23T20:14:44.570" v="0"/>
        <pc:sldMkLst>
          <pc:docMk/>
          <pc:sldMk cId="0" sldId="278"/>
        </pc:sldMkLst>
      </pc:sldChg>
      <pc:sldChg chg="modTransition">
        <pc:chgData name="Eric AUBRUN" userId="4fc61db2-4c88-4eb6-b1fc-02ee2d950335" providerId="ADAL" clId="{C01C4F0C-6981-4347-B642-73587BE73484}" dt="2026-03-23T20:14:44.570" v="0"/>
        <pc:sldMkLst>
          <pc:docMk/>
          <pc:sldMk cId="0" sldId="279"/>
        </pc:sldMkLst>
      </pc:sldChg>
      <pc:sldChg chg="modTransition">
        <pc:chgData name="Eric AUBRUN" userId="4fc61db2-4c88-4eb6-b1fc-02ee2d950335" providerId="ADAL" clId="{C01C4F0C-6981-4347-B642-73587BE73484}" dt="2026-03-23T20:14:44.570" v="0"/>
        <pc:sldMkLst>
          <pc:docMk/>
          <pc:sldMk cId="0" sldId="280"/>
        </pc:sldMkLst>
      </pc:sldChg>
      <pc:sldChg chg="modTransition">
        <pc:chgData name="Eric AUBRUN" userId="4fc61db2-4c88-4eb6-b1fc-02ee2d950335" providerId="ADAL" clId="{C01C4F0C-6981-4347-B642-73587BE73484}" dt="2026-03-23T20:14:44.570" v="0"/>
        <pc:sldMkLst>
          <pc:docMk/>
          <pc:sldMk cId="0" sldId="281"/>
        </pc:sldMkLst>
      </pc:sldChg>
      <pc:sldChg chg="modTransition">
        <pc:chgData name="Eric AUBRUN" userId="4fc61db2-4c88-4eb6-b1fc-02ee2d950335" providerId="ADAL" clId="{C01C4F0C-6981-4347-B642-73587BE73484}" dt="2026-03-23T20:14:44.570" v="0"/>
        <pc:sldMkLst>
          <pc:docMk/>
          <pc:sldMk cId="0" sldId="282"/>
        </pc:sldMkLst>
      </pc:sldChg>
      <pc:sldChg chg="modTransition">
        <pc:chgData name="Eric AUBRUN" userId="4fc61db2-4c88-4eb6-b1fc-02ee2d950335" providerId="ADAL" clId="{C01C4F0C-6981-4347-B642-73587BE73484}" dt="2026-03-23T20:14:44.570" v="0"/>
        <pc:sldMkLst>
          <pc:docMk/>
          <pc:sldMk cId="0" sldId="283"/>
        </pc:sldMkLst>
      </pc:sldChg>
      <pc:sldChg chg="modTransition">
        <pc:chgData name="Eric AUBRUN" userId="4fc61db2-4c88-4eb6-b1fc-02ee2d950335" providerId="ADAL" clId="{C01C4F0C-6981-4347-B642-73587BE73484}" dt="2026-03-23T20:14:44.570" v="0"/>
        <pc:sldMkLst>
          <pc:docMk/>
          <pc:sldMk cId="0" sldId="284"/>
        </pc:sldMkLst>
      </pc:sldChg>
      <pc:sldChg chg="modTransition">
        <pc:chgData name="Eric AUBRUN" userId="4fc61db2-4c88-4eb6-b1fc-02ee2d950335" providerId="ADAL" clId="{C01C4F0C-6981-4347-B642-73587BE73484}" dt="2026-03-23T20:14:44.570" v="0"/>
        <pc:sldMkLst>
          <pc:docMk/>
          <pc:sldMk cId="0" sldId="285"/>
        </pc:sldMkLst>
      </pc:sldChg>
      <pc:sldChg chg="modTransition">
        <pc:chgData name="Eric AUBRUN" userId="4fc61db2-4c88-4eb6-b1fc-02ee2d950335" providerId="ADAL" clId="{C01C4F0C-6981-4347-B642-73587BE73484}" dt="2026-03-23T20:14:44.570" v="0"/>
        <pc:sldMkLst>
          <pc:docMk/>
          <pc:sldMk cId="0" sldId="286"/>
        </pc:sldMkLst>
      </pc:sldChg>
      <pc:sldChg chg="modTransition">
        <pc:chgData name="Eric AUBRUN" userId="4fc61db2-4c88-4eb6-b1fc-02ee2d950335" providerId="ADAL" clId="{C01C4F0C-6981-4347-B642-73587BE73484}" dt="2026-03-23T20:14:44.570" v="0"/>
        <pc:sldMkLst>
          <pc:docMk/>
          <pc:sldMk cId="0" sldId="287"/>
        </pc:sldMkLst>
      </pc:sldChg>
      <pc:sldChg chg="modTransition">
        <pc:chgData name="Eric AUBRUN" userId="4fc61db2-4c88-4eb6-b1fc-02ee2d950335" providerId="ADAL" clId="{C01C4F0C-6981-4347-B642-73587BE73484}" dt="2026-03-23T20:14:44.570" v="0"/>
        <pc:sldMkLst>
          <pc:docMk/>
          <pc:sldMk cId="0" sldId="288"/>
        </pc:sldMkLst>
      </pc:sldChg>
      <pc:sldChg chg="modTransition">
        <pc:chgData name="Eric AUBRUN" userId="4fc61db2-4c88-4eb6-b1fc-02ee2d950335" providerId="ADAL" clId="{C01C4F0C-6981-4347-B642-73587BE73484}" dt="2026-03-23T20:14:44.570" v="0"/>
        <pc:sldMkLst>
          <pc:docMk/>
          <pc:sldMk cId="0" sldId="289"/>
        </pc:sldMkLst>
      </pc:sldChg>
      <pc:sldChg chg="modTransition">
        <pc:chgData name="Eric AUBRUN" userId="4fc61db2-4c88-4eb6-b1fc-02ee2d950335" providerId="ADAL" clId="{C01C4F0C-6981-4347-B642-73587BE73484}" dt="2026-03-23T20:14:44.570" v="0"/>
        <pc:sldMkLst>
          <pc:docMk/>
          <pc:sldMk cId="0" sldId="290"/>
        </pc:sldMkLst>
      </pc:sldChg>
      <pc:sldChg chg="modTransition">
        <pc:chgData name="Eric AUBRUN" userId="4fc61db2-4c88-4eb6-b1fc-02ee2d950335" providerId="ADAL" clId="{C01C4F0C-6981-4347-B642-73587BE73484}" dt="2026-03-23T20:14:44.570" v="0"/>
        <pc:sldMkLst>
          <pc:docMk/>
          <pc:sldMk cId="0" sldId="291"/>
        </pc:sldMkLst>
      </pc:sldChg>
      <pc:sldChg chg="modTransition">
        <pc:chgData name="Eric AUBRUN" userId="4fc61db2-4c88-4eb6-b1fc-02ee2d950335" providerId="ADAL" clId="{C01C4F0C-6981-4347-B642-73587BE73484}" dt="2026-03-23T20:14:44.570" v="0"/>
        <pc:sldMkLst>
          <pc:docMk/>
          <pc:sldMk cId="0" sldId="292"/>
        </pc:sldMkLst>
      </pc:sldChg>
      <pc:sldChg chg="modTransition">
        <pc:chgData name="Eric AUBRUN" userId="4fc61db2-4c88-4eb6-b1fc-02ee2d950335" providerId="ADAL" clId="{C01C4F0C-6981-4347-B642-73587BE73484}" dt="2026-03-23T20:14:44.570" v="0"/>
        <pc:sldMkLst>
          <pc:docMk/>
          <pc:sldMk cId="0" sldId="293"/>
        </pc:sldMkLst>
      </pc:sldChg>
      <pc:sldChg chg="modTransition">
        <pc:chgData name="Eric AUBRUN" userId="4fc61db2-4c88-4eb6-b1fc-02ee2d950335" providerId="ADAL" clId="{C01C4F0C-6981-4347-B642-73587BE73484}" dt="2026-03-23T20:14:44.570" v="0"/>
        <pc:sldMkLst>
          <pc:docMk/>
          <pc:sldMk cId="0" sldId="294"/>
        </pc:sldMkLst>
      </pc:sldChg>
      <pc:sldChg chg="modTransition">
        <pc:chgData name="Eric AUBRUN" userId="4fc61db2-4c88-4eb6-b1fc-02ee2d950335" providerId="ADAL" clId="{C01C4F0C-6981-4347-B642-73587BE73484}" dt="2026-03-23T20:14:44.570" v="0"/>
        <pc:sldMkLst>
          <pc:docMk/>
          <pc:sldMk cId="0" sldId="295"/>
        </pc:sldMkLst>
      </pc:sldChg>
      <pc:sldChg chg="modTransition">
        <pc:chgData name="Eric AUBRUN" userId="4fc61db2-4c88-4eb6-b1fc-02ee2d950335" providerId="ADAL" clId="{C01C4F0C-6981-4347-B642-73587BE73484}" dt="2026-03-23T20:14:44.570" v="0"/>
        <pc:sldMkLst>
          <pc:docMk/>
          <pc:sldMk cId="0" sldId="296"/>
        </pc:sldMkLst>
      </pc:sldChg>
      <pc:sldChg chg="modTransition">
        <pc:chgData name="Eric AUBRUN" userId="4fc61db2-4c88-4eb6-b1fc-02ee2d950335" providerId="ADAL" clId="{C01C4F0C-6981-4347-B642-73587BE73484}" dt="2026-03-23T20:14:44.570" v="0"/>
        <pc:sldMkLst>
          <pc:docMk/>
          <pc:sldMk cId="0" sldId="297"/>
        </pc:sldMkLst>
      </pc:sldChg>
      <pc:sldChg chg="modTransition">
        <pc:chgData name="Eric AUBRUN" userId="4fc61db2-4c88-4eb6-b1fc-02ee2d950335" providerId="ADAL" clId="{C01C4F0C-6981-4347-B642-73587BE73484}" dt="2026-03-23T20:14:44.570" v="0"/>
        <pc:sldMkLst>
          <pc:docMk/>
          <pc:sldMk cId="0" sldId="298"/>
        </pc:sldMkLst>
      </pc:sldChg>
      <pc:sldChg chg="modTransition">
        <pc:chgData name="Eric AUBRUN" userId="4fc61db2-4c88-4eb6-b1fc-02ee2d950335" providerId="ADAL" clId="{C01C4F0C-6981-4347-B642-73587BE73484}" dt="2026-03-23T20:14:44.570" v="0"/>
        <pc:sldMkLst>
          <pc:docMk/>
          <pc:sldMk cId="0" sldId="299"/>
        </pc:sldMkLst>
      </pc:sldChg>
      <pc:sldChg chg="modTransition">
        <pc:chgData name="Eric AUBRUN" userId="4fc61db2-4c88-4eb6-b1fc-02ee2d950335" providerId="ADAL" clId="{C01C4F0C-6981-4347-B642-73587BE73484}" dt="2026-03-23T20:14:44.570" v="0"/>
        <pc:sldMkLst>
          <pc:docMk/>
          <pc:sldMk cId="0" sldId="300"/>
        </pc:sldMkLst>
      </pc:sldChg>
      <pc:sldChg chg="modTransition">
        <pc:chgData name="Eric AUBRUN" userId="4fc61db2-4c88-4eb6-b1fc-02ee2d950335" providerId="ADAL" clId="{C01C4F0C-6981-4347-B642-73587BE73484}" dt="2026-03-23T20:14:44.570" v="0"/>
        <pc:sldMkLst>
          <pc:docMk/>
          <pc:sldMk cId="0" sldId="301"/>
        </pc:sldMkLst>
      </pc:sldChg>
      <pc:sldChg chg="modTransition">
        <pc:chgData name="Eric AUBRUN" userId="4fc61db2-4c88-4eb6-b1fc-02ee2d950335" providerId="ADAL" clId="{C01C4F0C-6981-4347-B642-73587BE73484}" dt="2026-03-23T20:14:44.570" v="0"/>
        <pc:sldMkLst>
          <pc:docMk/>
          <pc:sldMk cId="0" sldId="302"/>
        </pc:sldMkLst>
      </pc:sldChg>
      <pc:sldChg chg="modTransition">
        <pc:chgData name="Eric AUBRUN" userId="4fc61db2-4c88-4eb6-b1fc-02ee2d950335" providerId="ADAL" clId="{C01C4F0C-6981-4347-B642-73587BE73484}" dt="2026-03-23T20:14:44.570" v="0"/>
        <pc:sldMkLst>
          <pc:docMk/>
          <pc:sldMk cId="0" sldId="303"/>
        </pc:sldMkLst>
      </pc:sldChg>
      <pc:sldChg chg="modTransition">
        <pc:chgData name="Eric AUBRUN" userId="4fc61db2-4c88-4eb6-b1fc-02ee2d950335" providerId="ADAL" clId="{C01C4F0C-6981-4347-B642-73587BE73484}" dt="2026-03-23T20:14:44.570" v="0"/>
        <pc:sldMkLst>
          <pc:docMk/>
          <pc:sldMk cId="0" sldId="304"/>
        </pc:sldMkLst>
      </pc:sldChg>
      <pc:sldChg chg="modTransition">
        <pc:chgData name="Eric AUBRUN" userId="4fc61db2-4c88-4eb6-b1fc-02ee2d950335" providerId="ADAL" clId="{C01C4F0C-6981-4347-B642-73587BE73484}" dt="2026-03-23T20:14:44.570" v="0"/>
        <pc:sldMkLst>
          <pc:docMk/>
          <pc:sldMk cId="0" sldId="305"/>
        </pc:sldMkLst>
      </pc:sldChg>
      <pc:sldChg chg="modTransition">
        <pc:chgData name="Eric AUBRUN" userId="4fc61db2-4c88-4eb6-b1fc-02ee2d950335" providerId="ADAL" clId="{C01C4F0C-6981-4347-B642-73587BE73484}" dt="2026-03-23T20:14:44.570" v="0"/>
        <pc:sldMkLst>
          <pc:docMk/>
          <pc:sldMk cId="0" sldId="306"/>
        </pc:sldMkLst>
      </pc:sldChg>
      <pc:sldChg chg="modTransition">
        <pc:chgData name="Eric AUBRUN" userId="4fc61db2-4c88-4eb6-b1fc-02ee2d950335" providerId="ADAL" clId="{C01C4F0C-6981-4347-B642-73587BE73484}" dt="2026-03-23T20:14:44.570" v="0"/>
        <pc:sldMkLst>
          <pc:docMk/>
          <pc:sldMk cId="0" sldId="307"/>
        </pc:sldMkLst>
      </pc:sldChg>
      <pc:sldChg chg="modTransition">
        <pc:chgData name="Eric AUBRUN" userId="4fc61db2-4c88-4eb6-b1fc-02ee2d950335" providerId="ADAL" clId="{C01C4F0C-6981-4347-B642-73587BE73484}" dt="2026-03-23T20:14:44.570" v="0"/>
        <pc:sldMkLst>
          <pc:docMk/>
          <pc:sldMk cId="0" sldId="308"/>
        </pc:sldMkLst>
      </pc:sldChg>
      <pc:sldChg chg="modTransition">
        <pc:chgData name="Eric AUBRUN" userId="4fc61db2-4c88-4eb6-b1fc-02ee2d950335" providerId="ADAL" clId="{C01C4F0C-6981-4347-B642-73587BE73484}" dt="2026-03-23T20:14:44.570" v="0"/>
        <pc:sldMkLst>
          <pc:docMk/>
          <pc:sldMk cId="0" sldId="309"/>
        </pc:sldMkLst>
      </pc:sldChg>
      <pc:sldChg chg="modTransition">
        <pc:chgData name="Eric AUBRUN" userId="4fc61db2-4c88-4eb6-b1fc-02ee2d950335" providerId="ADAL" clId="{C01C4F0C-6981-4347-B642-73587BE73484}" dt="2026-03-23T20:14:44.570" v="0"/>
        <pc:sldMkLst>
          <pc:docMk/>
          <pc:sldMk cId="0" sldId="310"/>
        </pc:sldMkLst>
      </pc:sldChg>
      <pc:sldChg chg="modTransition">
        <pc:chgData name="Eric AUBRUN" userId="4fc61db2-4c88-4eb6-b1fc-02ee2d950335" providerId="ADAL" clId="{C01C4F0C-6981-4347-B642-73587BE73484}" dt="2026-03-23T20:14:44.570" v="0"/>
        <pc:sldMkLst>
          <pc:docMk/>
          <pc:sldMk cId="0" sldId="311"/>
        </pc:sldMkLst>
      </pc:sldChg>
      <pc:sldChg chg="modTransition">
        <pc:chgData name="Eric AUBRUN" userId="4fc61db2-4c88-4eb6-b1fc-02ee2d950335" providerId="ADAL" clId="{C01C4F0C-6981-4347-B642-73587BE73484}" dt="2026-03-23T20:14:44.570" v="0"/>
        <pc:sldMkLst>
          <pc:docMk/>
          <pc:sldMk cId="0" sldId="312"/>
        </pc:sldMkLst>
      </pc:sldChg>
      <pc:sldChg chg="modTransition">
        <pc:chgData name="Eric AUBRUN" userId="4fc61db2-4c88-4eb6-b1fc-02ee2d950335" providerId="ADAL" clId="{C01C4F0C-6981-4347-B642-73587BE73484}" dt="2026-03-23T20:14:44.570" v="0"/>
        <pc:sldMkLst>
          <pc:docMk/>
          <pc:sldMk cId="0" sldId="313"/>
        </pc:sldMkLst>
      </pc:sldChg>
      <pc:sldChg chg="modTransition">
        <pc:chgData name="Eric AUBRUN" userId="4fc61db2-4c88-4eb6-b1fc-02ee2d950335" providerId="ADAL" clId="{C01C4F0C-6981-4347-B642-73587BE73484}" dt="2026-03-23T20:14:44.570" v="0"/>
        <pc:sldMkLst>
          <pc:docMk/>
          <pc:sldMk cId="0" sldId="314"/>
        </pc:sldMkLst>
      </pc:sldChg>
      <pc:sldChg chg="modTransition">
        <pc:chgData name="Eric AUBRUN" userId="4fc61db2-4c88-4eb6-b1fc-02ee2d950335" providerId="ADAL" clId="{C01C4F0C-6981-4347-B642-73587BE73484}" dt="2026-03-23T20:14:44.570" v="0"/>
        <pc:sldMkLst>
          <pc:docMk/>
          <pc:sldMk cId="0" sldId="315"/>
        </pc:sldMkLst>
      </pc:sldChg>
      <pc:sldChg chg="modTransition">
        <pc:chgData name="Eric AUBRUN" userId="4fc61db2-4c88-4eb6-b1fc-02ee2d950335" providerId="ADAL" clId="{C01C4F0C-6981-4347-B642-73587BE73484}" dt="2026-03-23T20:14:44.570" v="0"/>
        <pc:sldMkLst>
          <pc:docMk/>
          <pc:sldMk cId="0" sldId="316"/>
        </pc:sldMkLst>
      </pc:sldChg>
      <pc:sldChg chg="modTransition">
        <pc:chgData name="Eric AUBRUN" userId="4fc61db2-4c88-4eb6-b1fc-02ee2d950335" providerId="ADAL" clId="{C01C4F0C-6981-4347-B642-73587BE73484}" dt="2026-03-23T20:14:44.570" v="0"/>
        <pc:sldMkLst>
          <pc:docMk/>
          <pc:sldMk cId="0" sldId="317"/>
        </pc:sldMkLst>
      </pc:sldChg>
      <pc:sldChg chg="modTransition">
        <pc:chgData name="Eric AUBRUN" userId="4fc61db2-4c88-4eb6-b1fc-02ee2d950335" providerId="ADAL" clId="{C01C4F0C-6981-4347-B642-73587BE73484}" dt="2026-03-23T20:14:44.570" v="0"/>
        <pc:sldMkLst>
          <pc:docMk/>
          <pc:sldMk cId="0" sldId="318"/>
        </pc:sldMkLst>
      </pc:sldChg>
      <pc:sldChg chg="modTransition">
        <pc:chgData name="Eric AUBRUN" userId="4fc61db2-4c88-4eb6-b1fc-02ee2d950335" providerId="ADAL" clId="{C01C4F0C-6981-4347-B642-73587BE73484}" dt="2026-03-23T20:14:44.570" v="0"/>
        <pc:sldMkLst>
          <pc:docMk/>
          <pc:sldMk cId="0" sldId="319"/>
        </pc:sldMkLst>
      </pc:sldChg>
      <pc:sldChg chg="modTransition">
        <pc:chgData name="Eric AUBRUN" userId="4fc61db2-4c88-4eb6-b1fc-02ee2d950335" providerId="ADAL" clId="{C01C4F0C-6981-4347-B642-73587BE73484}" dt="2026-03-23T20:14:44.570" v="0"/>
        <pc:sldMkLst>
          <pc:docMk/>
          <pc:sldMk cId="0" sldId="320"/>
        </pc:sldMkLst>
      </pc:sldChg>
      <pc:sldChg chg="modTransition">
        <pc:chgData name="Eric AUBRUN" userId="4fc61db2-4c88-4eb6-b1fc-02ee2d950335" providerId="ADAL" clId="{C01C4F0C-6981-4347-B642-73587BE73484}" dt="2026-03-23T20:14:44.570" v="0"/>
        <pc:sldMkLst>
          <pc:docMk/>
          <pc:sldMk cId="0" sldId="321"/>
        </pc:sldMkLst>
      </pc:sldChg>
      <pc:sldChg chg="modTransition">
        <pc:chgData name="Eric AUBRUN" userId="4fc61db2-4c88-4eb6-b1fc-02ee2d950335" providerId="ADAL" clId="{C01C4F0C-6981-4347-B642-73587BE73484}" dt="2026-03-23T20:14:44.570" v="0"/>
        <pc:sldMkLst>
          <pc:docMk/>
          <pc:sldMk cId="0" sldId="322"/>
        </pc:sldMkLst>
      </pc:sldChg>
      <pc:sldChg chg="modTransition">
        <pc:chgData name="Eric AUBRUN" userId="4fc61db2-4c88-4eb6-b1fc-02ee2d950335" providerId="ADAL" clId="{C01C4F0C-6981-4347-B642-73587BE73484}" dt="2026-03-23T20:14:44.570" v="0"/>
        <pc:sldMkLst>
          <pc:docMk/>
          <pc:sldMk cId="0" sldId="323"/>
        </pc:sldMkLst>
      </pc:sldChg>
      <pc:sldChg chg="modTransition">
        <pc:chgData name="Eric AUBRUN" userId="4fc61db2-4c88-4eb6-b1fc-02ee2d950335" providerId="ADAL" clId="{C01C4F0C-6981-4347-B642-73587BE73484}" dt="2026-03-23T20:14:44.570" v="0"/>
        <pc:sldMkLst>
          <pc:docMk/>
          <pc:sldMk cId="0" sldId="324"/>
        </pc:sldMkLst>
      </pc:sldChg>
      <pc:sldChg chg="modTransition">
        <pc:chgData name="Eric AUBRUN" userId="4fc61db2-4c88-4eb6-b1fc-02ee2d950335" providerId="ADAL" clId="{C01C4F0C-6981-4347-B642-73587BE73484}" dt="2026-03-23T20:14:44.570" v="0"/>
        <pc:sldMkLst>
          <pc:docMk/>
          <pc:sldMk cId="0" sldId="325"/>
        </pc:sldMkLst>
      </pc:sldChg>
      <pc:sldChg chg="modTransition">
        <pc:chgData name="Eric AUBRUN" userId="4fc61db2-4c88-4eb6-b1fc-02ee2d950335" providerId="ADAL" clId="{C01C4F0C-6981-4347-B642-73587BE73484}" dt="2026-03-23T20:14:44.570" v="0"/>
        <pc:sldMkLst>
          <pc:docMk/>
          <pc:sldMk cId="0" sldId="326"/>
        </pc:sldMkLst>
      </pc:sldChg>
      <pc:sldChg chg="modTransition">
        <pc:chgData name="Eric AUBRUN" userId="4fc61db2-4c88-4eb6-b1fc-02ee2d950335" providerId="ADAL" clId="{C01C4F0C-6981-4347-B642-73587BE73484}" dt="2026-03-23T20:14:44.570" v="0"/>
        <pc:sldMkLst>
          <pc:docMk/>
          <pc:sldMk cId="0" sldId="327"/>
        </pc:sldMkLst>
      </pc:sldChg>
      <pc:sldChg chg="modTransition">
        <pc:chgData name="Eric AUBRUN" userId="4fc61db2-4c88-4eb6-b1fc-02ee2d950335" providerId="ADAL" clId="{C01C4F0C-6981-4347-B642-73587BE73484}" dt="2026-03-23T20:14:44.570" v="0"/>
        <pc:sldMkLst>
          <pc:docMk/>
          <pc:sldMk cId="0" sldId="328"/>
        </pc:sldMkLst>
      </pc:sldChg>
      <pc:sldChg chg="modTransition">
        <pc:chgData name="Eric AUBRUN" userId="4fc61db2-4c88-4eb6-b1fc-02ee2d950335" providerId="ADAL" clId="{C01C4F0C-6981-4347-B642-73587BE73484}" dt="2026-03-23T20:14:44.570" v="0"/>
        <pc:sldMkLst>
          <pc:docMk/>
          <pc:sldMk cId="0" sldId="329"/>
        </pc:sldMkLst>
      </pc:sldChg>
      <pc:sldChg chg="modTransition">
        <pc:chgData name="Eric AUBRUN" userId="4fc61db2-4c88-4eb6-b1fc-02ee2d950335" providerId="ADAL" clId="{C01C4F0C-6981-4347-B642-73587BE73484}" dt="2026-03-23T20:14:44.570" v="0"/>
        <pc:sldMkLst>
          <pc:docMk/>
          <pc:sldMk cId="0" sldId="330"/>
        </pc:sldMkLst>
      </pc:sldChg>
      <pc:sldChg chg="modTransition">
        <pc:chgData name="Eric AUBRUN" userId="4fc61db2-4c88-4eb6-b1fc-02ee2d950335" providerId="ADAL" clId="{C01C4F0C-6981-4347-B642-73587BE73484}" dt="2026-03-23T20:14:44.570" v="0"/>
        <pc:sldMkLst>
          <pc:docMk/>
          <pc:sldMk cId="0" sldId="331"/>
        </pc:sldMkLst>
      </pc:sldChg>
      <pc:sldChg chg="modTransition">
        <pc:chgData name="Eric AUBRUN" userId="4fc61db2-4c88-4eb6-b1fc-02ee2d950335" providerId="ADAL" clId="{C01C4F0C-6981-4347-B642-73587BE73484}" dt="2026-03-23T20:14:44.570" v="0"/>
        <pc:sldMkLst>
          <pc:docMk/>
          <pc:sldMk cId="0" sldId="332"/>
        </pc:sldMkLst>
      </pc:sldChg>
      <pc:sldChg chg="modTransition">
        <pc:chgData name="Eric AUBRUN" userId="4fc61db2-4c88-4eb6-b1fc-02ee2d950335" providerId="ADAL" clId="{C01C4F0C-6981-4347-B642-73587BE73484}" dt="2026-03-23T20:14:44.570" v="0"/>
        <pc:sldMkLst>
          <pc:docMk/>
          <pc:sldMk cId="0" sldId="333"/>
        </pc:sldMkLst>
      </pc:sldChg>
      <pc:sldChg chg="modTransition">
        <pc:chgData name="Eric AUBRUN" userId="4fc61db2-4c88-4eb6-b1fc-02ee2d950335" providerId="ADAL" clId="{C01C4F0C-6981-4347-B642-73587BE73484}" dt="2026-03-23T20:14:44.570" v="0"/>
        <pc:sldMkLst>
          <pc:docMk/>
          <pc:sldMk cId="0" sldId="334"/>
        </pc:sldMkLst>
      </pc:sldChg>
      <pc:sldChg chg="modTransition">
        <pc:chgData name="Eric AUBRUN" userId="4fc61db2-4c88-4eb6-b1fc-02ee2d950335" providerId="ADAL" clId="{C01C4F0C-6981-4347-B642-73587BE73484}" dt="2026-03-23T20:14:44.570" v="0"/>
        <pc:sldMkLst>
          <pc:docMk/>
          <pc:sldMk cId="0" sldId="335"/>
        </pc:sldMkLst>
      </pc:sldChg>
      <pc:sldChg chg="modTransition">
        <pc:chgData name="Eric AUBRUN" userId="4fc61db2-4c88-4eb6-b1fc-02ee2d950335" providerId="ADAL" clId="{C01C4F0C-6981-4347-B642-73587BE73484}" dt="2026-03-23T20:14:44.570" v="0"/>
        <pc:sldMkLst>
          <pc:docMk/>
          <pc:sldMk cId="0" sldId="336"/>
        </pc:sldMkLst>
      </pc:sldChg>
      <pc:sldChg chg="modTransition">
        <pc:chgData name="Eric AUBRUN" userId="4fc61db2-4c88-4eb6-b1fc-02ee2d950335" providerId="ADAL" clId="{C01C4F0C-6981-4347-B642-73587BE73484}" dt="2026-03-23T20:14:44.570" v="0"/>
        <pc:sldMkLst>
          <pc:docMk/>
          <pc:sldMk cId="0" sldId="337"/>
        </pc:sldMkLst>
      </pc:sldChg>
      <pc:sldChg chg="modTransition">
        <pc:chgData name="Eric AUBRUN" userId="4fc61db2-4c88-4eb6-b1fc-02ee2d950335" providerId="ADAL" clId="{C01C4F0C-6981-4347-B642-73587BE73484}" dt="2026-03-23T20:14:44.570" v="0"/>
        <pc:sldMkLst>
          <pc:docMk/>
          <pc:sldMk cId="0" sldId="338"/>
        </pc:sldMkLst>
      </pc:sldChg>
      <pc:sldChg chg="modTransition">
        <pc:chgData name="Eric AUBRUN" userId="4fc61db2-4c88-4eb6-b1fc-02ee2d950335" providerId="ADAL" clId="{C01C4F0C-6981-4347-B642-73587BE73484}" dt="2026-03-23T20:14:44.570" v="0"/>
        <pc:sldMkLst>
          <pc:docMk/>
          <pc:sldMk cId="0" sldId="339"/>
        </pc:sldMkLst>
      </pc:sldChg>
      <pc:sldChg chg="modTransition">
        <pc:chgData name="Eric AUBRUN" userId="4fc61db2-4c88-4eb6-b1fc-02ee2d950335" providerId="ADAL" clId="{C01C4F0C-6981-4347-B642-73587BE73484}" dt="2026-03-23T20:14:44.570" v="0"/>
        <pc:sldMkLst>
          <pc:docMk/>
          <pc:sldMk cId="0" sldId="340"/>
        </pc:sldMkLst>
      </pc:sldChg>
      <pc:sldChg chg="modTransition">
        <pc:chgData name="Eric AUBRUN" userId="4fc61db2-4c88-4eb6-b1fc-02ee2d950335" providerId="ADAL" clId="{C01C4F0C-6981-4347-B642-73587BE73484}" dt="2026-03-23T20:14:44.570" v="0"/>
        <pc:sldMkLst>
          <pc:docMk/>
          <pc:sldMk cId="0" sldId="341"/>
        </pc:sldMkLst>
      </pc:sldChg>
      <pc:sldChg chg="modTransition">
        <pc:chgData name="Eric AUBRUN" userId="4fc61db2-4c88-4eb6-b1fc-02ee2d950335" providerId="ADAL" clId="{C01C4F0C-6981-4347-B642-73587BE73484}" dt="2026-03-23T20:14:44.570" v="0"/>
        <pc:sldMkLst>
          <pc:docMk/>
          <pc:sldMk cId="0" sldId="342"/>
        </pc:sldMkLst>
      </pc:sldChg>
      <pc:sldChg chg="modTransition">
        <pc:chgData name="Eric AUBRUN" userId="4fc61db2-4c88-4eb6-b1fc-02ee2d950335" providerId="ADAL" clId="{C01C4F0C-6981-4347-B642-73587BE73484}" dt="2026-03-23T20:14:44.570" v="0"/>
        <pc:sldMkLst>
          <pc:docMk/>
          <pc:sldMk cId="0" sldId="343"/>
        </pc:sldMkLst>
      </pc:sldChg>
      <pc:sldChg chg="modTransition">
        <pc:chgData name="Eric AUBRUN" userId="4fc61db2-4c88-4eb6-b1fc-02ee2d950335" providerId="ADAL" clId="{C01C4F0C-6981-4347-B642-73587BE73484}" dt="2026-03-23T20:14:44.570" v="0"/>
        <pc:sldMkLst>
          <pc:docMk/>
          <pc:sldMk cId="0" sldId="344"/>
        </pc:sldMkLst>
      </pc:sldChg>
      <pc:sldChg chg="modTransition">
        <pc:chgData name="Eric AUBRUN" userId="4fc61db2-4c88-4eb6-b1fc-02ee2d950335" providerId="ADAL" clId="{C01C4F0C-6981-4347-B642-73587BE73484}" dt="2026-03-23T20:14:44.570" v="0"/>
        <pc:sldMkLst>
          <pc:docMk/>
          <pc:sldMk cId="0" sldId="345"/>
        </pc:sldMkLst>
      </pc:sldChg>
      <pc:sldChg chg="modTransition">
        <pc:chgData name="Eric AUBRUN" userId="4fc61db2-4c88-4eb6-b1fc-02ee2d950335" providerId="ADAL" clId="{C01C4F0C-6981-4347-B642-73587BE73484}" dt="2026-03-23T20:14:44.570" v="0"/>
        <pc:sldMkLst>
          <pc:docMk/>
          <pc:sldMk cId="0" sldId="346"/>
        </pc:sldMkLst>
      </pc:sldChg>
      <pc:sldChg chg="modTransition">
        <pc:chgData name="Eric AUBRUN" userId="4fc61db2-4c88-4eb6-b1fc-02ee2d950335" providerId="ADAL" clId="{C01C4F0C-6981-4347-B642-73587BE73484}" dt="2026-03-23T20:14:44.570" v="0"/>
        <pc:sldMkLst>
          <pc:docMk/>
          <pc:sldMk cId="0" sldId="347"/>
        </pc:sldMkLst>
      </pc:sldChg>
      <pc:sldChg chg="modTransition">
        <pc:chgData name="Eric AUBRUN" userId="4fc61db2-4c88-4eb6-b1fc-02ee2d950335" providerId="ADAL" clId="{C01C4F0C-6981-4347-B642-73587BE73484}" dt="2026-03-23T20:14:44.570" v="0"/>
        <pc:sldMkLst>
          <pc:docMk/>
          <pc:sldMk cId="0" sldId="348"/>
        </pc:sldMkLst>
      </pc:sldChg>
      <pc:sldChg chg="modTransition">
        <pc:chgData name="Eric AUBRUN" userId="4fc61db2-4c88-4eb6-b1fc-02ee2d950335" providerId="ADAL" clId="{C01C4F0C-6981-4347-B642-73587BE73484}" dt="2026-03-23T20:14:44.570" v="0"/>
        <pc:sldMkLst>
          <pc:docMk/>
          <pc:sldMk cId="0" sldId="349"/>
        </pc:sldMkLst>
      </pc:sldChg>
      <pc:sldChg chg="modTransition">
        <pc:chgData name="Eric AUBRUN" userId="4fc61db2-4c88-4eb6-b1fc-02ee2d950335" providerId="ADAL" clId="{C01C4F0C-6981-4347-B642-73587BE73484}" dt="2026-03-23T20:14:44.570" v="0"/>
        <pc:sldMkLst>
          <pc:docMk/>
          <pc:sldMk cId="0" sldId="350"/>
        </pc:sldMkLst>
      </pc:sldChg>
      <pc:sldChg chg="modTransition">
        <pc:chgData name="Eric AUBRUN" userId="4fc61db2-4c88-4eb6-b1fc-02ee2d950335" providerId="ADAL" clId="{C01C4F0C-6981-4347-B642-73587BE73484}" dt="2026-03-23T20:14:44.570" v="0"/>
        <pc:sldMkLst>
          <pc:docMk/>
          <pc:sldMk cId="0" sldId="351"/>
        </pc:sldMkLst>
      </pc:sldChg>
      <pc:sldChg chg="modTransition">
        <pc:chgData name="Eric AUBRUN" userId="4fc61db2-4c88-4eb6-b1fc-02ee2d950335" providerId="ADAL" clId="{C01C4F0C-6981-4347-B642-73587BE73484}" dt="2026-03-23T20:14:44.570" v="0"/>
        <pc:sldMkLst>
          <pc:docMk/>
          <pc:sldMk cId="0" sldId="352"/>
        </pc:sldMkLst>
      </pc:sldChg>
      <pc:sldChg chg="modTransition">
        <pc:chgData name="Eric AUBRUN" userId="4fc61db2-4c88-4eb6-b1fc-02ee2d950335" providerId="ADAL" clId="{C01C4F0C-6981-4347-B642-73587BE73484}" dt="2026-03-23T20:14:44.570" v="0"/>
        <pc:sldMkLst>
          <pc:docMk/>
          <pc:sldMk cId="0" sldId="353"/>
        </pc:sldMkLst>
      </pc:sldChg>
      <pc:sldChg chg="modTransition">
        <pc:chgData name="Eric AUBRUN" userId="4fc61db2-4c88-4eb6-b1fc-02ee2d950335" providerId="ADAL" clId="{C01C4F0C-6981-4347-B642-73587BE73484}" dt="2026-03-23T20:14:44.570" v="0"/>
        <pc:sldMkLst>
          <pc:docMk/>
          <pc:sldMk cId="0" sldId="354"/>
        </pc:sldMkLst>
      </pc:sldChg>
      <pc:sldChg chg="modTransition">
        <pc:chgData name="Eric AUBRUN" userId="4fc61db2-4c88-4eb6-b1fc-02ee2d950335" providerId="ADAL" clId="{C01C4F0C-6981-4347-B642-73587BE73484}" dt="2026-03-23T20:14:44.570" v="0"/>
        <pc:sldMkLst>
          <pc:docMk/>
          <pc:sldMk cId="0" sldId="355"/>
        </pc:sldMkLst>
      </pc:sldChg>
      <pc:sldChg chg="modTransition">
        <pc:chgData name="Eric AUBRUN" userId="4fc61db2-4c88-4eb6-b1fc-02ee2d950335" providerId="ADAL" clId="{C01C4F0C-6981-4347-B642-73587BE73484}" dt="2026-03-23T20:14:44.570" v="0"/>
        <pc:sldMkLst>
          <pc:docMk/>
          <pc:sldMk cId="0" sldId="356"/>
        </pc:sldMkLst>
      </pc:sldChg>
      <pc:sldChg chg="modTransition">
        <pc:chgData name="Eric AUBRUN" userId="4fc61db2-4c88-4eb6-b1fc-02ee2d950335" providerId="ADAL" clId="{C01C4F0C-6981-4347-B642-73587BE73484}" dt="2026-03-23T20:14:44.570" v="0"/>
        <pc:sldMkLst>
          <pc:docMk/>
          <pc:sldMk cId="0" sldId="357"/>
        </pc:sldMkLst>
      </pc:sldChg>
      <pc:sldChg chg="modTransition">
        <pc:chgData name="Eric AUBRUN" userId="4fc61db2-4c88-4eb6-b1fc-02ee2d950335" providerId="ADAL" clId="{C01C4F0C-6981-4347-B642-73587BE73484}" dt="2026-03-23T20:14:44.570" v="0"/>
        <pc:sldMkLst>
          <pc:docMk/>
          <pc:sldMk cId="0" sldId="358"/>
        </pc:sldMkLst>
      </pc:sldChg>
      <pc:sldChg chg="modTransition">
        <pc:chgData name="Eric AUBRUN" userId="4fc61db2-4c88-4eb6-b1fc-02ee2d950335" providerId="ADAL" clId="{C01C4F0C-6981-4347-B642-73587BE73484}" dt="2026-03-23T20:14:44.570" v="0"/>
        <pc:sldMkLst>
          <pc:docMk/>
          <pc:sldMk cId="0" sldId="359"/>
        </pc:sldMkLst>
      </pc:sldChg>
      <pc:sldChg chg="modTransition">
        <pc:chgData name="Eric AUBRUN" userId="4fc61db2-4c88-4eb6-b1fc-02ee2d950335" providerId="ADAL" clId="{C01C4F0C-6981-4347-B642-73587BE73484}" dt="2026-03-23T20:14:44.570" v="0"/>
        <pc:sldMkLst>
          <pc:docMk/>
          <pc:sldMk cId="0" sldId="360"/>
        </pc:sldMkLst>
      </pc:sldChg>
      <pc:sldChg chg="modTransition">
        <pc:chgData name="Eric AUBRUN" userId="4fc61db2-4c88-4eb6-b1fc-02ee2d950335" providerId="ADAL" clId="{C01C4F0C-6981-4347-B642-73587BE73484}" dt="2026-03-23T20:14:44.570" v="0"/>
        <pc:sldMkLst>
          <pc:docMk/>
          <pc:sldMk cId="0" sldId="361"/>
        </pc:sldMkLst>
      </pc:sldChg>
      <pc:sldChg chg="modTransition">
        <pc:chgData name="Eric AUBRUN" userId="4fc61db2-4c88-4eb6-b1fc-02ee2d950335" providerId="ADAL" clId="{C01C4F0C-6981-4347-B642-73587BE73484}" dt="2026-03-23T20:14:44.570" v="0"/>
        <pc:sldMkLst>
          <pc:docMk/>
          <pc:sldMk cId="0" sldId="362"/>
        </pc:sldMkLst>
      </pc:sldChg>
      <pc:sldChg chg="modTransition">
        <pc:chgData name="Eric AUBRUN" userId="4fc61db2-4c88-4eb6-b1fc-02ee2d950335" providerId="ADAL" clId="{C01C4F0C-6981-4347-B642-73587BE73484}" dt="2026-03-23T20:14:44.570" v="0"/>
        <pc:sldMkLst>
          <pc:docMk/>
          <pc:sldMk cId="0" sldId="363"/>
        </pc:sldMkLst>
      </pc:sldChg>
      <pc:sldChg chg="modTransition">
        <pc:chgData name="Eric AUBRUN" userId="4fc61db2-4c88-4eb6-b1fc-02ee2d950335" providerId="ADAL" clId="{C01C4F0C-6981-4347-B642-73587BE73484}" dt="2026-03-23T20:14:44.570" v="0"/>
        <pc:sldMkLst>
          <pc:docMk/>
          <pc:sldMk cId="0" sldId="364"/>
        </pc:sldMkLst>
      </pc:sldChg>
      <pc:sldChg chg="modTransition">
        <pc:chgData name="Eric AUBRUN" userId="4fc61db2-4c88-4eb6-b1fc-02ee2d950335" providerId="ADAL" clId="{C01C4F0C-6981-4347-B642-73587BE73484}" dt="2026-03-23T20:14:44.570" v="0"/>
        <pc:sldMkLst>
          <pc:docMk/>
          <pc:sldMk cId="0" sldId="365"/>
        </pc:sldMkLst>
      </pc:sldChg>
      <pc:sldChg chg="modTransition">
        <pc:chgData name="Eric AUBRUN" userId="4fc61db2-4c88-4eb6-b1fc-02ee2d950335" providerId="ADAL" clId="{C01C4F0C-6981-4347-B642-73587BE73484}" dt="2026-03-23T20:14:44.570" v="0"/>
        <pc:sldMkLst>
          <pc:docMk/>
          <pc:sldMk cId="0" sldId="366"/>
        </pc:sldMkLst>
      </pc:sldChg>
      <pc:sldChg chg="modTransition">
        <pc:chgData name="Eric AUBRUN" userId="4fc61db2-4c88-4eb6-b1fc-02ee2d950335" providerId="ADAL" clId="{C01C4F0C-6981-4347-B642-73587BE73484}" dt="2026-03-23T20:14:44.570" v="0"/>
        <pc:sldMkLst>
          <pc:docMk/>
          <pc:sldMk cId="0" sldId="367"/>
        </pc:sldMkLst>
      </pc:sldChg>
      <pc:sldChg chg="modTransition">
        <pc:chgData name="Eric AUBRUN" userId="4fc61db2-4c88-4eb6-b1fc-02ee2d950335" providerId="ADAL" clId="{C01C4F0C-6981-4347-B642-73587BE73484}" dt="2026-03-23T20:14:44.570" v="0"/>
        <pc:sldMkLst>
          <pc:docMk/>
          <pc:sldMk cId="0" sldId="368"/>
        </pc:sldMkLst>
      </pc:sldChg>
      <pc:sldChg chg="modTransition">
        <pc:chgData name="Eric AUBRUN" userId="4fc61db2-4c88-4eb6-b1fc-02ee2d950335" providerId="ADAL" clId="{C01C4F0C-6981-4347-B642-73587BE73484}" dt="2026-03-23T20:14:44.570" v="0"/>
        <pc:sldMkLst>
          <pc:docMk/>
          <pc:sldMk cId="0" sldId="369"/>
        </pc:sldMkLst>
      </pc:sldChg>
      <pc:sldChg chg="modTransition">
        <pc:chgData name="Eric AUBRUN" userId="4fc61db2-4c88-4eb6-b1fc-02ee2d950335" providerId="ADAL" clId="{C01C4F0C-6981-4347-B642-73587BE73484}" dt="2026-03-23T20:14:44.570" v="0"/>
        <pc:sldMkLst>
          <pc:docMk/>
          <pc:sldMk cId="0" sldId="370"/>
        </pc:sldMkLst>
      </pc:sldChg>
      <pc:sldChg chg="modTransition">
        <pc:chgData name="Eric AUBRUN" userId="4fc61db2-4c88-4eb6-b1fc-02ee2d950335" providerId="ADAL" clId="{C01C4F0C-6981-4347-B642-73587BE73484}" dt="2026-03-23T20:14:44.570" v="0"/>
        <pc:sldMkLst>
          <pc:docMk/>
          <pc:sldMk cId="0" sldId="371"/>
        </pc:sldMkLst>
      </pc:sldChg>
      <pc:sldChg chg="modTransition">
        <pc:chgData name="Eric AUBRUN" userId="4fc61db2-4c88-4eb6-b1fc-02ee2d950335" providerId="ADAL" clId="{C01C4F0C-6981-4347-B642-73587BE73484}" dt="2026-03-23T20:14:44.570" v="0"/>
        <pc:sldMkLst>
          <pc:docMk/>
          <pc:sldMk cId="0" sldId="372"/>
        </pc:sldMkLst>
      </pc:sldChg>
      <pc:sldChg chg="modTransition">
        <pc:chgData name="Eric AUBRUN" userId="4fc61db2-4c88-4eb6-b1fc-02ee2d950335" providerId="ADAL" clId="{C01C4F0C-6981-4347-B642-73587BE73484}" dt="2026-03-23T20:14:44.570" v="0"/>
        <pc:sldMkLst>
          <pc:docMk/>
          <pc:sldMk cId="0" sldId="373"/>
        </pc:sldMkLst>
      </pc:sldChg>
      <pc:sldChg chg="modTransition">
        <pc:chgData name="Eric AUBRUN" userId="4fc61db2-4c88-4eb6-b1fc-02ee2d950335" providerId="ADAL" clId="{C01C4F0C-6981-4347-B642-73587BE73484}" dt="2026-03-23T20:14:44.570" v="0"/>
        <pc:sldMkLst>
          <pc:docMk/>
          <pc:sldMk cId="0" sldId="374"/>
        </pc:sldMkLst>
      </pc:sldChg>
      <pc:sldChg chg="modTransition">
        <pc:chgData name="Eric AUBRUN" userId="4fc61db2-4c88-4eb6-b1fc-02ee2d950335" providerId="ADAL" clId="{C01C4F0C-6981-4347-B642-73587BE73484}" dt="2026-03-23T20:14:44.570" v="0"/>
        <pc:sldMkLst>
          <pc:docMk/>
          <pc:sldMk cId="0" sldId="375"/>
        </pc:sldMkLst>
      </pc:sldChg>
      <pc:sldChg chg="modTransition">
        <pc:chgData name="Eric AUBRUN" userId="4fc61db2-4c88-4eb6-b1fc-02ee2d950335" providerId="ADAL" clId="{C01C4F0C-6981-4347-B642-73587BE73484}" dt="2026-03-23T20:14:44.570" v="0"/>
        <pc:sldMkLst>
          <pc:docMk/>
          <pc:sldMk cId="0" sldId="376"/>
        </pc:sldMkLst>
      </pc:sldChg>
      <pc:sldChg chg="modTransition">
        <pc:chgData name="Eric AUBRUN" userId="4fc61db2-4c88-4eb6-b1fc-02ee2d950335" providerId="ADAL" clId="{C01C4F0C-6981-4347-B642-73587BE73484}" dt="2026-03-23T20:14:44.570" v="0"/>
        <pc:sldMkLst>
          <pc:docMk/>
          <pc:sldMk cId="0" sldId="377"/>
        </pc:sldMkLst>
      </pc:sldChg>
      <pc:sldChg chg="modTransition">
        <pc:chgData name="Eric AUBRUN" userId="4fc61db2-4c88-4eb6-b1fc-02ee2d950335" providerId="ADAL" clId="{C01C4F0C-6981-4347-B642-73587BE73484}" dt="2026-03-23T20:14:44.570" v="0"/>
        <pc:sldMkLst>
          <pc:docMk/>
          <pc:sldMk cId="0" sldId="378"/>
        </pc:sldMkLst>
      </pc:sldChg>
      <pc:sldChg chg="modTransition">
        <pc:chgData name="Eric AUBRUN" userId="4fc61db2-4c88-4eb6-b1fc-02ee2d950335" providerId="ADAL" clId="{C01C4F0C-6981-4347-B642-73587BE73484}" dt="2026-03-23T20:14:44.570" v="0"/>
        <pc:sldMkLst>
          <pc:docMk/>
          <pc:sldMk cId="0" sldId="379"/>
        </pc:sldMkLst>
      </pc:sldChg>
      <pc:sldChg chg="modTransition">
        <pc:chgData name="Eric AUBRUN" userId="4fc61db2-4c88-4eb6-b1fc-02ee2d950335" providerId="ADAL" clId="{C01C4F0C-6981-4347-B642-73587BE73484}" dt="2026-03-23T20:14:44.570" v="0"/>
        <pc:sldMkLst>
          <pc:docMk/>
          <pc:sldMk cId="0" sldId="380"/>
        </pc:sldMkLst>
      </pc:sldChg>
      <pc:sldChg chg="modTransition">
        <pc:chgData name="Eric AUBRUN" userId="4fc61db2-4c88-4eb6-b1fc-02ee2d950335" providerId="ADAL" clId="{C01C4F0C-6981-4347-B642-73587BE73484}" dt="2026-03-23T20:14:44.570" v="0"/>
        <pc:sldMkLst>
          <pc:docMk/>
          <pc:sldMk cId="0" sldId="381"/>
        </pc:sldMkLst>
      </pc:sldChg>
      <pc:sldChg chg="modTransition">
        <pc:chgData name="Eric AUBRUN" userId="4fc61db2-4c88-4eb6-b1fc-02ee2d950335" providerId="ADAL" clId="{C01C4F0C-6981-4347-B642-73587BE73484}" dt="2026-03-23T20:14:44.570" v="0"/>
        <pc:sldMkLst>
          <pc:docMk/>
          <pc:sldMk cId="0" sldId="382"/>
        </pc:sldMkLst>
      </pc:sldChg>
      <pc:sldChg chg="modTransition">
        <pc:chgData name="Eric AUBRUN" userId="4fc61db2-4c88-4eb6-b1fc-02ee2d950335" providerId="ADAL" clId="{C01C4F0C-6981-4347-B642-73587BE73484}" dt="2026-03-23T20:14:44.570" v="0"/>
        <pc:sldMkLst>
          <pc:docMk/>
          <pc:sldMk cId="0" sldId="383"/>
        </pc:sldMkLst>
      </pc:sldChg>
      <pc:sldChg chg="modTransition">
        <pc:chgData name="Eric AUBRUN" userId="4fc61db2-4c88-4eb6-b1fc-02ee2d950335" providerId="ADAL" clId="{C01C4F0C-6981-4347-B642-73587BE73484}" dt="2026-03-23T20:14:44.570" v="0"/>
        <pc:sldMkLst>
          <pc:docMk/>
          <pc:sldMk cId="0" sldId="384"/>
        </pc:sldMkLst>
      </pc:sldChg>
      <pc:sldChg chg="modTransition">
        <pc:chgData name="Eric AUBRUN" userId="4fc61db2-4c88-4eb6-b1fc-02ee2d950335" providerId="ADAL" clId="{C01C4F0C-6981-4347-B642-73587BE73484}" dt="2026-03-23T20:14:44.570" v="0"/>
        <pc:sldMkLst>
          <pc:docMk/>
          <pc:sldMk cId="0" sldId="385"/>
        </pc:sldMkLst>
      </pc:sldChg>
      <pc:sldChg chg="modTransition">
        <pc:chgData name="Eric AUBRUN" userId="4fc61db2-4c88-4eb6-b1fc-02ee2d950335" providerId="ADAL" clId="{C01C4F0C-6981-4347-B642-73587BE73484}" dt="2026-03-23T20:14:44.570" v="0"/>
        <pc:sldMkLst>
          <pc:docMk/>
          <pc:sldMk cId="0" sldId="386"/>
        </pc:sldMkLst>
      </pc:sldChg>
      <pc:sldChg chg="modTransition">
        <pc:chgData name="Eric AUBRUN" userId="4fc61db2-4c88-4eb6-b1fc-02ee2d950335" providerId="ADAL" clId="{C01C4F0C-6981-4347-B642-73587BE73484}" dt="2026-03-23T20:14:44.570" v="0"/>
        <pc:sldMkLst>
          <pc:docMk/>
          <pc:sldMk cId="0" sldId="387"/>
        </pc:sldMkLst>
      </pc:sldChg>
      <pc:sldChg chg="modTransition">
        <pc:chgData name="Eric AUBRUN" userId="4fc61db2-4c88-4eb6-b1fc-02ee2d950335" providerId="ADAL" clId="{C01C4F0C-6981-4347-B642-73587BE73484}" dt="2026-03-23T20:14:44.570" v="0"/>
        <pc:sldMkLst>
          <pc:docMk/>
          <pc:sldMk cId="0" sldId="388"/>
        </pc:sldMkLst>
      </pc:sldChg>
      <pc:sldChg chg="modTransition">
        <pc:chgData name="Eric AUBRUN" userId="4fc61db2-4c88-4eb6-b1fc-02ee2d950335" providerId="ADAL" clId="{C01C4F0C-6981-4347-B642-73587BE73484}" dt="2026-03-23T20:14:44.570" v="0"/>
        <pc:sldMkLst>
          <pc:docMk/>
          <pc:sldMk cId="0" sldId="389"/>
        </pc:sldMkLst>
      </pc:sldChg>
      <pc:sldChg chg="modTransition">
        <pc:chgData name="Eric AUBRUN" userId="4fc61db2-4c88-4eb6-b1fc-02ee2d950335" providerId="ADAL" clId="{C01C4F0C-6981-4347-B642-73587BE73484}" dt="2026-03-23T20:14:44.570" v="0"/>
        <pc:sldMkLst>
          <pc:docMk/>
          <pc:sldMk cId="0" sldId="390"/>
        </pc:sldMkLst>
      </pc:sldChg>
      <pc:sldChg chg="modTransition">
        <pc:chgData name="Eric AUBRUN" userId="4fc61db2-4c88-4eb6-b1fc-02ee2d950335" providerId="ADAL" clId="{C01C4F0C-6981-4347-B642-73587BE73484}" dt="2026-03-23T20:14:44.570" v="0"/>
        <pc:sldMkLst>
          <pc:docMk/>
          <pc:sldMk cId="0" sldId="391"/>
        </pc:sldMkLst>
      </pc:sldChg>
      <pc:sldChg chg="modTransition">
        <pc:chgData name="Eric AUBRUN" userId="4fc61db2-4c88-4eb6-b1fc-02ee2d950335" providerId="ADAL" clId="{C01C4F0C-6981-4347-B642-73587BE73484}" dt="2026-03-23T20:14:44.570" v="0"/>
        <pc:sldMkLst>
          <pc:docMk/>
          <pc:sldMk cId="0" sldId="392"/>
        </pc:sldMkLst>
      </pc:sldChg>
      <pc:sldChg chg="modTransition">
        <pc:chgData name="Eric AUBRUN" userId="4fc61db2-4c88-4eb6-b1fc-02ee2d950335" providerId="ADAL" clId="{C01C4F0C-6981-4347-B642-73587BE73484}" dt="2026-03-23T20:14:44.570" v="0"/>
        <pc:sldMkLst>
          <pc:docMk/>
          <pc:sldMk cId="0" sldId="393"/>
        </pc:sldMkLst>
      </pc:sldChg>
      <pc:sldChg chg="modTransition">
        <pc:chgData name="Eric AUBRUN" userId="4fc61db2-4c88-4eb6-b1fc-02ee2d950335" providerId="ADAL" clId="{C01C4F0C-6981-4347-B642-73587BE73484}" dt="2026-03-23T20:14:44.570" v="0"/>
        <pc:sldMkLst>
          <pc:docMk/>
          <pc:sldMk cId="0" sldId="394"/>
        </pc:sldMkLst>
      </pc:sldChg>
      <pc:sldChg chg="modTransition">
        <pc:chgData name="Eric AUBRUN" userId="4fc61db2-4c88-4eb6-b1fc-02ee2d950335" providerId="ADAL" clId="{C01C4F0C-6981-4347-B642-73587BE73484}" dt="2026-03-23T20:14:44.570" v="0"/>
        <pc:sldMkLst>
          <pc:docMk/>
          <pc:sldMk cId="0" sldId="395"/>
        </pc:sldMkLst>
      </pc:sldChg>
      <pc:sldChg chg="modTransition">
        <pc:chgData name="Eric AUBRUN" userId="4fc61db2-4c88-4eb6-b1fc-02ee2d950335" providerId="ADAL" clId="{C01C4F0C-6981-4347-B642-73587BE73484}" dt="2026-03-23T20:14:44.570" v="0"/>
        <pc:sldMkLst>
          <pc:docMk/>
          <pc:sldMk cId="0" sldId="396"/>
        </pc:sldMkLst>
      </pc:sldChg>
      <pc:sldChg chg="modTransition">
        <pc:chgData name="Eric AUBRUN" userId="4fc61db2-4c88-4eb6-b1fc-02ee2d950335" providerId="ADAL" clId="{C01C4F0C-6981-4347-B642-73587BE73484}" dt="2026-03-23T20:14:44.570" v="0"/>
        <pc:sldMkLst>
          <pc:docMk/>
          <pc:sldMk cId="0" sldId="397"/>
        </pc:sldMkLst>
      </pc:sldChg>
      <pc:sldChg chg="modTransition">
        <pc:chgData name="Eric AUBRUN" userId="4fc61db2-4c88-4eb6-b1fc-02ee2d950335" providerId="ADAL" clId="{C01C4F0C-6981-4347-B642-73587BE73484}" dt="2026-03-23T20:14:44.570" v="0"/>
        <pc:sldMkLst>
          <pc:docMk/>
          <pc:sldMk cId="0" sldId="398"/>
        </pc:sldMkLst>
      </pc:sldChg>
      <pc:sldChg chg="modTransition">
        <pc:chgData name="Eric AUBRUN" userId="4fc61db2-4c88-4eb6-b1fc-02ee2d950335" providerId="ADAL" clId="{C01C4F0C-6981-4347-B642-73587BE73484}" dt="2026-03-23T20:14:44.570" v="0"/>
        <pc:sldMkLst>
          <pc:docMk/>
          <pc:sldMk cId="0" sldId="399"/>
        </pc:sldMkLst>
      </pc:sldChg>
      <pc:sldChg chg="modTransition">
        <pc:chgData name="Eric AUBRUN" userId="4fc61db2-4c88-4eb6-b1fc-02ee2d950335" providerId="ADAL" clId="{C01C4F0C-6981-4347-B642-73587BE73484}" dt="2026-03-23T20:14:44.570" v="0"/>
        <pc:sldMkLst>
          <pc:docMk/>
          <pc:sldMk cId="0" sldId="400"/>
        </pc:sldMkLst>
      </pc:sldChg>
      <pc:sldChg chg="modTransition">
        <pc:chgData name="Eric AUBRUN" userId="4fc61db2-4c88-4eb6-b1fc-02ee2d950335" providerId="ADAL" clId="{C01C4F0C-6981-4347-B642-73587BE73484}" dt="2026-03-23T20:14:44.570" v="0"/>
        <pc:sldMkLst>
          <pc:docMk/>
          <pc:sldMk cId="0" sldId="401"/>
        </pc:sldMkLst>
      </pc:sldChg>
      <pc:sldChg chg="modTransition">
        <pc:chgData name="Eric AUBRUN" userId="4fc61db2-4c88-4eb6-b1fc-02ee2d950335" providerId="ADAL" clId="{C01C4F0C-6981-4347-B642-73587BE73484}" dt="2026-03-23T20:14:44.570" v="0"/>
        <pc:sldMkLst>
          <pc:docMk/>
          <pc:sldMk cId="0" sldId="402"/>
        </pc:sldMkLst>
      </pc:sldChg>
      <pc:sldChg chg="modTransition">
        <pc:chgData name="Eric AUBRUN" userId="4fc61db2-4c88-4eb6-b1fc-02ee2d950335" providerId="ADAL" clId="{C01C4F0C-6981-4347-B642-73587BE73484}" dt="2026-03-23T20:14:44.570" v="0"/>
        <pc:sldMkLst>
          <pc:docMk/>
          <pc:sldMk cId="0" sldId="403"/>
        </pc:sldMkLst>
      </pc:sldChg>
      <pc:sldChg chg="modTransition">
        <pc:chgData name="Eric AUBRUN" userId="4fc61db2-4c88-4eb6-b1fc-02ee2d950335" providerId="ADAL" clId="{C01C4F0C-6981-4347-B642-73587BE73484}" dt="2026-03-23T20:14:44.570" v="0"/>
        <pc:sldMkLst>
          <pc:docMk/>
          <pc:sldMk cId="0" sldId="404"/>
        </pc:sldMkLst>
      </pc:sldChg>
      <pc:sldChg chg="modTransition">
        <pc:chgData name="Eric AUBRUN" userId="4fc61db2-4c88-4eb6-b1fc-02ee2d950335" providerId="ADAL" clId="{C01C4F0C-6981-4347-B642-73587BE73484}" dt="2026-03-23T20:14:44.570" v="0"/>
        <pc:sldMkLst>
          <pc:docMk/>
          <pc:sldMk cId="0" sldId="405"/>
        </pc:sldMkLst>
      </pc:sldChg>
      <pc:sldChg chg="modTransition">
        <pc:chgData name="Eric AUBRUN" userId="4fc61db2-4c88-4eb6-b1fc-02ee2d950335" providerId="ADAL" clId="{C01C4F0C-6981-4347-B642-73587BE73484}" dt="2026-03-23T20:14:44.570" v="0"/>
        <pc:sldMkLst>
          <pc:docMk/>
          <pc:sldMk cId="0" sldId="406"/>
        </pc:sldMkLst>
      </pc:sldChg>
      <pc:sldChg chg="modTransition">
        <pc:chgData name="Eric AUBRUN" userId="4fc61db2-4c88-4eb6-b1fc-02ee2d950335" providerId="ADAL" clId="{C01C4F0C-6981-4347-B642-73587BE73484}" dt="2026-03-23T20:14:44.570" v="0"/>
        <pc:sldMkLst>
          <pc:docMk/>
          <pc:sldMk cId="0" sldId="407"/>
        </pc:sldMkLst>
      </pc:sldChg>
      <pc:sldChg chg="modTransition">
        <pc:chgData name="Eric AUBRUN" userId="4fc61db2-4c88-4eb6-b1fc-02ee2d950335" providerId="ADAL" clId="{C01C4F0C-6981-4347-B642-73587BE73484}" dt="2026-03-23T20:14:44.570" v="0"/>
        <pc:sldMkLst>
          <pc:docMk/>
          <pc:sldMk cId="0" sldId="408"/>
        </pc:sldMkLst>
      </pc:sldChg>
      <pc:sldChg chg="modTransition">
        <pc:chgData name="Eric AUBRUN" userId="4fc61db2-4c88-4eb6-b1fc-02ee2d950335" providerId="ADAL" clId="{C01C4F0C-6981-4347-B642-73587BE73484}" dt="2026-03-23T20:14:44.570" v="0"/>
        <pc:sldMkLst>
          <pc:docMk/>
          <pc:sldMk cId="0" sldId="409"/>
        </pc:sldMkLst>
      </pc:sldChg>
      <pc:sldChg chg="modTransition">
        <pc:chgData name="Eric AUBRUN" userId="4fc61db2-4c88-4eb6-b1fc-02ee2d950335" providerId="ADAL" clId="{C01C4F0C-6981-4347-B642-73587BE73484}" dt="2026-03-23T20:14:44.570" v="0"/>
        <pc:sldMkLst>
          <pc:docMk/>
          <pc:sldMk cId="0" sldId="410"/>
        </pc:sldMkLst>
      </pc:sldChg>
      <pc:sldChg chg="modTransition">
        <pc:chgData name="Eric AUBRUN" userId="4fc61db2-4c88-4eb6-b1fc-02ee2d950335" providerId="ADAL" clId="{C01C4F0C-6981-4347-B642-73587BE73484}" dt="2026-03-23T20:14:44.570" v="0"/>
        <pc:sldMkLst>
          <pc:docMk/>
          <pc:sldMk cId="0" sldId="411"/>
        </pc:sldMkLst>
      </pc:sldChg>
      <pc:sldChg chg="modTransition">
        <pc:chgData name="Eric AUBRUN" userId="4fc61db2-4c88-4eb6-b1fc-02ee2d950335" providerId="ADAL" clId="{C01C4F0C-6981-4347-B642-73587BE73484}" dt="2026-03-23T20:14:44.570" v="0"/>
        <pc:sldMkLst>
          <pc:docMk/>
          <pc:sldMk cId="0" sldId="412"/>
        </pc:sldMkLst>
      </pc:sldChg>
      <pc:sldChg chg="modTransition">
        <pc:chgData name="Eric AUBRUN" userId="4fc61db2-4c88-4eb6-b1fc-02ee2d950335" providerId="ADAL" clId="{C01C4F0C-6981-4347-B642-73587BE73484}" dt="2026-03-23T20:14:44.570" v="0"/>
        <pc:sldMkLst>
          <pc:docMk/>
          <pc:sldMk cId="0" sldId="413"/>
        </pc:sldMkLst>
      </pc:sldChg>
      <pc:sldChg chg="modTransition">
        <pc:chgData name="Eric AUBRUN" userId="4fc61db2-4c88-4eb6-b1fc-02ee2d950335" providerId="ADAL" clId="{C01C4F0C-6981-4347-B642-73587BE73484}" dt="2026-03-23T20:14:44.570" v="0"/>
        <pc:sldMkLst>
          <pc:docMk/>
          <pc:sldMk cId="0" sldId="414"/>
        </pc:sldMkLst>
      </pc:sldChg>
      <pc:sldChg chg="modTransition">
        <pc:chgData name="Eric AUBRUN" userId="4fc61db2-4c88-4eb6-b1fc-02ee2d950335" providerId="ADAL" clId="{C01C4F0C-6981-4347-B642-73587BE73484}" dt="2026-03-23T20:14:44.570" v="0"/>
        <pc:sldMkLst>
          <pc:docMk/>
          <pc:sldMk cId="0" sldId="415"/>
        </pc:sldMkLst>
      </pc:sldChg>
      <pc:sldChg chg="modTransition">
        <pc:chgData name="Eric AUBRUN" userId="4fc61db2-4c88-4eb6-b1fc-02ee2d950335" providerId="ADAL" clId="{C01C4F0C-6981-4347-B642-73587BE73484}" dt="2026-03-23T20:14:44.570" v="0"/>
        <pc:sldMkLst>
          <pc:docMk/>
          <pc:sldMk cId="0" sldId="416"/>
        </pc:sldMkLst>
      </pc:sldChg>
      <pc:sldChg chg="modTransition">
        <pc:chgData name="Eric AUBRUN" userId="4fc61db2-4c88-4eb6-b1fc-02ee2d950335" providerId="ADAL" clId="{C01C4F0C-6981-4347-B642-73587BE73484}" dt="2026-03-23T20:14:44.570" v="0"/>
        <pc:sldMkLst>
          <pc:docMk/>
          <pc:sldMk cId="0" sldId="417"/>
        </pc:sldMkLst>
      </pc:sldChg>
      <pc:sldChg chg="modTransition">
        <pc:chgData name="Eric AUBRUN" userId="4fc61db2-4c88-4eb6-b1fc-02ee2d950335" providerId="ADAL" clId="{C01C4F0C-6981-4347-B642-73587BE73484}" dt="2026-03-23T20:14:44.570" v="0"/>
        <pc:sldMkLst>
          <pc:docMk/>
          <pc:sldMk cId="0" sldId="418"/>
        </pc:sldMkLst>
      </pc:sldChg>
      <pc:sldChg chg="modTransition">
        <pc:chgData name="Eric AUBRUN" userId="4fc61db2-4c88-4eb6-b1fc-02ee2d950335" providerId="ADAL" clId="{C01C4F0C-6981-4347-B642-73587BE73484}" dt="2026-03-23T20:14:44.570" v="0"/>
        <pc:sldMkLst>
          <pc:docMk/>
          <pc:sldMk cId="0" sldId="419"/>
        </pc:sldMkLst>
      </pc:sldChg>
      <pc:sldChg chg="modTransition">
        <pc:chgData name="Eric AUBRUN" userId="4fc61db2-4c88-4eb6-b1fc-02ee2d950335" providerId="ADAL" clId="{C01C4F0C-6981-4347-B642-73587BE73484}" dt="2026-03-23T20:14:44.570" v="0"/>
        <pc:sldMkLst>
          <pc:docMk/>
          <pc:sldMk cId="0" sldId="420"/>
        </pc:sldMkLst>
      </pc:sldChg>
      <pc:sldChg chg="modTransition">
        <pc:chgData name="Eric AUBRUN" userId="4fc61db2-4c88-4eb6-b1fc-02ee2d950335" providerId="ADAL" clId="{C01C4F0C-6981-4347-B642-73587BE73484}" dt="2026-03-23T20:14:44.570" v="0"/>
        <pc:sldMkLst>
          <pc:docMk/>
          <pc:sldMk cId="0" sldId="421"/>
        </pc:sldMkLst>
      </pc:sldChg>
      <pc:sldChg chg="modTransition">
        <pc:chgData name="Eric AUBRUN" userId="4fc61db2-4c88-4eb6-b1fc-02ee2d950335" providerId="ADAL" clId="{C01C4F0C-6981-4347-B642-73587BE73484}" dt="2026-03-23T20:14:44.570" v="0"/>
        <pc:sldMkLst>
          <pc:docMk/>
          <pc:sldMk cId="0" sldId="422"/>
        </pc:sldMkLst>
      </pc:sldChg>
      <pc:sldChg chg="modTransition">
        <pc:chgData name="Eric AUBRUN" userId="4fc61db2-4c88-4eb6-b1fc-02ee2d950335" providerId="ADAL" clId="{C01C4F0C-6981-4347-B642-73587BE73484}" dt="2026-03-23T20:14:44.570" v="0"/>
        <pc:sldMkLst>
          <pc:docMk/>
          <pc:sldMk cId="0" sldId="423"/>
        </pc:sldMkLst>
      </pc:sldChg>
      <pc:sldChg chg="modTransition">
        <pc:chgData name="Eric AUBRUN" userId="4fc61db2-4c88-4eb6-b1fc-02ee2d950335" providerId="ADAL" clId="{C01C4F0C-6981-4347-B642-73587BE73484}" dt="2026-03-23T20:14:44.570" v="0"/>
        <pc:sldMkLst>
          <pc:docMk/>
          <pc:sldMk cId="0" sldId="424"/>
        </pc:sldMkLst>
      </pc:sldChg>
      <pc:sldChg chg="modTransition">
        <pc:chgData name="Eric AUBRUN" userId="4fc61db2-4c88-4eb6-b1fc-02ee2d950335" providerId="ADAL" clId="{C01C4F0C-6981-4347-B642-73587BE73484}" dt="2026-03-23T20:14:44.570" v="0"/>
        <pc:sldMkLst>
          <pc:docMk/>
          <pc:sldMk cId="0" sldId="425"/>
        </pc:sldMkLst>
      </pc:sldChg>
      <pc:sldChg chg="modTransition">
        <pc:chgData name="Eric AUBRUN" userId="4fc61db2-4c88-4eb6-b1fc-02ee2d950335" providerId="ADAL" clId="{C01C4F0C-6981-4347-B642-73587BE73484}" dt="2026-03-23T20:14:44.570" v="0"/>
        <pc:sldMkLst>
          <pc:docMk/>
          <pc:sldMk cId="0" sldId="426"/>
        </pc:sldMkLst>
      </pc:sldChg>
      <pc:sldChg chg="modTransition">
        <pc:chgData name="Eric AUBRUN" userId="4fc61db2-4c88-4eb6-b1fc-02ee2d950335" providerId="ADAL" clId="{C01C4F0C-6981-4347-B642-73587BE73484}" dt="2026-03-23T20:14:44.570" v="0"/>
        <pc:sldMkLst>
          <pc:docMk/>
          <pc:sldMk cId="0" sldId="427"/>
        </pc:sldMkLst>
      </pc:sldChg>
      <pc:sldChg chg="modTransition">
        <pc:chgData name="Eric AUBRUN" userId="4fc61db2-4c88-4eb6-b1fc-02ee2d950335" providerId="ADAL" clId="{C01C4F0C-6981-4347-B642-73587BE73484}" dt="2026-03-23T20:14:44.570" v="0"/>
        <pc:sldMkLst>
          <pc:docMk/>
          <pc:sldMk cId="0" sldId="428"/>
        </pc:sldMkLst>
      </pc:sldChg>
      <pc:sldChg chg="modTransition">
        <pc:chgData name="Eric AUBRUN" userId="4fc61db2-4c88-4eb6-b1fc-02ee2d950335" providerId="ADAL" clId="{C01C4F0C-6981-4347-B642-73587BE73484}" dt="2026-03-23T20:14:44.570" v="0"/>
        <pc:sldMkLst>
          <pc:docMk/>
          <pc:sldMk cId="0" sldId="429"/>
        </pc:sldMkLst>
      </pc:sldChg>
      <pc:sldChg chg="modTransition">
        <pc:chgData name="Eric AUBRUN" userId="4fc61db2-4c88-4eb6-b1fc-02ee2d950335" providerId="ADAL" clId="{C01C4F0C-6981-4347-B642-73587BE73484}" dt="2026-03-23T20:14:44.570" v="0"/>
        <pc:sldMkLst>
          <pc:docMk/>
          <pc:sldMk cId="0" sldId="430"/>
        </pc:sldMkLst>
      </pc:sldChg>
      <pc:sldChg chg="modTransition">
        <pc:chgData name="Eric AUBRUN" userId="4fc61db2-4c88-4eb6-b1fc-02ee2d950335" providerId="ADAL" clId="{C01C4F0C-6981-4347-B642-73587BE73484}" dt="2026-03-23T20:14:44.570" v="0"/>
        <pc:sldMkLst>
          <pc:docMk/>
          <pc:sldMk cId="0" sldId="431"/>
        </pc:sldMkLst>
      </pc:sldChg>
      <pc:sldChg chg="modTransition">
        <pc:chgData name="Eric AUBRUN" userId="4fc61db2-4c88-4eb6-b1fc-02ee2d950335" providerId="ADAL" clId="{C01C4F0C-6981-4347-B642-73587BE73484}" dt="2026-03-23T20:14:44.570" v="0"/>
        <pc:sldMkLst>
          <pc:docMk/>
          <pc:sldMk cId="0" sldId="432"/>
        </pc:sldMkLst>
      </pc:sldChg>
      <pc:sldChg chg="modTransition">
        <pc:chgData name="Eric AUBRUN" userId="4fc61db2-4c88-4eb6-b1fc-02ee2d950335" providerId="ADAL" clId="{C01C4F0C-6981-4347-B642-73587BE73484}" dt="2026-03-23T20:14:44.570" v="0"/>
        <pc:sldMkLst>
          <pc:docMk/>
          <pc:sldMk cId="0" sldId="433"/>
        </pc:sldMkLst>
      </pc:sldChg>
      <pc:sldChg chg="modTransition">
        <pc:chgData name="Eric AUBRUN" userId="4fc61db2-4c88-4eb6-b1fc-02ee2d950335" providerId="ADAL" clId="{C01C4F0C-6981-4347-B642-73587BE73484}" dt="2026-03-23T20:14:44.570" v="0"/>
        <pc:sldMkLst>
          <pc:docMk/>
          <pc:sldMk cId="0" sldId="434"/>
        </pc:sldMkLst>
      </pc:sldChg>
      <pc:sldChg chg="modTransition">
        <pc:chgData name="Eric AUBRUN" userId="4fc61db2-4c88-4eb6-b1fc-02ee2d950335" providerId="ADAL" clId="{C01C4F0C-6981-4347-B642-73587BE73484}" dt="2026-03-23T20:14:44.570" v="0"/>
        <pc:sldMkLst>
          <pc:docMk/>
          <pc:sldMk cId="0" sldId="435"/>
        </pc:sldMkLst>
      </pc:sldChg>
      <pc:sldChg chg="modTransition">
        <pc:chgData name="Eric AUBRUN" userId="4fc61db2-4c88-4eb6-b1fc-02ee2d950335" providerId="ADAL" clId="{C01C4F0C-6981-4347-B642-73587BE73484}" dt="2026-03-23T20:14:44.570" v="0"/>
        <pc:sldMkLst>
          <pc:docMk/>
          <pc:sldMk cId="0" sldId="436"/>
        </pc:sldMkLst>
      </pc:sldChg>
      <pc:sldChg chg="modTransition">
        <pc:chgData name="Eric AUBRUN" userId="4fc61db2-4c88-4eb6-b1fc-02ee2d950335" providerId="ADAL" clId="{C01C4F0C-6981-4347-B642-73587BE73484}" dt="2026-03-23T20:14:44.570" v="0"/>
        <pc:sldMkLst>
          <pc:docMk/>
          <pc:sldMk cId="0" sldId="437"/>
        </pc:sldMkLst>
      </pc:sldChg>
      <pc:sldChg chg="modTransition">
        <pc:chgData name="Eric AUBRUN" userId="4fc61db2-4c88-4eb6-b1fc-02ee2d950335" providerId="ADAL" clId="{C01C4F0C-6981-4347-B642-73587BE73484}" dt="2026-03-23T20:14:44.570" v="0"/>
        <pc:sldMkLst>
          <pc:docMk/>
          <pc:sldMk cId="0" sldId="438"/>
        </pc:sldMkLst>
      </pc:sldChg>
      <pc:sldChg chg="modTransition">
        <pc:chgData name="Eric AUBRUN" userId="4fc61db2-4c88-4eb6-b1fc-02ee2d950335" providerId="ADAL" clId="{C01C4F0C-6981-4347-B642-73587BE73484}" dt="2026-03-23T20:14:44.570" v="0"/>
        <pc:sldMkLst>
          <pc:docMk/>
          <pc:sldMk cId="0" sldId="439"/>
        </pc:sldMkLst>
      </pc:sldChg>
      <pc:sldChg chg="modTransition">
        <pc:chgData name="Eric AUBRUN" userId="4fc61db2-4c88-4eb6-b1fc-02ee2d950335" providerId="ADAL" clId="{C01C4F0C-6981-4347-B642-73587BE73484}" dt="2026-03-23T20:14:44.570" v="0"/>
        <pc:sldMkLst>
          <pc:docMk/>
          <pc:sldMk cId="0" sldId="440"/>
        </pc:sldMkLst>
      </pc:sldChg>
      <pc:sldChg chg="modTransition">
        <pc:chgData name="Eric AUBRUN" userId="4fc61db2-4c88-4eb6-b1fc-02ee2d950335" providerId="ADAL" clId="{C01C4F0C-6981-4347-B642-73587BE73484}" dt="2026-03-23T20:14:44.570" v="0"/>
        <pc:sldMkLst>
          <pc:docMk/>
          <pc:sldMk cId="0" sldId="441"/>
        </pc:sldMkLst>
      </pc:sldChg>
      <pc:sldChg chg="modTransition">
        <pc:chgData name="Eric AUBRUN" userId="4fc61db2-4c88-4eb6-b1fc-02ee2d950335" providerId="ADAL" clId="{C01C4F0C-6981-4347-B642-73587BE73484}" dt="2026-03-23T20:14:44.570" v="0"/>
        <pc:sldMkLst>
          <pc:docMk/>
          <pc:sldMk cId="0" sldId="442"/>
        </pc:sldMkLst>
      </pc:sldChg>
      <pc:sldChg chg="modTransition">
        <pc:chgData name="Eric AUBRUN" userId="4fc61db2-4c88-4eb6-b1fc-02ee2d950335" providerId="ADAL" clId="{C01C4F0C-6981-4347-B642-73587BE73484}" dt="2026-03-23T20:14:44.570" v="0"/>
        <pc:sldMkLst>
          <pc:docMk/>
          <pc:sldMk cId="0" sldId="443"/>
        </pc:sldMkLst>
      </pc:sldChg>
      <pc:sldChg chg="modTransition">
        <pc:chgData name="Eric AUBRUN" userId="4fc61db2-4c88-4eb6-b1fc-02ee2d950335" providerId="ADAL" clId="{C01C4F0C-6981-4347-B642-73587BE73484}" dt="2026-03-23T20:14:44.570" v="0"/>
        <pc:sldMkLst>
          <pc:docMk/>
          <pc:sldMk cId="0" sldId="444"/>
        </pc:sldMkLst>
      </pc:sldChg>
      <pc:sldChg chg="modTransition">
        <pc:chgData name="Eric AUBRUN" userId="4fc61db2-4c88-4eb6-b1fc-02ee2d950335" providerId="ADAL" clId="{C01C4F0C-6981-4347-B642-73587BE73484}" dt="2026-03-23T20:14:44.570" v="0"/>
        <pc:sldMkLst>
          <pc:docMk/>
          <pc:sldMk cId="0" sldId="445"/>
        </pc:sldMkLst>
      </pc:sldChg>
      <pc:sldChg chg="modTransition">
        <pc:chgData name="Eric AUBRUN" userId="4fc61db2-4c88-4eb6-b1fc-02ee2d950335" providerId="ADAL" clId="{C01C4F0C-6981-4347-B642-73587BE73484}" dt="2026-03-23T20:14:44.570" v="0"/>
        <pc:sldMkLst>
          <pc:docMk/>
          <pc:sldMk cId="0" sldId="446"/>
        </pc:sldMkLst>
      </pc:sldChg>
      <pc:sldChg chg="modTransition">
        <pc:chgData name="Eric AUBRUN" userId="4fc61db2-4c88-4eb6-b1fc-02ee2d950335" providerId="ADAL" clId="{C01C4F0C-6981-4347-B642-73587BE73484}" dt="2026-03-23T20:14:44.570" v="0"/>
        <pc:sldMkLst>
          <pc:docMk/>
          <pc:sldMk cId="0" sldId="447"/>
        </pc:sldMkLst>
      </pc:sldChg>
      <pc:sldChg chg="modTransition">
        <pc:chgData name="Eric AUBRUN" userId="4fc61db2-4c88-4eb6-b1fc-02ee2d950335" providerId="ADAL" clId="{C01C4F0C-6981-4347-B642-73587BE73484}" dt="2026-03-23T20:14:44.570" v="0"/>
        <pc:sldMkLst>
          <pc:docMk/>
          <pc:sldMk cId="0" sldId="448"/>
        </pc:sldMkLst>
      </pc:sldChg>
      <pc:sldChg chg="modTransition">
        <pc:chgData name="Eric AUBRUN" userId="4fc61db2-4c88-4eb6-b1fc-02ee2d950335" providerId="ADAL" clId="{C01C4F0C-6981-4347-B642-73587BE73484}" dt="2026-03-23T20:14:44.570" v="0"/>
        <pc:sldMkLst>
          <pc:docMk/>
          <pc:sldMk cId="0" sldId="449"/>
        </pc:sldMkLst>
      </pc:sldChg>
      <pc:sldChg chg="modTransition">
        <pc:chgData name="Eric AUBRUN" userId="4fc61db2-4c88-4eb6-b1fc-02ee2d950335" providerId="ADAL" clId="{C01C4F0C-6981-4347-B642-73587BE73484}" dt="2026-03-23T20:14:44.570" v="0"/>
        <pc:sldMkLst>
          <pc:docMk/>
          <pc:sldMk cId="0" sldId="450"/>
        </pc:sldMkLst>
      </pc:sldChg>
      <pc:sldChg chg="modTransition">
        <pc:chgData name="Eric AUBRUN" userId="4fc61db2-4c88-4eb6-b1fc-02ee2d950335" providerId="ADAL" clId="{C01C4F0C-6981-4347-B642-73587BE73484}" dt="2026-03-23T20:14:44.570" v="0"/>
        <pc:sldMkLst>
          <pc:docMk/>
          <pc:sldMk cId="0" sldId="451"/>
        </pc:sldMkLst>
      </pc:sldChg>
      <pc:sldChg chg="modTransition">
        <pc:chgData name="Eric AUBRUN" userId="4fc61db2-4c88-4eb6-b1fc-02ee2d950335" providerId="ADAL" clId="{C01C4F0C-6981-4347-B642-73587BE73484}" dt="2026-03-23T20:14:44.570" v="0"/>
        <pc:sldMkLst>
          <pc:docMk/>
          <pc:sldMk cId="0" sldId="452"/>
        </pc:sldMkLst>
      </pc:sldChg>
      <pc:sldChg chg="modTransition">
        <pc:chgData name="Eric AUBRUN" userId="4fc61db2-4c88-4eb6-b1fc-02ee2d950335" providerId="ADAL" clId="{C01C4F0C-6981-4347-B642-73587BE73484}" dt="2026-03-23T20:14:44.570" v="0"/>
        <pc:sldMkLst>
          <pc:docMk/>
          <pc:sldMk cId="0" sldId="453"/>
        </pc:sldMkLst>
      </pc:sldChg>
      <pc:sldChg chg="modTransition">
        <pc:chgData name="Eric AUBRUN" userId="4fc61db2-4c88-4eb6-b1fc-02ee2d950335" providerId="ADAL" clId="{C01C4F0C-6981-4347-B642-73587BE73484}" dt="2026-03-23T20:14:44.570" v="0"/>
        <pc:sldMkLst>
          <pc:docMk/>
          <pc:sldMk cId="0" sldId="454"/>
        </pc:sldMkLst>
      </pc:sldChg>
      <pc:sldChg chg="modTransition">
        <pc:chgData name="Eric AUBRUN" userId="4fc61db2-4c88-4eb6-b1fc-02ee2d950335" providerId="ADAL" clId="{C01C4F0C-6981-4347-B642-73587BE73484}" dt="2026-03-23T20:14:44.570" v="0"/>
        <pc:sldMkLst>
          <pc:docMk/>
          <pc:sldMk cId="0" sldId="455"/>
        </pc:sldMkLst>
      </pc:sldChg>
      <pc:sldChg chg="modTransition">
        <pc:chgData name="Eric AUBRUN" userId="4fc61db2-4c88-4eb6-b1fc-02ee2d950335" providerId="ADAL" clId="{C01C4F0C-6981-4347-B642-73587BE73484}" dt="2026-03-23T20:14:44.570" v="0"/>
        <pc:sldMkLst>
          <pc:docMk/>
          <pc:sldMk cId="0" sldId="456"/>
        </pc:sldMkLst>
      </pc:sldChg>
      <pc:sldChg chg="modTransition">
        <pc:chgData name="Eric AUBRUN" userId="4fc61db2-4c88-4eb6-b1fc-02ee2d950335" providerId="ADAL" clId="{C01C4F0C-6981-4347-B642-73587BE73484}" dt="2026-03-23T20:14:44.570" v="0"/>
        <pc:sldMkLst>
          <pc:docMk/>
          <pc:sldMk cId="0" sldId="457"/>
        </pc:sldMkLst>
      </pc:sldChg>
      <pc:sldChg chg="modTransition">
        <pc:chgData name="Eric AUBRUN" userId="4fc61db2-4c88-4eb6-b1fc-02ee2d950335" providerId="ADAL" clId="{C01C4F0C-6981-4347-B642-73587BE73484}" dt="2026-03-23T20:14:44.570" v="0"/>
        <pc:sldMkLst>
          <pc:docMk/>
          <pc:sldMk cId="0" sldId="458"/>
        </pc:sldMkLst>
      </pc:sldChg>
      <pc:sldChg chg="modTransition">
        <pc:chgData name="Eric AUBRUN" userId="4fc61db2-4c88-4eb6-b1fc-02ee2d950335" providerId="ADAL" clId="{C01C4F0C-6981-4347-B642-73587BE73484}" dt="2026-03-23T20:14:44.570" v="0"/>
        <pc:sldMkLst>
          <pc:docMk/>
          <pc:sldMk cId="0" sldId="459"/>
        </pc:sldMkLst>
      </pc:sldChg>
      <pc:sldChg chg="modTransition">
        <pc:chgData name="Eric AUBRUN" userId="4fc61db2-4c88-4eb6-b1fc-02ee2d950335" providerId="ADAL" clId="{C01C4F0C-6981-4347-B642-73587BE73484}" dt="2026-03-23T20:14:44.570" v="0"/>
        <pc:sldMkLst>
          <pc:docMk/>
          <pc:sldMk cId="0" sldId="460"/>
        </pc:sldMkLst>
      </pc:sldChg>
      <pc:sldChg chg="modTransition">
        <pc:chgData name="Eric AUBRUN" userId="4fc61db2-4c88-4eb6-b1fc-02ee2d950335" providerId="ADAL" clId="{C01C4F0C-6981-4347-B642-73587BE73484}" dt="2026-03-23T20:14:44.570" v="0"/>
        <pc:sldMkLst>
          <pc:docMk/>
          <pc:sldMk cId="0" sldId="461"/>
        </pc:sldMkLst>
      </pc:sldChg>
      <pc:sldChg chg="modTransition">
        <pc:chgData name="Eric AUBRUN" userId="4fc61db2-4c88-4eb6-b1fc-02ee2d950335" providerId="ADAL" clId="{C01C4F0C-6981-4347-B642-73587BE73484}" dt="2026-03-23T20:14:44.570" v="0"/>
        <pc:sldMkLst>
          <pc:docMk/>
          <pc:sldMk cId="0" sldId="462"/>
        </pc:sldMkLst>
      </pc:sldChg>
      <pc:sldChg chg="modTransition">
        <pc:chgData name="Eric AUBRUN" userId="4fc61db2-4c88-4eb6-b1fc-02ee2d950335" providerId="ADAL" clId="{C01C4F0C-6981-4347-B642-73587BE73484}" dt="2026-03-23T20:14:44.570" v="0"/>
        <pc:sldMkLst>
          <pc:docMk/>
          <pc:sldMk cId="0" sldId="463"/>
        </pc:sldMkLst>
      </pc:sldChg>
      <pc:sldChg chg="modTransition">
        <pc:chgData name="Eric AUBRUN" userId="4fc61db2-4c88-4eb6-b1fc-02ee2d950335" providerId="ADAL" clId="{C01C4F0C-6981-4347-B642-73587BE73484}" dt="2026-03-23T20:14:44.570" v="0"/>
        <pc:sldMkLst>
          <pc:docMk/>
          <pc:sldMk cId="0" sldId="464"/>
        </pc:sldMkLst>
      </pc:sldChg>
      <pc:sldChg chg="modTransition">
        <pc:chgData name="Eric AUBRUN" userId="4fc61db2-4c88-4eb6-b1fc-02ee2d950335" providerId="ADAL" clId="{C01C4F0C-6981-4347-B642-73587BE73484}" dt="2026-03-23T20:14:44.570" v="0"/>
        <pc:sldMkLst>
          <pc:docMk/>
          <pc:sldMk cId="0" sldId="465"/>
        </pc:sldMkLst>
      </pc:sldChg>
      <pc:sldChg chg="modTransition">
        <pc:chgData name="Eric AUBRUN" userId="4fc61db2-4c88-4eb6-b1fc-02ee2d950335" providerId="ADAL" clId="{C01C4F0C-6981-4347-B642-73587BE73484}" dt="2026-03-23T20:14:44.570" v="0"/>
        <pc:sldMkLst>
          <pc:docMk/>
          <pc:sldMk cId="0" sldId="4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311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8024"/>
          </a:solidFill>
          <a:ln w="12700">
            <a:solidFill>
              <a:srgbClr val="F48024"/>
            </a:solidFill>
            <a:prstDash val="solid"/>
          </a:ln>
        </p:spPr>
      </p:sp>
      <p:sp>
        <p:nvSpPr>
          <p:cNvPr id="3" name="Shape 1"/>
          <p:cNvSpPr/>
          <p:nvPr/>
        </p:nvSpPr>
        <p:spPr>
          <a:xfrm>
            <a:off x="0" y="5070348"/>
            <a:ext cx="9144000" cy="73152"/>
          </a:xfrm>
          <a:prstGeom prst="rect">
            <a:avLst/>
          </a:prstGeom>
          <a:solidFill>
            <a:srgbClr val="F48024"/>
          </a:solidFill>
          <a:ln w="12700">
            <a:solidFill>
              <a:srgbClr val="F48024"/>
            </a:solidFill>
            <a:prstDash val="solid"/>
          </a:ln>
        </p:spPr>
      </p:sp>
      <p:sp>
        <p:nvSpPr>
          <p:cNvPr id="4" name="Shape 2"/>
          <p:cNvSpPr/>
          <p:nvPr/>
        </p:nvSpPr>
        <p:spPr>
          <a:xfrm>
            <a:off x="1371600" y="1005840"/>
            <a:ext cx="6400800" cy="54864"/>
          </a:xfrm>
          <a:prstGeom prst="rect">
            <a:avLst/>
          </a:prstGeom>
          <a:solidFill>
            <a:srgbClr val="F48024"/>
          </a:solidFill>
          <a:ln w="12700">
            <a:solidFill>
              <a:srgbClr val="F48024"/>
            </a:solidFill>
            <a:prstDash val="solid"/>
          </a:ln>
        </p:spPr>
      </p:sp>
      <p:sp>
        <p:nvSpPr>
          <p:cNvPr id="5" name="Text 3"/>
          <p:cNvSpPr/>
          <p:nvPr/>
        </p:nvSpPr>
        <p:spPr>
          <a:xfrm>
            <a:off x="914400" y="1188720"/>
            <a:ext cx="7315200" cy="594360"/>
          </a:xfrm>
          <a:prstGeom prst="rect">
            <a:avLst/>
          </a:prstGeom>
          <a:noFill/>
          <a:ln/>
        </p:spPr>
        <p:txBody>
          <a:bodyPr wrap="square" rtlCol="0" anchor="ctr"/>
          <a:lstStyle/>
          <a:p>
            <a:pPr marL="0" indent="0" algn="ctr">
              <a:buNone/>
            </a:pPr>
            <a:r>
              <a:rPr lang="en-US" sz="1800" b="1" kern="0" spc="800" dirty="0">
                <a:solidFill>
                  <a:srgbClr val="F48024"/>
                </a:solidFill>
              </a:rPr>
              <a:t>QUIZ</a:t>
            </a:r>
            <a:endParaRPr lang="en-US" sz="1800" dirty="0"/>
          </a:p>
        </p:txBody>
      </p:sp>
      <p:sp>
        <p:nvSpPr>
          <p:cNvPr id="6" name="Text 4"/>
          <p:cNvSpPr/>
          <p:nvPr/>
        </p:nvSpPr>
        <p:spPr>
          <a:xfrm>
            <a:off x="548640" y="1783080"/>
            <a:ext cx="8046720" cy="1463040"/>
          </a:xfrm>
          <a:prstGeom prst="rect">
            <a:avLst/>
          </a:prstGeom>
          <a:noFill/>
          <a:ln/>
        </p:spPr>
        <p:txBody>
          <a:bodyPr wrap="square" rtlCol="0" anchor="ctr"/>
          <a:lstStyle/>
          <a:p>
            <a:pPr marL="0" indent="0" algn="ctr">
              <a:buNone/>
            </a:pPr>
            <a:r>
              <a:rPr lang="en-US" sz="3400" b="1" dirty="0">
                <a:solidFill>
                  <a:srgbClr val="FFFFFF"/>
                </a:solidFill>
              </a:rPr>
              <a:t>Autodétermination, pouvoir d'agir</a:t>
            </a:r>
            <a:endParaRPr lang="en-US" sz="3400" dirty="0"/>
          </a:p>
          <a:p>
            <a:pPr marL="0" indent="0" algn="ctr">
              <a:buNone/>
            </a:pPr>
            <a:r>
              <a:rPr lang="en-US" sz="3400" b="1" dirty="0">
                <a:solidFill>
                  <a:srgbClr val="FFFFFF"/>
                </a:solidFill>
              </a:rPr>
              <a:t>et accompagnement en ESSMS</a:t>
            </a:r>
            <a:endParaRPr lang="en-US" sz="3400" dirty="0"/>
          </a:p>
        </p:txBody>
      </p:sp>
      <p:sp>
        <p:nvSpPr>
          <p:cNvPr id="7" name="Shape 5"/>
          <p:cNvSpPr/>
          <p:nvPr/>
        </p:nvSpPr>
        <p:spPr>
          <a:xfrm>
            <a:off x="1828800" y="3337560"/>
            <a:ext cx="5486400" cy="54864"/>
          </a:xfrm>
          <a:prstGeom prst="rect">
            <a:avLst/>
          </a:prstGeom>
          <a:solidFill>
            <a:srgbClr val="F48024"/>
          </a:solidFill>
          <a:ln w="12700">
            <a:solidFill>
              <a:srgbClr val="F48024"/>
            </a:solidFill>
            <a:prstDash val="solid"/>
          </a:ln>
        </p:spPr>
      </p:sp>
      <p:sp>
        <p:nvSpPr>
          <p:cNvPr id="8" name="Text 6"/>
          <p:cNvSpPr/>
          <p:nvPr/>
        </p:nvSpPr>
        <p:spPr>
          <a:xfrm>
            <a:off x="457200" y="3456432"/>
            <a:ext cx="8229600" cy="457200"/>
          </a:xfrm>
          <a:prstGeom prst="rect">
            <a:avLst/>
          </a:prstGeom>
          <a:noFill/>
          <a:ln/>
        </p:spPr>
        <p:txBody>
          <a:bodyPr wrap="square" rtlCol="0" anchor="ctr"/>
          <a:lstStyle/>
          <a:p>
            <a:pPr marL="0" indent="0" algn="ctr">
              <a:buNone/>
            </a:pPr>
            <a:r>
              <a:rPr lang="en-US" sz="1300" dirty="0">
                <a:solidFill>
                  <a:srgbClr val="F48024"/>
                </a:solidFill>
              </a:rPr>
              <a:t>100 questions · RBPP HAS 2022 &amp; Note de cadrage HAS 2025</a:t>
            </a:r>
            <a:endParaRPr lang="en-US" sz="1300" dirty="0"/>
          </a:p>
        </p:txBody>
      </p:sp>
      <p:sp>
        <p:nvSpPr>
          <p:cNvPr id="9" name="Text 7"/>
          <p:cNvSpPr/>
          <p:nvPr/>
        </p:nvSpPr>
        <p:spPr>
          <a:xfrm>
            <a:off x="914400" y="3977640"/>
            <a:ext cx="7315200" cy="411480"/>
          </a:xfrm>
          <a:prstGeom prst="rect">
            <a:avLst/>
          </a:prstGeom>
          <a:noFill/>
          <a:ln/>
        </p:spPr>
        <p:txBody>
          <a:bodyPr wrap="square" rtlCol="0" anchor="ctr"/>
          <a:lstStyle/>
          <a:p>
            <a:pPr marL="0" indent="0" algn="ctr">
              <a:buNone/>
            </a:pPr>
            <a:r>
              <a:rPr lang="en-US" sz="1100" i="1" dirty="0">
                <a:solidFill>
                  <a:srgbClr val="8AAFD4"/>
                </a:solidFill>
              </a:rPr>
              <a:t>Pour chaque question : slide Q → slide R (réponse + explication)</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Selon Wehmeyer (1996), l'autodétermination se définit comme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capacité d'une personne à vivre de manière indépendante sans aide extérieure.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L'ensemble des habiletés permettant d'agir directement sur sa vie en effectuant librement des choix non influencés par des agents externes indus.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capacité d'une personne à prendre seule des décisions médicales éclairées.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Wehmeyer (1996), l'autodétermination se définit comme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capacité d'une personne à vivre de manière indépendante sans aide extérieure.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L'ensemble des habiletés permettant d'agir directement sur sa vie en effectuant librement des choix non influencés par des agents externes indus.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capacité d'une personne à prendre seule des décisions médicales éclairées.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Wehmeyer (1996, trad. Lachapelle &amp; Wehmeyer, 2003) définit l'autodétermination comme « l'ensemble des habiletés et des attitudes permettant d'agir directement sur sa vie en effectuant librement des choix non influencés par des agents externes indus ». Ce n'est ni l'indépendance ni l'autonomie.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En 2005, Wehmeyer qualifie un comportement d'autodéterminé lorsqu'il permet à son auteur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De vivre sans aucune aide extérieure ni accompagnement.</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D'agir comme le principal agent causal de sa vie afin de maintenir et d'améliorer sa qualité de vie.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De respecter scrupuleusement les règles et normes sociales en vigueur.</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En 2005, Wehmeyer qualifie un comportement d'autodéterminé lorsqu'il permet à son auteur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De vivre sans aucune aide extérieure ni accompagnement.</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D'agir comme le principal agent causal de sa vie afin de maintenir et d'améliorer sa qualité de vie.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De respecter scrupuleusement les règles et normes sociales en vigueur.</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En 2005, Wehmeyer précise que le comportement autodéterminé permet à son auteur « d'agir comme le principal agent causal de sa vie afin de maintenir et d'améliorer sa qualité de vie ». La notion centrale est celle d'agent causal de sa propre vie.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Combien de caractéristiques interdépendantes compose le modèle fonctionnel de l'autodétermination ?</a:t>
            </a:r>
            <a:endParaRPr lang="en-US" sz="1900" dirty="0"/>
          </a:p>
        </p:txBody>
      </p:sp>
      <p:sp>
        <p:nvSpPr>
          <p:cNvPr id="6" name="Shape 4"/>
          <p:cNvSpPr/>
          <p:nvPr/>
        </p:nvSpPr>
        <p:spPr>
          <a:xfrm>
            <a:off x="320040" y="1737360"/>
            <a:ext cx="8503920" cy="484632"/>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737360"/>
            <a:ext cx="475488" cy="484632"/>
          </a:xfrm>
          <a:prstGeom prst="rect">
            <a:avLst/>
          </a:prstGeom>
          <a:solidFill>
            <a:srgbClr val="F48024"/>
          </a:solidFill>
          <a:ln w="12700">
            <a:solidFill>
              <a:srgbClr val="F48024"/>
            </a:solidFill>
            <a:prstDash val="solid"/>
          </a:ln>
        </p:spPr>
      </p:sp>
      <p:sp>
        <p:nvSpPr>
          <p:cNvPr id="8" name="Text 6"/>
          <p:cNvSpPr/>
          <p:nvPr/>
        </p:nvSpPr>
        <p:spPr>
          <a:xfrm>
            <a:off x="320040" y="173736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764792"/>
            <a:ext cx="7726680" cy="429768"/>
          </a:xfrm>
          <a:prstGeom prst="rect">
            <a:avLst/>
          </a:prstGeom>
          <a:noFill/>
          <a:ln/>
        </p:spPr>
        <p:txBody>
          <a:bodyPr wrap="square" rtlCol="0" anchor="ctr"/>
          <a:lstStyle/>
          <a:p>
            <a:pPr marL="0" indent="0">
              <a:buNone/>
            </a:pPr>
            <a:r>
              <a:rPr lang="en-US" sz="1300" dirty="0">
                <a:solidFill>
                  <a:srgbClr val="FFFFFF"/>
                </a:solidFill>
              </a:rPr>
              <a:t>2</a:t>
            </a:r>
            <a:endParaRPr lang="en-US" sz="1300" dirty="0"/>
          </a:p>
        </p:txBody>
      </p:sp>
      <p:sp>
        <p:nvSpPr>
          <p:cNvPr id="10" name="Shape 8"/>
          <p:cNvSpPr/>
          <p:nvPr/>
        </p:nvSpPr>
        <p:spPr>
          <a:xfrm>
            <a:off x="320040" y="2286000"/>
            <a:ext cx="8503920" cy="484632"/>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286000"/>
            <a:ext cx="475488" cy="484632"/>
          </a:xfrm>
          <a:prstGeom prst="rect">
            <a:avLst/>
          </a:prstGeom>
          <a:solidFill>
            <a:srgbClr val="F48024"/>
          </a:solidFill>
          <a:ln w="12700">
            <a:solidFill>
              <a:srgbClr val="F48024"/>
            </a:solidFill>
            <a:prstDash val="solid"/>
          </a:ln>
        </p:spPr>
      </p:sp>
      <p:sp>
        <p:nvSpPr>
          <p:cNvPr id="12" name="Text 10"/>
          <p:cNvSpPr/>
          <p:nvPr/>
        </p:nvSpPr>
        <p:spPr>
          <a:xfrm>
            <a:off x="320040" y="228600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313432"/>
            <a:ext cx="7726680" cy="429768"/>
          </a:xfrm>
          <a:prstGeom prst="rect">
            <a:avLst/>
          </a:prstGeom>
          <a:noFill/>
          <a:ln/>
        </p:spPr>
        <p:txBody>
          <a:bodyPr wrap="square" rtlCol="0" anchor="ctr"/>
          <a:lstStyle/>
          <a:p>
            <a:pPr marL="0" indent="0">
              <a:buNone/>
            </a:pPr>
            <a:r>
              <a:rPr lang="en-US" sz="1300" dirty="0">
                <a:solidFill>
                  <a:srgbClr val="FFFFFF"/>
                </a:solidFill>
              </a:rPr>
              <a:t>3</a:t>
            </a:r>
            <a:endParaRPr lang="en-US" sz="1300" dirty="0"/>
          </a:p>
        </p:txBody>
      </p:sp>
      <p:sp>
        <p:nvSpPr>
          <p:cNvPr id="14" name="Shape 12"/>
          <p:cNvSpPr/>
          <p:nvPr/>
        </p:nvSpPr>
        <p:spPr>
          <a:xfrm>
            <a:off x="320040" y="2834640"/>
            <a:ext cx="8503920" cy="484632"/>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2834640"/>
            <a:ext cx="475488" cy="484632"/>
          </a:xfrm>
          <a:prstGeom prst="rect">
            <a:avLst/>
          </a:prstGeom>
          <a:solidFill>
            <a:srgbClr val="F48024"/>
          </a:solidFill>
          <a:ln w="12700">
            <a:solidFill>
              <a:srgbClr val="F48024"/>
            </a:solidFill>
            <a:prstDash val="solid"/>
          </a:ln>
        </p:spPr>
      </p:sp>
      <p:sp>
        <p:nvSpPr>
          <p:cNvPr id="16" name="Text 14"/>
          <p:cNvSpPr/>
          <p:nvPr/>
        </p:nvSpPr>
        <p:spPr>
          <a:xfrm>
            <a:off x="320040" y="283464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2862072"/>
            <a:ext cx="7726680" cy="429768"/>
          </a:xfrm>
          <a:prstGeom prst="rect">
            <a:avLst/>
          </a:prstGeom>
          <a:noFill/>
          <a:ln/>
        </p:spPr>
        <p:txBody>
          <a:bodyPr wrap="square" rtlCol="0" anchor="ctr"/>
          <a:lstStyle/>
          <a:p>
            <a:pPr marL="0" indent="0">
              <a:buNone/>
            </a:pPr>
            <a:r>
              <a:rPr lang="en-US" sz="1300" dirty="0">
                <a:solidFill>
                  <a:srgbClr val="FFFFFF"/>
                </a:solidFill>
              </a:rPr>
              <a:t>4</a:t>
            </a:r>
            <a:endParaRPr lang="en-US" sz="1300" dirty="0"/>
          </a:p>
        </p:txBody>
      </p:sp>
      <p:sp>
        <p:nvSpPr>
          <p:cNvPr id="18" name="Shape 16"/>
          <p:cNvSpPr/>
          <p:nvPr/>
        </p:nvSpPr>
        <p:spPr>
          <a:xfrm>
            <a:off x="320040" y="3383280"/>
            <a:ext cx="8503920" cy="484632"/>
          </a:xfrm>
          <a:prstGeom prst="rect">
            <a:avLst/>
          </a:prstGeom>
          <a:solidFill>
            <a:srgbClr val="FFFFFF">
              <a:alpha val="20000"/>
            </a:srgbClr>
          </a:solidFill>
          <a:ln w="6350">
            <a:solidFill>
              <a:srgbClr val="FFFFFF">
                <a:alpha val="35000"/>
              </a:srgbClr>
            </a:solidFill>
            <a:prstDash val="solid"/>
          </a:ln>
        </p:spPr>
      </p:sp>
      <p:sp>
        <p:nvSpPr>
          <p:cNvPr id="19" name="Shape 17"/>
          <p:cNvSpPr/>
          <p:nvPr/>
        </p:nvSpPr>
        <p:spPr>
          <a:xfrm>
            <a:off x="320040" y="3383280"/>
            <a:ext cx="475488" cy="484632"/>
          </a:xfrm>
          <a:prstGeom prst="rect">
            <a:avLst/>
          </a:prstGeom>
          <a:solidFill>
            <a:srgbClr val="F48024"/>
          </a:solidFill>
          <a:ln w="12700">
            <a:solidFill>
              <a:srgbClr val="F48024"/>
            </a:solidFill>
            <a:prstDash val="solid"/>
          </a:ln>
        </p:spPr>
      </p:sp>
      <p:sp>
        <p:nvSpPr>
          <p:cNvPr id="20" name="Text 18"/>
          <p:cNvSpPr/>
          <p:nvPr/>
        </p:nvSpPr>
        <p:spPr>
          <a:xfrm>
            <a:off x="320040" y="338328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D</a:t>
            </a:r>
            <a:endParaRPr lang="en-US" sz="1400" dirty="0"/>
          </a:p>
        </p:txBody>
      </p:sp>
      <p:sp>
        <p:nvSpPr>
          <p:cNvPr id="21" name="Text 19"/>
          <p:cNvSpPr/>
          <p:nvPr/>
        </p:nvSpPr>
        <p:spPr>
          <a:xfrm>
            <a:off x="914400" y="3410712"/>
            <a:ext cx="7726680" cy="429768"/>
          </a:xfrm>
          <a:prstGeom prst="rect">
            <a:avLst/>
          </a:prstGeom>
          <a:noFill/>
          <a:ln/>
        </p:spPr>
        <p:txBody>
          <a:bodyPr wrap="square" rtlCol="0" anchor="ctr"/>
          <a:lstStyle/>
          <a:p>
            <a:pPr marL="0" indent="0">
              <a:buNone/>
            </a:pPr>
            <a:r>
              <a:rPr lang="en-US" sz="1300" dirty="0">
                <a:solidFill>
                  <a:srgbClr val="FFFFFF"/>
                </a:solidFill>
              </a:rPr>
              <a:t>5</a:t>
            </a:r>
            <a:endParaRPr lang="en-US" sz="1300" dirty="0"/>
          </a:p>
        </p:txBody>
      </p:sp>
      <p:sp>
        <p:nvSpPr>
          <p:cNvPr id="22" name="Shape 20"/>
          <p:cNvSpPr/>
          <p:nvPr/>
        </p:nvSpPr>
        <p:spPr>
          <a:xfrm>
            <a:off x="320040" y="3931920"/>
            <a:ext cx="8503920" cy="484632"/>
          </a:xfrm>
          <a:prstGeom prst="rect">
            <a:avLst/>
          </a:prstGeom>
          <a:solidFill>
            <a:srgbClr val="FFFFFF">
              <a:alpha val="20000"/>
            </a:srgbClr>
          </a:solidFill>
          <a:ln w="6350">
            <a:solidFill>
              <a:srgbClr val="FFFFFF">
                <a:alpha val="35000"/>
              </a:srgbClr>
            </a:solidFill>
            <a:prstDash val="solid"/>
          </a:ln>
        </p:spPr>
      </p:sp>
      <p:sp>
        <p:nvSpPr>
          <p:cNvPr id="23" name="Shape 21"/>
          <p:cNvSpPr/>
          <p:nvPr/>
        </p:nvSpPr>
        <p:spPr>
          <a:xfrm>
            <a:off x="320040" y="3931920"/>
            <a:ext cx="475488" cy="484632"/>
          </a:xfrm>
          <a:prstGeom prst="rect">
            <a:avLst/>
          </a:prstGeom>
          <a:solidFill>
            <a:srgbClr val="F48024"/>
          </a:solidFill>
          <a:ln w="12700">
            <a:solidFill>
              <a:srgbClr val="F48024"/>
            </a:solidFill>
            <a:prstDash val="solid"/>
          </a:ln>
        </p:spPr>
      </p:sp>
      <p:sp>
        <p:nvSpPr>
          <p:cNvPr id="24" name="Text 22"/>
          <p:cNvSpPr/>
          <p:nvPr/>
        </p:nvSpPr>
        <p:spPr>
          <a:xfrm>
            <a:off x="320040" y="393192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E</a:t>
            </a:r>
            <a:endParaRPr lang="en-US" sz="1400" dirty="0"/>
          </a:p>
        </p:txBody>
      </p:sp>
      <p:sp>
        <p:nvSpPr>
          <p:cNvPr id="25" name="Text 23"/>
          <p:cNvSpPr/>
          <p:nvPr/>
        </p:nvSpPr>
        <p:spPr>
          <a:xfrm>
            <a:off x="914400" y="3959352"/>
            <a:ext cx="7726680" cy="429768"/>
          </a:xfrm>
          <a:prstGeom prst="rect">
            <a:avLst/>
          </a:prstGeom>
          <a:noFill/>
          <a:ln/>
        </p:spPr>
        <p:txBody>
          <a:bodyPr wrap="square" rtlCol="0" anchor="ctr"/>
          <a:lstStyle/>
          <a:p>
            <a:pPr marL="0" indent="0">
              <a:buNone/>
            </a:pPr>
            <a:r>
              <a:rPr lang="en-US" sz="1300" dirty="0">
                <a:solidFill>
                  <a:srgbClr val="FFFFFF"/>
                </a:solidFill>
              </a:rPr>
              <a:t>6</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Combien de caractéristiques interdépendantes compose le modèle fonctionnel de l'autodétermination ?</a:t>
            </a:r>
            <a:endParaRPr lang="en-US" sz="1500" dirty="0"/>
          </a:p>
        </p:txBody>
      </p:sp>
      <p:sp>
        <p:nvSpPr>
          <p:cNvPr id="5" name="Shape 3"/>
          <p:cNvSpPr/>
          <p:nvPr/>
        </p:nvSpPr>
        <p:spPr>
          <a:xfrm>
            <a:off x="320040" y="1417320"/>
            <a:ext cx="8503920" cy="402336"/>
          </a:xfrm>
          <a:prstGeom prst="rect">
            <a:avLst/>
          </a:prstGeom>
          <a:solidFill>
            <a:srgbClr val="E8EAF2"/>
          </a:solidFill>
          <a:ln w="19050">
            <a:solidFill>
              <a:srgbClr val="C0C8D8"/>
            </a:solidFill>
            <a:prstDash val="solid"/>
          </a:ln>
        </p:spPr>
      </p:sp>
      <p:sp>
        <p:nvSpPr>
          <p:cNvPr id="6" name="Shape 4"/>
          <p:cNvSpPr/>
          <p:nvPr/>
        </p:nvSpPr>
        <p:spPr>
          <a:xfrm>
            <a:off x="320040" y="1417320"/>
            <a:ext cx="475488" cy="402336"/>
          </a:xfrm>
          <a:prstGeom prst="rect">
            <a:avLst/>
          </a:prstGeom>
          <a:solidFill>
            <a:srgbClr val="A0AABC"/>
          </a:solidFill>
          <a:ln w="12700">
            <a:solidFill>
              <a:srgbClr val="A0AABC"/>
            </a:solidFill>
            <a:prstDash val="solid"/>
          </a:ln>
        </p:spPr>
      </p:sp>
      <p:sp>
        <p:nvSpPr>
          <p:cNvPr id="7" name="Text 5"/>
          <p:cNvSpPr/>
          <p:nvPr/>
        </p:nvSpPr>
        <p:spPr>
          <a:xfrm>
            <a:off x="320040" y="14173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35608"/>
            <a:ext cx="7726680" cy="365760"/>
          </a:xfrm>
          <a:prstGeom prst="rect">
            <a:avLst/>
          </a:prstGeom>
          <a:noFill/>
          <a:ln/>
        </p:spPr>
        <p:txBody>
          <a:bodyPr wrap="square" rtlCol="0" anchor="ctr"/>
          <a:lstStyle/>
          <a:p>
            <a:pPr marL="0" indent="0">
              <a:buNone/>
            </a:pPr>
            <a:r>
              <a:rPr lang="en-US" sz="1200" dirty="0">
                <a:solidFill>
                  <a:srgbClr val="8A96AD"/>
                </a:solidFill>
              </a:rPr>
              <a:t>2</a:t>
            </a:r>
            <a:endParaRPr lang="en-US" sz="1200" dirty="0"/>
          </a:p>
        </p:txBody>
      </p:sp>
      <p:sp>
        <p:nvSpPr>
          <p:cNvPr id="9" name="Shape 7"/>
          <p:cNvSpPr/>
          <p:nvPr/>
        </p:nvSpPr>
        <p:spPr>
          <a:xfrm>
            <a:off x="320040" y="1874520"/>
            <a:ext cx="8503920" cy="402336"/>
          </a:xfrm>
          <a:prstGeom prst="rect">
            <a:avLst/>
          </a:prstGeom>
          <a:solidFill>
            <a:srgbClr val="E8EAF2"/>
          </a:solidFill>
          <a:ln w="19050">
            <a:solidFill>
              <a:srgbClr val="C0C8D8"/>
            </a:solidFill>
            <a:prstDash val="solid"/>
          </a:ln>
        </p:spPr>
      </p:sp>
      <p:sp>
        <p:nvSpPr>
          <p:cNvPr id="10" name="Shape 8"/>
          <p:cNvSpPr/>
          <p:nvPr/>
        </p:nvSpPr>
        <p:spPr>
          <a:xfrm>
            <a:off x="320040" y="1874520"/>
            <a:ext cx="475488" cy="402336"/>
          </a:xfrm>
          <a:prstGeom prst="rect">
            <a:avLst/>
          </a:prstGeom>
          <a:solidFill>
            <a:srgbClr val="A0AABC"/>
          </a:solidFill>
          <a:ln w="12700">
            <a:solidFill>
              <a:srgbClr val="A0AABC"/>
            </a:solidFill>
            <a:prstDash val="solid"/>
          </a:ln>
        </p:spPr>
      </p:sp>
      <p:sp>
        <p:nvSpPr>
          <p:cNvPr id="11" name="Text 9"/>
          <p:cNvSpPr/>
          <p:nvPr/>
        </p:nvSpPr>
        <p:spPr>
          <a:xfrm>
            <a:off x="320040" y="18745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1892808"/>
            <a:ext cx="7726680" cy="365760"/>
          </a:xfrm>
          <a:prstGeom prst="rect">
            <a:avLst/>
          </a:prstGeom>
          <a:noFill/>
          <a:ln/>
        </p:spPr>
        <p:txBody>
          <a:bodyPr wrap="square" rtlCol="0" anchor="ctr"/>
          <a:lstStyle/>
          <a:p>
            <a:pPr marL="0" indent="0">
              <a:buNone/>
            </a:pPr>
            <a:r>
              <a:rPr lang="en-US" sz="1200" dirty="0">
                <a:solidFill>
                  <a:srgbClr val="8A96AD"/>
                </a:solidFill>
              </a:rPr>
              <a:t>3</a:t>
            </a:r>
            <a:endParaRPr lang="en-US" sz="1200" dirty="0"/>
          </a:p>
        </p:txBody>
      </p:sp>
      <p:sp>
        <p:nvSpPr>
          <p:cNvPr id="13" name="Shape 11"/>
          <p:cNvSpPr/>
          <p:nvPr/>
        </p:nvSpPr>
        <p:spPr>
          <a:xfrm>
            <a:off x="320040" y="2331720"/>
            <a:ext cx="8503920" cy="402336"/>
          </a:xfrm>
          <a:prstGeom prst="rect">
            <a:avLst/>
          </a:prstGeom>
          <a:solidFill>
            <a:srgbClr val="E8F5ED"/>
          </a:solidFill>
          <a:ln w="19050">
            <a:solidFill>
              <a:srgbClr val="1A6B3C"/>
            </a:solidFill>
            <a:prstDash val="solid"/>
          </a:ln>
        </p:spPr>
      </p:sp>
      <p:sp>
        <p:nvSpPr>
          <p:cNvPr id="14" name="Shape 12"/>
          <p:cNvSpPr/>
          <p:nvPr/>
        </p:nvSpPr>
        <p:spPr>
          <a:xfrm>
            <a:off x="320040" y="2331720"/>
            <a:ext cx="475488" cy="402336"/>
          </a:xfrm>
          <a:prstGeom prst="rect">
            <a:avLst/>
          </a:prstGeom>
          <a:solidFill>
            <a:srgbClr val="1A6B3C"/>
          </a:solidFill>
          <a:ln w="12700">
            <a:solidFill>
              <a:srgbClr val="1A6B3C"/>
            </a:solidFill>
            <a:prstDash val="solid"/>
          </a:ln>
        </p:spPr>
      </p:sp>
      <p:sp>
        <p:nvSpPr>
          <p:cNvPr id="15" name="Text 13"/>
          <p:cNvSpPr/>
          <p:nvPr/>
        </p:nvSpPr>
        <p:spPr>
          <a:xfrm>
            <a:off x="320040" y="23317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350008"/>
            <a:ext cx="7726680" cy="365760"/>
          </a:xfrm>
          <a:prstGeom prst="rect">
            <a:avLst/>
          </a:prstGeom>
          <a:noFill/>
          <a:ln/>
        </p:spPr>
        <p:txBody>
          <a:bodyPr wrap="square" rtlCol="0" anchor="ctr"/>
          <a:lstStyle/>
          <a:p>
            <a:pPr marL="0" indent="0">
              <a:buNone/>
            </a:pPr>
            <a:r>
              <a:rPr lang="en-US" sz="1200" b="1" dirty="0">
                <a:solidFill>
                  <a:srgbClr val="1A6B3C"/>
                </a:solidFill>
              </a:rPr>
              <a:t>4</a:t>
            </a:r>
            <a:endParaRPr lang="en-US" sz="1200" dirty="0"/>
          </a:p>
        </p:txBody>
      </p:sp>
      <p:sp>
        <p:nvSpPr>
          <p:cNvPr id="17" name="Shape 15"/>
          <p:cNvSpPr/>
          <p:nvPr/>
        </p:nvSpPr>
        <p:spPr>
          <a:xfrm>
            <a:off x="320040" y="2788920"/>
            <a:ext cx="8503920" cy="402336"/>
          </a:xfrm>
          <a:prstGeom prst="rect">
            <a:avLst/>
          </a:prstGeom>
          <a:solidFill>
            <a:srgbClr val="E8EAF2"/>
          </a:solidFill>
          <a:ln w="19050">
            <a:solidFill>
              <a:srgbClr val="C0C8D8"/>
            </a:solidFill>
            <a:prstDash val="solid"/>
          </a:ln>
        </p:spPr>
      </p:sp>
      <p:sp>
        <p:nvSpPr>
          <p:cNvPr id="18" name="Shape 16"/>
          <p:cNvSpPr/>
          <p:nvPr/>
        </p:nvSpPr>
        <p:spPr>
          <a:xfrm>
            <a:off x="320040" y="2788920"/>
            <a:ext cx="475488" cy="402336"/>
          </a:xfrm>
          <a:prstGeom prst="rect">
            <a:avLst/>
          </a:prstGeom>
          <a:solidFill>
            <a:srgbClr val="A0AABC"/>
          </a:solidFill>
          <a:ln w="12700">
            <a:solidFill>
              <a:srgbClr val="A0AABC"/>
            </a:solidFill>
            <a:prstDash val="solid"/>
          </a:ln>
        </p:spPr>
      </p:sp>
      <p:sp>
        <p:nvSpPr>
          <p:cNvPr id="19" name="Text 17"/>
          <p:cNvSpPr/>
          <p:nvPr/>
        </p:nvSpPr>
        <p:spPr>
          <a:xfrm>
            <a:off x="320040" y="27889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D</a:t>
            </a:r>
            <a:endParaRPr lang="en-US" sz="1300" dirty="0"/>
          </a:p>
        </p:txBody>
      </p:sp>
      <p:sp>
        <p:nvSpPr>
          <p:cNvPr id="20" name="Text 18"/>
          <p:cNvSpPr/>
          <p:nvPr/>
        </p:nvSpPr>
        <p:spPr>
          <a:xfrm>
            <a:off x="914400" y="2807208"/>
            <a:ext cx="7726680" cy="365760"/>
          </a:xfrm>
          <a:prstGeom prst="rect">
            <a:avLst/>
          </a:prstGeom>
          <a:noFill/>
          <a:ln/>
        </p:spPr>
        <p:txBody>
          <a:bodyPr wrap="square" rtlCol="0" anchor="ctr"/>
          <a:lstStyle/>
          <a:p>
            <a:pPr marL="0" indent="0">
              <a:buNone/>
            </a:pPr>
            <a:r>
              <a:rPr lang="en-US" sz="1200" dirty="0">
                <a:solidFill>
                  <a:srgbClr val="8A96AD"/>
                </a:solidFill>
              </a:rPr>
              <a:t>5</a:t>
            </a:r>
            <a:endParaRPr lang="en-US" sz="1200" dirty="0"/>
          </a:p>
        </p:txBody>
      </p:sp>
      <p:sp>
        <p:nvSpPr>
          <p:cNvPr id="21" name="Shape 19"/>
          <p:cNvSpPr/>
          <p:nvPr/>
        </p:nvSpPr>
        <p:spPr>
          <a:xfrm>
            <a:off x="320040" y="3246120"/>
            <a:ext cx="8503920" cy="402336"/>
          </a:xfrm>
          <a:prstGeom prst="rect">
            <a:avLst/>
          </a:prstGeom>
          <a:solidFill>
            <a:srgbClr val="E8EAF2"/>
          </a:solidFill>
          <a:ln w="19050">
            <a:solidFill>
              <a:srgbClr val="C0C8D8"/>
            </a:solidFill>
            <a:prstDash val="solid"/>
          </a:ln>
        </p:spPr>
      </p:sp>
      <p:sp>
        <p:nvSpPr>
          <p:cNvPr id="22" name="Shape 20"/>
          <p:cNvSpPr/>
          <p:nvPr/>
        </p:nvSpPr>
        <p:spPr>
          <a:xfrm>
            <a:off x="320040" y="3246120"/>
            <a:ext cx="475488" cy="402336"/>
          </a:xfrm>
          <a:prstGeom prst="rect">
            <a:avLst/>
          </a:prstGeom>
          <a:solidFill>
            <a:srgbClr val="A0AABC"/>
          </a:solidFill>
          <a:ln w="12700">
            <a:solidFill>
              <a:srgbClr val="A0AABC"/>
            </a:solidFill>
            <a:prstDash val="solid"/>
          </a:ln>
        </p:spPr>
      </p:sp>
      <p:sp>
        <p:nvSpPr>
          <p:cNvPr id="23" name="Text 21"/>
          <p:cNvSpPr/>
          <p:nvPr/>
        </p:nvSpPr>
        <p:spPr>
          <a:xfrm>
            <a:off x="320040" y="32461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24" name="Text 22"/>
          <p:cNvSpPr/>
          <p:nvPr/>
        </p:nvSpPr>
        <p:spPr>
          <a:xfrm>
            <a:off x="914400" y="3264408"/>
            <a:ext cx="7726680" cy="365760"/>
          </a:xfrm>
          <a:prstGeom prst="rect">
            <a:avLst/>
          </a:prstGeom>
          <a:noFill/>
          <a:ln/>
        </p:spPr>
        <p:txBody>
          <a:bodyPr wrap="square" rtlCol="0" anchor="ctr"/>
          <a:lstStyle/>
          <a:p>
            <a:pPr marL="0" indent="0">
              <a:buNone/>
            </a:pPr>
            <a:r>
              <a:rPr lang="en-US" sz="1200" dirty="0">
                <a:solidFill>
                  <a:srgbClr val="8A96AD"/>
                </a:solidFill>
              </a:rPr>
              <a:t>6</a:t>
            </a:r>
            <a:endParaRPr lang="en-US" sz="1200" dirty="0"/>
          </a:p>
        </p:txBody>
      </p:sp>
      <p:sp>
        <p:nvSpPr>
          <p:cNvPr id="25" name="Shape 23"/>
          <p:cNvSpPr/>
          <p:nvPr/>
        </p:nvSpPr>
        <p:spPr>
          <a:xfrm>
            <a:off x="320040" y="3749040"/>
            <a:ext cx="8503920" cy="1257300"/>
          </a:xfrm>
          <a:prstGeom prst="rect">
            <a:avLst/>
          </a:prstGeom>
          <a:solidFill>
            <a:srgbClr val="EEF2FF"/>
          </a:solidFill>
          <a:ln w="12700">
            <a:solidFill>
              <a:srgbClr val="B8C4E0"/>
            </a:solidFill>
            <a:prstDash val="solid"/>
          </a:ln>
        </p:spPr>
      </p:sp>
      <p:sp>
        <p:nvSpPr>
          <p:cNvPr id="26" name="Shape 24"/>
          <p:cNvSpPr/>
          <p:nvPr/>
        </p:nvSpPr>
        <p:spPr>
          <a:xfrm>
            <a:off x="320040" y="3749040"/>
            <a:ext cx="64008" cy="1257300"/>
          </a:xfrm>
          <a:prstGeom prst="rect">
            <a:avLst/>
          </a:prstGeom>
          <a:solidFill>
            <a:srgbClr val="1B3A6B"/>
          </a:solidFill>
          <a:ln w="12700">
            <a:solidFill>
              <a:srgbClr val="1B3A6B"/>
            </a:solidFill>
            <a:prstDash val="solid"/>
          </a:ln>
        </p:spPr>
      </p:sp>
      <p:sp>
        <p:nvSpPr>
          <p:cNvPr id="27" name="Text 25"/>
          <p:cNvSpPr/>
          <p:nvPr/>
        </p:nvSpPr>
        <p:spPr>
          <a:xfrm>
            <a:off x="502920" y="3794760"/>
            <a:ext cx="8183880" cy="1184148"/>
          </a:xfrm>
          <a:prstGeom prst="rect">
            <a:avLst/>
          </a:prstGeom>
          <a:noFill/>
          <a:ln/>
        </p:spPr>
        <p:txBody>
          <a:bodyPr wrap="square" rtlCol="0" anchor="t"/>
          <a:lstStyle/>
          <a:p>
            <a:pPr marL="0" indent="0">
              <a:buNone/>
            </a:pPr>
            <a:r>
              <a:rPr lang="en-US" sz="1000" dirty="0">
                <a:solidFill>
                  <a:srgbClr val="1B2A4A"/>
                </a:solidFill>
              </a:rPr>
              <a:t>Le modèle fonctionnel de l'autodétermination est composé de 4 caractéristiques interdépendantes : l'autonomie, l'empowerment psychologique, l'autorégulation et l'autoréalisation (Lachapelle &amp; Wehmeyer, 2003).</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Dans le modèle fonctionnel, l'autonomie correspond à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capacité à vivre seul, sans aucun besoin d'aide d'un tiers.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L'ensemble des habiletés d'une personne : indiquer ses préférences, faire des choix et amorcer une action en conséquence.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capacité à ne jamais avoir recours à un accompagnement professionnel.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Dans le modèle fonctionnel, l'autonomie correspond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capacité à vivre seul, sans aucun besoin d'aide d'un tiers.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L'ensemble des habiletés d'une personne : indiquer ses préférences, faire des choix et amorcer une action en conséquence.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capacité à ne jamais avoir recours à un accompagnement professionnel.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L'autonomie, dans le modèle fonctionnel, est définie comme « l'ensemble des habiletés d'une personne : indiquer ses préférences, faire des choix et amorcer une action en conséquence » (Lachapelle &amp; Wehmeyer, 2003). Elle n'est pas synonyme d'indépendance.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L'empowerment psychologique dans le modèle fonctionnel de l'autodétermination correspond à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croyance en sa capacité d'exercer un contrôle sur sa vie.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La capacité à effectuer un travail de manière entièrement autonome.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connaissance exhaustive de ses droits légaux et administratifs.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A  |  Question 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L'empowerment psychologique dans le modèle fonctionnel de l'autodétermination correspond à :</a:t>
            </a:r>
            <a:endParaRPr lang="en-US" sz="1500" dirty="0"/>
          </a:p>
        </p:txBody>
      </p:sp>
      <p:sp>
        <p:nvSpPr>
          <p:cNvPr id="5" name="Shape 3"/>
          <p:cNvSpPr/>
          <p:nvPr/>
        </p:nvSpPr>
        <p:spPr>
          <a:xfrm>
            <a:off x="320040" y="1463040"/>
            <a:ext cx="8503920" cy="530352"/>
          </a:xfrm>
          <a:prstGeom prst="rect">
            <a:avLst/>
          </a:prstGeom>
          <a:solidFill>
            <a:srgbClr val="E8F5ED"/>
          </a:solidFill>
          <a:ln w="19050">
            <a:solidFill>
              <a:srgbClr val="1A6B3C"/>
            </a:solidFill>
            <a:prstDash val="solid"/>
          </a:ln>
        </p:spPr>
      </p:sp>
      <p:sp>
        <p:nvSpPr>
          <p:cNvPr id="6" name="Shape 4"/>
          <p:cNvSpPr/>
          <p:nvPr/>
        </p:nvSpPr>
        <p:spPr>
          <a:xfrm>
            <a:off x="320040" y="1463040"/>
            <a:ext cx="475488" cy="530352"/>
          </a:xfrm>
          <a:prstGeom prst="rect">
            <a:avLst/>
          </a:prstGeom>
          <a:solidFill>
            <a:srgbClr val="1A6B3C"/>
          </a:solidFill>
          <a:ln w="12700">
            <a:solidFill>
              <a:srgbClr val="1A6B3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b="1" dirty="0">
                <a:solidFill>
                  <a:srgbClr val="1A6B3C"/>
                </a:solidFill>
              </a:rPr>
              <a:t>La croyance en sa capacité d'exercer un contrôle sur sa vie.</a:t>
            </a:r>
            <a:endParaRPr lang="en-US" sz="1200" dirty="0"/>
          </a:p>
        </p:txBody>
      </p:sp>
      <p:sp>
        <p:nvSpPr>
          <p:cNvPr id="9" name="Shape 7"/>
          <p:cNvSpPr/>
          <p:nvPr/>
        </p:nvSpPr>
        <p:spPr>
          <a:xfrm>
            <a:off x="320040" y="2066544"/>
            <a:ext cx="8503920" cy="530352"/>
          </a:xfrm>
          <a:prstGeom prst="rect">
            <a:avLst/>
          </a:prstGeom>
          <a:solidFill>
            <a:srgbClr val="E8EAF2"/>
          </a:solidFill>
          <a:ln w="19050">
            <a:solidFill>
              <a:srgbClr val="C0C8D8"/>
            </a:solidFill>
            <a:prstDash val="solid"/>
          </a:ln>
        </p:spPr>
      </p:sp>
      <p:sp>
        <p:nvSpPr>
          <p:cNvPr id="10" name="Shape 8"/>
          <p:cNvSpPr/>
          <p:nvPr/>
        </p:nvSpPr>
        <p:spPr>
          <a:xfrm>
            <a:off x="320040" y="2066544"/>
            <a:ext cx="475488" cy="530352"/>
          </a:xfrm>
          <a:prstGeom prst="rect">
            <a:avLst/>
          </a:prstGeom>
          <a:solidFill>
            <a:srgbClr val="A0AABC"/>
          </a:solidFill>
          <a:ln w="12700">
            <a:solidFill>
              <a:srgbClr val="A0AAB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dirty="0">
                <a:solidFill>
                  <a:srgbClr val="8A96AD"/>
                </a:solidFill>
              </a:rPr>
              <a:t>La capacité à effectuer un travail de manière entièrement autonome.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connaissance exhaustive de ses droits légaux et administratifs.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L'empowerment psychologique est défini comme « la croyance en sa capacité d'exercer un contrôle sur sa vie » (Haelewyck &amp; Nader-Grosbois, 2004). C'est une dimension interne liée à la perception de son propre pouvoir d'agir.</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L'autorégulation dans le modèle fonctionnel de l'autodétermination se définit comme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capacité à contrôler et réprimer ses émotions en toutes circonstances.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La capacité de l'individu à analyser son environnement et ses possibilités personnelles avant de prendre ses décisions et d'en évaluer les conséquences.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capacité à suivre strictement les règles définies par l'institution.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L'autorégulation dans le modèle fonctionnel de l'autodétermination se définit comme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capacité à contrôler et réprimer ses émotions en toutes circonstances.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La capacité de l'individu à analyser son environnement et ses possibilités personnelles avant de prendre ses décisions et d'en évaluer les conséquences.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capacité à suivre strictement les règles définies par l'institution.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L'autorégulation est la capacité d'analyser son environnement et ses possibilités avant de décider, puis d'évaluer les conséquences de ses décisions. Elle est liée à la réflexivité et à l'adaptabilité comportementale.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L'autoréalisation, 4e caractéristique du modèle fonctionnel, est la capacité d'un individu à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Atteindre tous ses objectifs professionnels et personnels sans aide.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Connaître ses forces et agir en conséquence.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Réaliser l'intégralité de ses activités quotidiennes sans assistance.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L'autoréalisation, 4e caractéristique du modèle fonctionnel, est la capacité d'un individu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Atteindre tous ses objectifs professionnels et personnels sans aide.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Connaître ses forces et agir en conséquence.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Réaliser l'intégralité de ses activités quotidiennes sans assistance.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L'autoréalisation est la capacité d'un individu à « connaître ses forces et à agir en conséquence » (Lachapelle &amp; Wehmeyer, 2003). Elle repose sur la conscience de soi et la connaissance de soi.</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De combien de facteurs dépend le développement des capacités d'autodétermination selon Wehmeyer (1999) ?</a:t>
            </a:r>
            <a:endParaRPr lang="en-US" sz="1900" dirty="0"/>
          </a:p>
        </p:txBody>
      </p:sp>
      <p:sp>
        <p:nvSpPr>
          <p:cNvPr id="6" name="Shape 4"/>
          <p:cNvSpPr/>
          <p:nvPr/>
        </p:nvSpPr>
        <p:spPr>
          <a:xfrm>
            <a:off x="320040" y="1737360"/>
            <a:ext cx="8503920" cy="484632"/>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737360"/>
            <a:ext cx="475488" cy="484632"/>
          </a:xfrm>
          <a:prstGeom prst="rect">
            <a:avLst/>
          </a:prstGeom>
          <a:solidFill>
            <a:srgbClr val="F48024"/>
          </a:solidFill>
          <a:ln w="12700">
            <a:solidFill>
              <a:srgbClr val="F48024"/>
            </a:solidFill>
            <a:prstDash val="solid"/>
          </a:ln>
        </p:spPr>
      </p:sp>
      <p:sp>
        <p:nvSpPr>
          <p:cNvPr id="8" name="Text 6"/>
          <p:cNvSpPr/>
          <p:nvPr/>
        </p:nvSpPr>
        <p:spPr>
          <a:xfrm>
            <a:off x="320040" y="173736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764792"/>
            <a:ext cx="7726680" cy="429768"/>
          </a:xfrm>
          <a:prstGeom prst="rect">
            <a:avLst/>
          </a:prstGeom>
          <a:noFill/>
          <a:ln/>
        </p:spPr>
        <p:txBody>
          <a:bodyPr wrap="square" rtlCol="0" anchor="ctr"/>
          <a:lstStyle/>
          <a:p>
            <a:pPr marL="0" indent="0">
              <a:buNone/>
            </a:pPr>
            <a:r>
              <a:rPr lang="en-US" sz="1300" dirty="0">
                <a:solidFill>
                  <a:srgbClr val="FFFFFF"/>
                </a:solidFill>
              </a:rPr>
              <a:t>2</a:t>
            </a:r>
            <a:endParaRPr lang="en-US" sz="1300" dirty="0"/>
          </a:p>
        </p:txBody>
      </p:sp>
      <p:sp>
        <p:nvSpPr>
          <p:cNvPr id="10" name="Shape 8"/>
          <p:cNvSpPr/>
          <p:nvPr/>
        </p:nvSpPr>
        <p:spPr>
          <a:xfrm>
            <a:off x="320040" y="2286000"/>
            <a:ext cx="8503920" cy="484632"/>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286000"/>
            <a:ext cx="475488" cy="484632"/>
          </a:xfrm>
          <a:prstGeom prst="rect">
            <a:avLst/>
          </a:prstGeom>
          <a:solidFill>
            <a:srgbClr val="F48024"/>
          </a:solidFill>
          <a:ln w="12700">
            <a:solidFill>
              <a:srgbClr val="F48024"/>
            </a:solidFill>
            <a:prstDash val="solid"/>
          </a:ln>
        </p:spPr>
      </p:sp>
      <p:sp>
        <p:nvSpPr>
          <p:cNvPr id="12" name="Text 10"/>
          <p:cNvSpPr/>
          <p:nvPr/>
        </p:nvSpPr>
        <p:spPr>
          <a:xfrm>
            <a:off x="320040" y="228600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313432"/>
            <a:ext cx="7726680" cy="429768"/>
          </a:xfrm>
          <a:prstGeom prst="rect">
            <a:avLst/>
          </a:prstGeom>
          <a:noFill/>
          <a:ln/>
        </p:spPr>
        <p:txBody>
          <a:bodyPr wrap="square" rtlCol="0" anchor="ctr"/>
          <a:lstStyle/>
          <a:p>
            <a:pPr marL="0" indent="0">
              <a:buNone/>
            </a:pPr>
            <a:r>
              <a:rPr lang="en-US" sz="1300" dirty="0">
                <a:solidFill>
                  <a:srgbClr val="FFFFFF"/>
                </a:solidFill>
              </a:rPr>
              <a:t>3</a:t>
            </a:r>
            <a:endParaRPr lang="en-US" sz="1300" dirty="0"/>
          </a:p>
        </p:txBody>
      </p:sp>
      <p:sp>
        <p:nvSpPr>
          <p:cNvPr id="14" name="Shape 12"/>
          <p:cNvSpPr/>
          <p:nvPr/>
        </p:nvSpPr>
        <p:spPr>
          <a:xfrm>
            <a:off x="320040" y="2834640"/>
            <a:ext cx="8503920" cy="484632"/>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2834640"/>
            <a:ext cx="475488" cy="484632"/>
          </a:xfrm>
          <a:prstGeom prst="rect">
            <a:avLst/>
          </a:prstGeom>
          <a:solidFill>
            <a:srgbClr val="F48024"/>
          </a:solidFill>
          <a:ln w="12700">
            <a:solidFill>
              <a:srgbClr val="F48024"/>
            </a:solidFill>
            <a:prstDash val="solid"/>
          </a:ln>
        </p:spPr>
      </p:sp>
      <p:sp>
        <p:nvSpPr>
          <p:cNvPr id="16" name="Text 14"/>
          <p:cNvSpPr/>
          <p:nvPr/>
        </p:nvSpPr>
        <p:spPr>
          <a:xfrm>
            <a:off x="320040" y="283464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2862072"/>
            <a:ext cx="7726680" cy="429768"/>
          </a:xfrm>
          <a:prstGeom prst="rect">
            <a:avLst/>
          </a:prstGeom>
          <a:noFill/>
          <a:ln/>
        </p:spPr>
        <p:txBody>
          <a:bodyPr wrap="square" rtlCol="0" anchor="ctr"/>
          <a:lstStyle/>
          <a:p>
            <a:pPr marL="0" indent="0">
              <a:buNone/>
            </a:pPr>
            <a:r>
              <a:rPr lang="en-US" sz="1300" dirty="0">
                <a:solidFill>
                  <a:srgbClr val="FFFFFF"/>
                </a:solidFill>
              </a:rPr>
              <a:t>4</a:t>
            </a:r>
            <a:endParaRPr lang="en-US" sz="1300" dirty="0"/>
          </a:p>
        </p:txBody>
      </p:sp>
      <p:sp>
        <p:nvSpPr>
          <p:cNvPr id="18" name="Shape 16"/>
          <p:cNvSpPr/>
          <p:nvPr/>
        </p:nvSpPr>
        <p:spPr>
          <a:xfrm>
            <a:off x="320040" y="3383280"/>
            <a:ext cx="8503920" cy="484632"/>
          </a:xfrm>
          <a:prstGeom prst="rect">
            <a:avLst/>
          </a:prstGeom>
          <a:solidFill>
            <a:srgbClr val="FFFFFF">
              <a:alpha val="20000"/>
            </a:srgbClr>
          </a:solidFill>
          <a:ln w="6350">
            <a:solidFill>
              <a:srgbClr val="FFFFFF">
                <a:alpha val="35000"/>
              </a:srgbClr>
            </a:solidFill>
            <a:prstDash val="solid"/>
          </a:ln>
        </p:spPr>
      </p:sp>
      <p:sp>
        <p:nvSpPr>
          <p:cNvPr id="19" name="Shape 17"/>
          <p:cNvSpPr/>
          <p:nvPr/>
        </p:nvSpPr>
        <p:spPr>
          <a:xfrm>
            <a:off x="320040" y="3383280"/>
            <a:ext cx="475488" cy="484632"/>
          </a:xfrm>
          <a:prstGeom prst="rect">
            <a:avLst/>
          </a:prstGeom>
          <a:solidFill>
            <a:srgbClr val="F48024"/>
          </a:solidFill>
          <a:ln w="12700">
            <a:solidFill>
              <a:srgbClr val="F48024"/>
            </a:solidFill>
            <a:prstDash val="solid"/>
          </a:ln>
        </p:spPr>
      </p:sp>
      <p:sp>
        <p:nvSpPr>
          <p:cNvPr id="20" name="Text 18"/>
          <p:cNvSpPr/>
          <p:nvPr/>
        </p:nvSpPr>
        <p:spPr>
          <a:xfrm>
            <a:off x="320040" y="338328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D</a:t>
            </a:r>
            <a:endParaRPr lang="en-US" sz="1400" dirty="0"/>
          </a:p>
        </p:txBody>
      </p:sp>
      <p:sp>
        <p:nvSpPr>
          <p:cNvPr id="21" name="Text 19"/>
          <p:cNvSpPr/>
          <p:nvPr/>
        </p:nvSpPr>
        <p:spPr>
          <a:xfrm>
            <a:off x="914400" y="3410712"/>
            <a:ext cx="7726680" cy="429768"/>
          </a:xfrm>
          <a:prstGeom prst="rect">
            <a:avLst/>
          </a:prstGeom>
          <a:noFill/>
          <a:ln/>
        </p:spPr>
        <p:txBody>
          <a:bodyPr wrap="square" rtlCol="0" anchor="ctr"/>
          <a:lstStyle/>
          <a:p>
            <a:pPr marL="0" indent="0">
              <a:buNone/>
            </a:pPr>
            <a:r>
              <a:rPr lang="en-US" sz="1300" dirty="0">
                <a:solidFill>
                  <a:srgbClr val="FFFFFF"/>
                </a:solidFill>
              </a:rPr>
              <a:t>5</a:t>
            </a:r>
            <a:endParaRPr lang="en-US" sz="1300" dirty="0"/>
          </a:p>
        </p:txBody>
      </p:sp>
      <p:sp>
        <p:nvSpPr>
          <p:cNvPr id="22" name="Shape 20"/>
          <p:cNvSpPr/>
          <p:nvPr/>
        </p:nvSpPr>
        <p:spPr>
          <a:xfrm>
            <a:off x="320040" y="3931920"/>
            <a:ext cx="8503920" cy="484632"/>
          </a:xfrm>
          <a:prstGeom prst="rect">
            <a:avLst/>
          </a:prstGeom>
          <a:solidFill>
            <a:srgbClr val="FFFFFF">
              <a:alpha val="20000"/>
            </a:srgbClr>
          </a:solidFill>
          <a:ln w="6350">
            <a:solidFill>
              <a:srgbClr val="FFFFFF">
                <a:alpha val="35000"/>
              </a:srgbClr>
            </a:solidFill>
            <a:prstDash val="solid"/>
          </a:ln>
        </p:spPr>
      </p:sp>
      <p:sp>
        <p:nvSpPr>
          <p:cNvPr id="23" name="Shape 21"/>
          <p:cNvSpPr/>
          <p:nvPr/>
        </p:nvSpPr>
        <p:spPr>
          <a:xfrm>
            <a:off x="320040" y="3931920"/>
            <a:ext cx="475488" cy="484632"/>
          </a:xfrm>
          <a:prstGeom prst="rect">
            <a:avLst/>
          </a:prstGeom>
          <a:solidFill>
            <a:srgbClr val="F48024"/>
          </a:solidFill>
          <a:ln w="12700">
            <a:solidFill>
              <a:srgbClr val="F48024"/>
            </a:solidFill>
            <a:prstDash val="solid"/>
          </a:ln>
        </p:spPr>
      </p:sp>
      <p:sp>
        <p:nvSpPr>
          <p:cNvPr id="24" name="Text 22"/>
          <p:cNvSpPr/>
          <p:nvPr/>
        </p:nvSpPr>
        <p:spPr>
          <a:xfrm>
            <a:off x="320040" y="393192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E</a:t>
            </a:r>
            <a:endParaRPr lang="en-US" sz="1400" dirty="0"/>
          </a:p>
        </p:txBody>
      </p:sp>
      <p:sp>
        <p:nvSpPr>
          <p:cNvPr id="25" name="Text 23"/>
          <p:cNvSpPr/>
          <p:nvPr/>
        </p:nvSpPr>
        <p:spPr>
          <a:xfrm>
            <a:off x="914400" y="3959352"/>
            <a:ext cx="7726680" cy="429768"/>
          </a:xfrm>
          <a:prstGeom prst="rect">
            <a:avLst/>
          </a:prstGeom>
          <a:noFill/>
          <a:ln/>
        </p:spPr>
        <p:txBody>
          <a:bodyPr wrap="square" rtlCol="0" anchor="ctr"/>
          <a:lstStyle/>
          <a:p>
            <a:pPr marL="0" indent="0">
              <a:buNone/>
            </a:pPr>
            <a:r>
              <a:rPr lang="en-US" sz="1300" dirty="0">
                <a:solidFill>
                  <a:srgbClr val="FFFFFF"/>
                </a:solidFill>
              </a:rPr>
              <a:t>6</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De combien de facteurs dépend le développement des capacités d'autodétermination selon Wehmeyer (1999) ?</a:t>
            </a:r>
            <a:endParaRPr lang="en-US" sz="1500" dirty="0"/>
          </a:p>
        </p:txBody>
      </p:sp>
      <p:sp>
        <p:nvSpPr>
          <p:cNvPr id="5" name="Shape 3"/>
          <p:cNvSpPr/>
          <p:nvPr/>
        </p:nvSpPr>
        <p:spPr>
          <a:xfrm>
            <a:off x="320040" y="1417320"/>
            <a:ext cx="8503920" cy="402336"/>
          </a:xfrm>
          <a:prstGeom prst="rect">
            <a:avLst/>
          </a:prstGeom>
          <a:solidFill>
            <a:srgbClr val="E8EAF2"/>
          </a:solidFill>
          <a:ln w="19050">
            <a:solidFill>
              <a:srgbClr val="C0C8D8"/>
            </a:solidFill>
            <a:prstDash val="solid"/>
          </a:ln>
        </p:spPr>
      </p:sp>
      <p:sp>
        <p:nvSpPr>
          <p:cNvPr id="6" name="Shape 4"/>
          <p:cNvSpPr/>
          <p:nvPr/>
        </p:nvSpPr>
        <p:spPr>
          <a:xfrm>
            <a:off x="320040" y="1417320"/>
            <a:ext cx="475488" cy="402336"/>
          </a:xfrm>
          <a:prstGeom prst="rect">
            <a:avLst/>
          </a:prstGeom>
          <a:solidFill>
            <a:srgbClr val="A0AABC"/>
          </a:solidFill>
          <a:ln w="12700">
            <a:solidFill>
              <a:srgbClr val="A0AABC"/>
            </a:solidFill>
            <a:prstDash val="solid"/>
          </a:ln>
        </p:spPr>
      </p:sp>
      <p:sp>
        <p:nvSpPr>
          <p:cNvPr id="7" name="Text 5"/>
          <p:cNvSpPr/>
          <p:nvPr/>
        </p:nvSpPr>
        <p:spPr>
          <a:xfrm>
            <a:off x="320040" y="14173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35608"/>
            <a:ext cx="7726680" cy="365760"/>
          </a:xfrm>
          <a:prstGeom prst="rect">
            <a:avLst/>
          </a:prstGeom>
          <a:noFill/>
          <a:ln/>
        </p:spPr>
        <p:txBody>
          <a:bodyPr wrap="square" rtlCol="0" anchor="ctr"/>
          <a:lstStyle/>
          <a:p>
            <a:pPr marL="0" indent="0">
              <a:buNone/>
            </a:pPr>
            <a:r>
              <a:rPr lang="en-US" sz="1200" dirty="0">
                <a:solidFill>
                  <a:srgbClr val="8A96AD"/>
                </a:solidFill>
              </a:rPr>
              <a:t>2</a:t>
            </a:r>
            <a:endParaRPr lang="en-US" sz="1200" dirty="0"/>
          </a:p>
        </p:txBody>
      </p:sp>
      <p:sp>
        <p:nvSpPr>
          <p:cNvPr id="9" name="Shape 7"/>
          <p:cNvSpPr/>
          <p:nvPr/>
        </p:nvSpPr>
        <p:spPr>
          <a:xfrm>
            <a:off x="320040" y="1874520"/>
            <a:ext cx="8503920" cy="402336"/>
          </a:xfrm>
          <a:prstGeom prst="rect">
            <a:avLst/>
          </a:prstGeom>
          <a:solidFill>
            <a:srgbClr val="E8F5ED"/>
          </a:solidFill>
          <a:ln w="19050">
            <a:solidFill>
              <a:srgbClr val="1A6B3C"/>
            </a:solidFill>
            <a:prstDash val="solid"/>
          </a:ln>
        </p:spPr>
      </p:sp>
      <p:sp>
        <p:nvSpPr>
          <p:cNvPr id="10" name="Shape 8"/>
          <p:cNvSpPr/>
          <p:nvPr/>
        </p:nvSpPr>
        <p:spPr>
          <a:xfrm>
            <a:off x="320040" y="1874520"/>
            <a:ext cx="475488" cy="402336"/>
          </a:xfrm>
          <a:prstGeom prst="rect">
            <a:avLst/>
          </a:prstGeom>
          <a:solidFill>
            <a:srgbClr val="1A6B3C"/>
          </a:solidFill>
          <a:ln w="12700">
            <a:solidFill>
              <a:srgbClr val="1A6B3C"/>
            </a:solidFill>
            <a:prstDash val="solid"/>
          </a:ln>
        </p:spPr>
      </p:sp>
      <p:sp>
        <p:nvSpPr>
          <p:cNvPr id="11" name="Text 9"/>
          <p:cNvSpPr/>
          <p:nvPr/>
        </p:nvSpPr>
        <p:spPr>
          <a:xfrm>
            <a:off x="320040" y="18745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1892808"/>
            <a:ext cx="7726680" cy="365760"/>
          </a:xfrm>
          <a:prstGeom prst="rect">
            <a:avLst/>
          </a:prstGeom>
          <a:noFill/>
          <a:ln/>
        </p:spPr>
        <p:txBody>
          <a:bodyPr wrap="square" rtlCol="0" anchor="ctr"/>
          <a:lstStyle/>
          <a:p>
            <a:pPr marL="0" indent="0">
              <a:buNone/>
            </a:pPr>
            <a:r>
              <a:rPr lang="en-US" sz="1200" b="1" dirty="0">
                <a:solidFill>
                  <a:srgbClr val="1A6B3C"/>
                </a:solidFill>
              </a:rPr>
              <a:t>3</a:t>
            </a:r>
            <a:endParaRPr lang="en-US" sz="1200" dirty="0"/>
          </a:p>
        </p:txBody>
      </p:sp>
      <p:sp>
        <p:nvSpPr>
          <p:cNvPr id="13" name="Shape 11"/>
          <p:cNvSpPr/>
          <p:nvPr/>
        </p:nvSpPr>
        <p:spPr>
          <a:xfrm>
            <a:off x="320040" y="2331720"/>
            <a:ext cx="8503920" cy="402336"/>
          </a:xfrm>
          <a:prstGeom prst="rect">
            <a:avLst/>
          </a:prstGeom>
          <a:solidFill>
            <a:srgbClr val="E8EAF2"/>
          </a:solidFill>
          <a:ln w="19050">
            <a:solidFill>
              <a:srgbClr val="C0C8D8"/>
            </a:solidFill>
            <a:prstDash val="solid"/>
          </a:ln>
        </p:spPr>
      </p:sp>
      <p:sp>
        <p:nvSpPr>
          <p:cNvPr id="14" name="Shape 12"/>
          <p:cNvSpPr/>
          <p:nvPr/>
        </p:nvSpPr>
        <p:spPr>
          <a:xfrm>
            <a:off x="320040" y="2331720"/>
            <a:ext cx="475488" cy="402336"/>
          </a:xfrm>
          <a:prstGeom prst="rect">
            <a:avLst/>
          </a:prstGeom>
          <a:solidFill>
            <a:srgbClr val="A0AABC"/>
          </a:solidFill>
          <a:ln w="12700">
            <a:solidFill>
              <a:srgbClr val="A0AABC"/>
            </a:solidFill>
            <a:prstDash val="solid"/>
          </a:ln>
        </p:spPr>
      </p:sp>
      <p:sp>
        <p:nvSpPr>
          <p:cNvPr id="15" name="Text 13"/>
          <p:cNvSpPr/>
          <p:nvPr/>
        </p:nvSpPr>
        <p:spPr>
          <a:xfrm>
            <a:off x="320040" y="23317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350008"/>
            <a:ext cx="7726680" cy="365760"/>
          </a:xfrm>
          <a:prstGeom prst="rect">
            <a:avLst/>
          </a:prstGeom>
          <a:noFill/>
          <a:ln/>
        </p:spPr>
        <p:txBody>
          <a:bodyPr wrap="square" rtlCol="0" anchor="ctr"/>
          <a:lstStyle/>
          <a:p>
            <a:pPr marL="0" indent="0">
              <a:buNone/>
            </a:pPr>
            <a:r>
              <a:rPr lang="en-US" sz="1200" dirty="0">
                <a:solidFill>
                  <a:srgbClr val="8A96AD"/>
                </a:solidFill>
              </a:rPr>
              <a:t>4</a:t>
            </a:r>
            <a:endParaRPr lang="en-US" sz="1200" dirty="0"/>
          </a:p>
        </p:txBody>
      </p:sp>
      <p:sp>
        <p:nvSpPr>
          <p:cNvPr id="17" name="Shape 15"/>
          <p:cNvSpPr/>
          <p:nvPr/>
        </p:nvSpPr>
        <p:spPr>
          <a:xfrm>
            <a:off x="320040" y="2788920"/>
            <a:ext cx="8503920" cy="402336"/>
          </a:xfrm>
          <a:prstGeom prst="rect">
            <a:avLst/>
          </a:prstGeom>
          <a:solidFill>
            <a:srgbClr val="E8EAF2"/>
          </a:solidFill>
          <a:ln w="19050">
            <a:solidFill>
              <a:srgbClr val="C0C8D8"/>
            </a:solidFill>
            <a:prstDash val="solid"/>
          </a:ln>
        </p:spPr>
      </p:sp>
      <p:sp>
        <p:nvSpPr>
          <p:cNvPr id="18" name="Shape 16"/>
          <p:cNvSpPr/>
          <p:nvPr/>
        </p:nvSpPr>
        <p:spPr>
          <a:xfrm>
            <a:off x="320040" y="2788920"/>
            <a:ext cx="475488" cy="402336"/>
          </a:xfrm>
          <a:prstGeom prst="rect">
            <a:avLst/>
          </a:prstGeom>
          <a:solidFill>
            <a:srgbClr val="A0AABC"/>
          </a:solidFill>
          <a:ln w="12700">
            <a:solidFill>
              <a:srgbClr val="A0AABC"/>
            </a:solidFill>
            <a:prstDash val="solid"/>
          </a:ln>
        </p:spPr>
      </p:sp>
      <p:sp>
        <p:nvSpPr>
          <p:cNvPr id="19" name="Text 17"/>
          <p:cNvSpPr/>
          <p:nvPr/>
        </p:nvSpPr>
        <p:spPr>
          <a:xfrm>
            <a:off x="320040" y="27889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D</a:t>
            </a:r>
            <a:endParaRPr lang="en-US" sz="1300" dirty="0"/>
          </a:p>
        </p:txBody>
      </p:sp>
      <p:sp>
        <p:nvSpPr>
          <p:cNvPr id="20" name="Text 18"/>
          <p:cNvSpPr/>
          <p:nvPr/>
        </p:nvSpPr>
        <p:spPr>
          <a:xfrm>
            <a:off x="914400" y="2807208"/>
            <a:ext cx="7726680" cy="365760"/>
          </a:xfrm>
          <a:prstGeom prst="rect">
            <a:avLst/>
          </a:prstGeom>
          <a:noFill/>
          <a:ln/>
        </p:spPr>
        <p:txBody>
          <a:bodyPr wrap="square" rtlCol="0" anchor="ctr"/>
          <a:lstStyle/>
          <a:p>
            <a:pPr marL="0" indent="0">
              <a:buNone/>
            </a:pPr>
            <a:r>
              <a:rPr lang="en-US" sz="1200" dirty="0">
                <a:solidFill>
                  <a:srgbClr val="8A96AD"/>
                </a:solidFill>
              </a:rPr>
              <a:t>5</a:t>
            </a:r>
            <a:endParaRPr lang="en-US" sz="1200" dirty="0"/>
          </a:p>
        </p:txBody>
      </p:sp>
      <p:sp>
        <p:nvSpPr>
          <p:cNvPr id="21" name="Shape 19"/>
          <p:cNvSpPr/>
          <p:nvPr/>
        </p:nvSpPr>
        <p:spPr>
          <a:xfrm>
            <a:off x="320040" y="3246120"/>
            <a:ext cx="8503920" cy="402336"/>
          </a:xfrm>
          <a:prstGeom prst="rect">
            <a:avLst/>
          </a:prstGeom>
          <a:solidFill>
            <a:srgbClr val="E8EAF2"/>
          </a:solidFill>
          <a:ln w="19050">
            <a:solidFill>
              <a:srgbClr val="C0C8D8"/>
            </a:solidFill>
            <a:prstDash val="solid"/>
          </a:ln>
        </p:spPr>
      </p:sp>
      <p:sp>
        <p:nvSpPr>
          <p:cNvPr id="22" name="Shape 20"/>
          <p:cNvSpPr/>
          <p:nvPr/>
        </p:nvSpPr>
        <p:spPr>
          <a:xfrm>
            <a:off x="320040" y="3246120"/>
            <a:ext cx="475488" cy="402336"/>
          </a:xfrm>
          <a:prstGeom prst="rect">
            <a:avLst/>
          </a:prstGeom>
          <a:solidFill>
            <a:srgbClr val="A0AABC"/>
          </a:solidFill>
          <a:ln w="12700">
            <a:solidFill>
              <a:srgbClr val="A0AABC"/>
            </a:solidFill>
            <a:prstDash val="solid"/>
          </a:ln>
        </p:spPr>
      </p:sp>
      <p:sp>
        <p:nvSpPr>
          <p:cNvPr id="23" name="Text 21"/>
          <p:cNvSpPr/>
          <p:nvPr/>
        </p:nvSpPr>
        <p:spPr>
          <a:xfrm>
            <a:off x="320040" y="32461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24" name="Text 22"/>
          <p:cNvSpPr/>
          <p:nvPr/>
        </p:nvSpPr>
        <p:spPr>
          <a:xfrm>
            <a:off x="914400" y="3264408"/>
            <a:ext cx="7726680" cy="365760"/>
          </a:xfrm>
          <a:prstGeom prst="rect">
            <a:avLst/>
          </a:prstGeom>
          <a:noFill/>
          <a:ln/>
        </p:spPr>
        <p:txBody>
          <a:bodyPr wrap="square" rtlCol="0" anchor="ctr"/>
          <a:lstStyle/>
          <a:p>
            <a:pPr marL="0" indent="0">
              <a:buNone/>
            </a:pPr>
            <a:r>
              <a:rPr lang="en-US" sz="1200" dirty="0">
                <a:solidFill>
                  <a:srgbClr val="8A96AD"/>
                </a:solidFill>
              </a:rPr>
              <a:t>6</a:t>
            </a:r>
            <a:endParaRPr lang="en-US" sz="1200" dirty="0"/>
          </a:p>
        </p:txBody>
      </p:sp>
      <p:sp>
        <p:nvSpPr>
          <p:cNvPr id="25" name="Shape 23"/>
          <p:cNvSpPr/>
          <p:nvPr/>
        </p:nvSpPr>
        <p:spPr>
          <a:xfrm>
            <a:off x="320040" y="3749040"/>
            <a:ext cx="8503920" cy="1257300"/>
          </a:xfrm>
          <a:prstGeom prst="rect">
            <a:avLst/>
          </a:prstGeom>
          <a:solidFill>
            <a:srgbClr val="EEF2FF"/>
          </a:solidFill>
          <a:ln w="12700">
            <a:solidFill>
              <a:srgbClr val="B8C4E0"/>
            </a:solidFill>
            <a:prstDash val="solid"/>
          </a:ln>
        </p:spPr>
      </p:sp>
      <p:sp>
        <p:nvSpPr>
          <p:cNvPr id="26" name="Shape 24"/>
          <p:cNvSpPr/>
          <p:nvPr/>
        </p:nvSpPr>
        <p:spPr>
          <a:xfrm>
            <a:off x="320040" y="3749040"/>
            <a:ext cx="64008" cy="1257300"/>
          </a:xfrm>
          <a:prstGeom prst="rect">
            <a:avLst/>
          </a:prstGeom>
          <a:solidFill>
            <a:srgbClr val="1B3A6B"/>
          </a:solidFill>
          <a:ln w="12700">
            <a:solidFill>
              <a:srgbClr val="1B3A6B"/>
            </a:solidFill>
            <a:prstDash val="solid"/>
          </a:ln>
        </p:spPr>
      </p:sp>
      <p:sp>
        <p:nvSpPr>
          <p:cNvPr id="27" name="Text 25"/>
          <p:cNvSpPr/>
          <p:nvPr/>
        </p:nvSpPr>
        <p:spPr>
          <a:xfrm>
            <a:off x="502920" y="3794760"/>
            <a:ext cx="8183880" cy="1184148"/>
          </a:xfrm>
          <a:prstGeom prst="rect">
            <a:avLst/>
          </a:prstGeom>
          <a:noFill/>
          <a:ln/>
        </p:spPr>
        <p:txBody>
          <a:bodyPr wrap="square" rtlCol="0" anchor="t"/>
          <a:lstStyle/>
          <a:p>
            <a:pPr marL="0" indent="0">
              <a:buNone/>
            </a:pPr>
            <a:r>
              <a:rPr lang="en-US" sz="900" dirty="0">
                <a:solidFill>
                  <a:srgbClr val="1B2A4A"/>
                </a:solidFill>
              </a:rPr>
              <a:t>Selon Wehmeyer (1999), le développement des capacités d'autodétermination dépend de 3 facteurs : les capacités individuelles (liées au développement et aux apprentissages), les occasions offertes par l'environnement, et le soutien offert aux personnes.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Quels sont les trois facteurs dont dépend le développement de l'autodétermination selon Wehmeyer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santé, le niveau d'éducation et l'insertion professionnelle.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Les capacités individuelles, les occasions offertes par l'environnement et le soutien offert aux personnes.</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L'âge, le niveau de déficience intellectuelle et la composition de l'entourage.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Quels sont les trois facteurs dont dépend le développement de l'autodétermination selon Wehmeyer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santé, le niveau d'éducation et l'insertion professionnelle.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Les capacités individuelles, les occasions offertes par l'environnement et le soutien offert aux personnes.</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L'âge, le niveau de déficience intellectuelle et la composition de l'entourage.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Les trois facteurs sont clairement identifiés par Wehmeyer (1999) : (1) les capacités individuelles liées au développement et aux apprentissages, (2) les occasions offertes par l'environnement, et (3) le soutien offert aux personnes.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L'autodétermination est-elle innée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Oui, elle est naturellement présente chez tout individu dès la naissance.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Non, c'est une compétence qui s'acquiert par un apprentissage pouvant se réaliser à tout moment de la vie.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Oui, mais uniquement chez les personnes sans trouble du développement intellectuel.</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L'autodétermination est-elle innée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Oui, elle est naturellement présente chez tout individu dès la naissance.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Non, c'est une compétence qui s'acquiert par un apprentissage pouvant se réaliser à tout moment de la vie.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Oui, mais uniquement chez les personnes sans trouble du développement intellectuel.</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L'autodétermination n'est pas innée : « c'est une compétence qui s'acquiert par un apprentissage qui peut se réaliser à tout moment de la vie même si l'idéal est de démarrer l'accompagnement dès l'enfance » (RBPP HAS 2022 ; note de cadrage HAS 2025).</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L'autodétermination est-elle synonyme d'autonomie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Oui, les deux termes sont pleinement équivalents dans le modèle fonctionnel.</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Non, l'autonomie est l'une des quatre caractéristiques de l'autodétermination, au même titre que l'empowerment, l'autorégulation et l'autoréalisation.</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Oui, mais uniquement pour les adultes ayant des capacités cognitives préservées.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L'autodétermination est-elle synonyme d'autonomie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Oui, les deux termes sont pleinement équivalents dans le modèle fonctionnel.</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Non, l'autonomie est l'une des quatre caractéristiques de l'autodétermination, au même titre que l'empowerment, l'autorégulation et l'autoréalisation.</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Oui, mais uniquement pour les adultes ayant des capacités cognitives préservées.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L'autodétermination n'est pas synonyme d'autonomie : l'autonomie n'en est qu'une des quatre caractéristiques. De même, l'indépendance doit être distinguée de l'autodétermination. Une personne en grande dépendance peut s'autodéterminer pleinement.</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Une personne en situation de grande dépendance peut-elle s'autodéterminer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Non, l'autodétermination nécessite une capacité d'action physique et fonctionnelle suffisante.</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Oui, une personne en situation de grande dépendance peut avoir une pleine et entière autodétermination tout au long de sa vie.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Seulement de façon très partielle, limitée aux choix du quotidien les plus simples.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Une personne en situation de grande dépendance peut-elle s'autodéterminer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Non, l'autodétermination nécessite une capacité d'action physique et fonctionnelle suffisante.</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Oui, une personne en situation de grande dépendance peut avoir une pleine et entière autodétermination tout au long de sa vie.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Seulement de façon très partielle, limitée aux choix du quotidien les plus simples.</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RBPP HAS 2022 est explicite : « Une personne en situation de grande dépendance peut avoir une pleine et entière autodétermination tout au long de sa vie. » L'indépendance (agir sans aide extérieure) est distincte de l'autodétermination.</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L'autodétermination s'applique-t-elle uniquement aux adultes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Oui, elle requiert une maturité cognitive et émotionnelle suffisante.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Non, toute personne quel que soit son âge peut bénéficier d'un accompagnement à l'autodétermination, dès lors que les outils et méthodes sont adaptés.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Non, mais elle ne commence réellement qu'à l'adolescence.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L'autodétermination s'applique-t-elle uniquement aux adultes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Oui, elle requiert une maturité cognitive et émotionnelle suffisante.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Non, toute personne quel que soit son âge peut bénéficier d'un accompagnement à l'autodétermination, dès lors que les outils et méthodes sont adaptés.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Non, mais elle ne commence réellement qu'à l'adolescence.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L'autodétermination concerne toutes les tranches d'âge : de la petite enfance à l'avancée en âge. La RBPP HAS 2022 (Annexe 2) décrit des apprentissages spécifiques à chaque période de vie, dès la petite enfance.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L'évaluation des capacités d'une personne est-elle un préalable à l'autodétermination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Oui, il est indispensable d'évaluer avant de savoir si la personne peut s'autodéterminer.</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Non, les évaluations permettent d'adapter l'accompagnement mais ne conditionnent pas l'accès à l'autodétermination.</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Oui, mais uniquement pour les personnes présentant un TDI sévère.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L'évaluation des capacités d'une personne est-elle un préalable à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Oui, il est indispensable d'évaluer avant de savoir si la personne peut s'autodéterminer.</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Non, les évaluations permettent d'adapter l'accompagnement mais ne conditionnent pas l'accès à l'autodétermination.</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Oui, mais uniquement pour les personnes présentant un TDI sévère.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HAS 2022 est claire : « L'évaluation ne représente pas un préalable à l'autodétermination. » Les évaluations permettent d'adapter l'accompagnement et d'identifier les points d'appui, mais ne préjugent pas de l'envie ou des possibilités de s'autodéterminer.</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l'influence indue selon Wehmeyer (1999)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L'influence positive et bienveillante qu'exercent les professionnels sur les personnes accompagnées.</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La situation d'une personne influençant le libre arbitre de quelqu'un d'autre en utilisant sa position et son autorité, que cette influence soit délibérée ou non.</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La pression exercée exclusivement par la famille sur les décisions de la personne.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l'influence indue selon Wehmeyer (1999)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L'influence positive et bienveillante qu'exercent les professionnels sur les personnes accompagnées.</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La situation d'une personne influençant le libre arbitre de quelqu'un d'autre en utilisant sa position et son autorité, que cette influence soit délibérée ou non.</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La pression exercée exclusivement par la famille sur les décisions de la personne.</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L'influence indue est définie comme la situation où une personne influence le libre arbitre d'une autre en utilisant sa position et son autorité. Cette influence peut être involontaire. Elle pose problème quand la personne perd sa liberté d'exprimer ses choix.</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la « dignité du risque » (Perske, 1972)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Le droit de l'institution de protéger la personne contre tout risque quel qu'il soit.</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Le principe de permettre à un individu la dignité accordée par la prise de risque ayant comme finalité une amélioration de sa croissance personnelle et de sa qualité de vie.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L'obligation réglementaire de signaler tout incident ou risque à la hiérarchie.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la « dignité du risque » (Perske, 1972)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Le droit de l'institution de protéger la personne contre tout risque quel qu'il soit.</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Le principe de permettre à un individu la dignité accordée par la prise de risque ayant comme finalité une amélioration de sa croissance personnelle et de sa qualité de vie.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L'obligation réglementaire de signaler tout incident ou risque à la hiérarchie.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dignité du risque (Perske, 1972) pose que protéger excessivement une personne contre les risques normaux nuit à son développement et à sa dignité. La prise de risque normale est nécessaire à la croissance. Empêcher les personnes avec TDI de prendre des risques renforce la présomption d'incompétence.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Zone Proximale de Développement (ZPD), concept de Vygotsky (1985), se définit comme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zone géographique de déplacement autorisée à la personne accompagnée.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La différence entre ce que la personne peut réaliser seule et ce qu'elle peut réaliser avec l'aide d'une autre personne ou de pairs plus avancés.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Le périmètre d'action défini par le projet personnalisé de la personne.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Zone Proximale de Développement (ZPD), concept de Vygotsky (1985), se définit comme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zone géographique de déplacement autorisée à la personne accompagnée.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La différence entre ce que la personne peut réaliser seule et ce qu'elle peut réaliser avec l'aide d'une autre personne ou de pairs plus avancés.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Le périmètre d'action défini par le projet personnalisé de la personne.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ZPD (Vygotsky, 1985) est la différence entre le niveau de développement actuel (résoudre seul) et le niveau potentiel (résoudre avec aide). Elle se situe entre la zone d'autonomie et la zone de rupture, et constitue le niveau optimal d'apprentissage.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théorie de la motivation de Deci et Ryan (2002), quel est le niveau de motivation le plus autodéterminé ?</a:t>
            </a:r>
            <a:endParaRPr lang="en-US" sz="1900" dirty="0"/>
          </a:p>
        </p:txBody>
      </p:sp>
      <p:sp>
        <p:nvSpPr>
          <p:cNvPr id="6" name="Shape 4"/>
          <p:cNvSpPr/>
          <p:nvPr/>
        </p:nvSpPr>
        <p:spPr>
          <a:xfrm>
            <a:off x="320040" y="1737360"/>
            <a:ext cx="8503920" cy="484632"/>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737360"/>
            <a:ext cx="475488" cy="484632"/>
          </a:xfrm>
          <a:prstGeom prst="rect">
            <a:avLst/>
          </a:prstGeom>
          <a:solidFill>
            <a:srgbClr val="F48024"/>
          </a:solidFill>
          <a:ln w="12700">
            <a:solidFill>
              <a:srgbClr val="F48024"/>
            </a:solidFill>
            <a:prstDash val="solid"/>
          </a:ln>
        </p:spPr>
      </p:sp>
      <p:sp>
        <p:nvSpPr>
          <p:cNvPr id="8" name="Text 6"/>
          <p:cNvSpPr/>
          <p:nvPr/>
        </p:nvSpPr>
        <p:spPr>
          <a:xfrm>
            <a:off x="320040" y="173736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764792"/>
            <a:ext cx="7726680" cy="429768"/>
          </a:xfrm>
          <a:prstGeom prst="rect">
            <a:avLst/>
          </a:prstGeom>
          <a:noFill/>
          <a:ln/>
        </p:spPr>
        <p:txBody>
          <a:bodyPr wrap="square" rtlCol="0" anchor="ctr"/>
          <a:lstStyle/>
          <a:p>
            <a:pPr marL="0" indent="0">
              <a:buNone/>
            </a:pPr>
            <a:r>
              <a:rPr lang="en-US" sz="1300" dirty="0">
                <a:solidFill>
                  <a:srgbClr val="FFFFFF"/>
                </a:solidFill>
              </a:rPr>
              <a:t>La régulation externe (pour une récompense ou par peur d'une sanction)</a:t>
            </a:r>
            <a:endParaRPr lang="en-US" sz="1300" dirty="0"/>
          </a:p>
        </p:txBody>
      </p:sp>
      <p:sp>
        <p:nvSpPr>
          <p:cNvPr id="10" name="Shape 8"/>
          <p:cNvSpPr/>
          <p:nvPr/>
        </p:nvSpPr>
        <p:spPr>
          <a:xfrm>
            <a:off x="320040" y="2286000"/>
            <a:ext cx="8503920" cy="484632"/>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286000"/>
            <a:ext cx="475488" cy="484632"/>
          </a:xfrm>
          <a:prstGeom prst="rect">
            <a:avLst/>
          </a:prstGeom>
          <a:solidFill>
            <a:srgbClr val="F48024"/>
          </a:solidFill>
          <a:ln w="12700">
            <a:solidFill>
              <a:srgbClr val="F48024"/>
            </a:solidFill>
            <a:prstDash val="solid"/>
          </a:ln>
        </p:spPr>
      </p:sp>
      <p:sp>
        <p:nvSpPr>
          <p:cNvPr id="12" name="Text 10"/>
          <p:cNvSpPr/>
          <p:nvPr/>
        </p:nvSpPr>
        <p:spPr>
          <a:xfrm>
            <a:off x="320040" y="228600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313432"/>
            <a:ext cx="7726680" cy="429768"/>
          </a:xfrm>
          <a:prstGeom prst="rect">
            <a:avLst/>
          </a:prstGeom>
          <a:noFill/>
          <a:ln/>
        </p:spPr>
        <p:txBody>
          <a:bodyPr wrap="square" rtlCol="0" anchor="ctr"/>
          <a:lstStyle/>
          <a:p>
            <a:pPr marL="0" indent="0">
              <a:buNone/>
            </a:pPr>
            <a:r>
              <a:rPr lang="en-US" sz="1300" dirty="0">
                <a:solidFill>
                  <a:srgbClr val="FFFFFF"/>
                </a:solidFill>
              </a:rPr>
              <a:t>La régulation introjectée (par culpabilité)</a:t>
            </a:r>
            <a:endParaRPr lang="en-US" sz="1300" dirty="0"/>
          </a:p>
        </p:txBody>
      </p:sp>
      <p:sp>
        <p:nvSpPr>
          <p:cNvPr id="14" name="Shape 12"/>
          <p:cNvSpPr/>
          <p:nvPr/>
        </p:nvSpPr>
        <p:spPr>
          <a:xfrm>
            <a:off x="320040" y="2834640"/>
            <a:ext cx="8503920" cy="484632"/>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2834640"/>
            <a:ext cx="475488" cy="484632"/>
          </a:xfrm>
          <a:prstGeom prst="rect">
            <a:avLst/>
          </a:prstGeom>
          <a:solidFill>
            <a:srgbClr val="F48024"/>
          </a:solidFill>
          <a:ln w="12700">
            <a:solidFill>
              <a:srgbClr val="F48024"/>
            </a:solidFill>
            <a:prstDash val="solid"/>
          </a:ln>
        </p:spPr>
      </p:sp>
      <p:sp>
        <p:nvSpPr>
          <p:cNvPr id="16" name="Text 14"/>
          <p:cNvSpPr/>
          <p:nvPr/>
        </p:nvSpPr>
        <p:spPr>
          <a:xfrm>
            <a:off x="320040" y="283464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2862072"/>
            <a:ext cx="7726680" cy="429768"/>
          </a:xfrm>
          <a:prstGeom prst="rect">
            <a:avLst/>
          </a:prstGeom>
          <a:noFill/>
          <a:ln/>
        </p:spPr>
        <p:txBody>
          <a:bodyPr wrap="square" rtlCol="0" anchor="ctr"/>
          <a:lstStyle/>
          <a:p>
            <a:pPr marL="0" indent="0">
              <a:buNone/>
            </a:pPr>
            <a:r>
              <a:rPr lang="en-US" sz="1300" dirty="0">
                <a:solidFill>
                  <a:srgbClr val="FFFFFF"/>
                </a:solidFill>
              </a:rPr>
              <a:t>La régulation identifiée (par utilité, pour atteindre un but)</a:t>
            </a:r>
            <a:endParaRPr lang="en-US" sz="1300" dirty="0"/>
          </a:p>
        </p:txBody>
      </p:sp>
      <p:sp>
        <p:nvSpPr>
          <p:cNvPr id="18" name="Shape 16"/>
          <p:cNvSpPr/>
          <p:nvPr/>
        </p:nvSpPr>
        <p:spPr>
          <a:xfrm>
            <a:off x="320040" y="3383280"/>
            <a:ext cx="8503920" cy="484632"/>
          </a:xfrm>
          <a:prstGeom prst="rect">
            <a:avLst/>
          </a:prstGeom>
          <a:solidFill>
            <a:srgbClr val="FFFFFF">
              <a:alpha val="20000"/>
            </a:srgbClr>
          </a:solidFill>
          <a:ln w="6350">
            <a:solidFill>
              <a:srgbClr val="FFFFFF">
                <a:alpha val="35000"/>
              </a:srgbClr>
            </a:solidFill>
            <a:prstDash val="solid"/>
          </a:ln>
        </p:spPr>
      </p:sp>
      <p:sp>
        <p:nvSpPr>
          <p:cNvPr id="19" name="Shape 17"/>
          <p:cNvSpPr/>
          <p:nvPr/>
        </p:nvSpPr>
        <p:spPr>
          <a:xfrm>
            <a:off x="320040" y="3383280"/>
            <a:ext cx="475488" cy="484632"/>
          </a:xfrm>
          <a:prstGeom prst="rect">
            <a:avLst/>
          </a:prstGeom>
          <a:solidFill>
            <a:srgbClr val="F48024"/>
          </a:solidFill>
          <a:ln w="12700">
            <a:solidFill>
              <a:srgbClr val="F48024"/>
            </a:solidFill>
            <a:prstDash val="solid"/>
          </a:ln>
        </p:spPr>
      </p:sp>
      <p:sp>
        <p:nvSpPr>
          <p:cNvPr id="20" name="Text 18"/>
          <p:cNvSpPr/>
          <p:nvPr/>
        </p:nvSpPr>
        <p:spPr>
          <a:xfrm>
            <a:off x="320040" y="338328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D</a:t>
            </a:r>
            <a:endParaRPr lang="en-US" sz="1400" dirty="0"/>
          </a:p>
        </p:txBody>
      </p:sp>
      <p:sp>
        <p:nvSpPr>
          <p:cNvPr id="21" name="Text 19"/>
          <p:cNvSpPr/>
          <p:nvPr/>
        </p:nvSpPr>
        <p:spPr>
          <a:xfrm>
            <a:off x="914400" y="3410712"/>
            <a:ext cx="7726680" cy="429768"/>
          </a:xfrm>
          <a:prstGeom prst="rect">
            <a:avLst/>
          </a:prstGeom>
          <a:noFill/>
          <a:ln/>
        </p:spPr>
        <p:txBody>
          <a:bodyPr wrap="square" rtlCol="0" anchor="ctr"/>
          <a:lstStyle/>
          <a:p>
            <a:pPr marL="0" indent="0">
              <a:buNone/>
            </a:pPr>
            <a:r>
              <a:rPr lang="en-US" sz="1300" dirty="0">
                <a:solidFill>
                  <a:srgbClr val="FFFFFF"/>
                </a:solidFill>
              </a:rPr>
              <a:t>La régulation intégrée (en adéquation avec ses valeurs)</a:t>
            </a:r>
            <a:endParaRPr lang="en-US" sz="1300" dirty="0"/>
          </a:p>
        </p:txBody>
      </p:sp>
      <p:sp>
        <p:nvSpPr>
          <p:cNvPr id="22" name="Shape 20"/>
          <p:cNvSpPr/>
          <p:nvPr/>
        </p:nvSpPr>
        <p:spPr>
          <a:xfrm>
            <a:off x="320040" y="3931920"/>
            <a:ext cx="8503920" cy="484632"/>
          </a:xfrm>
          <a:prstGeom prst="rect">
            <a:avLst/>
          </a:prstGeom>
          <a:solidFill>
            <a:srgbClr val="FFFFFF">
              <a:alpha val="20000"/>
            </a:srgbClr>
          </a:solidFill>
          <a:ln w="6350">
            <a:solidFill>
              <a:srgbClr val="FFFFFF">
                <a:alpha val="35000"/>
              </a:srgbClr>
            </a:solidFill>
            <a:prstDash val="solid"/>
          </a:ln>
        </p:spPr>
      </p:sp>
      <p:sp>
        <p:nvSpPr>
          <p:cNvPr id="23" name="Shape 21"/>
          <p:cNvSpPr/>
          <p:nvPr/>
        </p:nvSpPr>
        <p:spPr>
          <a:xfrm>
            <a:off x="320040" y="3931920"/>
            <a:ext cx="475488" cy="484632"/>
          </a:xfrm>
          <a:prstGeom prst="rect">
            <a:avLst/>
          </a:prstGeom>
          <a:solidFill>
            <a:srgbClr val="F48024"/>
          </a:solidFill>
          <a:ln w="12700">
            <a:solidFill>
              <a:srgbClr val="F48024"/>
            </a:solidFill>
            <a:prstDash val="solid"/>
          </a:ln>
        </p:spPr>
      </p:sp>
      <p:sp>
        <p:nvSpPr>
          <p:cNvPr id="24" name="Text 22"/>
          <p:cNvSpPr/>
          <p:nvPr/>
        </p:nvSpPr>
        <p:spPr>
          <a:xfrm>
            <a:off x="320040" y="393192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E</a:t>
            </a:r>
            <a:endParaRPr lang="en-US" sz="1400" dirty="0"/>
          </a:p>
        </p:txBody>
      </p:sp>
      <p:sp>
        <p:nvSpPr>
          <p:cNvPr id="25" name="Text 23"/>
          <p:cNvSpPr/>
          <p:nvPr/>
        </p:nvSpPr>
        <p:spPr>
          <a:xfrm>
            <a:off x="914400" y="3959352"/>
            <a:ext cx="7726680" cy="429768"/>
          </a:xfrm>
          <a:prstGeom prst="rect">
            <a:avLst/>
          </a:prstGeom>
          <a:noFill/>
          <a:ln/>
        </p:spPr>
        <p:txBody>
          <a:bodyPr wrap="square" rtlCol="0" anchor="ctr"/>
          <a:lstStyle/>
          <a:p>
            <a:pPr marL="0" indent="0">
              <a:buNone/>
            </a:pPr>
            <a:r>
              <a:rPr lang="en-US" sz="1300" dirty="0">
                <a:solidFill>
                  <a:srgbClr val="FFFFFF"/>
                </a:solidFill>
              </a:rPr>
              <a:t>La motivation intrinsèque (par plaisir d'apprendre, par envie)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E  |  Question 18/100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théorie de la motivation de Deci et Ryan (2002), quel est le niveau de motivation le plus autodéterminé ?</a:t>
            </a:r>
            <a:endParaRPr lang="en-US" sz="1500" dirty="0"/>
          </a:p>
        </p:txBody>
      </p:sp>
      <p:sp>
        <p:nvSpPr>
          <p:cNvPr id="5" name="Shape 3"/>
          <p:cNvSpPr/>
          <p:nvPr/>
        </p:nvSpPr>
        <p:spPr>
          <a:xfrm>
            <a:off x="320040" y="1417320"/>
            <a:ext cx="8503920" cy="402336"/>
          </a:xfrm>
          <a:prstGeom prst="rect">
            <a:avLst/>
          </a:prstGeom>
          <a:solidFill>
            <a:srgbClr val="E8EAF2"/>
          </a:solidFill>
          <a:ln w="19050">
            <a:solidFill>
              <a:srgbClr val="C0C8D8"/>
            </a:solidFill>
            <a:prstDash val="solid"/>
          </a:ln>
        </p:spPr>
      </p:sp>
      <p:sp>
        <p:nvSpPr>
          <p:cNvPr id="6" name="Shape 4"/>
          <p:cNvSpPr/>
          <p:nvPr/>
        </p:nvSpPr>
        <p:spPr>
          <a:xfrm>
            <a:off x="320040" y="1417320"/>
            <a:ext cx="475488" cy="402336"/>
          </a:xfrm>
          <a:prstGeom prst="rect">
            <a:avLst/>
          </a:prstGeom>
          <a:solidFill>
            <a:srgbClr val="A0AABC"/>
          </a:solidFill>
          <a:ln w="12700">
            <a:solidFill>
              <a:srgbClr val="A0AABC"/>
            </a:solidFill>
            <a:prstDash val="solid"/>
          </a:ln>
        </p:spPr>
      </p:sp>
      <p:sp>
        <p:nvSpPr>
          <p:cNvPr id="7" name="Text 5"/>
          <p:cNvSpPr/>
          <p:nvPr/>
        </p:nvSpPr>
        <p:spPr>
          <a:xfrm>
            <a:off x="320040" y="14173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35608"/>
            <a:ext cx="7726680" cy="365760"/>
          </a:xfrm>
          <a:prstGeom prst="rect">
            <a:avLst/>
          </a:prstGeom>
          <a:noFill/>
          <a:ln/>
        </p:spPr>
        <p:txBody>
          <a:bodyPr wrap="square" rtlCol="0" anchor="ctr"/>
          <a:lstStyle/>
          <a:p>
            <a:pPr marL="0" indent="0">
              <a:buNone/>
            </a:pPr>
            <a:r>
              <a:rPr lang="en-US" sz="1200" dirty="0">
                <a:solidFill>
                  <a:srgbClr val="8A96AD"/>
                </a:solidFill>
              </a:rPr>
              <a:t>La régulation externe (pour une récompense ou par peur d'une sanction)</a:t>
            </a:r>
            <a:endParaRPr lang="en-US" sz="1200" dirty="0"/>
          </a:p>
        </p:txBody>
      </p:sp>
      <p:sp>
        <p:nvSpPr>
          <p:cNvPr id="9" name="Shape 7"/>
          <p:cNvSpPr/>
          <p:nvPr/>
        </p:nvSpPr>
        <p:spPr>
          <a:xfrm>
            <a:off x="320040" y="1874520"/>
            <a:ext cx="8503920" cy="402336"/>
          </a:xfrm>
          <a:prstGeom prst="rect">
            <a:avLst/>
          </a:prstGeom>
          <a:solidFill>
            <a:srgbClr val="E8EAF2"/>
          </a:solidFill>
          <a:ln w="19050">
            <a:solidFill>
              <a:srgbClr val="C0C8D8"/>
            </a:solidFill>
            <a:prstDash val="solid"/>
          </a:ln>
        </p:spPr>
      </p:sp>
      <p:sp>
        <p:nvSpPr>
          <p:cNvPr id="10" name="Shape 8"/>
          <p:cNvSpPr/>
          <p:nvPr/>
        </p:nvSpPr>
        <p:spPr>
          <a:xfrm>
            <a:off x="320040" y="1874520"/>
            <a:ext cx="475488" cy="402336"/>
          </a:xfrm>
          <a:prstGeom prst="rect">
            <a:avLst/>
          </a:prstGeom>
          <a:solidFill>
            <a:srgbClr val="A0AABC"/>
          </a:solidFill>
          <a:ln w="12700">
            <a:solidFill>
              <a:srgbClr val="A0AABC"/>
            </a:solidFill>
            <a:prstDash val="solid"/>
          </a:ln>
        </p:spPr>
      </p:sp>
      <p:sp>
        <p:nvSpPr>
          <p:cNvPr id="11" name="Text 9"/>
          <p:cNvSpPr/>
          <p:nvPr/>
        </p:nvSpPr>
        <p:spPr>
          <a:xfrm>
            <a:off x="320040" y="18745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1892808"/>
            <a:ext cx="7726680" cy="365760"/>
          </a:xfrm>
          <a:prstGeom prst="rect">
            <a:avLst/>
          </a:prstGeom>
          <a:noFill/>
          <a:ln/>
        </p:spPr>
        <p:txBody>
          <a:bodyPr wrap="square" rtlCol="0" anchor="ctr"/>
          <a:lstStyle/>
          <a:p>
            <a:pPr marL="0" indent="0">
              <a:buNone/>
            </a:pPr>
            <a:r>
              <a:rPr lang="en-US" sz="1200" dirty="0">
                <a:solidFill>
                  <a:srgbClr val="8A96AD"/>
                </a:solidFill>
              </a:rPr>
              <a:t>La régulation introjectée (par culpabilité)</a:t>
            </a:r>
            <a:endParaRPr lang="en-US" sz="1200" dirty="0"/>
          </a:p>
        </p:txBody>
      </p:sp>
      <p:sp>
        <p:nvSpPr>
          <p:cNvPr id="13" name="Shape 11"/>
          <p:cNvSpPr/>
          <p:nvPr/>
        </p:nvSpPr>
        <p:spPr>
          <a:xfrm>
            <a:off x="320040" y="2331720"/>
            <a:ext cx="8503920" cy="402336"/>
          </a:xfrm>
          <a:prstGeom prst="rect">
            <a:avLst/>
          </a:prstGeom>
          <a:solidFill>
            <a:srgbClr val="E8EAF2"/>
          </a:solidFill>
          <a:ln w="19050">
            <a:solidFill>
              <a:srgbClr val="C0C8D8"/>
            </a:solidFill>
            <a:prstDash val="solid"/>
          </a:ln>
        </p:spPr>
      </p:sp>
      <p:sp>
        <p:nvSpPr>
          <p:cNvPr id="14" name="Shape 12"/>
          <p:cNvSpPr/>
          <p:nvPr/>
        </p:nvSpPr>
        <p:spPr>
          <a:xfrm>
            <a:off x="320040" y="2331720"/>
            <a:ext cx="475488" cy="402336"/>
          </a:xfrm>
          <a:prstGeom prst="rect">
            <a:avLst/>
          </a:prstGeom>
          <a:solidFill>
            <a:srgbClr val="A0AABC"/>
          </a:solidFill>
          <a:ln w="12700">
            <a:solidFill>
              <a:srgbClr val="A0AABC"/>
            </a:solidFill>
            <a:prstDash val="solid"/>
          </a:ln>
        </p:spPr>
      </p:sp>
      <p:sp>
        <p:nvSpPr>
          <p:cNvPr id="15" name="Text 13"/>
          <p:cNvSpPr/>
          <p:nvPr/>
        </p:nvSpPr>
        <p:spPr>
          <a:xfrm>
            <a:off x="320040" y="23317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350008"/>
            <a:ext cx="7726680" cy="365760"/>
          </a:xfrm>
          <a:prstGeom prst="rect">
            <a:avLst/>
          </a:prstGeom>
          <a:noFill/>
          <a:ln/>
        </p:spPr>
        <p:txBody>
          <a:bodyPr wrap="square" rtlCol="0" anchor="ctr"/>
          <a:lstStyle/>
          <a:p>
            <a:pPr marL="0" indent="0">
              <a:buNone/>
            </a:pPr>
            <a:r>
              <a:rPr lang="en-US" sz="1200" dirty="0">
                <a:solidFill>
                  <a:srgbClr val="8A96AD"/>
                </a:solidFill>
              </a:rPr>
              <a:t>La régulation identifiée (par utilité, pour atteindre un but)</a:t>
            </a:r>
            <a:endParaRPr lang="en-US" sz="1200" dirty="0"/>
          </a:p>
        </p:txBody>
      </p:sp>
      <p:sp>
        <p:nvSpPr>
          <p:cNvPr id="17" name="Shape 15"/>
          <p:cNvSpPr/>
          <p:nvPr/>
        </p:nvSpPr>
        <p:spPr>
          <a:xfrm>
            <a:off x="320040" y="2788920"/>
            <a:ext cx="8503920" cy="402336"/>
          </a:xfrm>
          <a:prstGeom prst="rect">
            <a:avLst/>
          </a:prstGeom>
          <a:solidFill>
            <a:srgbClr val="E8EAF2"/>
          </a:solidFill>
          <a:ln w="19050">
            <a:solidFill>
              <a:srgbClr val="C0C8D8"/>
            </a:solidFill>
            <a:prstDash val="solid"/>
          </a:ln>
        </p:spPr>
      </p:sp>
      <p:sp>
        <p:nvSpPr>
          <p:cNvPr id="18" name="Shape 16"/>
          <p:cNvSpPr/>
          <p:nvPr/>
        </p:nvSpPr>
        <p:spPr>
          <a:xfrm>
            <a:off x="320040" y="2788920"/>
            <a:ext cx="475488" cy="402336"/>
          </a:xfrm>
          <a:prstGeom prst="rect">
            <a:avLst/>
          </a:prstGeom>
          <a:solidFill>
            <a:srgbClr val="A0AABC"/>
          </a:solidFill>
          <a:ln w="12700">
            <a:solidFill>
              <a:srgbClr val="A0AABC"/>
            </a:solidFill>
            <a:prstDash val="solid"/>
          </a:ln>
        </p:spPr>
      </p:sp>
      <p:sp>
        <p:nvSpPr>
          <p:cNvPr id="19" name="Text 17"/>
          <p:cNvSpPr/>
          <p:nvPr/>
        </p:nvSpPr>
        <p:spPr>
          <a:xfrm>
            <a:off x="320040" y="27889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D</a:t>
            </a:r>
            <a:endParaRPr lang="en-US" sz="1300" dirty="0"/>
          </a:p>
        </p:txBody>
      </p:sp>
      <p:sp>
        <p:nvSpPr>
          <p:cNvPr id="20" name="Text 18"/>
          <p:cNvSpPr/>
          <p:nvPr/>
        </p:nvSpPr>
        <p:spPr>
          <a:xfrm>
            <a:off x="914400" y="2807208"/>
            <a:ext cx="7726680" cy="365760"/>
          </a:xfrm>
          <a:prstGeom prst="rect">
            <a:avLst/>
          </a:prstGeom>
          <a:noFill/>
          <a:ln/>
        </p:spPr>
        <p:txBody>
          <a:bodyPr wrap="square" rtlCol="0" anchor="ctr"/>
          <a:lstStyle/>
          <a:p>
            <a:pPr marL="0" indent="0">
              <a:buNone/>
            </a:pPr>
            <a:r>
              <a:rPr lang="en-US" sz="1200" dirty="0">
                <a:solidFill>
                  <a:srgbClr val="8A96AD"/>
                </a:solidFill>
              </a:rPr>
              <a:t>La régulation intégrée (en adéquation avec ses valeurs)</a:t>
            </a:r>
            <a:endParaRPr lang="en-US" sz="1200" dirty="0"/>
          </a:p>
        </p:txBody>
      </p:sp>
      <p:sp>
        <p:nvSpPr>
          <p:cNvPr id="21" name="Shape 19"/>
          <p:cNvSpPr/>
          <p:nvPr/>
        </p:nvSpPr>
        <p:spPr>
          <a:xfrm>
            <a:off x="320040" y="3246120"/>
            <a:ext cx="8503920" cy="402336"/>
          </a:xfrm>
          <a:prstGeom prst="rect">
            <a:avLst/>
          </a:prstGeom>
          <a:solidFill>
            <a:srgbClr val="E8F5ED"/>
          </a:solidFill>
          <a:ln w="19050">
            <a:solidFill>
              <a:srgbClr val="1A6B3C"/>
            </a:solidFill>
            <a:prstDash val="solid"/>
          </a:ln>
        </p:spPr>
      </p:sp>
      <p:sp>
        <p:nvSpPr>
          <p:cNvPr id="22" name="Shape 20"/>
          <p:cNvSpPr/>
          <p:nvPr/>
        </p:nvSpPr>
        <p:spPr>
          <a:xfrm>
            <a:off x="320040" y="3246120"/>
            <a:ext cx="475488" cy="402336"/>
          </a:xfrm>
          <a:prstGeom prst="rect">
            <a:avLst/>
          </a:prstGeom>
          <a:solidFill>
            <a:srgbClr val="1A6B3C"/>
          </a:solidFill>
          <a:ln w="12700">
            <a:solidFill>
              <a:srgbClr val="1A6B3C"/>
            </a:solidFill>
            <a:prstDash val="solid"/>
          </a:ln>
        </p:spPr>
      </p:sp>
      <p:sp>
        <p:nvSpPr>
          <p:cNvPr id="23" name="Text 21"/>
          <p:cNvSpPr/>
          <p:nvPr/>
        </p:nvSpPr>
        <p:spPr>
          <a:xfrm>
            <a:off x="320040" y="32461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24" name="Text 22"/>
          <p:cNvSpPr/>
          <p:nvPr/>
        </p:nvSpPr>
        <p:spPr>
          <a:xfrm>
            <a:off x="914400" y="3264408"/>
            <a:ext cx="7726680" cy="365760"/>
          </a:xfrm>
          <a:prstGeom prst="rect">
            <a:avLst/>
          </a:prstGeom>
          <a:noFill/>
          <a:ln/>
        </p:spPr>
        <p:txBody>
          <a:bodyPr wrap="square" rtlCol="0" anchor="ctr"/>
          <a:lstStyle/>
          <a:p>
            <a:pPr marL="0" indent="0">
              <a:buNone/>
            </a:pPr>
            <a:r>
              <a:rPr lang="en-US" sz="1200" b="1" dirty="0">
                <a:solidFill>
                  <a:srgbClr val="1A6B3C"/>
                </a:solidFill>
              </a:rPr>
              <a:t>La motivation intrinsèque (par plaisir d'apprendre, par envie)</a:t>
            </a:r>
            <a:endParaRPr lang="en-US" sz="1200" dirty="0"/>
          </a:p>
        </p:txBody>
      </p:sp>
      <p:sp>
        <p:nvSpPr>
          <p:cNvPr id="25" name="Shape 23"/>
          <p:cNvSpPr/>
          <p:nvPr/>
        </p:nvSpPr>
        <p:spPr>
          <a:xfrm>
            <a:off x="320040" y="3749040"/>
            <a:ext cx="8503920" cy="1257300"/>
          </a:xfrm>
          <a:prstGeom prst="rect">
            <a:avLst/>
          </a:prstGeom>
          <a:solidFill>
            <a:srgbClr val="EEF2FF"/>
          </a:solidFill>
          <a:ln w="12700">
            <a:solidFill>
              <a:srgbClr val="B8C4E0"/>
            </a:solidFill>
            <a:prstDash val="solid"/>
          </a:ln>
        </p:spPr>
      </p:sp>
      <p:sp>
        <p:nvSpPr>
          <p:cNvPr id="26" name="Shape 24"/>
          <p:cNvSpPr/>
          <p:nvPr/>
        </p:nvSpPr>
        <p:spPr>
          <a:xfrm>
            <a:off x="320040" y="3749040"/>
            <a:ext cx="64008" cy="1257300"/>
          </a:xfrm>
          <a:prstGeom prst="rect">
            <a:avLst/>
          </a:prstGeom>
          <a:solidFill>
            <a:srgbClr val="1B3A6B"/>
          </a:solidFill>
          <a:ln w="12700">
            <a:solidFill>
              <a:srgbClr val="1B3A6B"/>
            </a:solidFill>
            <a:prstDash val="solid"/>
          </a:ln>
        </p:spPr>
      </p:sp>
      <p:sp>
        <p:nvSpPr>
          <p:cNvPr id="27" name="Text 25"/>
          <p:cNvSpPr/>
          <p:nvPr/>
        </p:nvSpPr>
        <p:spPr>
          <a:xfrm>
            <a:off x="502920" y="3794760"/>
            <a:ext cx="8183880" cy="1184148"/>
          </a:xfrm>
          <a:prstGeom prst="rect">
            <a:avLst/>
          </a:prstGeom>
          <a:noFill/>
          <a:ln/>
        </p:spPr>
        <p:txBody>
          <a:bodyPr wrap="square" rtlCol="0" anchor="t"/>
          <a:lstStyle/>
          <a:p>
            <a:pPr marL="0" indent="0">
              <a:buNone/>
            </a:pPr>
            <a:r>
              <a:rPr lang="en-US" sz="1000" dirty="0">
                <a:solidFill>
                  <a:srgbClr val="1B2A4A"/>
                </a:solidFill>
              </a:rPr>
              <a:t>Dans le continuum de Deci et Ryan (2002), la motivation intrinsèque est le niveau le plus autodéterminé : la personne agit par plaisir, intérêt et envie intrinsèques. L'amotivation est le niveau le moins autodéterminé.</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l'amotivation selon Deci et Ryan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 refus conscient et délibéré de participer à toute activité.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La situation où la personne ne fait pas le lien entre l'action entreprise et le résultat obtenu.</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Une motivation très faible mais présente pour des activités non appréciées.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l'amotivation selon Deci et Ryan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 refus conscient et délibéré de participer à toute activité.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La situation où la personne ne fait pas le lien entre l'action entreprise et le résultat obtenu.</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Une motivation très faible mais présente pour des activités non appréciées.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L'amotivation signifie que la personne ne fait pas le lien entre l'action entreprise et le résultat obtenu. C'est le pôle le moins autodéterminé du continuum. La personne ne s'engage pas dans les tâches proposées.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 Conseil de la Vie Sociale (CVS) est principalement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 conseil consultatif purement formel sans impact réel sur la structure.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Un outil destiné à garantir le droit effectif à la participation des personnes accompagnées au fonctionnement de la structure.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Une instance uniquement réservée aux professionnels et aux directions des établissements.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Conseil de la Vie Sociale (CVS) est principalement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 conseil consultatif purement formel sans impact réel sur la structure.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Un outil destiné à garantir le droit effectif à la participation des personnes accompagnées au fonctionnement de la structure.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Une instance uniquement réservée aux professionnels et aux directions des établissements.</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CVS figure parmi les principaux outils garantissant le droit effectif à la participation des personnes accompagnées (loi du 2 janvier 2002, art. L311-6 CASF). La RBPP HAS 2022 recommande de préparer les personnes avec TDI à y jouer un rôle à part entière.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RBPP HAS 2022, quelles personnes présentant un TDI doivent pouvoir s'autodéterminer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celles qui peuvent verbaliser clairement leurs souhaits.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Toutes les personnes présentant un TDI, quels que soient leur âge, leurs spécificités et leur mode de communication.</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les adultes ayant une capacité décisionnelle juridiquement reconnue.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HAS 2022, quelles personnes présentant un TDI doivent pouvoir s'autodéterminer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celles qui peuvent verbaliser clairement leurs souhaits.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Toutes les personnes présentant un TDI, quels que soient leur âge, leurs spécificités et leur mode de communication.</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les adultes ayant une capacité décisionnelle juridiquement reconnue.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HAS 2022 est formelle : « Toutes les personnes présentant un TDI doivent avoir la possibilité de s'autodéterminer, quels que soient leur âge, leurs spécificités et leur mode de communication. » Il n'y a pas de condition préalable liée au mode de communication.</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Comment le projet personnalisé doit-il être élaboré selon la RBPP HAS 2022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Par l'équipe professionnelle seule pour garantir sa cohérence et sa faisabilité.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Co-construit avec la personne présentant un TDI et sa famille, si la personne le souhaite.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Par la famille et le médecin référent, sans intervention directe de la personne.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Comment le projet personnalisé doit-il être élaboré selon la RBPP HAS 2022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Par l'équipe professionnelle seule pour garantir sa cohérence et sa faisabilité.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Co-construit avec la personne présentant un TDI et sa famille, si la personne le souhaite.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Par la famille et le médecin référent, sans intervention directe de la personne.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RBPP recommande de « co-construire, avec la personne présentant un TDI et sa famille, si la personne le souhaite, son projet personnalisé ». La personne peut organiser ou animer les réunions et participer à la rédaction des comptes-rendus.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Quelle approche est préconisée pour favoriser l'autodétermination selon la RBPP HAS 2022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 « faire pour » : agir à la place de la personne pour garantir la réussite.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Le « faire avec » : associer la personne aux décisions et lui laisser la place d'agir.</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Le « laisser faire » : retirer tout accompagnement pour favoriser l'autonomie.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approche est préconisée pour favoriser l'autodétermination selon la RBPP HAS 2022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 « faire pour » : agir à la place de la personne pour garantir la réussite.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Le « faire avec » : associer la personne aux décisions et lui laisser la place d'agir.</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Le « laisser faire » : retirer tout accompagnement pour favoriser l'autonomie.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préconise le « faire avec » et non le « faire pour ». Illustration : si un éducateur fait seul les recherches et inscrit un jeune à la piscine sans l'associer au processus, l'autodétermination n'est pas travaillée même si la demande est satisfaite.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recherche montre que le développement de l'autodétermination est lié positivement à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Une augmentation des comportements de dépendance envers les professionnels.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La qualité de vie, l'inclusion sociale, le bien-être émotionnel, physique, matériel et la satisfaction face à sa propre vie.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Une réduction progressive des besoins d'accompagnement professionnel.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recherche montre que le développement de l'autodétermination est lié positivement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Une augmentation des comportements de dépendance envers les professionnels.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La qualité de vie, l'inclusion sociale, le bien-être émotionnel, physique, matériel et la satisfaction face à sa propre vie.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Une réduction progressive des besoins d'accompagnement professionnel.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Les recherches (Wehmeyer et al.) montrent que l'autodétermination est liée positivement au respect des droits, à l'inclusion sociale, à la qualité des relations interpersonnelles, au bien-être émotionnel, physique, matériel et à la qualité de vie.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 mouvement nord-américain « People First » a été fondé par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Des professionnels du secteur médico-social souhaitant réformer les pratiques.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Des personnes présentant un trouble du développement intellectuel elles-mêmes, aux États-Unis dans les années 70.</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Des parents et familles de personnes en situation de handicap intellectuel.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mouvement nord-américain « People First » a été fondé par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Des professionnels du secteur médico-social souhaitant réformer les pratiques.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Des personnes présentant un trouble du développement intellectuel elles-mêmes, aux États-Unis dans les années 70.</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Des parents et familles de personnes en situation de handicap intellectuel.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People First a été fondé aux États-Unis dans les années 70 par des personnes présentant un TDI. Ces mouvements mettent en avant la participation, l'appropriation du pouvoir (empowerment) et la défense de leurs droits par les personnes elles-mêmes.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Quelle est la devise de l'association d'auto-représentants « Nous aussi »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 Pour nous, avec vous »</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 Rien sur nous, sans nous »</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 Ensemble, tout est possible »</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est la devise de l'association d'auto-représentants « Nous aussi »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 Pour nous, avec vous »</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 Rien sur nous, sans nous »</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 Ensemble, tout est possible »</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L'association « Nous aussi » revendique une gouvernance par et pour les personnes présentant un TDI, avec le slogan « Rien sur nous, sans nous ». Ce principe incarne l'autodétermination collective et la participation citoyenne.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Laquelle de ces affirmations sur l'autodétermination est VRAIE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L'autodétermination signifie faire ce que l'on veut, quand on le souhaite, sans contrainte.</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L'autodétermination doit prévenir et empêcher toutes les situations d'échec.</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000" dirty="0">
                <a:solidFill>
                  <a:srgbClr val="FFFFFF"/>
                </a:solidFill>
              </a:rPr>
              <a:t>L'autodétermination s'appuie sur le principe que la personne a la liberté de faire ses propres expériences, même si elle est confrontée à un résultat décevant.</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27/100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Laquelle de ces affirmations sur l'autodétermination est VRAIE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L'autodétermination signifie faire ce que l'on veut, quand on le souhaite, sans contrainte.</a:t>
            </a:r>
            <a:endParaRPr lang="en-US" sz="1100" dirty="0"/>
          </a:p>
        </p:txBody>
      </p:sp>
      <p:sp>
        <p:nvSpPr>
          <p:cNvPr id="9" name="Shape 7"/>
          <p:cNvSpPr/>
          <p:nvPr/>
        </p:nvSpPr>
        <p:spPr>
          <a:xfrm>
            <a:off x="320040" y="2066544"/>
            <a:ext cx="8503920" cy="530352"/>
          </a:xfrm>
          <a:prstGeom prst="rect">
            <a:avLst/>
          </a:prstGeom>
          <a:solidFill>
            <a:srgbClr val="E8EAF2"/>
          </a:solidFill>
          <a:ln w="19050">
            <a:solidFill>
              <a:srgbClr val="C0C8D8"/>
            </a:solidFill>
            <a:prstDash val="solid"/>
          </a:ln>
        </p:spPr>
      </p:sp>
      <p:sp>
        <p:nvSpPr>
          <p:cNvPr id="10" name="Shape 8"/>
          <p:cNvSpPr/>
          <p:nvPr/>
        </p:nvSpPr>
        <p:spPr>
          <a:xfrm>
            <a:off x="320040" y="2066544"/>
            <a:ext cx="475488" cy="530352"/>
          </a:xfrm>
          <a:prstGeom prst="rect">
            <a:avLst/>
          </a:prstGeom>
          <a:solidFill>
            <a:srgbClr val="A0AABC"/>
          </a:solidFill>
          <a:ln w="12700">
            <a:solidFill>
              <a:srgbClr val="A0AAB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dirty="0">
                <a:solidFill>
                  <a:srgbClr val="8A96AD"/>
                </a:solidFill>
              </a:rPr>
              <a:t>L'autodétermination doit prévenir et empêcher toutes les situations d'échec.</a:t>
            </a:r>
            <a:endParaRPr lang="en-US" sz="1200" dirty="0"/>
          </a:p>
        </p:txBody>
      </p:sp>
      <p:sp>
        <p:nvSpPr>
          <p:cNvPr id="13" name="Shape 11"/>
          <p:cNvSpPr/>
          <p:nvPr/>
        </p:nvSpPr>
        <p:spPr>
          <a:xfrm>
            <a:off x="320040" y="2670048"/>
            <a:ext cx="8503920" cy="530352"/>
          </a:xfrm>
          <a:prstGeom prst="rect">
            <a:avLst/>
          </a:prstGeom>
          <a:solidFill>
            <a:srgbClr val="E8F5ED"/>
          </a:solidFill>
          <a:ln w="19050">
            <a:solidFill>
              <a:srgbClr val="1A6B3C"/>
            </a:solidFill>
            <a:prstDash val="solid"/>
          </a:ln>
        </p:spPr>
      </p:sp>
      <p:sp>
        <p:nvSpPr>
          <p:cNvPr id="14" name="Shape 12"/>
          <p:cNvSpPr/>
          <p:nvPr/>
        </p:nvSpPr>
        <p:spPr>
          <a:xfrm>
            <a:off x="320040" y="2670048"/>
            <a:ext cx="475488" cy="530352"/>
          </a:xfrm>
          <a:prstGeom prst="rect">
            <a:avLst/>
          </a:prstGeom>
          <a:solidFill>
            <a:srgbClr val="1A6B3C"/>
          </a:solidFill>
          <a:ln w="12700">
            <a:solidFill>
              <a:srgbClr val="1A6B3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900" b="1" dirty="0">
                <a:solidFill>
                  <a:srgbClr val="1A6B3C"/>
                </a:solidFill>
              </a:rPr>
              <a:t>L'autodétermination s'appuie sur le principe que la personne a la liberté de faire ses propres expériences, même si elle est confrontée à un résultat décevant.</a:t>
            </a:r>
            <a:endParaRPr lang="en-US" sz="9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L'autodétermination ne signifie pas « faire ce que l'on veut sans limite » ni « éliminer tout échec ». L'échec fait partie de l'apprentissage : il permet de comprendre pourquoi cela n'a pas marché et d'imaginer d'autres façons de faire. L'accompagnement aide à valoriser le chemin parcouru.</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la « pair-aidance » dans le contexte médico-social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Un système de tutorat où les professionnels aident les familles à mieux comprendre le handicap.</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Une démarche où une personne ayant vécu une situation particulière mobilise son savoir expérientiel pour aider une autre personne dans une situation semblable.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Un programme de formation professionnelle continue pour les éducateurs spécialisés.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la « pair-aidance » dans le contexte médico-social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Un système de tutorat où les professionnels aident les familles à mieux comprendre le handicap.</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Une démarche où une personne ayant vécu une situation particulière mobilise son savoir expérientiel pour aider une autre personne dans une situation semblable.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Un programme de formation professionnelle continue pour les éducateurs spécialisés.</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pair-aidance repose sur l'expertise d'usage acquise par l'expérience. La personne pair-aidante transmet ses compétences pour aider une autre personne dans une situation semblable mais moins expérimentée. Elle peut se concevoir entre personnes en situation de handicap ou entre proches aidants.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29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Quelle loi française reconnaît aux personnes accompagnées en ESSMS un droit à l'expression et à la participation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La loi du 11 février 2005 pour l'égalité des droits et des chances des personnes handicapées.</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La loi du 2 janvier 2002 rénovant l'action sociale et médico-sociale.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loi du 23 mars 2019 de programmation et de réforme pour la justice.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29/100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loi française reconnaît aux personnes accompagnées en ESSMS un droit à l'expression et à la participation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La loi du 11 février 2005 pour l'égalité des droits et des chances des personnes handicapées.</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La loi du 2 janvier 2002 rénovant l'action sociale et médico-sociale.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loi du 23 mars 2019 de programmation et de réforme pour la justice.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loi du 2 janvier 2002 rénovant l'action sociale et médico-sociale reconnaît le droit à l'expression et à la participation (art. L311-6 CASF). Elle institue notamment le CVS « afin d'associer les personnes bénéficiaires des prestations au fonctionnement de l'établissement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Combien de modèles majeurs de l'autodétermination sont identifiés dans la note de cadrage HAS 2025 ?</a:t>
            </a:r>
            <a:endParaRPr lang="en-US" sz="1900" dirty="0"/>
          </a:p>
        </p:txBody>
      </p:sp>
      <p:sp>
        <p:nvSpPr>
          <p:cNvPr id="6" name="Shape 4"/>
          <p:cNvSpPr/>
          <p:nvPr/>
        </p:nvSpPr>
        <p:spPr>
          <a:xfrm>
            <a:off x="320040" y="1737360"/>
            <a:ext cx="8503920" cy="484632"/>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737360"/>
            <a:ext cx="475488" cy="484632"/>
          </a:xfrm>
          <a:prstGeom prst="rect">
            <a:avLst/>
          </a:prstGeom>
          <a:solidFill>
            <a:srgbClr val="F48024"/>
          </a:solidFill>
          <a:ln w="12700">
            <a:solidFill>
              <a:srgbClr val="F48024"/>
            </a:solidFill>
            <a:prstDash val="solid"/>
          </a:ln>
        </p:spPr>
      </p:sp>
      <p:sp>
        <p:nvSpPr>
          <p:cNvPr id="8" name="Text 6"/>
          <p:cNvSpPr/>
          <p:nvPr/>
        </p:nvSpPr>
        <p:spPr>
          <a:xfrm>
            <a:off x="320040" y="173736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764792"/>
            <a:ext cx="7726680" cy="429768"/>
          </a:xfrm>
          <a:prstGeom prst="rect">
            <a:avLst/>
          </a:prstGeom>
          <a:noFill/>
          <a:ln/>
        </p:spPr>
        <p:txBody>
          <a:bodyPr wrap="square" rtlCol="0" anchor="ctr"/>
          <a:lstStyle/>
          <a:p>
            <a:pPr marL="0" indent="0">
              <a:buNone/>
            </a:pPr>
            <a:r>
              <a:rPr lang="en-US" sz="1300" dirty="0">
                <a:solidFill>
                  <a:srgbClr val="FFFFFF"/>
                </a:solidFill>
              </a:rPr>
              <a:t>2</a:t>
            </a:r>
            <a:endParaRPr lang="en-US" sz="1300" dirty="0"/>
          </a:p>
        </p:txBody>
      </p:sp>
      <p:sp>
        <p:nvSpPr>
          <p:cNvPr id="10" name="Shape 8"/>
          <p:cNvSpPr/>
          <p:nvPr/>
        </p:nvSpPr>
        <p:spPr>
          <a:xfrm>
            <a:off x="320040" y="2286000"/>
            <a:ext cx="8503920" cy="484632"/>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286000"/>
            <a:ext cx="475488" cy="484632"/>
          </a:xfrm>
          <a:prstGeom prst="rect">
            <a:avLst/>
          </a:prstGeom>
          <a:solidFill>
            <a:srgbClr val="F48024"/>
          </a:solidFill>
          <a:ln w="12700">
            <a:solidFill>
              <a:srgbClr val="F48024"/>
            </a:solidFill>
            <a:prstDash val="solid"/>
          </a:ln>
        </p:spPr>
      </p:sp>
      <p:sp>
        <p:nvSpPr>
          <p:cNvPr id="12" name="Text 10"/>
          <p:cNvSpPr/>
          <p:nvPr/>
        </p:nvSpPr>
        <p:spPr>
          <a:xfrm>
            <a:off x="320040" y="228600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313432"/>
            <a:ext cx="7726680" cy="429768"/>
          </a:xfrm>
          <a:prstGeom prst="rect">
            <a:avLst/>
          </a:prstGeom>
          <a:noFill/>
          <a:ln/>
        </p:spPr>
        <p:txBody>
          <a:bodyPr wrap="square" rtlCol="0" anchor="ctr"/>
          <a:lstStyle/>
          <a:p>
            <a:pPr marL="0" indent="0">
              <a:buNone/>
            </a:pPr>
            <a:r>
              <a:rPr lang="en-US" sz="1300" dirty="0">
                <a:solidFill>
                  <a:srgbClr val="FFFFFF"/>
                </a:solidFill>
              </a:rPr>
              <a:t>3</a:t>
            </a:r>
            <a:endParaRPr lang="en-US" sz="1300" dirty="0"/>
          </a:p>
        </p:txBody>
      </p:sp>
      <p:sp>
        <p:nvSpPr>
          <p:cNvPr id="14" name="Shape 12"/>
          <p:cNvSpPr/>
          <p:nvPr/>
        </p:nvSpPr>
        <p:spPr>
          <a:xfrm>
            <a:off x="320040" y="2834640"/>
            <a:ext cx="8503920" cy="484632"/>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2834640"/>
            <a:ext cx="475488" cy="484632"/>
          </a:xfrm>
          <a:prstGeom prst="rect">
            <a:avLst/>
          </a:prstGeom>
          <a:solidFill>
            <a:srgbClr val="F48024"/>
          </a:solidFill>
          <a:ln w="12700">
            <a:solidFill>
              <a:srgbClr val="F48024"/>
            </a:solidFill>
            <a:prstDash val="solid"/>
          </a:ln>
        </p:spPr>
      </p:sp>
      <p:sp>
        <p:nvSpPr>
          <p:cNvPr id="16" name="Text 14"/>
          <p:cNvSpPr/>
          <p:nvPr/>
        </p:nvSpPr>
        <p:spPr>
          <a:xfrm>
            <a:off x="320040" y="283464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2862072"/>
            <a:ext cx="7726680" cy="429768"/>
          </a:xfrm>
          <a:prstGeom prst="rect">
            <a:avLst/>
          </a:prstGeom>
          <a:noFill/>
          <a:ln/>
        </p:spPr>
        <p:txBody>
          <a:bodyPr wrap="square" rtlCol="0" anchor="ctr"/>
          <a:lstStyle/>
          <a:p>
            <a:pPr marL="0" indent="0">
              <a:buNone/>
            </a:pPr>
            <a:r>
              <a:rPr lang="en-US" sz="1300" dirty="0">
                <a:solidFill>
                  <a:srgbClr val="FFFFFF"/>
                </a:solidFill>
              </a:rPr>
              <a:t>4</a:t>
            </a:r>
            <a:endParaRPr lang="en-US" sz="1300" dirty="0"/>
          </a:p>
        </p:txBody>
      </p:sp>
      <p:sp>
        <p:nvSpPr>
          <p:cNvPr id="18" name="Shape 16"/>
          <p:cNvSpPr/>
          <p:nvPr/>
        </p:nvSpPr>
        <p:spPr>
          <a:xfrm>
            <a:off x="320040" y="3383280"/>
            <a:ext cx="8503920" cy="484632"/>
          </a:xfrm>
          <a:prstGeom prst="rect">
            <a:avLst/>
          </a:prstGeom>
          <a:solidFill>
            <a:srgbClr val="FFFFFF">
              <a:alpha val="20000"/>
            </a:srgbClr>
          </a:solidFill>
          <a:ln w="6350">
            <a:solidFill>
              <a:srgbClr val="FFFFFF">
                <a:alpha val="35000"/>
              </a:srgbClr>
            </a:solidFill>
            <a:prstDash val="solid"/>
          </a:ln>
        </p:spPr>
      </p:sp>
      <p:sp>
        <p:nvSpPr>
          <p:cNvPr id="19" name="Shape 17"/>
          <p:cNvSpPr/>
          <p:nvPr/>
        </p:nvSpPr>
        <p:spPr>
          <a:xfrm>
            <a:off x="320040" y="3383280"/>
            <a:ext cx="475488" cy="484632"/>
          </a:xfrm>
          <a:prstGeom prst="rect">
            <a:avLst/>
          </a:prstGeom>
          <a:solidFill>
            <a:srgbClr val="F48024"/>
          </a:solidFill>
          <a:ln w="12700">
            <a:solidFill>
              <a:srgbClr val="F48024"/>
            </a:solidFill>
            <a:prstDash val="solid"/>
          </a:ln>
        </p:spPr>
      </p:sp>
      <p:sp>
        <p:nvSpPr>
          <p:cNvPr id="20" name="Text 18"/>
          <p:cNvSpPr/>
          <p:nvPr/>
        </p:nvSpPr>
        <p:spPr>
          <a:xfrm>
            <a:off x="320040" y="338328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D</a:t>
            </a:r>
            <a:endParaRPr lang="en-US" sz="1400" dirty="0"/>
          </a:p>
        </p:txBody>
      </p:sp>
      <p:sp>
        <p:nvSpPr>
          <p:cNvPr id="21" name="Text 19"/>
          <p:cNvSpPr/>
          <p:nvPr/>
        </p:nvSpPr>
        <p:spPr>
          <a:xfrm>
            <a:off x="914400" y="3410712"/>
            <a:ext cx="7726680" cy="429768"/>
          </a:xfrm>
          <a:prstGeom prst="rect">
            <a:avLst/>
          </a:prstGeom>
          <a:noFill/>
          <a:ln/>
        </p:spPr>
        <p:txBody>
          <a:bodyPr wrap="square" rtlCol="0" anchor="ctr"/>
          <a:lstStyle/>
          <a:p>
            <a:pPr marL="0" indent="0">
              <a:buNone/>
            </a:pPr>
            <a:r>
              <a:rPr lang="en-US" sz="1300" dirty="0">
                <a:solidFill>
                  <a:srgbClr val="FFFFFF"/>
                </a:solidFill>
              </a:rPr>
              <a:t>5</a:t>
            </a:r>
            <a:endParaRPr lang="en-US" sz="1300" dirty="0"/>
          </a:p>
        </p:txBody>
      </p:sp>
      <p:sp>
        <p:nvSpPr>
          <p:cNvPr id="22" name="Shape 20"/>
          <p:cNvSpPr/>
          <p:nvPr/>
        </p:nvSpPr>
        <p:spPr>
          <a:xfrm>
            <a:off x="320040" y="3931920"/>
            <a:ext cx="8503920" cy="484632"/>
          </a:xfrm>
          <a:prstGeom prst="rect">
            <a:avLst/>
          </a:prstGeom>
          <a:solidFill>
            <a:srgbClr val="FFFFFF">
              <a:alpha val="20000"/>
            </a:srgbClr>
          </a:solidFill>
          <a:ln w="6350">
            <a:solidFill>
              <a:srgbClr val="FFFFFF">
                <a:alpha val="35000"/>
              </a:srgbClr>
            </a:solidFill>
            <a:prstDash val="solid"/>
          </a:ln>
        </p:spPr>
      </p:sp>
      <p:sp>
        <p:nvSpPr>
          <p:cNvPr id="23" name="Shape 21"/>
          <p:cNvSpPr/>
          <p:nvPr/>
        </p:nvSpPr>
        <p:spPr>
          <a:xfrm>
            <a:off x="320040" y="3931920"/>
            <a:ext cx="475488" cy="484632"/>
          </a:xfrm>
          <a:prstGeom prst="rect">
            <a:avLst/>
          </a:prstGeom>
          <a:solidFill>
            <a:srgbClr val="F48024"/>
          </a:solidFill>
          <a:ln w="12700">
            <a:solidFill>
              <a:srgbClr val="F48024"/>
            </a:solidFill>
            <a:prstDash val="solid"/>
          </a:ln>
        </p:spPr>
      </p:sp>
      <p:sp>
        <p:nvSpPr>
          <p:cNvPr id="24" name="Text 22"/>
          <p:cNvSpPr/>
          <p:nvPr/>
        </p:nvSpPr>
        <p:spPr>
          <a:xfrm>
            <a:off x="320040" y="393192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E</a:t>
            </a:r>
            <a:endParaRPr lang="en-US" sz="1400" dirty="0"/>
          </a:p>
        </p:txBody>
      </p:sp>
      <p:sp>
        <p:nvSpPr>
          <p:cNvPr id="25" name="Text 23"/>
          <p:cNvSpPr/>
          <p:nvPr/>
        </p:nvSpPr>
        <p:spPr>
          <a:xfrm>
            <a:off x="914400" y="3959352"/>
            <a:ext cx="7726680" cy="429768"/>
          </a:xfrm>
          <a:prstGeom prst="rect">
            <a:avLst/>
          </a:prstGeom>
          <a:noFill/>
          <a:ln/>
        </p:spPr>
        <p:txBody>
          <a:bodyPr wrap="square" rtlCol="0" anchor="ctr"/>
          <a:lstStyle/>
          <a:p>
            <a:pPr marL="0" indent="0">
              <a:buNone/>
            </a:pPr>
            <a:r>
              <a:rPr lang="en-US" sz="1300" dirty="0">
                <a:solidFill>
                  <a:srgbClr val="FFFFFF"/>
                </a:solidFill>
              </a:rPr>
              <a:t>6</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30/100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Combien de modèles majeurs de l'autodétermination sont identifiés dans la note de cadrage HAS 2025 ?</a:t>
            </a:r>
            <a:endParaRPr lang="en-US" sz="1500" dirty="0"/>
          </a:p>
        </p:txBody>
      </p:sp>
      <p:sp>
        <p:nvSpPr>
          <p:cNvPr id="5" name="Shape 3"/>
          <p:cNvSpPr/>
          <p:nvPr/>
        </p:nvSpPr>
        <p:spPr>
          <a:xfrm>
            <a:off x="320040" y="1417320"/>
            <a:ext cx="8503920" cy="402336"/>
          </a:xfrm>
          <a:prstGeom prst="rect">
            <a:avLst/>
          </a:prstGeom>
          <a:solidFill>
            <a:srgbClr val="E8EAF2"/>
          </a:solidFill>
          <a:ln w="19050">
            <a:solidFill>
              <a:srgbClr val="C0C8D8"/>
            </a:solidFill>
            <a:prstDash val="solid"/>
          </a:ln>
        </p:spPr>
      </p:sp>
      <p:sp>
        <p:nvSpPr>
          <p:cNvPr id="6" name="Shape 4"/>
          <p:cNvSpPr/>
          <p:nvPr/>
        </p:nvSpPr>
        <p:spPr>
          <a:xfrm>
            <a:off x="320040" y="1417320"/>
            <a:ext cx="475488" cy="402336"/>
          </a:xfrm>
          <a:prstGeom prst="rect">
            <a:avLst/>
          </a:prstGeom>
          <a:solidFill>
            <a:srgbClr val="A0AABC"/>
          </a:solidFill>
          <a:ln w="12700">
            <a:solidFill>
              <a:srgbClr val="A0AABC"/>
            </a:solidFill>
            <a:prstDash val="solid"/>
          </a:ln>
        </p:spPr>
      </p:sp>
      <p:sp>
        <p:nvSpPr>
          <p:cNvPr id="7" name="Text 5"/>
          <p:cNvSpPr/>
          <p:nvPr/>
        </p:nvSpPr>
        <p:spPr>
          <a:xfrm>
            <a:off x="320040" y="14173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35608"/>
            <a:ext cx="7726680" cy="365760"/>
          </a:xfrm>
          <a:prstGeom prst="rect">
            <a:avLst/>
          </a:prstGeom>
          <a:noFill/>
          <a:ln/>
        </p:spPr>
        <p:txBody>
          <a:bodyPr wrap="square" rtlCol="0" anchor="ctr"/>
          <a:lstStyle/>
          <a:p>
            <a:pPr marL="0" indent="0">
              <a:buNone/>
            </a:pPr>
            <a:r>
              <a:rPr lang="en-US" sz="1200" dirty="0">
                <a:solidFill>
                  <a:srgbClr val="8A96AD"/>
                </a:solidFill>
              </a:rPr>
              <a:t>2</a:t>
            </a:r>
            <a:endParaRPr lang="en-US" sz="1200" dirty="0"/>
          </a:p>
        </p:txBody>
      </p:sp>
      <p:sp>
        <p:nvSpPr>
          <p:cNvPr id="9" name="Shape 7"/>
          <p:cNvSpPr/>
          <p:nvPr/>
        </p:nvSpPr>
        <p:spPr>
          <a:xfrm>
            <a:off x="320040" y="1874520"/>
            <a:ext cx="8503920" cy="402336"/>
          </a:xfrm>
          <a:prstGeom prst="rect">
            <a:avLst/>
          </a:prstGeom>
          <a:solidFill>
            <a:srgbClr val="E8EAF2"/>
          </a:solidFill>
          <a:ln w="19050">
            <a:solidFill>
              <a:srgbClr val="C0C8D8"/>
            </a:solidFill>
            <a:prstDash val="solid"/>
          </a:ln>
        </p:spPr>
      </p:sp>
      <p:sp>
        <p:nvSpPr>
          <p:cNvPr id="10" name="Shape 8"/>
          <p:cNvSpPr/>
          <p:nvPr/>
        </p:nvSpPr>
        <p:spPr>
          <a:xfrm>
            <a:off x="320040" y="1874520"/>
            <a:ext cx="475488" cy="402336"/>
          </a:xfrm>
          <a:prstGeom prst="rect">
            <a:avLst/>
          </a:prstGeom>
          <a:solidFill>
            <a:srgbClr val="A0AABC"/>
          </a:solidFill>
          <a:ln w="12700">
            <a:solidFill>
              <a:srgbClr val="A0AABC"/>
            </a:solidFill>
            <a:prstDash val="solid"/>
          </a:ln>
        </p:spPr>
      </p:sp>
      <p:sp>
        <p:nvSpPr>
          <p:cNvPr id="11" name="Text 9"/>
          <p:cNvSpPr/>
          <p:nvPr/>
        </p:nvSpPr>
        <p:spPr>
          <a:xfrm>
            <a:off x="320040" y="18745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1892808"/>
            <a:ext cx="7726680" cy="365760"/>
          </a:xfrm>
          <a:prstGeom prst="rect">
            <a:avLst/>
          </a:prstGeom>
          <a:noFill/>
          <a:ln/>
        </p:spPr>
        <p:txBody>
          <a:bodyPr wrap="square" rtlCol="0" anchor="ctr"/>
          <a:lstStyle/>
          <a:p>
            <a:pPr marL="0" indent="0">
              <a:buNone/>
            </a:pPr>
            <a:r>
              <a:rPr lang="en-US" sz="1200" dirty="0">
                <a:solidFill>
                  <a:srgbClr val="8A96AD"/>
                </a:solidFill>
              </a:rPr>
              <a:t>3</a:t>
            </a:r>
            <a:endParaRPr lang="en-US" sz="1200" dirty="0"/>
          </a:p>
        </p:txBody>
      </p:sp>
      <p:sp>
        <p:nvSpPr>
          <p:cNvPr id="13" name="Shape 11"/>
          <p:cNvSpPr/>
          <p:nvPr/>
        </p:nvSpPr>
        <p:spPr>
          <a:xfrm>
            <a:off x="320040" y="2331720"/>
            <a:ext cx="8503920" cy="402336"/>
          </a:xfrm>
          <a:prstGeom prst="rect">
            <a:avLst/>
          </a:prstGeom>
          <a:solidFill>
            <a:srgbClr val="E8F5ED"/>
          </a:solidFill>
          <a:ln w="19050">
            <a:solidFill>
              <a:srgbClr val="1A6B3C"/>
            </a:solidFill>
            <a:prstDash val="solid"/>
          </a:ln>
        </p:spPr>
      </p:sp>
      <p:sp>
        <p:nvSpPr>
          <p:cNvPr id="14" name="Shape 12"/>
          <p:cNvSpPr/>
          <p:nvPr/>
        </p:nvSpPr>
        <p:spPr>
          <a:xfrm>
            <a:off x="320040" y="2331720"/>
            <a:ext cx="475488" cy="402336"/>
          </a:xfrm>
          <a:prstGeom prst="rect">
            <a:avLst/>
          </a:prstGeom>
          <a:solidFill>
            <a:srgbClr val="1A6B3C"/>
          </a:solidFill>
          <a:ln w="12700">
            <a:solidFill>
              <a:srgbClr val="1A6B3C"/>
            </a:solidFill>
            <a:prstDash val="solid"/>
          </a:ln>
        </p:spPr>
      </p:sp>
      <p:sp>
        <p:nvSpPr>
          <p:cNvPr id="15" name="Text 13"/>
          <p:cNvSpPr/>
          <p:nvPr/>
        </p:nvSpPr>
        <p:spPr>
          <a:xfrm>
            <a:off x="320040" y="23317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350008"/>
            <a:ext cx="7726680" cy="365760"/>
          </a:xfrm>
          <a:prstGeom prst="rect">
            <a:avLst/>
          </a:prstGeom>
          <a:noFill/>
          <a:ln/>
        </p:spPr>
        <p:txBody>
          <a:bodyPr wrap="square" rtlCol="0" anchor="ctr"/>
          <a:lstStyle/>
          <a:p>
            <a:pPr marL="0" indent="0">
              <a:buNone/>
            </a:pPr>
            <a:r>
              <a:rPr lang="en-US" sz="1200" b="1" dirty="0">
                <a:solidFill>
                  <a:srgbClr val="1A6B3C"/>
                </a:solidFill>
              </a:rPr>
              <a:t>4</a:t>
            </a:r>
            <a:endParaRPr lang="en-US" sz="1200" dirty="0"/>
          </a:p>
        </p:txBody>
      </p:sp>
      <p:sp>
        <p:nvSpPr>
          <p:cNvPr id="17" name="Shape 15"/>
          <p:cNvSpPr/>
          <p:nvPr/>
        </p:nvSpPr>
        <p:spPr>
          <a:xfrm>
            <a:off x="320040" y="2788920"/>
            <a:ext cx="8503920" cy="402336"/>
          </a:xfrm>
          <a:prstGeom prst="rect">
            <a:avLst/>
          </a:prstGeom>
          <a:solidFill>
            <a:srgbClr val="E8EAF2"/>
          </a:solidFill>
          <a:ln w="19050">
            <a:solidFill>
              <a:srgbClr val="C0C8D8"/>
            </a:solidFill>
            <a:prstDash val="solid"/>
          </a:ln>
        </p:spPr>
      </p:sp>
      <p:sp>
        <p:nvSpPr>
          <p:cNvPr id="18" name="Shape 16"/>
          <p:cNvSpPr/>
          <p:nvPr/>
        </p:nvSpPr>
        <p:spPr>
          <a:xfrm>
            <a:off x="320040" y="2788920"/>
            <a:ext cx="475488" cy="402336"/>
          </a:xfrm>
          <a:prstGeom prst="rect">
            <a:avLst/>
          </a:prstGeom>
          <a:solidFill>
            <a:srgbClr val="A0AABC"/>
          </a:solidFill>
          <a:ln w="12700">
            <a:solidFill>
              <a:srgbClr val="A0AABC"/>
            </a:solidFill>
            <a:prstDash val="solid"/>
          </a:ln>
        </p:spPr>
      </p:sp>
      <p:sp>
        <p:nvSpPr>
          <p:cNvPr id="19" name="Text 17"/>
          <p:cNvSpPr/>
          <p:nvPr/>
        </p:nvSpPr>
        <p:spPr>
          <a:xfrm>
            <a:off x="320040" y="27889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D</a:t>
            </a:r>
            <a:endParaRPr lang="en-US" sz="1300" dirty="0"/>
          </a:p>
        </p:txBody>
      </p:sp>
      <p:sp>
        <p:nvSpPr>
          <p:cNvPr id="20" name="Text 18"/>
          <p:cNvSpPr/>
          <p:nvPr/>
        </p:nvSpPr>
        <p:spPr>
          <a:xfrm>
            <a:off x="914400" y="2807208"/>
            <a:ext cx="7726680" cy="365760"/>
          </a:xfrm>
          <a:prstGeom prst="rect">
            <a:avLst/>
          </a:prstGeom>
          <a:noFill/>
          <a:ln/>
        </p:spPr>
        <p:txBody>
          <a:bodyPr wrap="square" rtlCol="0" anchor="ctr"/>
          <a:lstStyle/>
          <a:p>
            <a:pPr marL="0" indent="0">
              <a:buNone/>
            </a:pPr>
            <a:r>
              <a:rPr lang="en-US" sz="1200" dirty="0">
                <a:solidFill>
                  <a:srgbClr val="8A96AD"/>
                </a:solidFill>
              </a:rPr>
              <a:t>5</a:t>
            </a:r>
            <a:endParaRPr lang="en-US" sz="1200" dirty="0"/>
          </a:p>
        </p:txBody>
      </p:sp>
      <p:sp>
        <p:nvSpPr>
          <p:cNvPr id="21" name="Shape 19"/>
          <p:cNvSpPr/>
          <p:nvPr/>
        </p:nvSpPr>
        <p:spPr>
          <a:xfrm>
            <a:off x="320040" y="3246120"/>
            <a:ext cx="8503920" cy="402336"/>
          </a:xfrm>
          <a:prstGeom prst="rect">
            <a:avLst/>
          </a:prstGeom>
          <a:solidFill>
            <a:srgbClr val="E8EAF2"/>
          </a:solidFill>
          <a:ln w="19050">
            <a:solidFill>
              <a:srgbClr val="C0C8D8"/>
            </a:solidFill>
            <a:prstDash val="solid"/>
          </a:ln>
        </p:spPr>
      </p:sp>
      <p:sp>
        <p:nvSpPr>
          <p:cNvPr id="22" name="Shape 20"/>
          <p:cNvSpPr/>
          <p:nvPr/>
        </p:nvSpPr>
        <p:spPr>
          <a:xfrm>
            <a:off x="320040" y="3246120"/>
            <a:ext cx="475488" cy="402336"/>
          </a:xfrm>
          <a:prstGeom prst="rect">
            <a:avLst/>
          </a:prstGeom>
          <a:solidFill>
            <a:srgbClr val="A0AABC"/>
          </a:solidFill>
          <a:ln w="12700">
            <a:solidFill>
              <a:srgbClr val="A0AABC"/>
            </a:solidFill>
            <a:prstDash val="solid"/>
          </a:ln>
        </p:spPr>
      </p:sp>
      <p:sp>
        <p:nvSpPr>
          <p:cNvPr id="23" name="Text 21"/>
          <p:cNvSpPr/>
          <p:nvPr/>
        </p:nvSpPr>
        <p:spPr>
          <a:xfrm>
            <a:off x="320040" y="32461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24" name="Text 22"/>
          <p:cNvSpPr/>
          <p:nvPr/>
        </p:nvSpPr>
        <p:spPr>
          <a:xfrm>
            <a:off x="914400" y="3264408"/>
            <a:ext cx="7726680" cy="365760"/>
          </a:xfrm>
          <a:prstGeom prst="rect">
            <a:avLst/>
          </a:prstGeom>
          <a:noFill/>
          <a:ln/>
        </p:spPr>
        <p:txBody>
          <a:bodyPr wrap="square" rtlCol="0" anchor="ctr"/>
          <a:lstStyle/>
          <a:p>
            <a:pPr marL="0" indent="0">
              <a:buNone/>
            </a:pPr>
            <a:r>
              <a:rPr lang="en-US" sz="1200" dirty="0">
                <a:solidFill>
                  <a:srgbClr val="8A96AD"/>
                </a:solidFill>
              </a:rPr>
              <a:t>6</a:t>
            </a:r>
            <a:endParaRPr lang="en-US" sz="1200" dirty="0"/>
          </a:p>
        </p:txBody>
      </p:sp>
      <p:sp>
        <p:nvSpPr>
          <p:cNvPr id="25" name="Shape 23"/>
          <p:cNvSpPr/>
          <p:nvPr/>
        </p:nvSpPr>
        <p:spPr>
          <a:xfrm>
            <a:off x="320040" y="3749040"/>
            <a:ext cx="8503920" cy="1257300"/>
          </a:xfrm>
          <a:prstGeom prst="rect">
            <a:avLst/>
          </a:prstGeom>
          <a:solidFill>
            <a:srgbClr val="EEF2FF"/>
          </a:solidFill>
          <a:ln w="12700">
            <a:solidFill>
              <a:srgbClr val="B8C4E0"/>
            </a:solidFill>
            <a:prstDash val="solid"/>
          </a:ln>
        </p:spPr>
      </p:sp>
      <p:sp>
        <p:nvSpPr>
          <p:cNvPr id="26" name="Shape 24"/>
          <p:cNvSpPr/>
          <p:nvPr/>
        </p:nvSpPr>
        <p:spPr>
          <a:xfrm>
            <a:off x="320040" y="3749040"/>
            <a:ext cx="64008" cy="1257300"/>
          </a:xfrm>
          <a:prstGeom prst="rect">
            <a:avLst/>
          </a:prstGeom>
          <a:solidFill>
            <a:srgbClr val="1B3A6B"/>
          </a:solidFill>
          <a:ln w="12700">
            <a:solidFill>
              <a:srgbClr val="1B3A6B"/>
            </a:solidFill>
            <a:prstDash val="solid"/>
          </a:ln>
        </p:spPr>
      </p:sp>
      <p:sp>
        <p:nvSpPr>
          <p:cNvPr id="27" name="Text 25"/>
          <p:cNvSpPr/>
          <p:nvPr/>
        </p:nvSpPr>
        <p:spPr>
          <a:xfrm>
            <a:off x="502920" y="3794760"/>
            <a:ext cx="8183880" cy="1184148"/>
          </a:xfrm>
          <a:prstGeom prst="rect">
            <a:avLst/>
          </a:prstGeom>
          <a:noFill/>
          <a:ln/>
        </p:spPr>
        <p:txBody>
          <a:bodyPr wrap="square" rtlCol="0" anchor="t"/>
          <a:lstStyle/>
          <a:p>
            <a:pPr marL="0" indent="0">
              <a:buNone/>
            </a:pPr>
            <a:r>
              <a:rPr lang="en-US" sz="900" dirty="0">
                <a:solidFill>
                  <a:srgbClr val="1B2A4A"/>
                </a:solidFill>
              </a:rPr>
              <a:t>La note de cadrage HAS 2025 identifie 4 modèles majeurs : (1) la Théorie de l'Autodétermination de Deci et Ryan, (2) le Modèle fonctionnel de Wehmeyer, (3) le Modèle écologique tripartite d'Abery et Stancliffe, et (4) la Théorie de l'agentivité causale de Shogren, Wehmeyer et Palmer.</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Théorie de l'Autodétermination (TAD) a été développée par :</a:t>
            </a:r>
            <a:endParaRPr lang="en-US" sz="2100" dirty="0"/>
          </a:p>
        </p:txBody>
      </p:sp>
      <p:sp>
        <p:nvSpPr>
          <p:cNvPr id="6" name="Shape 4"/>
          <p:cNvSpPr/>
          <p:nvPr/>
        </p:nvSpPr>
        <p:spPr>
          <a:xfrm>
            <a:off x="320040" y="1737360"/>
            <a:ext cx="8503920" cy="484632"/>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737360"/>
            <a:ext cx="475488" cy="484632"/>
          </a:xfrm>
          <a:prstGeom prst="rect">
            <a:avLst/>
          </a:prstGeom>
          <a:solidFill>
            <a:srgbClr val="F48024"/>
          </a:solidFill>
          <a:ln w="12700">
            <a:solidFill>
              <a:srgbClr val="F48024"/>
            </a:solidFill>
            <a:prstDash val="solid"/>
          </a:ln>
        </p:spPr>
      </p:sp>
      <p:sp>
        <p:nvSpPr>
          <p:cNvPr id="8" name="Text 6"/>
          <p:cNvSpPr/>
          <p:nvPr/>
        </p:nvSpPr>
        <p:spPr>
          <a:xfrm>
            <a:off x="320040" y="173736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764792"/>
            <a:ext cx="7726680" cy="429768"/>
          </a:xfrm>
          <a:prstGeom prst="rect">
            <a:avLst/>
          </a:prstGeom>
          <a:noFill/>
          <a:ln/>
        </p:spPr>
        <p:txBody>
          <a:bodyPr wrap="square" rtlCol="0" anchor="ctr"/>
          <a:lstStyle/>
          <a:p>
            <a:pPr marL="0" indent="0">
              <a:buNone/>
            </a:pPr>
            <a:r>
              <a:rPr lang="en-US" sz="1300" dirty="0">
                <a:solidFill>
                  <a:srgbClr val="FFFFFF"/>
                </a:solidFill>
              </a:rPr>
              <a:t>Wehmeyer et Abery</a:t>
            </a:r>
            <a:endParaRPr lang="en-US" sz="1300" dirty="0"/>
          </a:p>
        </p:txBody>
      </p:sp>
      <p:sp>
        <p:nvSpPr>
          <p:cNvPr id="10" name="Shape 8"/>
          <p:cNvSpPr/>
          <p:nvPr/>
        </p:nvSpPr>
        <p:spPr>
          <a:xfrm>
            <a:off x="320040" y="2286000"/>
            <a:ext cx="8503920" cy="484632"/>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286000"/>
            <a:ext cx="475488" cy="484632"/>
          </a:xfrm>
          <a:prstGeom prst="rect">
            <a:avLst/>
          </a:prstGeom>
          <a:solidFill>
            <a:srgbClr val="F48024"/>
          </a:solidFill>
          <a:ln w="12700">
            <a:solidFill>
              <a:srgbClr val="F48024"/>
            </a:solidFill>
            <a:prstDash val="solid"/>
          </a:ln>
        </p:spPr>
      </p:sp>
      <p:sp>
        <p:nvSpPr>
          <p:cNvPr id="12" name="Text 10"/>
          <p:cNvSpPr/>
          <p:nvPr/>
        </p:nvSpPr>
        <p:spPr>
          <a:xfrm>
            <a:off x="320040" y="228600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313432"/>
            <a:ext cx="7726680" cy="429768"/>
          </a:xfrm>
          <a:prstGeom prst="rect">
            <a:avLst/>
          </a:prstGeom>
          <a:noFill/>
          <a:ln/>
        </p:spPr>
        <p:txBody>
          <a:bodyPr wrap="square" rtlCol="0" anchor="ctr"/>
          <a:lstStyle/>
          <a:p>
            <a:pPr marL="0" indent="0">
              <a:buNone/>
            </a:pPr>
            <a:r>
              <a:rPr lang="en-US" sz="1300" dirty="0">
                <a:solidFill>
                  <a:srgbClr val="FFFFFF"/>
                </a:solidFill>
              </a:rPr>
              <a:t>Deci et Ryan</a:t>
            </a:r>
            <a:endParaRPr lang="en-US" sz="1300" dirty="0"/>
          </a:p>
        </p:txBody>
      </p:sp>
      <p:sp>
        <p:nvSpPr>
          <p:cNvPr id="14" name="Shape 12"/>
          <p:cNvSpPr/>
          <p:nvPr/>
        </p:nvSpPr>
        <p:spPr>
          <a:xfrm>
            <a:off x="320040" y="2834640"/>
            <a:ext cx="8503920" cy="484632"/>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2834640"/>
            <a:ext cx="475488" cy="484632"/>
          </a:xfrm>
          <a:prstGeom prst="rect">
            <a:avLst/>
          </a:prstGeom>
          <a:solidFill>
            <a:srgbClr val="F48024"/>
          </a:solidFill>
          <a:ln w="12700">
            <a:solidFill>
              <a:srgbClr val="F48024"/>
            </a:solidFill>
            <a:prstDash val="solid"/>
          </a:ln>
        </p:spPr>
      </p:sp>
      <p:sp>
        <p:nvSpPr>
          <p:cNvPr id="16" name="Text 14"/>
          <p:cNvSpPr/>
          <p:nvPr/>
        </p:nvSpPr>
        <p:spPr>
          <a:xfrm>
            <a:off x="320040" y="283464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2862072"/>
            <a:ext cx="7726680" cy="429768"/>
          </a:xfrm>
          <a:prstGeom prst="rect">
            <a:avLst/>
          </a:prstGeom>
          <a:noFill/>
          <a:ln/>
        </p:spPr>
        <p:txBody>
          <a:bodyPr wrap="square" rtlCol="0" anchor="ctr"/>
          <a:lstStyle/>
          <a:p>
            <a:pPr marL="0" indent="0">
              <a:buNone/>
            </a:pPr>
            <a:r>
              <a:rPr lang="en-US" sz="1300" dirty="0">
                <a:solidFill>
                  <a:srgbClr val="FFFFFF"/>
                </a:solidFill>
              </a:rPr>
              <a:t>Vygotsky</a:t>
            </a:r>
            <a:endParaRPr lang="en-US" sz="1300" dirty="0"/>
          </a:p>
        </p:txBody>
      </p:sp>
      <p:sp>
        <p:nvSpPr>
          <p:cNvPr id="18" name="Shape 16"/>
          <p:cNvSpPr/>
          <p:nvPr/>
        </p:nvSpPr>
        <p:spPr>
          <a:xfrm>
            <a:off x="320040" y="3383280"/>
            <a:ext cx="8503920" cy="484632"/>
          </a:xfrm>
          <a:prstGeom prst="rect">
            <a:avLst/>
          </a:prstGeom>
          <a:solidFill>
            <a:srgbClr val="FFFFFF">
              <a:alpha val="20000"/>
            </a:srgbClr>
          </a:solidFill>
          <a:ln w="6350">
            <a:solidFill>
              <a:srgbClr val="FFFFFF">
                <a:alpha val="35000"/>
              </a:srgbClr>
            </a:solidFill>
            <a:prstDash val="solid"/>
          </a:ln>
        </p:spPr>
      </p:sp>
      <p:sp>
        <p:nvSpPr>
          <p:cNvPr id="19" name="Shape 17"/>
          <p:cNvSpPr/>
          <p:nvPr/>
        </p:nvSpPr>
        <p:spPr>
          <a:xfrm>
            <a:off x="320040" y="3383280"/>
            <a:ext cx="475488" cy="484632"/>
          </a:xfrm>
          <a:prstGeom prst="rect">
            <a:avLst/>
          </a:prstGeom>
          <a:solidFill>
            <a:srgbClr val="F48024"/>
          </a:solidFill>
          <a:ln w="12700">
            <a:solidFill>
              <a:srgbClr val="F48024"/>
            </a:solidFill>
            <a:prstDash val="solid"/>
          </a:ln>
        </p:spPr>
      </p:sp>
      <p:sp>
        <p:nvSpPr>
          <p:cNvPr id="20" name="Text 18"/>
          <p:cNvSpPr/>
          <p:nvPr/>
        </p:nvSpPr>
        <p:spPr>
          <a:xfrm>
            <a:off x="320040" y="338328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D</a:t>
            </a:r>
            <a:endParaRPr lang="en-US" sz="1400" dirty="0"/>
          </a:p>
        </p:txBody>
      </p:sp>
      <p:sp>
        <p:nvSpPr>
          <p:cNvPr id="21" name="Text 19"/>
          <p:cNvSpPr/>
          <p:nvPr/>
        </p:nvSpPr>
        <p:spPr>
          <a:xfrm>
            <a:off x="914400" y="3410712"/>
            <a:ext cx="7726680" cy="429768"/>
          </a:xfrm>
          <a:prstGeom prst="rect">
            <a:avLst/>
          </a:prstGeom>
          <a:noFill/>
          <a:ln/>
        </p:spPr>
        <p:txBody>
          <a:bodyPr wrap="square" rtlCol="0" anchor="ctr"/>
          <a:lstStyle/>
          <a:p>
            <a:pPr marL="0" indent="0">
              <a:buNone/>
            </a:pPr>
            <a:r>
              <a:rPr lang="en-US" sz="1300" dirty="0">
                <a:solidFill>
                  <a:srgbClr val="FFFFFF"/>
                </a:solidFill>
              </a:rPr>
              <a:t>Nirje</a:t>
            </a:r>
            <a:endParaRPr lang="en-US" sz="1300" dirty="0"/>
          </a:p>
        </p:txBody>
      </p:sp>
      <p:sp>
        <p:nvSpPr>
          <p:cNvPr id="22" name="Shape 20"/>
          <p:cNvSpPr/>
          <p:nvPr/>
        </p:nvSpPr>
        <p:spPr>
          <a:xfrm>
            <a:off x="320040" y="3931920"/>
            <a:ext cx="8503920" cy="484632"/>
          </a:xfrm>
          <a:prstGeom prst="rect">
            <a:avLst/>
          </a:prstGeom>
          <a:solidFill>
            <a:srgbClr val="FFFFFF">
              <a:alpha val="20000"/>
            </a:srgbClr>
          </a:solidFill>
          <a:ln w="6350">
            <a:solidFill>
              <a:srgbClr val="FFFFFF">
                <a:alpha val="35000"/>
              </a:srgbClr>
            </a:solidFill>
            <a:prstDash val="solid"/>
          </a:ln>
        </p:spPr>
      </p:sp>
      <p:sp>
        <p:nvSpPr>
          <p:cNvPr id="23" name="Shape 21"/>
          <p:cNvSpPr/>
          <p:nvPr/>
        </p:nvSpPr>
        <p:spPr>
          <a:xfrm>
            <a:off x="320040" y="3931920"/>
            <a:ext cx="475488" cy="484632"/>
          </a:xfrm>
          <a:prstGeom prst="rect">
            <a:avLst/>
          </a:prstGeom>
          <a:solidFill>
            <a:srgbClr val="F48024"/>
          </a:solidFill>
          <a:ln w="12700">
            <a:solidFill>
              <a:srgbClr val="F48024"/>
            </a:solidFill>
            <a:prstDash val="solid"/>
          </a:ln>
        </p:spPr>
      </p:sp>
      <p:sp>
        <p:nvSpPr>
          <p:cNvPr id="24" name="Text 22"/>
          <p:cNvSpPr/>
          <p:nvPr/>
        </p:nvSpPr>
        <p:spPr>
          <a:xfrm>
            <a:off x="320040" y="393192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E</a:t>
            </a:r>
            <a:endParaRPr lang="en-US" sz="1400" dirty="0"/>
          </a:p>
        </p:txBody>
      </p:sp>
      <p:sp>
        <p:nvSpPr>
          <p:cNvPr id="25" name="Text 23"/>
          <p:cNvSpPr/>
          <p:nvPr/>
        </p:nvSpPr>
        <p:spPr>
          <a:xfrm>
            <a:off x="914400" y="3959352"/>
            <a:ext cx="7726680" cy="429768"/>
          </a:xfrm>
          <a:prstGeom prst="rect">
            <a:avLst/>
          </a:prstGeom>
          <a:noFill/>
          <a:ln/>
        </p:spPr>
        <p:txBody>
          <a:bodyPr wrap="square" rtlCol="0" anchor="ctr"/>
          <a:lstStyle/>
          <a:p>
            <a:pPr marL="0" indent="0">
              <a:buNone/>
            </a:pPr>
            <a:r>
              <a:rPr lang="en-US" sz="1300" dirty="0">
                <a:solidFill>
                  <a:srgbClr val="FFFFFF"/>
                </a:solidFill>
              </a:rPr>
              <a:t>Shogren et Palmer</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31/100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Théorie de l'Autodétermination (TAD) a été développée par :</a:t>
            </a:r>
            <a:endParaRPr lang="en-US" sz="1500" dirty="0"/>
          </a:p>
        </p:txBody>
      </p:sp>
      <p:sp>
        <p:nvSpPr>
          <p:cNvPr id="5" name="Shape 3"/>
          <p:cNvSpPr/>
          <p:nvPr/>
        </p:nvSpPr>
        <p:spPr>
          <a:xfrm>
            <a:off x="320040" y="1417320"/>
            <a:ext cx="8503920" cy="402336"/>
          </a:xfrm>
          <a:prstGeom prst="rect">
            <a:avLst/>
          </a:prstGeom>
          <a:solidFill>
            <a:srgbClr val="E8EAF2"/>
          </a:solidFill>
          <a:ln w="19050">
            <a:solidFill>
              <a:srgbClr val="C0C8D8"/>
            </a:solidFill>
            <a:prstDash val="solid"/>
          </a:ln>
        </p:spPr>
      </p:sp>
      <p:sp>
        <p:nvSpPr>
          <p:cNvPr id="6" name="Shape 4"/>
          <p:cNvSpPr/>
          <p:nvPr/>
        </p:nvSpPr>
        <p:spPr>
          <a:xfrm>
            <a:off x="320040" y="1417320"/>
            <a:ext cx="475488" cy="402336"/>
          </a:xfrm>
          <a:prstGeom prst="rect">
            <a:avLst/>
          </a:prstGeom>
          <a:solidFill>
            <a:srgbClr val="A0AABC"/>
          </a:solidFill>
          <a:ln w="12700">
            <a:solidFill>
              <a:srgbClr val="A0AABC"/>
            </a:solidFill>
            <a:prstDash val="solid"/>
          </a:ln>
        </p:spPr>
      </p:sp>
      <p:sp>
        <p:nvSpPr>
          <p:cNvPr id="7" name="Text 5"/>
          <p:cNvSpPr/>
          <p:nvPr/>
        </p:nvSpPr>
        <p:spPr>
          <a:xfrm>
            <a:off x="320040" y="14173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35608"/>
            <a:ext cx="7726680" cy="365760"/>
          </a:xfrm>
          <a:prstGeom prst="rect">
            <a:avLst/>
          </a:prstGeom>
          <a:noFill/>
          <a:ln/>
        </p:spPr>
        <p:txBody>
          <a:bodyPr wrap="square" rtlCol="0" anchor="ctr"/>
          <a:lstStyle/>
          <a:p>
            <a:pPr marL="0" indent="0">
              <a:buNone/>
            </a:pPr>
            <a:r>
              <a:rPr lang="en-US" sz="1200" dirty="0">
                <a:solidFill>
                  <a:srgbClr val="8A96AD"/>
                </a:solidFill>
              </a:rPr>
              <a:t>Wehmeyer et Abery</a:t>
            </a:r>
            <a:endParaRPr lang="en-US" sz="1200" dirty="0"/>
          </a:p>
        </p:txBody>
      </p:sp>
      <p:sp>
        <p:nvSpPr>
          <p:cNvPr id="9" name="Shape 7"/>
          <p:cNvSpPr/>
          <p:nvPr/>
        </p:nvSpPr>
        <p:spPr>
          <a:xfrm>
            <a:off x="320040" y="1874520"/>
            <a:ext cx="8503920" cy="402336"/>
          </a:xfrm>
          <a:prstGeom prst="rect">
            <a:avLst/>
          </a:prstGeom>
          <a:solidFill>
            <a:srgbClr val="E8F5ED"/>
          </a:solidFill>
          <a:ln w="19050">
            <a:solidFill>
              <a:srgbClr val="1A6B3C"/>
            </a:solidFill>
            <a:prstDash val="solid"/>
          </a:ln>
        </p:spPr>
      </p:sp>
      <p:sp>
        <p:nvSpPr>
          <p:cNvPr id="10" name="Shape 8"/>
          <p:cNvSpPr/>
          <p:nvPr/>
        </p:nvSpPr>
        <p:spPr>
          <a:xfrm>
            <a:off x="320040" y="1874520"/>
            <a:ext cx="475488" cy="402336"/>
          </a:xfrm>
          <a:prstGeom prst="rect">
            <a:avLst/>
          </a:prstGeom>
          <a:solidFill>
            <a:srgbClr val="1A6B3C"/>
          </a:solidFill>
          <a:ln w="12700">
            <a:solidFill>
              <a:srgbClr val="1A6B3C"/>
            </a:solidFill>
            <a:prstDash val="solid"/>
          </a:ln>
        </p:spPr>
      </p:sp>
      <p:sp>
        <p:nvSpPr>
          <p:cNvPr id="11" name="Text 9"/>
          <p:cNvSpPr/>
          <p:nvPr/>
        </p:nvSpPr>
        <p:spPr>
          <a:xfrm>
            <a:off x="320040" y="18745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1892808"/>
            <a:ext cx="7726680" cy="365760"/>
          </a:xfrm>
          <a:prstGeom prst="rect">
            <a:avLst/>
          </a:prstGeom>
          <a:noFill/>
          <a:ln/>
        </p:spPr>
        <p:txBody>
          <a:bodyPr wrap="square" rtlCol="0" anchor="ctr"/>
          <a:lstStyle/>
          <a:p>
            <a:pPr marL="0" indent="0">
              <a:buNone/>
            </a:pPr>
            <a:r>
              <a:rPr lang="en-US" sz="1200" b="1" dirty="0">
                <a:solidFill>
                  <a:srgbClr val="1A6B3C"/>
                </a:solidFill>
              </a:rPr>
              <a:t>Deci et Ryan</a:t>
            </a:r>
            <a:endParaRPr lang="en-US" sz="1200" dirty="0"/>
          </a:p>
        </p:txBody>
      </p:sp>
      <p:sp>
        <p:nvSpPr>
          <p:cNvPr id="13" name="Shape 11"/>
          <p:cNvSpPr/>
          <p:nvPr/>
        </p:nvSpPr>
        <p:spPr>
          <a:xfrm>
            <a:off x="320040" y="2331720"/>
            <a:ext cx="8503920" cy="402336"/>
          </a:xfrm>
          <a:prstGeom prst="rect">
            <a:avLst/>
          </a:prstGeom>
          <a:solidFill>
            <a:srgbClr val="E8EAF2"/>
          </a:solidFill>
          <a:ln w="19050">
            <a:solidFill>
              <a:srgbClr val="C0C8D8"/>
            </a:solidFill>
            <a:prstDash val="solid"/>
          </a:ln>
        </p:spPr>
      </p:sp>
      <p:sp>
        <p:nvSpPr>
          <p:cNvPr id="14" name="Shape 12"/>
          <p:cNvSpPr/>
          <p:nvPr/>
        </p:nvSpPr>
        <p:spPr>
          <a:xfrm>
            <a:off x="320040" y="2331720"/>
            <a:ext cx="475488" cy="402336"/>
          </a:xfrm>
          <a:prstGeom prst="rect">
            <a:avLst/>
          </a:prstGeom>
          <a:solidFill>
            <a:srgbClr val="A0AABC"/>
          </a:solidFill>
          <a:ln w="12700">
            <a:solidFill>
              <a:srgbClr val="A0AABC"/>
            </a:solidFill>
            <a:prstDash val="solid"/>
          </a:ln>
        </p:spPr>
      </p:sp>
      <p:sp>
        <p:nvSpPr>
          <p:cNvPr id="15" name="Text 13"/>
          <p:cNvSpPr/>
          <p:nvPr/>
        </p:nvSpPr>
        <p:spPr>
          <a:xfrm>
            <a:off x="320040" y="23317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350008"/>
            <a:ext cx="7726680" cy="365760"/>
          </a:xfrm>
          <a:prstGeom prst="rect">
            <a:avLst/>
          </a:prstGeom>
          <a:noFill/>
          <a:ln/>
        </p:spPr>
        <p:txBody>
          <a:bodyPr wrap="square" rtlCol="0" anchor="ctr"/>
          <a:lstStyle/>
          <a:p>
            <a:pPr marL="0" indent="0">
              <a:buNone/>
            </a:pPr>
            <a:r>
              <a:rPr lang="en-US" sz="1200" dirty="0">
                <a:solidFill>
                  <a:srgbClr val="8A96AD"/>
                </a:solidFill>
              </a:rPr>
              <a:t>Vygotsky</a:t>
            </a:r>
            <a:endParaRPr lang="en-US" sz="1200" dirty="0"/>
          </a:p>
        </p:txBody>
      </p:sp>
      <p:sp>
        <p:nvSpPr>
          <p:cNvPr id="17" name="Shape 15"/>
          <p:cNvSpPr/>
          <p:nvPr/>
        </p:nvSpPr>
        <p:spPr>
          <a:xfrm>
            <a:off x="320040" y="2788920"/>
            <a:ext cx="8503920" cy="402336"/>
          </a:xfrm>
          <a:prstGeom prst="rect">
            <a:avLst/>
          </a:prstGeom>
          <a:solidFill>
            <a:srgbClr val="E8EAF2"/>
          </a:solidFill>
          <a:ln w="19050">
            <a:solidFill>
              <a:srgbClr val="C0C8D8"/>
            </a:solidFill>
            <a:prstDash val="solid"/>
          </a:ln>
        </p:spPr>
      </p:sp>
      <p:sp>
        <p:nvSpPr>
          <p:cNvPr id="18" name="Shape 16"/>
          <p:cNvSpPr/>
          <p:nvPr/>
        </p:nvSpPr>
        <p:spPr>
          <a:xfrm>
            <a:off x="320040" y="2788920"/>
            <a:ext cx="475488" cy="402336"/>
          </a:xfrm>
          <a:prstGeom prst="rect">
            <a:avLst/>
          </a:prstGeom>
          <a:solidFill>
            <a:srgbClr val="A0AABC"/>
          </a:solidFill>
          <a:ln w="12700">
            <a:solidFill>
              <a:srgbClr val="A0AABC"/>
            </a:solidFill>
            <a:prstDash val="solid"/>
          </a:ln>
        </p:spPr>
      </p:sp>
      <p:sp>
        <p:nvSpPr>
          <p:cNvPr id="19" name="Text 17"/>
          <p:cNvSpPr/>
          <p:nvPr/>
        </p:nvSpPr>
        <p:spPr>
          <a:xfrm>
            <a:off x="320040" y="27889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D</a:t>
            </a:r>
            <a:endParaRPr lang="en-US" sz="1300" dirty="0"/>
          </a:p>
        </p:txBody>
      </p:sp>
      <p:sp>
        <p:nvSpPr>
          <p:cNvPr id="20" name="Text 18"/>
          <p:cNvSpPr/>
          <p:nvPr/>
        </p:nvSpPr>
        <p:spPr>
          <a:xfrm>
            <a:off x="914400" y="2807208"/>
            <a:ext cx="7726680" cy="365760"/>
          </a:xfrm>
          <a:prstGeom prst="rect">
            <a:avLst/>
          </a:prstGeom>
          <a:noFill/>
          <a:ln/>
        </p:spPr>
        <p:txBody>
          <a:bodyPr wrap="square" rtlCol="0" anchor="ctr"/>
          <a:lstStyle/>
          <a:p>
            <a:pPr marL="0" indent="0">
              <a:buNone/>
            </a:pPr>
            <a:r>
              <a:rPr lang="en-US" sz="1200" dirty="0">
                <a:solidFill>
                  <a:srgbClr val="8A96AD"/>
                </a:solidFill>
              </a:rPr>
              <a:t>Nirje</a:t>
            </a:r>
            <a:endParaRPr lang="en-US" sz="1200" dirty="0"/>
          </a:p>
        </p:txBody>
      </p:sp>
      <p:sp>
        <p:nvSpPr>
          <p:cNvPr id="21" name="Shape 19"/>
          <p:cNvSpPr/>
          <p:nvPr/>
        </p:nvSpPr>
        <p:spPr>
          <a:xfrm>
            <a:off x="320040" y="3246120"/>
            <a:ext cx="8503920" cy="402336"/>
          </a:xfrm>
          <a:prstGeom prst="rect">
            <a:avLst/>
          </a:prstGeom>
          <a:solidFill>
            <a:srgbClr val="E8EAF2"/>
          </a:solidFill>
          <a:ln w="19050">
            <a:solidFill>
              <a:srgbClr val="C0C8D8"/>
            </a:solidFill>
            <a:prstDash val="solid"/>
          </a:ln>
        </p:spPr>
      </p:sp>
      <p:sp>
        <p:nvSpPr>
          <p:cNvPr id="22" name="Shape 20"/>
          <p:cNvSpPr/>
          <p:nvPr/>
        </p:nvSpPr>
        <p:spPr>
          <a:xfrm>
            <a:off x="320040" y="3246120"/>
            <a:ext cx="475488" cy="402336"/>
          </a:xfrm>
          <a:prstGeom prst="rect">
            <a:avLst/>
          </a:prstGeom>
          <a:solidFill>
            <a:srgbClr val="A0AABC"/>
          </a:solidFill>
          <a:ln w="12700">
            <a:solidFill>
              <a:srgbClr val="A0AABC"/>
            </a:solidFill>
            <a:prstDash val="solid"/>
          </a:ln>
        </p:spPr>
      </p:sp>
      <p:sp>
        <p:nvSpPr>
          <p:cNvPr id="23" name="Text 21"/>
          <p:cNvSpPr/>
          <p:nvPr/>
        </p:nvSpPr>
        <p:spPr>
          <a:xfrm>
            <a:off x="320040" y="32461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24" name="Text 22"/>
          <p:cNvSpPr/>
          <p:nvPr/>
        </p:nvSpPr>
        <p:spPr>
          <a:xfrm>
            <a:off x="914400" y="3264408"/>
            <a:ext cx="7726680" cy="365760"/>
          </a:xfrm>
          <a:prstGeom prst="rect">
            <a:avLst/>
          </a:prstGeom>
          <a:noFill/>
          <a:ln/>
        </p:spPr>
        <p:txBody>
          <a:bodyPr wrap="square" rtlCol="0" anchor="ctr"/>
          <a:lstStyle/>
          <a:p>
            <a:pPr marL="0" indent="0">
              <a:buNone/>
            </a:pPr>
            <a:r>
              <a:rPr lang="en-US" sz="1200" dirty="0">
                <a:solidFill>
                  <a:srgbClr val="8A96AD"/>
                </a:solidFill>
              </a:rPr>
              <a:t>Shogren et Palmer</a:t>
            </a:r>
            <a:endParaRPr lang="en-US" sz="1200" dirty="0"/>
          </a:p>
        </p:txBody>
      </p:sp>
      <p:sp>
        <p:nvSpPr>
          <p:cNvPr id="25" name="Shape 23"/>
          <p:cNvSpPr/>
          <p:nvPr/>
        </p:nvSpPr>
        <p:spPr>
          <a:xfrm>
            <a:off x="320040" y="3749040"/>
            <a:ext cx="8503920" cy="1257300"/>
          </a:xfrm>
          <a:prstGeom prst="rect">
            <a:avLst/>
          </a:prstGeom>
          <a:solidFill>
            <a:srgbClr val="EEF2FF"/>
          </a:solidFill>
          <a:ln w="12700">
            <a:solidFill>
              <a:srgbClr val="B8C4E0"/>
            </a:solidFill>
            <a:prstDash val="solid"/>
          </a:ln>
        </p:spPr>
      </p:sp>
      <p:sp>
        <p:nvSpPr>
          <p:cNvPr id="26" name="Shape 24"/>
          <p:cNvSpPr/>
          <p:nvPr/>
        </p:nvSpPr>
        <p:spPr>
          <a:xfrm>
            <a:off x="320040" y="3749040"/>
            <a:ext cx="64008" cy="1257300"/>
          </a:xfrm>
          <a:prstGeom prst="rect">
            <a:avLst/>
          </a:prstGeom>
          <a:solidFill>
            <a:srgbClr val="1B3A6B"/>
          </a:solidFill>
          <a:ln w="12700">
            <a:solidFill>
              <a:srgbClr val="1B3A6B"/>
            </a:solidFill>
            <a:prstDash val="solid"/>
          </a:ln>
        </p:spPr>
      </p:sp>
      <p:sp>
        <p:nvSpPr>
          <p:cNvPr id="27" name="Text 25"/>
          <p:cNvSpPr/>
          <p:nvPr/>
        </p:nvSpPr>
        <p:spPr>
          <a:xfrm>
            <a:off x="502920" y="3794760"/>
            <a:ext cx="8183880" cy="1184148"/>
          </a:xfrm>
          <a:prstGeom prst="rect">
            <a:avLst/>
          </a:prstGeom>
          <a:noFill/>
          <a:ln/>
        </p:spPr>
        <p:txBody>
          <a:bodyPr wrap="square" rtlCol="0" anchor="t"/>
          <a:lstStyle/>
          <a:p>
            <a:pPr marL="0" indent="0">
              <a:buNone/>
            </a:pPr>
            <a:r>
              <a:rPr lang="en-US" sz="1000" dirty="0">
                <a:solidFill>
                  <a:srgbClr val="1B2A4A"/>
                </a:solidFill>
              </a:rPr>
              <a:t>La Théorie de l'Autodétermination (TAD) a été développée par Deci et Ryan (1980, 1985, 2002). Elle explique qu'un comportement autodéterminé dépend d'une motivation ressentie et correspond au contrôle qu'une personne exerce sur sa vie.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TAD (Deci et Ryan), quels sont les trois besoins fondamentaux dont la satisfaction motive un comportement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sécurité physique, la santé et un logement adapté.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L'autonomie, le besoin d'appartenance sociale et le sentiment de compétence.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liberté, l'égalité et la fraternité.</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32/100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TAD (Deci et Ryan), quels sont les trois besoins fondamentaux dont la satisfaction motive un comportement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sécurité physique, la santé et un logement adapté.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L'autonomie, le besoin d'appartenance sociale et le sentiment de compétence.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liberté, l'égalité et la fraternité.</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Selon la TAD, un comportement est motivé si trois besoins fondamentaux sont satisfaits : (1) l'autonomie (agir selon ses intérêts et valeurs), (2) le besoin d'appartenance sociale (se sentir aimé et accepté), et (3) le sentiment de compétence (se sentir capable dans son environnement).</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 modèle écologique tripartite de l'autodétermination a été développé par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Wehmeyer (1992, 1999)</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Deci et Ryan (1980, 1985)</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Abery et Stancliffe (2003)</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33/100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modèle écologique tripartite de l'autodétermination a été développé par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Wehmeyer (1992, 1999)</a:t>
            </a:r>
            <a:endParaRPr lang="en-US" sz="1200" dirty="0"/>
          </a:p>
        </p:txBody>
      </p:sp>
      <p:sp>
        <p:nvSpPr>
          <p:cNvPr id="9" name="Shape 7"/>
          <p:cNvSpPr/>
          <p:nvPr/>
        </p:nvSpPr>
        <p:spPr>
          <a:xfrm>
            <a:off x="320040" y="2066544"/>
            <a:ext cx="8503920" cy="530352"/>
          </a:xfrm>
          <a:prstGeom prst="rect">
            <a:avLst/>
          </a:prstGeom>
          <a:solidFill>
            <a:srgbClr val="E8EAF2"/>
          </a:solidFill>
          <a:ln w="19050">
            <a:solidFill>
              <a:srgbClr val="C0C8D8"/>
            </a:solidFill>
            <a:prstDash val="solid"/>
          </a:ln>
        </p:spPr>
      </p:sp>
      <p:sp>
        <p:nvSpPr>
          <p:cNvPr id="10" name="Shape 8"/>
          <p:cNvSpPr/>
          <p:nvPr/>
        </p:nvSpPr>
        <p:spPr>
          <a:xfrm>
            <a:off x="320040" y="2066544"/>
            <a:ext cx="475488" cy="530352"/>
          </a:xfrm>
          <a:prstGeom prst="rect">
            <a:avLst/>
          </a:prstGeom>
          <a:solidFill>
            <a:srgbClr val="A0AABC"/>
          </a:solidFill>
          <a:ln w="12700">
            <a:solidFill>
              <a:srgbClr val="A0AAB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dirty="0">
                <a:solidFill>
                  <a:srgbClr val="8A96AD"/>
                </a:solidFill>
              </a:rPr>
              <a:t>Deci et Ryan (1980, 1985)</a:t>
            </a:r>
            <a:endParaRPr lang="en-US" sz="1200" dirty="0"/>
          </a:p>
        </p:txBody>
      </p:sp>
      <p:sp>
        <p:nvSpPr>
          <p:cNvPr id="13" name="Shape 11"/>
          <p:cNvSpPr/>
          <p:nvPr/>
        </p:nvSpPr>
        <p:spPr>
          <a:xfrm>
            <a:off x="320040" y="2670048"/>
            <a:ext cx="8503920" cy="530352"/>
          </a:xfrm>
          <a:prstGeom prst="rect">
            <a:avLst/>
          </a:prstGeom>
          <a:solidFill>
            <a:srgbClr val="E8F5ED"/>
          </a:solidFill>
          <a:ln w="19050">
            <a:solidFill>
              <a:srgbClr val="1A6B3C"/>
            </a:solidFill>
            <a:prstDash val="solid"/>
          </a:ln>
        </p:spPr>
      </p:sp>
      <p:sp>
        <p:nvSpPr>
          <p:cNvPr id="14" name="Shape 12"/>
          <p:cNvSpPr/>
          <p:nvPr/>
        </p:nvSpPr>
        <p:spPr>
          <a:xfrm>
            <a:off x="320040" y="2670048"/>
            <a:ext cx="475488" cy="530352"/>
          </a:xfrm>
          <a:prstGeom prst="rect">
            <a:avLst/>
          </a:prstGeom>
          <a:solidFill>
            <a:srgbClr val="1A6B3C"/>
          </a:solidFill>
          <a:ln w="12700">
            <a:solidFill>
              <a:srgbClr val="1A6B3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b="1" dirty="0">
                <a:solidFill>
                  <a:srgbClr val="1A6B3C"/>
                </a:solidFill>
              </a:rPr>
              <a:t>Abery et Stancliffe (2003)</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Le modèle écologique tripartite (Abery &amp; Stancliffe, 2003) définit l'autodétermination comme un processus complexe permettant d'atteindre un niveau de contrôle sur sa vie dès lors que la personne identifie ce qui est important pour elle.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 théorie de l'agentivité causale (Shogren, Wehmeyer &amp; Palmer, 2017) définit l'autodétermination comme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capacité à vivre de manière indépendante en milieu ordinaire.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Une disposition personnelle manifestée en étant un agent causal dans sa vie : identifier des objectifs librement choisis et les actions nécessaires pour les accomplir.</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 ensemble de comportements standardisés témoignant d'une vie autonome.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34/100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théorie de l'agentivité causale (Shogren, Wehmeyer &amp; Palmer, 2017) définit l'autodétermination comme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capacité à vivre de manière indépendante en milieu ordinaire.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Une disposition personnelle manifestée en étant un agent causal dans sa vie : identifier des objectifs librement choisis et les actions nécessaires pour les accomplir.</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 ensemble de comportements standardisés témoignant d'une vie autonome.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théorie de l'agentivité causale va au-delà du champ du handicap. Les personnes sont autodéterminées quand elles identifient et définissent des objectifs librement choisis ainsi que les actions et croyances nécessaires pour les accomplir, devenant ainsi « agent causal » de leur vie.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 « pouvoir d'agir » est l'adaptation française de quel concept anglophone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Advocacy (plaidoyer)</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Empowerment</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Self-advocacy (auto-représentation)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35/100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 pouvoir d'agir » est l'adaptation française de quel concept anglophone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Advocacy (plaidoyer)</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Empowerment</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Self-advocacy (auto-représentation)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 développement du pouvoir d'agir » est l'adaptation française de la notion d'empowerment, qui est aussi une des composantes de l'autodétermination dans le modèle fonctionnel de Wehmeyer. Il désigne la perception qu'une personne a de son pouvoir sur sa propre vie.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À quels publics s'adressent les futures RBPP sur l'autodétermination et le pouvoir d'agir (note de cadrage HAS 2025)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aux personnes en situation de handicap accompagnées en ESMS.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Uniquement aux personnes âgées hébergées en EHPAD.</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À l'ensemble des publics des ESSMS : personnes âgées, handicap, protection de l'enfance et inclusion sociale.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36/100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À quels publics s'adressent les futures RBPP sur l'autodétermination et le pouvoir d'agir (note de cadrage HAS 2025)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aux personnes en situation de handicap accompagnées en ESMS.</a:t>
            </a:r>
            <a:endParaRPr lang="en-US" sz="1200" dirty="0"/>
          </a:p>
        </p:txBody>
      </p:sp>
      <p:sp>
        <p:nvSpPr>
          <p:cNvPr id="9" name="Shape 7"/>
          <p:cNvSpPr/>
          <p:nvPr/>
        </p:nvSpPr>
        <p:spPr>
          <a:xfrm>
            <a:off x="320040" y="2066544"/>
            <a:ext cx="8503920" cy="530352"/>
          </a:xfrm>
          <a:prstGeom prst="rect">
            <a:avLst/>
          </a:prstGeom>
          <a:solidFill>
            <a:srgbClr val="E8EAF2"/>
          </a:solidFill>
          <a:ln w="19050">
            <a:solidFill>
              <a:srgbClr val="C0C8D8"/>
            </a:solidFill>
            <a:prstDash val="solid"/>
          </a:ln>
        </p:spPr>
      </p:sp>
      <p:sp>
        <p:nvSpPr>
          <p:cNvPr id="10" name="Shape 8"/>
          <p:cNvSpPr/>
          <p:nvPr/>
        </p:nvSpPr>
        <p:spPr>
          <a:xfrm>
            <a:off x="320040" y="2066544"/>
            <a:ext cx="475488" cy="530352"/>
          </a:xfrm>
          <a:prstGeom prst="rect">
            <a:avLst/>
          </a:prstGeom>
          <a:solidFill>
            <a:srgbClr val="A0AABC"/>
          </a:solidFill>
          <a:ln w="12700">
            <a:solidFill>
              <a:srgbClr val="A0AAB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dirty="0">
                <a:solidFill>
                  <a:srgbClr val="8A96AD"/>
                </a:solidFill>
              </a:rPr>
              <a:t>Uniquement aux personnes âgées hébergées en EHPAD.</a:t>
            </a:r>
            <a:endParaRPr lang="en-US" sz="1200" dirty="0"/>
          </a:p>
        </p:txBody>
      </p:sp>
      <p:sp>
        <p:nvSpPr>
          <p:cNvPr id="13" name="Shape 11"/>
          <p:cNvSpPr/>
          <p:nvPr/>
        </p:nvSpPr>
        <p:spPr>
          <a:xfrm>
            <a:off x="320040" y="2670048"/>
            <a:ext cx="8503920" cy="530352"/>
          </a:xfrm>
          <a:prstGeom prst="rect">
            <a:avLst/>
          </a:prstGeom>
          <a:solidFill>
            <a:srgbClr val="E8F5ED"/>
          </a:solidFill>
          <a:ln w="19050">
            <a:solidFill>
              <a:srgbClr val="1A6B3C"/>
            </a:solidFill>
            <a:prstDash val="solid"/>
          </a:ln>
        </p:spPr>
      </p:sp>
      <p:sp>
        <p:nvSpPr>
          <p:cNvPr id="14" name="Shape 12"/>
          <p:cNvSpPr/>
          <p:nvPr/>
        </p:nvSpPr>
        <p:spPr>
          <a:xfrm>
            <a:off x="320040" y="2670048"/>
            <a:ext cx="475488" cy="530352"/>
          </a:xfrm>
          <a:prstGeom prst="rect">
            <a:avLst/>
          </a:prstGeom>
          <a:solidFill>
            <a:srgbClr val="1A6B3C"/>
          </a:solidFill>
          <a:ln w="12700">
            <a:solidFill>
              <a:srgbClr val="1A6B3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b="1" dirty="0">
                <a:solidFill>
                  <a:srgbClr val="1A6B3C"/>
                </a:solidFill>
              </a:rPr>
              <a:t>À l'ensemble des publics des ESSMS : personnes âgées, handicap, protection de l'enfance et inclusion sociale.</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Lors de la phase exploratoire, les experts ont unanimement souligné que la citoyenneté et la participation concernent l'ensemble des publics des ESSMS. Les RBPP 2025 ont donc une visée transversale : personnes âgées, handicap, protection de l'enfance et inclusion sociale.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Quelle convention internationale promeut les droits des personnes handicapées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Convention de Genève relative aux réfugiés.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La Convention internationale des droits des personnes handicapées (CIDPH) de 2006.</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Convention européenne de sauvegarde des droits de l'homme.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37/100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convention internationale promeut les droits des personnes handicapées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Convention de Genève relative aux réfugiés.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La Convention internationale des droits des personnes handicapées (CIDPH) de 2006.</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Convention européenne de sauvegarde des droits de l'homme.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CIDPH de 2006 vise à « promouvoir, protéger et assurer » la dignité, l'égalité devant la loi et les droits fondamentaux des personnes handicapées. Publiée en France par décret du 1er avril 2010, elle rappelle notamment le droit de vote et de participation à la vie politique.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Quelle loi française pose les bases de l'égalité des droits et de la citoyenneté des personnes handicapées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loi du 2 janvier 2002 rénovant l'action sociale et médico-sociale.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La loi du 11 février 2005 pour l'égalité des droits et des chances, la participation et la citoyenneté des personnes handicapées.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loi du 23 mars 2019 de programmation 2018-2022 et de réforme pour la justice.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38/100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loi française pose les bases de l'égalité des droits et de la citoyenneté des personnes handicapées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loi du 2 janvier 2002 rénovant l'action sociale et médico-sociale.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La loi du 11 février 2005 pour l'égalité des droits et des chances, la participation et la citoyenneté des personnes handicapées.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loi du 23 mars 2019 de programmation 2018-2022 et de réforme pour la justice.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loi du 11 février 2005 ouvre la voie d'une société plus inclusive en disposant que toute personne handicapée a droit à la solidarité nationale et au plein exercice de sa citoyenneté. Elle constitue une étape majeure dans la reconnaissance des droits des personnes handicapées.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39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RBPP HAS 2022, ce qui peut être ressenti comme une impossibilité à s'autodéterminer peut être lié à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Une déficience intellectuelle trop sévère rendant toute décision impossible.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Un manque d'information sur le sujet, un manque d'opportunité et de stimulation.</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Une décision médicale ou juridique légitimant la restriction des choix.</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39/100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HAS 2022, ce qui peut être ressenti comme une impossibilité à s'autodéterminer peut être lié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Une déficience intellectuelle trop sévère rendant toute décision impossible.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Un manque d'information sur le sujet, un manque d'opportunité et de stimulation.</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Une décision médicale ou juridique légitimant la restriction des choix.</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souligne que « ce qui peut être ressenti comme une impossibilité à s'autodéterminer peut être lié à un manque d'information sur le sujet, à un manque d'opportunité et de stimulation ». Ce n'est donc souvent pas une incapacité intrinsèque de la personne.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Dans le modèle fonctionnel de Wehmeyer, les occasions offertes par l'environnement correspondent à quel type de facteur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Facteur personnel lié aux capacités de la personne.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Facteur environnemental.</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Facteur institutionnel réglementaire.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Dans le modèle fonctionnel de Wehmeyer, les occasions offertes par l'environnement correspondent à quel type de facteur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Facteur personnel lié aux capacités de la personne.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Facteur environnemental.</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Facteur institutionnel réglementaire.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Dans le modèle fonctionnel de Wehmeyer, les facteurs environnementaux correspondent aux occasions fournies par l'environnement en termes d'expériences de vie. Les facteurs personnels correspondent aux capacités individuelles (apprentissages, croyances, perceptions).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Le soutien offert aux personnes pour développer leur autodétermination peut prendre quelles formes selon Wehmeyer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Exclusivement humain et de façon permanente.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Humain, matériel ou technologique ; de façon permanente ou ponctuelle ; bien dosé (ni trop, ni pas assez).</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matériel et financier.</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soutien offert aux personnes pour développer leur autodétermination peut prendre quelles formes selon Wehmeyer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Exclusivement humain et de façon permanente.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Humain, matériel ou technologique ; de façon permanente ou ponctuelle ; bien dosé (ni trop, ni pas assez).</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matériel et financier.</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Selon Wehmeyer, le soutien peut être humain, matériel ou technologique ; il peut être permanent ou ponctuel. L'essentiel est qu'il soit bien dosé : ni trop (surprotection), ni pas assez (abandon). Le juste dosage est une des clés de l'accompagnement à l'autodétermination.</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Qu'implique concrètement le « faire avec » dans l'accompagnement à l'autodétermination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Cela prend plus de temps mais n'apporte pas de bénéfice mesurable pour la personne.</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La personne est associée aux décisions la concernant, elle agit par la suite et l'accompagnement est progressivement adapté selon ce qu'elle a acquis.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Cela correspond à une supervision distante sans intervention active du professionnel.</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Qu'implique concrètement le « faire avec » dans l'accompagnement à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Cela prend plus de temps mais n'apporte pas de bénéfice mesurable pour la personne.</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La personne est associée aux décisions la concernant, elle agit par la suite et l'accompagnement est progressivement adapté selon ce qu'elle a acquis.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Cela correspond à une supervision distante sans intervention active du professionnel.</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 faire avec » signifie associer la personne aux décisions, lui laisser la place d'agir et adapter progressivement l'accompagnement. Exemple : un éducateur qui cherche seul un cours de natation et y inscrit le jeune fait « pour » lui — l'autodétermination n'est pas travaillée même si la demande est satisfaite.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Les professionnels doivent considérer l'autodétermination comme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Une remise en cause de leurs pratiques professionnelles et de leurs compétences.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Une évolution de leurs pratiques nécessitant acculturation, temps et formation.</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 idéal théorique inaccessible pour les personnes présentant un TDI sévère.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Les professionnels doivent considérer l'autodétermination comme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Une remise en cause de leurs pratiques professionnelles et de leurs compétences.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Une évolution de leurs pratiques nécessitant acculturation, temps et formation.</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 idéal théorique inaccessible pour les personnes présentant un TDI sévère.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HAS 2022 insiste : « L'autodétermination est à considérer par les professionnels comme une évolution de leurs pratiques et non comme une remise en cause. » Elle demande une acculturation, du temps, un soutien et un travail sur l'environnement.</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Dans le contexte de la ZPD, que sont les « émergences »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Des nouvelles activités proposées par l'institution aux personnes accompagnées.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Des compétences pas encore bien établies, pas encore observées dans tous les contextes, à renforcer et soutenir — distinctes des échecs.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Des comportements problématiques identifiés dans le bilan d'évaluation annuel.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Dans le contexte de la ZPD, que sont les « émergences »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Des nouvelles activités proposées par l'institution aux personnes accompagnées.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Des compétences pas encore bien établies, pas encore observées dans tous les contextes, à renforcer et soutenir — distinctes des échecs.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Des comportements problématiques identifiés dans le bilan d'évaluation annuel.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Les émergences correspondent à des compétences en cours d'acquisition : pas encore complètement réalisées ni observées dans tous les contextes. Elles ne doivent pas être considérées comme des échecs mais comme des compétences à renforcer et soutenir tout au long de la vie.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communication alternative et augmentée (CAA) peut-elle soutenir l'autodétermination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Non, elle crée une dépendance technologique qui nuit à l'autonomie.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Oui, elle permet d'adapter la communication et facilite l'expression des préférences et des choix.</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pour les personnes sans trouble moteur associé.</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communication alternative et augmentée (CAA) peut-elle soutenir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Non, elle crée une dépendance technologique qui nuit à l'autonomie.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Oui, elle permet d'adapter la communication et facilite l'expression des préférences et des choix.</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pour les personnes sans trouble moteur associé.</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RBPP HAS 2022 encourage l'utilisation d'outils comme la CAA, les pictos, le FALC, les tablettes, smartphones et contacteurs pour permettre à toute personne quelle que soit son mode de communication de s'exprimer et de s'autodéterminer.</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RBPP HAS 2022, les apprentissages liés à l'autodétermination doivent être envisagés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en institution spécialisée, dans des espaces dédiés.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À tout âge et selon les caractéristiques de l'autodétermination, avec une approche personnalisée.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dès l'enfance, avant 12 ans.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HAS 2022, les apprentissages liés à l'autodétermination doivent être envisagés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en institution spécialisée, dans des espaces dédiés.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À tout âge et selon les caractéristiques de l'autodétermination, avec une approche personnalisée.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dès l'enfance, avant 12 ans.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précise que « les apprentissages sont à envisager et à organiser selon les caractéristiques de l'autodétermination et à tout âge » (annexe 2). Il n'y a pas de limite d'âge pour acquérir une autodétermination, dès lors que les méthodes sont adaptées.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le FALC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Formation À Long Cours pour les professionnels du secteur médico-social.</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Facile À Lire et à Comprendre : format accessible pour faciliter la compréhension.</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Fiche d'Action et de Liaison Clinique entre professionnels.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le FALC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Formation À Long Cours pour les professionnels du secteur médico-social.</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Facile À Lire et à Comprendre : format accessible pour faciliter la compréhension.</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Fiche d'Action et de Liaison Clinique entre professionnels.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FALC signifie « Facile À Lire et à Comprendre ». C'est un format de communication accessible permettant aux personnes ayant des difficultés de lecture ou de compréhension d'accéder à l'information. La RBPP HAS 2022 recommande son utilisation pour favoriser l'inclusion et l'autodétermination.</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L'accompagnement à la gestion du temps vise principalement à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Permettre aux professionnels d'optimiser l'organisation de leurs plannings.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Permettre à la personne de développer son autonomie dans l'organisation de ses activités et de ses déplacements.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Respecter strictement les horaires définis par le règlement de fonctionnement.</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L'accompagnement à la gestion du temps vise principalement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Permettre aux professionnels d'optimiser l'organisation de leurs plannings.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Permettre à la personne de développer son autonomie dans l'organisation de ses activités et de ses déplacements.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Respecter strictement les horaires définis par le règlement de fonctionnement.</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RBPP insiste sur la nécessité de travailler les apprentissages liés à la gestion du temps de manière fonctionnelle (notion de durée, anticipation, organisation) pour permettre à la personne d'évoluer de manière plus autonome dans son quotidien.</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49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citoyenneté repose sur la devise de la République française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Liberté, Solidarité, Fraternité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Liberté, Égalité, Fraternité</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Égalité, Justice, Progrès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49/100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citoyenneté repose sur la devise de la République française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Liberté, Solidarité, Fraternité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Liberté, Égalité, Fraternité</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Égalité, Justice, Progrès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citoyenneté repose sur les trois piliers de la devise républicaine : Liberté, Égalité, Fraternité. La RBPP HAS 2022 définit la citoyenneté comme « la capacité à jouer un rôle dans la société », ce qui suppose des droits mais aussi la reconnaissance des droits des autres.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Peut-on s'autodéterminer sans être capable de verbaliser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Non, la parole est indispensable pour exprimer des choix de manière valide.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Oui, des outils et méthodes de communication adaptés permettent à toute personne de s'exprimer.</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avec la présence permanente d'un professionnel spécialisé.</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Peut-on s'autodéterminer sans être capable de verbaliser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Non, la parole est indispensable pour exprimer des choix de manière valide.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Oui, des outils et méthodes de communication adaptés permettent à toute personne de s'exprimer.</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avec la présence permanente d'un professionnel spécialisé.</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affirme que « toute personne, quelle que soit sa singularité, peut bénéficier d'un apprentissage à l'autodétermination dès lors que les outils et méthodes sont adaptés ». L'absence de langage verbal n'est pas un obstacle à l'autodétermination.</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Les propositions d'accompagnement doivent-elles se limiter aux ressources internes de la structure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Oui, pour garantir la cohérence et la continuité du projet personnalisé.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Non, il faut s'appuyer également sur les possibilités du territoire.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Oui, sauf dérogation exceptionnelle validée par la direction.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Les propositions d'accompagnement doivent-elles se limiter aux ressources internes de la structure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Oui, pour garantir la cohérence et la continuité du projet personnalisé.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Non, il faut s'appuyer également sur les possibilités du territoire.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Oui, sauf dérogation exceptionnelle validée par la direction.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précise que « pour respecter ce que la personne souhaite faire dans sa vie, veiller à ce que les propositions d'accompagnement ne se limitent pas uniquement aux moyens internes dont dispose la structure ». Les ressources du territoire (employeurs, associations, services publics) doivent être mobilisées.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Inscrire l'autodétermination dans le projet de la structure signifie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Mentionner le terme « autodétermination » dans le document de projet d'établissement.</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Inscrire les réflexions et actions en matière d'autodétermination dans le projet de la structure et le plan de formation, les partager et les évaluer régulièrement.</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Former uniquement les cadres et directeurs à la notion d'autodétermination.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Inscrire l'autodétermination dans le projet de la structure signifie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Mentionner le terme « autodétermination » dans le document de projet d'établissement.</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Inscrire les réflexions et actions en matière d'autodétermination dans le projet de la structure et le plan de formation, les partager et les évaluer régulièrement.</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Former uniquement les cadres et directeurs à la notion d'autodétermination.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d'inscrire les réflexions et actions en matière d'autodétermination dans le projet de la structure ET dans le plan de formation, puis de les partager au sein de la structure et de les évaluer régulièrement. C'est un engagement institutionnel global.</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RBPP HAS 2022 recommande que la personne présentant un TDI soit informée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des activités qui la concernent directement dans la structure.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Des échanges professionnels la concernant et y être associée autant que possible.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Des échanges professionnels uniquement en cas de changement de lieu de vie.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RBPP HAS 2022 recommande que la personne présentant un TDI soit informée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des activités qui la concernent directement dans la structure.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Des échanges professionnels la concernant et y être associée autant que possible.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Des échanges professionnels uniquement en cas de changement de lieu de vie.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de « limiter les échanges entre professionnels au strict nécessaire lorsque la personne n'est pas présente » et, si elle ne peut pas participer, de l'informer de la tenue de ces échanges et de leur contenu, puis d'échanger avec elle.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 régulation identifiée » dans le continuum de la motivation de Deci et Ryan signifie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Agir pour obtenir une récompense ou éviter une sanction.</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Agir par utilité ou pour atteindre un but important.</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Agir par culpabilité ou pour répondre à une pression sociale.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 régulation identifiée » dans le continuum de la motivation de Deci et Ryan signifie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Agir pour obtenir une récompense ou éviter une sanction.</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Agir par utilité ou pour atteindre un but important.</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Agir par culpabilité ou pour répondre à une pression sociale.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Dans le continuum de motivation, la régulation identifiée correspond à agir « par utilité, pour atteindre un but ». C'est un niveau intermédiaire entre la régulation introjectée (culpabilité) et la régulation intégrée (valeurs). Elle dépasse le seuil d'autodétermination.</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 décret de 2022 fait évoluer les Conseils de la Vie Sociale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 décret n° 2022-1561 du 13 décembre 2022.</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Le décret n° 2022-688 du 25 avril 2022.</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Le décret n° 2022-300 du 24 mars 2022.</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 décret de 2022 fait évoluer les Conseils de la Vie Sociale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 décret n° 2022-1561 du 13 décembre 2022.</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Le décret n° 2022-688 du 25 avril 2022.</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Le décret n° 2022-300 du 24 mars 2022.</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Le décret n° 2022-688 du 25 avril 2022 fait évoluer les Conseils de la Vie Sociale et les autres formes de participation. Il renforce les droits à la participation des personnes accompagnées au sein des ESSMS.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Historiquement, le concept d'empowerment a d'abord émergé dans quel contexte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Les mouvements pour les droits civiques des afro-américains aux États-Unis.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Les mouvements féministes constitués aux États-Unis dans les années 1970.</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Les mouvements de désinstitutionnalisation en psychiatrie communautaire.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Historiquement, le concept d'empowerment a d'abord émergé dans quel contexte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Les mouvements pour les droits civiques des afro-américains aux États-Unis.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Les mouvements féministes constitués aux États-Unis dans les années 1970.</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Les mouvements de désinstitutionnalisation en psychiatrie communautaire.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Selon la note de cadrage HAS 2025, l'empowerment (pouvoir d'agir) « date des mouvements féministes qui se sont constitués aux États-Unis dans les années 70 ». Son utilisation a ensuite été étendue au domaine de la santé mentale, puis aux secteurs social et médico-social.</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Selon la RBPP HAS 2022, comment doit être actualisé le projet personnalisé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Une fois par an, à date fixe définie par le règlement de fonctionnement.</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Régulièrement, en fonction de l'évolution des souhaits et besoins de la personne et des changements dans son environnement.</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lors de changements institutionnels ou de mutation de personnel.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HAS 2022, comment doit être actualisé le projet personnalisé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Une fois par an, à date fixe définie par le règlement de fonctionnement.</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Régulièrement, en fonction de l'évolution des souhaits et besoins de la personne et des changements dans son environnement.</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lors de changements institutionnels ou de mutation de personnel.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projet personnalisé doit être actualisé « régulièrement en fonction de l'évolution des souhaits et besoins de la personne accompagnée ou des changements dans son environnement ». Son actualisation suit les apprentissages réalisés et les réussites, même partielles.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Dans la théorie de la motivation de Deci et Ryan, la « régulation intégrée » signifie agir :</a:t>
            </a:r>
            <a:endParaRPr lang="en-US" sz="1900" dirty="0"/>
          </a:p>
        </p:txBody>
      </p:sp>
      <p:sp>
        <p:nvSpPr>
          <p:cNvPr id="6" name="Shape 4"/>
          <p:cNvSpPr/>
          <p:nvPr/>
        </p:nvSpPr>
        <p:spPr>
          <a:xfrm>
            <a:off x="320040" y="1737360"/>
            <a:ext cx="8503920" cy="484632"/>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737360"/>
            <a:ext cx="475488" cy="484632"/>
          </a:xfrm>
          <a:prstGeom prst="rect">
            <a:avLst/>
          </a:prstGeom>
          <a:solidFill>
            <a:srgbClr val="F48024"/>
          </a:solidFill>
          <a:ln w="12700">
            <a:solidFill>
              <a:srgbClr val="F48024"/>
            </a:solidFill>
            <a:prstDash val="solid"/>
          </a:ln>
        </p:spPr>
      </p:sp>
      <p:sp>
        <p:nvSpPr>
          <p:cNvPr id="8" name="Text 6"/>
          <p:cNvSpPr/>
          <p:nvPr/>
        </p:nvSpPr>
        <p:spPr>
          <a:xfrm>
            <a:off x="320040" y="173736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764792"/>
            <a:ext cx="7726680" cy="429768"/>
          </a:xfrm>
          <a:prstGeom prst="rect">
            <a:avLst/>
          </a:prstGeom>
          <a:noFill/>
          <a:ln/>
        </p:spPr>
        <p:txBody>
          <a:bodyPr wrap="square" rtlCol="0" anchor="ctr"/>
          <a:lstStyle/>
          <a:p>
            <a:pPr marL="0" indent="0">
              <a:buNone/>
            </a:pPr>
            <a:r>
              <a:rPr lang="en-US" sz="1300" dirty="0">
                <a:solidFill>
                  <a:srgbClr val="FFFFFF"/>
                </a:solidFill>
              </a:rPr>
              <a:t>Par peur d'une sanction ou d'une conséquence négative.</a:t>
            </a:r>
            <a:endParaRPr lang="en-US" sz="1300" dirty="0"/>
          </a:p>
        </p:txBody>
      </p:sp>
      <p:sp>
        <p:nvSpPr>
          <p:cNvPr id="10" name="Shape 8"/>
          <p:cNvSpPr/>
          <p:nvPr/>
        </p:nvSpPr>
        <p:spPr>
          <a:xfrm>
            <a:off x="320040" y="2286000"/>
            <a:ext cx="8503920" cy="484632"/>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286000"/>
            <a:ext cx="475488" cy="484632"/>
          </a:xfrm>
          <a:prstGeom prst="rect">
            <a:avLst/>
          </a:prstGeom>
          <a:solidFill>
            <a:srgbClr val="F48024"/>
          </a:solidFill>
          <a:ln w="12700">
            <a:solidFill>
              <a:srgbClr val="F48024"/>
            </a:solidFill>
            <a:prstDash val="solid"/>
          </a:ln>
        </p:spPr>
      </p:sp>
      <p:sp>
        <p:nvSpPr>
          <p:cNvPr id="12" name="Text 10"/>
          <p:cNvSpPr/>
          <p:nvPr/>
        </p:nvSpPr>
        <p:spPr>
          <a:xfrm>
            <a:off x="320040" y="228600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313432"/>
            <a:ext cx="7726680" cy="429768"/>
          </a:xfrm>
          <a:prstGeom prst="rect">
            <a:avLst/>
          </a:prstGeom>
          <a:noFill/>
          <a:ln/>
        </p:spPr>
        <p:txBody>
          <a:bodyPr wrap="square" rtlCol="0" anchor="ctr"/>
          <a:lstStyle/>
          <a:p>
            <a:pPr marL="0" indent="0">
              <a:buNone/>
            </a:pPr>
            <a:r>
              <a:rPr lang="en-US" sz="1300" dirty="0">
                <a:solidFill>
                  <a:srgbClr val="FFFFFF"/>
                </a:solidFill>
              </a:rPr>
              <a:t>Par culpabilité pour ne pas décevoir les autres.</a:t>
            </a:r>
            <a:endParaRPr lang="en-US" sz="1300" dirty="0"/>
          </a:p>
        </p:txBody>
      </p:sp>
      <p:sp>
        <p:nvSpPr>
          <p:cNvPr id="14" name="Shape 12"/>
          <p:cNvSpPr/>
          <p:nvPr/>
        </p:nvSpPr>
        <p:spPr>
          <a:xfrm>
            <a:off x="320040" y="2834640"/>
            <a:ext cx="8503920" cy="484632"/>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2834640"/>
            <a:ext cx="475488" cy="484632"/>
          </a:xfrm>
          <a:prstGeom prst="rect">
            <a:avLst/>
          </a:prstGeom>
          <a:solidFill>
            <a:srgbClr val="F48024"/>
          </a:solidFill>
          <a:ln w="12700">
            <a:solidFill>
              <a:srgbClr val="F48024"/>
            </a:solidFill>
            <a:prstDash val="solid"/>
          </a:ln>
        </p:spPr>
      </p:sp>
      <p:sp>
        <p:nvSpPr>
          <p:cNvPr id="16" name="Text 14"/>
          <p:cNvSpPr/>
          <p:nvPr/>
        </p:nvSpPr>
        <p:spPr>
          <a:xfrm>
            <a:off x="320040" y="283464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2862072"/>
            <a:ext cx="7726680" cy="429768"/>
          </a:xfrm>
          <a:prstGeom prst="rect">
            <a:avLst/>
          </a:prstGeom>
          <a:noFill/>
          <a:ln/>
        </p:spPr>
        <p:txBody>
          <a:bodyPr wrap="square" rtlCol="0" anchor="ctr"/>
          <a:lstStyle/>
          <a:p>
            <a:pPr marL="0" indent="0">
              <a:buNone/>
            </a:pPr>
            <a:r>
              <a:rPr lang="en-US" sz="1300" dirty="0">
                <a:solidFill>
                  <a:srgbClr val="FFFFFF"/>
                </a:solidFill>
              </a:rPr>
              <a:t>En adéquation avec ses propres valeurs.</a:t>
            </a:r>
            <a:endParaRPr lang="en-US" sz="1300" dirty="0"/>
          </a:p>
        </p:txBody>
      </p:sp>
      <p:sp>
        <p:nvSpPr>
          <p:cNvPr id="18" name="Shape 16"/>
          <p:cNvSpPr/>
          <p:nvPr/>
        </p:nvSpPr>
        <p:spPr>
          <a:xfrm>
            <a:off x="320040" y="3383280"/>
            <a:ext cx="8503920" cy="484632"/>
          </a:xfrm>
          <a:prstGeom prst="rect">
            <a:avLst/>
          </a:prstGeom>
          <a:solidFill>
            <a:srgbClr val="FFFFFF">
              <a:alpha val="20000"/>
            </a:srgbClr>
          </a:solidFill>
          <a:ln w="6350">
            <a:solidFill>
              <a:srgbClr val="FFFFFF">
                <a:alpha val="35000"/>
              </a:srgbClr>
            </a:solidFill>
            <a:prstDash val="solid"/>
          </a:ln>
        </p:spPr>
      </p:sp>
      <p:sp>
        <p:nvSpPr>
          <p:cNvPr id="19" name="Shape 17"/>
          <p:cNvSpPr/>
          <p:nvPr/>
        </p:nvSpPr>
        <p:spPr>
          <a:xfrm>
            <a:off x="320040" y="3383280"/>
            <a:ext cx="475488" cy="484632"/>
          </a:xfrm>
          <a:prstGeom prst="rect">
            <a:avLst/>
          </a:prstGeom>
          <a:solidFill>
            <a:srgbClr val="F48024"/>
          </a:solidFill>
          <a:ln w="12700">
            <a:solidFill>
              <a:srgbClr val="F48024"/>
            </a:solidFill>
            <a:prstDash val="solid"/>
          </a:ln>
        </p:spPr>
      </p:sp>
      <p:sp>
        <p:nvSpPr>
          <p:cNvPr id="20" name="Text 18"/>
          <p:cNvSpPr/>
          <p:nvPr/>
        </p:nvSpPr>
        <p:spPr>
          <a:xfrm>
            <a:off x="320040" y="338328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D</a:t>
            </a:r>
            <a:endParaRPr lang="en-US" sz="1400" dirty="0"/>
          </a:p>
        </p:txBody>
      </p:sp>
      <p:sp>
        <p:nvSpPr>
          <p:cNvPr id="21" name="Text 19"/>
          <p:cNvSpPr/>
          <p:nvPr/>
        </p:nvSpPr>
        <p:spPr>
          <a:xfrm>
            <a:off x="914400" y="3410712"/>
            <a:ext cx="7726680" cy="429768"/>
          </a:xfrm>
          <a:prstGeom prst="rect">
            <a:avLst/>
          </a:prstGeom>
          <a:noFill/>
          <a:ln/>
        </p:spPr>
        <p:txBody>
          <a:bodyPr wrap="square" rtlCol="0" anchor="ctr"/>
          <a:lstStyle/>
          <a:p>
            <a:pPr marL="0" indent="0">
              <a:buNone/>
            </a:pPr>
            <a:r>
              <a:rPr lang="en-US" sz="1300" dirty="0">
                <a:solidFill>
                  <a:srgbClr val="FFFFFF"/>
                </a:solidFill>
              </a:rPr>
              <a:t>Par plaisir d'apprendre et par envie.</a:t>
            </a:r>
            <a:endParaRPr lang="en-US" sz="1300" dirty="0"/>
          </a:p>
        </p:txBody>
      </p:sp>
      <p:sp>
        <p:nvSpPr>
          <p:cNvPr id="22" name="Shape 20"/>
          <p:cNvSpPr/>
          <p:nvPr/>
        </p:nvSpPr>
        <p:spPr>
          <a:xfrm>
            <a:off x="320040" y="3931920"/>
            <a:ext cx="8503920" cy="484632"/>
          </a:xfrm>
          <a:prstGeom prst="rect">
            <a:avLst/>
          </a:prstGeom>
          <a:solidFill>
            <a:srgbClr val="FFFFFF">
              <a:alpha val="20000"/>
            </a:srgbClr>
          </a:solidFill>
          <a:ln w="6350">
            <a:solidFill>
              <a:srgbClr val="FFFFFF">
                <a:alpha val="35000"/>
              </a:srgbClr>
            </a:solidFill>
            <a:prstDash val="solid"/>
          </a:ln>
        </p:spPr>
      </p:sp>
      <p:sp>
        <p:nvSpPr>
          <p:cNvPr id="23" name="Shape 21"/>
          <p:cNvSpPr/>
          <p:nvPr/>
        </p:nvSpPr>
        <p:spPr>
          <a:xfrm>
            <a:off x="320040" y="3931920"/>
            <a:ext cx="475488" cy="484632"/>
          </a:xfrm>
          <a:prstGeom prst="rect">
            <a:avLst/>
          </a:prstGeom>
          <a:solidFill>
            <a:srgbClr val="F48024"/>
          </a:solidFill>
          <a:ln w="12700">
            <a:solidFill>
              <a:srgbClr val="F48024"/>
            </a:solidFill>
            <a:prstDash val="solid"/>
          </a:ln>
        </p:spPr>
      </p:sp>
      <p:sp>
        <p:nvSpPr>
          <p:cNvPr id="24" name="Text 22"/>
          <p:cNvSpPr/>
          <p:nvPr/>
        </p:nvSpPr>
        <p:spPr>
          <a:xfrm>
            <a:off x="320040" y="3931920"/>
            <a:ext cx="475488" cy="484632"/>
          </a:xfrm>
          <a:prstGeom prst="rect">
            <a:avLst/>
          </a:prstGeom>
          <a:noFill/>
          <a:ln/>
        </p:spPr>
        <p:txBody>
          <a:bodyPr wrap="square" lIns="0" tIns="0" rIns="0" bIns="0" rtlCol="0" anchor="ctr"/>
          <a:lstStyle/>
          <a:p>
            <a:pPr marL="0" indent="0" algn="ctr">
              <a:buNone/>
            </a:pPr>
            <a:r>
              <a:rPr lang="en-US" sz="1400" b="1" dirty="0">
                <a:solidFill>
                  <a:srgbClr val="FFFFFF"/>
                </a:solidFill>
              </a:rPr>
              <a:t>E</a:t>
            </a:r>
            <a:endParaRPr lang="en-US" sz="1400" dirty="0"/>
          </a:p>
        </p:txBody>
      </p:sp>
      <p:sp>
        <p:nvSpPr>
          <p:cNvPr id="25" name="Text 23"/>
          <p:cNvSpPr/>
          <p:nvPr/>
        </p:nvSpPr>
        <p:spPr>
          <a:xfrm>
            <a:off x="914400" y="3959352"/>
            <a:ext cx="7726680" cy="429768"/>
          </a:xfrm>
          <a:prstGeom prst="rect">
            <a:avLst/>
          </a:prstGeom>
          <a:noFill/>
          <a:ln/>
        </p:spPr>
        <p:txBody>
          <a:bodyPr wrap="square" rtlCol="0" anchor="ctr"/>
          <a:lstStyle/>
          <a:p>
            <a:pPr marL="0" indent="0">
              <a:buNone/>
            </a:pPr>
            <a:r>
              <a:rPr lang="en-US" sz="1300" dirty="0">
                <a:solidFill>
                  <a:srgbClr val="FFFFFF"/>
                </a:solidFill>
              </a:rPr>
              <a:t>Pour atteindre un but extérieur à soi.</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58/100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Dans la théorie de la motivation de Deci et Ryan, la « régulation intégrée » signifie agir :</a:t>
            </a:r>
            <a:endParaRPr lang="en-US" sz="1500" dirty="0"/>
          </a:p>
        </p:txBody>
      </p:sp>
      <p:sp>
        <p:nvSpPr>
          <p:cNvPr id="5" name="Shape 3"/>
          <p:cNvSpPr/>
          <p:nvPr/>
        </p:nvSpPr>
        <p:spPr>
          <a:xfrm>
            <a:off x="320040" y="1417320"/>
            <a:ext cx="8503920" cy="402336"/>
          </a:xfrm>
          <a:prstGeom prst="rect">
            <a:avLst/>
          </a:prstGeom>
          <a:solidFill>
            <a:srgbClr val="E8EAF2"/>
          </a:solidFill>
          <a:ln w="19050">
            <a:solidFill>
              <a:srgbClr val="C0C8D8"/>
            </a:solidFill>
            <a:prstDash val="solid"/>
          </a:ln>
        </p:spPr>
      </p:sp>
      <p:sp>
        <p:nvSpPr>
          <p:cNvPr id="6" name="Shape 4"/>
          <p:cNvSpPr/>
          <p:nvPr/>
        </p:nvSpPr>
        <p:spPr>
          <a:xfrm>
            <a:off x="320040" y="1417320"/>
            <a:ext cx="475488" cy="402336"/>
          </a:xfrm>
          <a:prstGeom prst="rect">
            <a:avLst/>
          </a:prstGeom>
          <a:solidFill>
            <a:srgbClr val="A0AABC"/>
          </a:solidFill>
          <a:ln w="12700">
            <a:solidFill>
              <a:srgbClr val="A0AABC"/>
            </a:solidFill>
            <a:prstDash val="solid"/>
          </a:ln>
        </p:spPr>
      </p:sp>
      <p:sp>
        <p:nvSpPr>
          <p:cNvPr id="7" name="Text 5"/>
          <p:cNvSpPr/>
          <p:nvPr/>
        </p:nvSpPr>
        <p:spPr>
          <a:xfrm>
            <a:off x="320040" y="14173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35608"/>
            <a:ext cx="7726680" cy="365760"/>
          </a:xfrm>
          <a:prstGeom prst="rect">
            <a:avLst/>
          </a:prstGeom>
          <a:noFill/>
          <a:ln/>
        </p:spPr>
        <p:txBody>
          <a:bodyPr wrap="square" rtlCol="0" anchor="ctr"/>
          <a:lstStyle/>
          <a:p>
            <a:pPr marL="0" indent="0">
              <a:buNone/>
            </a:pPr>
            <a:r>
              <a:rPr lang="en-US" sz="1200" dirty="0">
                <a:solidFill>
                  <a:srgbClr val="8A96AD"/>
                </a:solidFill>
              </a:rPr>
              <a:t>Par peur d'une sanction ou d'une conséquence négative.</a:t>
            </a:r>
            <a:endParaRPr lang="en-US" sz="1200" dirty="0"/>
          </a:p>
        </p:txBody>
      </p:sp>
      <p:sp>
        <p:nvSpPr>
          <p:cNvPr id="9" name="Shape 7"/>
          <p:cNvSpPr/>
          <p:nvPr/>
        </p:nvSpPr>
        <p:spPr>
          <a:xfrm>
            <a:off x="320040" y="1874520"/>
            <a:ext cx="8503920" cy="402336"/>
          </a:xfrm>
          <a:prstGeom prst="rect">
            <a:avLst/>
          </a:prstGeom>
          <a:solidFill>
            <a:srgbClr val="E8EAF2"/>
          </a:solidFill>
          <a:ln w="19050">
            <a:solidFill>
              <a:srgbClr val="C0C8D8"/>
            </a:solidFill>
            <a:prstDash val="solid"/>
          </a:ln>
        </p:spPr>
      </p:sp>
      <p:sp>
        <p:nvSpPr>
          <p:cNvPr id="10" name="Shape 8"/>
          <p:cNvSpPr/>
          <p:nvPr/>
        </p:nvSpPr>
        <p:spPr>
          <a:xfrm>
            <a:off x="320040" y="1874520"/>
            <a:ext cx="475488" cy="402336"/>
          </a:xfrm>
          <a:prstGeom prst="rect">
            <a:avLst/>
          </a:prstGeom>
          <a:solidFill>
            <a:srgbClr val="A0AABC"/>
          </a:solidFill>
          <a:ln w="12700">
            <a:solidFill>
              <a:srgbClr val="A0AABC"/>
            </a:solidFill>
            <a:prstDash val="solid"/>
          </a:ln>
        </p:spPr>
      </p:sp>
      <p:sp>
        <p:nvSpPr>
          <p:cNvPr id="11" name="Text 9"/>
          <p:cNvSpPr/>
          <p:nvPr/>
        </p:nvSpPr>
        <p:spPr>
          <a:xfrm>
            <a:off x="320040" y="18745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1892808"/>
            <a:ext cx="7726680" cy="365760"/>
          </a:xfrm>
          <a:prstGeom prst="rect">
            <a:avLst/>
          </a:prstGeom>
          <a:noFill/>
          <a:ln/>
        </p:spPr>
        <p:txBody>
          <a:bodyPr wrap="square" rtlCol="0" anchor="ctr"/>
          <a:lstStyle/>
          <a:p>
            <a:pPr marL="0" indent="0">
              <a:buNone/>
            </a:pPr>
            <a:r>
              <a:rPr lang="en-US" sz="1200" dirty="0">
                <a:solidFill>
                  <a:srgbClr val="8A96AD"/>
                </a:solidFill>
              </a:rPr>
              <a:t>Par culpabilité pour ne pas décevoir les autres.</a:t>
            </a:r>
            <a:endParaRPr lang="en-US" sz="1200" dirty="0"/>
          </a:p>
        </p:txBody>
      </p:sp>
      <p:sp>
        <p:nvSpPr>
          <p:cNvPr id="13" name="Shape 11"/>
          <p:cNvSpPr/>
          <p:nvPr/>
        </p:nvSpPr>
        <p:spPr>
          <a:xfrm>
            <a:off x="320040" y="2331720"/>
            <a:ext cx="8503920" cy="402336"/>
          </a:xfrm>
          <a:prstGeom prst="rect">
            <a:avLst/>
          </a:prstGeom>
          <a:solidFill>
            <a:srgbClr val="E8F5ED"/>
          </a:solidFill>
          <a:ln w="19050">
            <a:solidFill>
              <a:srgbClr val="1A6B3C"/>
            </a:solidFill>
            <a:prstDash val="solid"/>
          </a:ln>
        </p:spPr>
      </p:sp>
      <p:sp>
        <p:nvSpPr>
          <p:cNvPr id="14" name="Shape 12"/>
          <p:cNvSpPr/>
          <p:nvPr/>
        </p:nvSpPr>
        <p:spPr>
          <a:xfrm>
            <a:off x="320040" y="2331720"/>
            <a:ext cx="475488" cy="402336"/>
          </a:xfrm>
          <a:prstGeom prst="rect">
            <a:avLst/>
          </a:prstGeom>
          <a:solidFill>
            <a:srgbClr val="1A6B3C"/>
          </a:solidFill>
          <a:ln w="12700">
            <a:solidFill>
              <a:srgbClr val="1A6B3C"/>
            </a:solidFill>
            <a:prstDash val="solid"/>
          </a:ln>
        </p:spPr>
      </p:sp>
      <p:sp>
        <p:nvSpPr>
          <p:cNvPr id="15" name="Text 13"/>
          <p:cNvSpPr/>
          <p:nvPr/>
        </p:nvSpPr>
        <p:spPr>
          <a:xfrm>
            <a:off x="320040" y="23317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350008"/>
            <a:ext cx="7726680" cy="365760"/>
          </a:xfrm>
          <a:prstGeom prst="rect">
            <a:avLst/>
          </a:prstGeom>
          <a:noFill/>
          <a:ln/>
        </p:spPr>
        <p:txBody>
          <a:bodyPr wrap="square" rtlCol="0" anchor="ctr"/>
          <a:lstStyle/>
          <a:p>
            <a:pPr marL="0" indent="0">
              <a:buNone/>
            </a:pPr>
            <a:r>
              <a:rPr lang="en-US" sz="1200" b="1" dirty="0">
                <a:solidFill>
                  <a:srgbClr val="1A6B3C"/>
                </a:solidFill>
              </a:rPr>
              <a:t>En adéquation avec ses propres valeurs.</a:t>
            </a:r>
            <a:endParaRPr lang="en-US" sz="1200" dirty="0"/>
          </a:p>
        </p:txBody>
      </p:sp>
      <p:sp>
        <p:nvSpPr>
          <p:cNvPr id="17" name="Shape 15"/>
          <p:cNvSpPr/>
          <p:nvPr/>
        </p:nvSpPr>
        <p:spPr>
          <a:xfrm>
            <a:off x="320040" y="2788920"/>
            <a:ext cx="8503920" cy="402336"/>
          </a:xfrm>
          <a:prstGeom prst="rect">
            <a:avLst/>
          </a:prstGeom>
          <a:solidFill>
            <a:srgbClr val="E8EAF2"/>
          </a:solidFill>
          <a:ln w="19050">
            <a:solidFill>
              <a:srgbClr val="C0C8D8"/>
            </a:solidFill>
            <a:prstDash val="solid"/>
          </a:ln>
        </p:spPr>
      </p:sp>
      <p:sp>
        <p:nvSpPr>
          <p:cNvPr id="18" name="Shape 16"/>
          <p:cNvSpPr/>
          <p:nvPr/>
        </p:nvSpPr>
        <p:spPr>
          <a:xfrm>
            <a:off x="320040" y="2788920"/>
            <a:ext cx="475488" cy="402336"/>
          </a:xfrm>
          <a:prstGeom prst="rect">
            <a:avLst/>
          </a:prstGeom>
          <a:solidFill>
            <a:srgbClr val="A0AABC"/>
          </a:solidFill>
          <a:ln w="12700">
            <a:solidFill>
              <a:srgbClr val="A0AABC"/>
            </a:solidFill>
            <a:prstDash val="solid"/>
          </a:ln>
        </p:spPr>
      </p:sp>
      <p:sp>
        <p:nvSpPr>
          <p:cNvPr id="19" name="Text 17"/>
          <p:cNvSpPr/>
          <p:nvPr/>
        </p:nvSpPr>
        <p:spPr>
          <a:xfrm>
            <a:off x="320040" y="27889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D</a:t>
            </a:r>
            <a:endParaRPr lang="en-US" sz="1300" dirty="0"/>
          </a:p>
        </p:txBody>
      </p:sp>
      <p:sp>
        <p:nvSpPr>
          <p:cNvPr id="20" name="Text 18"/>
          <p:cNvSpPr/>
          <p:nvPr/>
        </p:nvSpPr>
        <p:spPr>
          <a:xfrm>
            <a:off x="914400" y="2807208"/>
            <a:ext cx="7726680" cy="365760"/>
          </a:xfrm>
          <a:prstGeom prst="rect">
            <a:avLst/>
          </a:prstGeom>
          <a:noFill/>
          <a:ln/>
        </p:spPr>
        <p:txBody>
          <a:bodyPr wrap="square" rtlCol="0" anchor="ctr"/>
          <a:lstStyle/>
          <a:p>
            <a:pPr marL="0" indent="0">
              <a:buNone/>
            </a:pPr>
            <a:r>
              <a:rPr lang="en-US" sz="1200" dirty="0">
                <a:solidFill>
                  <a:srgbClr val="8A96AD"/>
                </a:solidFill>
              </a:rPr>
              <a:t>Par plaisir d'apprendre et par envie.</a:t>
            </a:r>
            <a:endParaRPr lang="en-US" sz="1200" dirty="0"/>
          </a:p>
        </p:txBody>
      </p:sp>
      <p:sp>
        <p:nvSpPr>
          <p:cNvPr id="21" name="Shape 19"/>
          <p:cNvSpPr/>
          <p:nvPr/>
        </p:nvSpPr>
        <p:spPr>
          <a:xfrm>
            <a:off x="320040" y="3246120"/>
            <a:ext cx="8503920" cy="402336"/>
          </a:xfrm>
          <a:prstGeom prst="rect">
            <a:avLst/>
          </a:prstGeom>
          <a:solidFill>
            <a:srgbClr val="E8EAF2"/>
          </a:solidFill>
          <a:ln w="19050">
            <a:solidFill>
              <a:srgbClr val="C0C8D8"/>
            </a:solidFill>
            <a:prstDash val="solid"/>
          </a:ln>
        </p:spPr>
      </p:sp>
      <p:sp>
        <p:nvSpPr>
          <p:cNvPr id="22" name="Shape 20"/>
          <p:cNvSpPr/>
          <p:nvPr/>
        </p:nvSpPr>
        <p:spPr>
          <a:xfrm>
            <a:off x="320040" y="3246120"/>
            <a:ext cx="475488" cy="402336"/>
          </a:xfrm>
          <a:prstGeom prst="rect">
            <a:avLst/>
          </a:prstGeom>
          <a:solidFill>
            <a:srgbClr val="A0AABC"/>
          </a:solidFill>
          <a:ln w="12700">
            <a:solidFill>
              <a:srgbClr val="A0AABC"/>
            </a:solidFill>
            <a:prstDash val="solid"/>
          </a:ln>
        </p:spPr>
      </p:sp>
      <p:sp>
        <p:nvSpPr>
          <p:cNvPr id="23" name="Text 21"/>
          <p:cNvSpPr/>
          <p:nvPr/>
        </p:nvSpPr>
        <p:spPr>
          <a:xfrm>
            <a:off x="320040" y="3246120"/>
            <a:ext cx="475488" cy="40233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24" name="Text 22"/>
          <p:cNvSpPr/>
          <p:nvPr/>
        </p:nvSpPr>
        <p:spPr>
          <a:xfrm>
            <a:off x="914400" y="3264408"/>
            <a:ext cx="7726680" cy="365760"/>
          </a:xfrm>
          <a:prstGeom prst="rect">
            <a:avLst/>
          </a:prstGeom>
          <a:noFill/>
          <a:ln/>
        </p:spPr>
        <p:txBody>
          <a:bodyPr wrap="square" rtlCol="0" anchor="ctr"/>
          <a:lstStyle/>
          <a:p>
            <a:pPr marL="0" indent="0">
              <a:buNone/>
            </a:pPr>
            <a:r>
              <a:rPr lang="en-US" sz="1200" dirty="0">
                <a:solidFill>
                  <a:srgbClr val="8A96AD"/>
                </a:solidFill>
              </a:rPr>
              <a:t>Pour atteindre un but extérieur à soi.</a:t>
            </a:r>
            <a:endParaRPr lang="en-US" sz="1200" dirty="0"/>
          </a:p>
        </p:txBody>
      </p:sp>
      <p:sp>
        <p:nvSpPr>
          <p:cNvPr id="25" name="Shape 23"/>
          <p:cNvSpPr/>
          <p:nvPr/>
        </p:nvSpPr>
        <p:spPr>
          <a:xfrm>
            <a:off x="320040" y="3749040"/>
            <a:ext cx="8503920" cy="1257300"/>
          </a:xfrm>
          <a:prstGeom prst="rect">
            <a:avLst/>
          </a:prstGeom>
          <a:solidFill>
            <a:srgbClr val="EEF2FF"/>
          </a:solidFill>
          <a:ln w="12700">
            <a:solidFill>
              <a:srgbClr val="B8C4E0"/>
            </a:solidFill>
            <a:prstDash val="solid"/>
          </a:ln>
        </p:spPr>
      </p:sp>
      <p:sp>
        <p:nvSpPr>
          <p:cNvPr id="26" name="Shape 24"/>
          <p:cNvSpPr/>
          <p:nvPr/>
        </p:nvSpPr>
        <p:spPr>
          <a:xfrm>
            <a:off x="320040" y="3749040"/>
            <a:ext cx="64008" cy="1257300"/>
          </a:xfrm>
          <a:prstGeom prst="rect">
            <a:avLst/>
          </a:prstGeom>
          <a:solidFill>
            <a:srgbClr val="1B3A6B"/>
          </a:solidFill>
          <a:ln w="12700">
            <a:solidFill>
              <a:srgbClr val="1B3A6B"/>
            </a:solidFill>
            <a:prstDash val="solid"/>
          </a:ln>
        </p:spPr>
      </p:sp>
      <p:sp>
        <p:nvSpPr>
          <p:cNvPr id="27" name="Text 25"/>
          <p:cNvSpPr/>
          <p:nvPr/>
        </p:nvSpPr>
        <p:spPr>
          <a:xfrm>
            <a:off x="502920" y="3794760"/>
            <a:ext cx="8183880" cy="1184148"/>
          </a:xfrm>
          <a:prstGeom prst="rect">
            <a:avLst/>
          </a:prstGeom>
          <a:noFill/>
          <a:ln/>
        </p:spPr>
        <p:txBody>
          <a:bodyPr wrap="square" rtlCol="0" anchor="t"/>
          <a:lstStyle/>
          <a:p>
            <a:pPr marL="0" indent="0">
              <a:buNone/>
            </a:pPr>
            <a:r>
              <a:rPr lang="en-US" sz="1000" dirty="0">
                <a:solidFill>
                  <a:srgbClr val="1B2A4A"/>
                </a:solidFill>
              </a:rPr>
              <a:t>La régulation intégrée correspond à agir « en adéquation avec ses valeurs ». C'est le niveau juste avant la motivation intrinsèque dans le continuum. La personne s'engage parce que l'action est cohérente avec qui elle est.</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59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 équilibre est-il nécessaire de trouver dans l'accompagnement à l'autodétermination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Entre sécurité de la structure et rentabilité des accompagnements.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Entre soutien (encadrement, accompagnement) et liberté (autonomie).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Entre les attentes des familles et celles de l'institution.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59/100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 équilibre est-il nécessaire de trouver dans l'accompagnement à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Entre sécurité de la structure et rentabilité des accompagnements.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Entre soutien (encadrement, accompagnement) et liberté (autonomie).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Entre les attentes des familles et celles de l'institution.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RBPP HAS 2022 souligne qu'un accompagnement « trop important, soutenu, ou une absence d'accompagnement peuvent réduire les occasions d'autodétermination ». Le juste équilibre entre soutien et liberté est une compétence professionnelle clé.</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 dignité du risque » implique que (Perske, 1972)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Les risques doivent être systématiquement évalués et éliminés pour protéger la personne.</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Empêcher les personnes avec TDI de s'exposer à des risques normaux a un effet délétère sur leur développement et leur dignité.</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La prise de risque est autorisée uniquement pour les personnes sans mesure de protection juridique.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 dignité du risque » implique que (Perske, 1972)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Les risques doivent être systématiquement évalués et éliminés pour protéger la personne.</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Empêcher les personnes avec TDI de s'exposer à des risques normaux a un effet délétère sur leur développement et leur dignité.</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La prise de risque est autorisée uniquement pour les personnes sans mesure de protection juridique.</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Perske (1972) affirme qu'empêcher les personnes avec TDI de s'exposer à des risques normaux nuit à leur développement et à leur dignité, en renforçant la présomption d'incompétence. Tout le monde apprend par essais et erreurs.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Selon la note de cadrage HAS 2025, le pouvoir d'agir d'une personne dépend de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de ses capacités cognitives propres.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Des possibilités de son contexte de vie (lois, aides, situation économique) ET de ses capacités propres (estime de soi, volonté d'agir).</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du cadre réglementaire en vigueur dans les ESSMS.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note de cadrage HAS 2025, le pouvoir d'agir d'une personne dépend de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de ses capacités cognitives propres.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Des possibilités de son contexte de vie (lois, aides, situation économique) ET de ses capacités propres (estime de soi, volonté d'agir).</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du cadre réglementaire en vigueur dans les ESSMS.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Comme pour l'autodétermination, le pouvoir d'agir dépend à la fois du contexte de vie (lois, aides financières, situation économique) et des capacités propres de la personne (estime de soi, volonté d'agir, ressources personnelles). Ces deux dimensions sont indissociables.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Quel article du Code de l'Action Sociale et des Familles (CASF) prévoit l'institution d'un Conseil de la Vie Sociale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Article L. 311-3</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Article L. 311-6</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Article D. 142-1-1</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 article du Code de l'Action Sociale et des Familles (CASF) prévoit l'institution d'un Conseil de la Vie Sociale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Article L. 311-3</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Article L. 311-6</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Article D. 142-1-1</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L'article L. 311-6 du CASF dispose que « afin d'associer les personnes bénéficiaires des prestations au fonctionnement de l'établissement ou du service, il est institué soit un conseil de la vie sociale, soit d'autres formes de participation ». Cet article résulte de la loi du 2 janvier 2002.</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RBPP, que doit contenir la présentation d'une nouvelle activité à la personne avec TDI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les horaires et le lieu de déroulement de l'activité.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L'ensemble des composantes de l'environnement, les spécificités possibles (bruit, odeurs) et le cadre pour que la personne puisse se représenter l'activité et faire des choix.</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Seulement une description générale, sans mentionner les risques pour ne pas décourager.</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que doit contenir la présentation d'une nouvelle activité à la personne avec TDI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les horaires et le lieu de déroulement de l'activité.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L'ensemble des composantes de l'environnement, les spécificités possibles (bruit, odeurs) et le cadre pour que la personne puisse se représenter l'activité et faire des choix.</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Seulement une description générale, sans mentionner les risques pour ne pas décourager.</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de « réaliser une présentation de l'ensemble des composantes de l'environnement, des spécificités possibles et du cadre de l'activité » pour que la personne puisse se représenter l'activité et faire un choix éclairé. Exemple : pour l'escalade, se rendre sur place, présenter le matériel et les personnes.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Quels outils peuvent soutenir la gestion des déplacements selon la RBPP HAS 2022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les transports spécialisés et le transport en commun adapté.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GPS, environnements virtuels, outils numériques, points de repère dans l'environnement.</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l'accompagnement humain permanent d'un professionnel.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Quels outils peuvent soutenir la gestion des déplacements selon la RBPP HAS 2022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les transports spécialisés et le transport en commun adapté.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GPS, environnements virtuels, outils numériques, points de repère dans l'environnement.</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l'accompagnement humain permanent d'un professionnel.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de « s'appuyer sur les nouvelles technologies (GPS, environnements virtuels) pour permettre aux personnes avec TDI de mémoriser des points de repère fixes ». Les nouvelles technologies sont des leviers importants pour développer l'autonomie dans les déplacements.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 Convention internationale des droits des personnes handicapées (CIDPH) a été adoptée en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1971</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1975</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2006</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65/100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Convention internationale des droits des personnes handicapées (CIDPH) a été adoptée en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1971</a:t>
            </a:r>
            <a:endParaRPr lang="en-US" sz="1200" dirty="0"/>
          </a:p>
        </p:txBody>
      </p:sp>
      <p:sp>
        <p:nvSpPr>
          <p:cNvPr id="9" name="Shape 7"/>
          <p:cNvSpPr/>
          <p:nvPr/>
        </p:nvSpPr>
        <p:spPr>
          <a:xfrm>
            <a:off x="320040" y="2066544"/>
            <a:ext cx="8503920" cy="530352"/>
          </a:xfrm>
          <a:prstGeom prst="rect">
            <a:avLst/>
          </a:prstGeom>
          <a:solidFill>
            <a:srgbClr val="E8EAF2"/>
          </a:solidFill>
          <a:ln w="19050">
            <a:solidFill>
              <a:srgbClr val="C0C8D8"/>
            </a:solidFill>
            <a:prstDash val="solid"/>
          </a:ln>
        </p:spPr>
      </p:sp>
      <p:sp>
        <p:nvSpPr>
          <p:cNvPr id="10" name="Shape 8"/>
          <p:cNvSpPr/>
          <p:nvPr/>
        </p:nvSpPr>
        <p:spPr>
          <a:xfrm>
            <a:off x="320040" y="2066544"/>
            <a:ext cx="475488" cy="530352"/>
          </a:xfrm>
          <a:prstGeom prst="rect">
            <a:avLst/>
          </a:prstGeom>
          <a:solidFill>
            <a:srgbClr val="A0AABC"/>
          </a:solidFill>
          <a:ln w="12700">
            <a:solidFill>
              <a:srgbClr val="A0AAB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dirty="0">
                <a:solidFill>
                  <a:srgbClr val="8A96AD"/>
                </a:solidFill>
              </a:rPr>
              <a:t>1975</a:t>
            </a:r>
            <a:endParaRPr lang="en-US" sz="1200" dirty="0"/>
          </a:p>
        </p:txBody>
      </p:sp>
      <p:sp>
        <p:nvSpPr>
          <p:cNvPr id="13" name="Shape 11"/>
          <p:cNvSpPr/>
          <p:nvPr/>
        </p:nvSpPr>
        <p:spPr>
          <a:xfrm>
            <a:off x="320040" y="2670048"/>
            <a:ext cx="8503920" cy="530352"/>
          </a:xfrm>
          <a:prstGeom prst="rect">
            <a:avLst/>
          </a:prstGeom>
          <a:solidFill>
            <a:srgbClr val="E8F5ED"/>
          </a:solidFill>
          <a:ln w="19050">
            <a:solidFill>
              <a:srgbClr val="1A6B3C"/>
            </a:solidFill>
            <a:prstDash val="solid"/>
          </a:ln>
        </p:spPr>
      </p:sp>
      <p:sp>
        <p:nvSpPr>
          <p:cNvPr id="14" name="Shape 12"/>
          <p:cNvSpPr/>
          <p:nvPr/>
        </p:nvSpPr>
        <p:spPr>
          <a:xfrm>
            <a:off x="320040" y="2670048"/>
            <a:ext cx="475488" cy="530352"/>
          </a:xfrm>
          <a:prstGeom prst="rect">
            <a:avLst/>
          </a:prstGeom>
          <a:solidFill>
            <a:srgbClr val="1A6B3C"/>
          </a:solidFill>
          <a:ln w="12700">
            <a:solidFill>
              <a:srgbClr val="1A6B3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b="1" dirty="0">
                <a:solidFill>
                  <a:srgbClr val="1A6B3C"/>
                </a:solidFill>
              </a:rPr>
              <a:t>2006</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CIDPH a été adoptée par l'ONU en 2006 et publiée en France par décret du 1er avril 2010. Elle complète les déclarations ONU de 1971 (droits du déficient mental) et 1975 (droits des personnes handicapées).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Comment les familles doivent-elles être impliquées dans l'accompagnement à l'autodétermination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Elles ne doivent pas être impliquées pour garantir l'indépendance totale de la personne.</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Si la personne le souhaite, la famille peut être associée et doit être soutenue dans cette évolution de l'accompagnement.</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Elles doivent prendre toutes les décisions importantes à la place de la personne.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Comment les familles doivent-elles être impliquées dans l'accompagnement à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Elles ne doivent pas être impliquées pour garantir l'indépendance totale de la personne.</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Si la personne le souhaite, la famille peut être associée et doit être soutenue dans cette évolution de l'accompagnement.</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Elles doivent prendre toutes les décisions importantes à la place de la personne.</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propose d'échanger avec la famille sur le développement de l'autodétermination de son proche, si elle le souhaite. Si la famille n'est pas d'accord, lui proposer des temps d'échange pour expliquer la démarche et tenter de trouver un accord. La famille passe d'un rôle éducatif à un rôle de soutien.</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Les enfants dits « à double vulnérabilité » (note de cadrage HAS 2025) désignent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Les enfants présentant deux pathologies diagnostiquées simultanément.</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Les enfants accompagnés par l'aide sociale à l'enfance (ASE) avec une reconnaissance de situation de handicap.</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Les enfants en protection de l'enfance présentant des difficultés scolaires.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Les enfants dits « à double vulnérabilité » (note de cadrage HAS 2025) désignent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Les enfants présentant deux pathologies diagnostiquées simultanément.</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Les enfants accompagnés par l'aide sociale à l'enfance (ASE) avec une reconnaissance de situation de handicap.</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Les enfants en protection de l'enfance présentant des difficultés scolaires.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note de cadrage HAS 2025 cite les RBPP de 2021 portant sur les enfants et jeunes à « double vulnérabilité » : ceux accompagnés par la protection de l'enfance ET en situation de handicap. Ces profils illustrent l'enjeu de transversalité de l'accompagnement.</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le dispositif EPop mentionné dans la note de cadrage HAS 2025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 programme d'évaluation de la qualité des projets d'établissements.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Une démarche nationale expérimentale (Empowerment and Participation of Persons with Disability) visant à développer le recours aux intervenants pairs.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Un outil de suivi électronique personnalisé des parcours des personnes accompagnées.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le dispositif EPop mentionné dans la note de cadrage HAS 2025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 programme d'évaluation de la qualité des projets d'établissements.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Une démarche nationale expérimentale (Empowerment and Participation of Persons with Disability) visant à développer le recours aux intervenants pairs.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Un outil de suivi électronique personnalisé des parcours des personnes accompagnées.</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EPop (Empowerment and Participation of Persons with Disability) est une démarche nationale expérimentale qui vise à développer le recours aux intervenants pairs dans différents objectifs. Elle illustre les expérimentations récentes en faveur du pouvoir d'agir dans les ESSMS.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69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Comment un établissement peut-il concrètement favoriser l'autodétermination dans son organisation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En maintenant des règles strictes et non négociables, identiques pour tous.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En réfléchissant à la souplesse accordée pour répondre de manière personnalisée aux besoins et préférences (ex: adaptation des heures de repas ou de coucher).</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En limitant le nombre de choix proposés pour éviter les conflits et l'anxiété.</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69/100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Comment un établissement peut-il concrètement favoriser l'autodétermination dans son organisation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En maintenant des règles strictes et non négociables, identiques pour tous.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En réfléchissant à la souplesse accordée pour répondre de manière personnalisée aux besoins et préférences (ex: adaptation des heures de repas ou de coucher).</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En limitant le nombre de choix proposés pour éviter les conflits et l'anxiété.</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de « réfléchir à la souplesse qui peut être accordée pour répondre, au mieux et de manière personnalisée, aux besoins et préférences des personnes (ex : adaptation des heures de repas ou de coucher selon la fatigabilité ou l'anxiété)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 gestion des risques liée à l'autodétermination ne doit pas reposer uniquement sur les professionnels de terrain car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Les professionnels de terrain ne sont pas formés à l'évaluation des risques.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Elle doit être partagée en équipe pluridisciplinaire, impliquant l'ensemble de la chaîne hiérarchique.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responsabilité finale appartient exclusivement à la famille.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gestion des risques liée à l'autodétermination ne doit pas reposer uniquement sur les professionnels de terrain car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Les professionnels de terrain ne sont pas formés à l'évaluation des risques.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Elle doit être partagée en équipe pluridisciplinaire, impliquant l'ensemble de la chaîne hiérarchique.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responsabilité finale appartient exclusivement à la famille.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de « sécuriser les professionnels en menant une réflexion et un travail en équipe pluridisciplinaire, impliquant l'ensemble de la chaîne hiérarchique ». Un témoignage de professionnel illustre ce point : « la gestion des risques ne doit pas être sous la responsabilité unique des professionnels de terrain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Quelle définition du pouvoir d'agir est proposée dans la note de cadrage HAS 2025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capacité individuelle à agir librement sans contrainte extérieure.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Un processus par lequel des personnes accèdent ensemble ou séparément à une plus grande possibilité d'agir sur ce qui est important pour elles-mêmes, leurs proches ou leur collectivité.</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liberté totale de décision sans accompagnement ni cadre institutionnel.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définition du pouvoir d'agir est proposée dans la note de cadrage HAS 2025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capacité individuelle à agir librement sans contrainte extérieure.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Un processus par lequel des personnes accèdent ensemble ou séparément à une plus grande possibilité d'agir sur ce qui est important pour elles-mêmes, leurs proches ou leur collectivité.</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liberté totale de décision sans accompagnement ni cadre institutionnel.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note de cadrage HAS 2025 cite cette définition (Leleu &amp; Defert, 2022) : le pouvoir d'agir est « un processus par lequel des personnes accèdent ensemble ou séparément à une plus grande possibilité d'agir sur ce qui est important pour elles-mêmes, leurs proches ou la collectivité à laquelle elles s'identifient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la « motivation intrinsèque » selon Deci et Ryan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Une motivation basée sur des récompenses ou reconnaissances externes.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Une motivation inhérente à l'activité, liée à l'intérêt, la satisfaction et le plaisir que la personne peut en retirer.</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Une motivation basée principalement sur la peur de la sanction.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la « motivation intrinsèque » selon Deci et Ryan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Une motivation basée sur des récompenses ou reconnaissances externes.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Une motivation inhérente à l'activité, liée à l'intérêt, la satisfaction et le plaisir que la personne peut en retirer.</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Une motivation basée principalement sur la peur de la sanction.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motivation intrinsèque est inhérente à l'activité réalisée : c'est l'intérêt, la satisfaction et le plaisir que la personne retire de l'activité en elle-même. C'est le mode de motivation le plus autodéterminé, mais la motivation peut aussi être une combinaison de motivations intrinsèque et extrinsèque.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Quelle est la différence entre « choisir » et « décider » selon la RBPP HAS 2022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Ces deux termes sont parfaitement synonymes dans le contexte de l'autodétermination.</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Faire un choix suppose évaluer des alternatives possibles ; prendre une décision consiste à trancher dans l'incertitude, engageant davantage l'identité et les valeurs.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La décision est toujours irréversible tandis que le choix peut toujours être révisé.</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est la différence entre « choisir » et « décider » selon la RBPP HAS 2022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Ces deux termes sont parfaitement synonymes dans le contexte de l'autodétermination.</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Faire un choix suppose évaluer des alternatives possibles ; prendre une décision consiste à trancher dans l'incertitude, engageant davantage l'identité et les valeurs.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La décision est toujours irréversible tandis que le choix peut toujours être révisé.</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précise en note de bas de page : « Faire un choix suppose une évaluation ou un calcul des alternatives possibles tandis que prendre une décision consiste à trancher souvent dans un contexte d'incertitude. Une décision engage davantage notre identité, nos valeurs et nos priorités qu'un simple choix.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L'autodétermination est liée positivement, outre la qualité de vie, au développement d'autres capacités. Lesquelles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les habiletés de communication verbale.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Les habiletés sociales, les habiletés de communication, les comportements adaptatifs, le contrôle souhaité et la résolution de problèmes.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la gestion du budget et des déplacements en transports en commun.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L'autodétermination est liée positivement, outre la qualité de vie, au développement d'autres capacités. Lesquelles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les habiletés de communication verbale.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Les habiletés sociales, les habiletés de communication, les comportements adaptatifs, le contrôle souhaité et la résolution de problèmes.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la gestion du budget et des déplacements en transports en commun.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recherche (Lachapelle &amp; Wehmeyer, 2003 ; Wehmeyer, 2003) montre que l'autodétermination est liée positivement au développement des habiletés sociales, des habiletés de communication, des comportements adaptatifs, du niveau de contrôle souhaité et de la résolution de problème.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Les « Communautés 360 » (circulaire du 30 novembre 2021) ont pour principe d'action essentiel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 regroupement géographique des ESSMS par bassin de vie.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L'autodétermination des personnes en situation de handicap comme principe d'action essentiel, en soutenant leur expression et leurs aspirations.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création de réseaux professionnels de formation continue entre ESSMS.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Les « Communautés 360 » (circulaire du 30 novembre 2021) ont pour principe d'action essentiel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 regroupement géographique des ESSMS par bassin de vie.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L'autodétermination des personnes en situation de handicap comme principe d'action essentiel, en soutenant leur expression et leurs aspirations.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création de réseaux professionnels de formation continue entre ESSMS.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circulaire du 30 novembre 2021 précise que « l'autodétermination des personnes en situation de handicap étant le principe d'action essentiel de ces communautés, elles doivent soutenir l'expression et les aspirations des personnes ».</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Selon la RBPP, dans quel cas faut-il reculer la réalisation du projet personnalisé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Lorsque la famille n'est pas disponible pour participer à la réunion.</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Lorsque l'état de santé du moment de la personne l'exige.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Lors des périodes de vacances scolaires ou institutionnelles.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dans quel cas faut-il reculer la réalisation du projet personnalisé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Lorsque la famille n'est pas disponible pour participer à la réunion.</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Lorsque l'état de santé du moment de la personne l'exige.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Lors des périodes de vacances scolaires ou institutionnelles.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RBPP indique de tenir compte de « l'état de santé du moment (si nécessaire, reculer la réalisation du projet personnalisé) ». L'état de santé est l'un des éléments des caractéristiques personnelles à prendre en compte dans l'élaboration du projet.</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 RBPP recommande d'expliquer à la personne l'influence indue pour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Lui apprendre à résister à toute influence extérieure y compris bienveillante.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L'encourager à penser par elle-même, lui permettre d'affirmer ses vrais choix et la sensibiliser à la vigilance envers les influences sur ses décisions.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Lui permettre de signaler formellement les professionnels exerçant une influence.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RBPP recommande d'expliquer à la personne l'influence indue pour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Lui apprendre à résister à toute influence extérieure y compris bienveillante.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L'encourager à penser par elle-même, lui permettre d'affirmer ses vrais choix et la sensibiliser à la vigilance envers les influences sur ses décisions.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Lui permettre de signaler formellement les professionnels exerçant une influence.</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 expliquer à la personne la signification de l'influence indue, faire en sorte de l'encourager à penser par elle-même et lui permettre d'affirmer ce qu'elle souhaite réellement répondre ». Des jeux de rôles peuvent aider à comprendre ce qu'est l'influence indue.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Quel rapport gouvernemental de 2022 traite du pouvoir d'agir du citoyen et des personnes concernées par les services sociaux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Rapport Delfraissy sur l'anticipation des risques sanitaires.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Rapport Piveteau « Experts, acteurs, ensemble... pour une société qui change ».</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Rapport Taquet sur la protection de l'enfance.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 rapport gouvernemental de 2022 traite du pouvoir d'agir du citoyen et des personnes concernées par les services sociaux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Rapport Delfraissy sur l'anticipation des risques sanitaires.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Rapport Piveteau « Experts, acteurs, ensemble... pour une société qui change ».</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Rapport Taquet sur la protection de l'enfance.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rapport Denis Piveteau (2022) « Experts, acteurs, ensemble... pour une société qui change » traite du pouvoir d'agir du citoyen et des personnes concernées par les services sociaux et médico-sociaux. Il propose des pistes pour améliorer les prestations et les relations entre la personne et les professionnels.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79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Les réseaux sociaux présentent quels avantages pour les personnes avec TDI selon la RBPP HAS 2022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Ils ne présentent que des risques sans apport bénéfique documenté.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Ils permettent de créer/développer un réseau social, d'améliorer l'intelligibilité et de réaliser plus d'activités de manière indépendante.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Ils sont uniquement utiles pour les personnes sans trouble de la communication.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79/100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Les réseaux sociaux présentent quels avantages pour les personnes avec TDI selon la RBPP HAS 2022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Ils ne présentent que des risques sans apport bénéfique documenté.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Ils permettent de créer/développer un réseau social, d'améliorer l'intelligibilité et de réaliser plus d'activités de manière indépendante.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Ils sont uniquement utiles pour les personnes sans trouble de la communication.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identifie plusieurs avantages des réseaux sociaux pour les personnes avec TDI : créer/améliorer un réseau social, améliorer l'intelligibilité (logiciel vocal), effectuer plus d'activités de manière indépendante. Des risques existent aussi (addiction, discrimination, abus).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Selon Deci et Ryan, la motivation extrinsèque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Est impossible à développer chez les personnes avec TDI.</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Dépend de facteurs externes et peut servir d'étape vers une motivation intrinsèque.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Empêche tout apprentissage significatif.</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Deci et Ryan, la motivation extrinsèque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Est impossible à développer chez les personnes avec TDI.</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Dépend de facteurs externes et peut servir d'étape vers une motivation intrinsèque.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Empêche tout apprentissage significatif.</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motivation extrinsèque dépend de facteurs externes (accompagnant, récompenses, obligations). L'idéal est la motivation intrinsèque, mais il est possible de passer par des motivations extrinsèques pour progresser vers une motivation plus autodéterminée. La motivation est généralement multidimensionnelle.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 passage à la retraite d'une personne présentant un TDI doit être abordé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De façon administrative, sans impliquer la personne pour éviter l'anxiété.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En permettant à la personne d'être pleinement actrice, en recueillant ses souhaits, ressentis et choix.</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En décidant avec la famille du meilleur moment et du meilleur mode de vie.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passage à la retraite d'une personne présentant un TDI doit être abordé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De façon administrative, sans impliquer la personne pour éviter l'anxiété.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En permettant à la personne d'être pleinement actrice, en recueillant ses souhaits, ressentis et choix.</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En décidant avec la famille du meilleur moment et du meilleur mode de vie.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RBPP recommande de « permettre à la personne présentant un TDI retraitée d'être pleinement actrice de son départ en retraite en recueillant ses souhaits, ressentis et choix ». L'accompagnement à l'autodétermination se poursuit après la retraite.</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700" b="1" dirty="0">
                <a:solidFill>
                  <a:srgbClr val="FFFFFF"/>
                </a:solidFill>
              </a:rPr>
              <a:t>Qui est le demandeur des RBPP sur « L'accompagnement au développement de l'autodétermination et du pouvoir d'agir des personnes en ESSMS » ?</a:t>
            </a:r>
            <a:endParaRPr lang="en-US" sz="17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 Ministère des Solidarités et de la Santé.</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L'auto-saisine de la HAS, conjointement avec Nexem et le GAPAS.</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Caisse Nationale de Solidarité pour l'Autonomie (CNSA).</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300" i="1" dirty="0">
                <a:solidFill>
                  <a:srgbClr val="1B2A4A"/>
                </a:solidFill>
              </a:rPr>
              <a:t>Qui est le demandeur des RBPP sur « L'accompagnement au développement de l'autodétermination et du pouvoir d'agir des personnes en ESSMS » ?</a:t>
            </a:r>
            <a:endParaRPr lang="en-US" sz="13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 Ministère des Solidarités et de la Santé.</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L'auto-saisine de la HAS, conjointement avec Nexem et le GAPAS.</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Caisse Nationale de Solidarité pour l'Autonomie (CNSA).</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HAS a été saisie conjointement par Nexem et le GAPAS, avec une auto-saisine de la HAS en lien avec ses travaux antérieurs sur le TDI. Nexem est l'organisation professionnelle représentant les employeurs du secteur social, médico-social et sanitaire privé non lucratif.</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L'autodétermination suppose que nul ne devrait se prononcer sur les (in)capacités d'une personne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Tant que l'évaluation pluridisciplinaire n'a pas été réalisée.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Tant que cette personne n'a pas essayé, testé, expérimenté dans des conditions environnementales adéquates.</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Tant que la décision de l'équipe médicale n'a pas été rendue.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L'autodétermination suppose que nul ne devrait se prononcer sur les (in)capacités d'une personne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Tant que l'évaluation pluridisciplinaire n'a pas été réalisée.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Tant que cette personne n'a pas essayé, testé, expérimenté dans des conditions environnementales adéquates.</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Tant que la décision de l'équipe médicale n'a pas été rendue.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HAS 2022 conclut : « L'autodétermination doit être considérée comme un principe selon lequel nul ne devrait se prononcer sur les (in)capacités d'une personne tant que celle-ci n'a pas essayé, testé, expérimenté ce qu'elle souhaite dans des conditions environnementales adéquates.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Dans le continuum de la motivation de Deci et Ryan, la « régulation introjectée » signifie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Agir pour obtenir une récompense extérieure.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Agir par culpabilité ou pour ne pas décevoir.</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Agir par utilité, pour atteindre un but.</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Dans le continuum de la motivation de Deci et Ryan, la « régulation introjectée » signifie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Agir pour obtenir une récompense extérieure.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Agir par culpabilité ou pour ne pas décevoir.</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Agir par utilité, pour atteindre un but.</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régulation introjectée correspond à agir « par culpabilité ». La personne s'engage dans les tâches proposées non par plaisir ou conviction, mais pour ne pas se sentir coupable. C'est un niveau de motivation plus autodéterminé que la régulation externe, mais moins que la régulation identifiée.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RBPP HAS 2022, que doivent inclure les formations des professionnels à l'autodétermination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des apports théoriques sur le concept d'autodétermination.</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Les valeurs de l'accompagnement, un travail sur l'environnement, des mises en pratique, un changement de posture et une analyse des pratiques spécifiques.</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des formations juridiques sur les droits des personnes handicapées.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HAS 2022, que doivent inclure les formations des professionnels à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des apports théoriques sur le concept d'autodétermination.</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Les valeurs de l'accompagnement, un travail sur l'environnement, des mises en pratique, un changement de posture et une analyse des pratiques spécifiques.</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des formations juridiques sur les droits des personnes handicapées.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liste les éléments des formations à l'autodétermination : les valeurs que ce type d'accompagnement nécessite, un travail sur l'environnement, des mises en pratique, un changement des postures professionnelles et une analyse des pratiques spécifiques. La formation seule ne suffit pas sans dynamique institutionnelle.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Quelle est la date de validation de la note de cadrage HAS sur l'autodétermination et le pouvoir d'agir en ESSMS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Juillet 2022</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Janvier 2024</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Mars 2025</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C  |  Question 86/100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 est la date de validation de la note de cadrage HAS sur l'autodétermination et le pouvoir d'agir en ESSMS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Juillet 2022</a:t>
            </a:r>
            <a:endParaRPr lang="en-US" sz="1200" dirty="0"/>
          </a:p>
        </p:txBody>
      </p:sp>
      <p:sp>
        <p:nvSpPr>
          <p:cNvPr id="9" name="Shape 7"/>
          <p:cNvSpPr/>
          <p:nvPr/>
        </p:nvSpPr>
        <p:spPr>
          <a:xfrm>
            <a:off x="320040" y="2066544"/>
            <a:ext cx="8503920" cy="530352"/>
          </a:xfrm>
          <a:prstGeom prst="rect">
            <a:avLst/>
          </a:prstGeom>
          <a:solidFill>
            <a:srgbClr val="E8EAF2"/>
          </a:solidFill>
          <a:ln w="19050">
            <a:solidFill>
              <a:srgbClr val="C0C8D8"/>
            </a:solidFill>
            <a:prstDash val="solid"/>
          </a:ln>
        </p:spPr>
      </p:sp>
      <p:sp>
        <p:nvSpPr>
          <p:cNvPr id="10" name="Shape 8"/>
          <p:cNvSpPr/>
          <p:nvPr/>
        </p:nvSpPr>
        <p:spPr>
          <a:xfrm>
            <a:off x="320040" y="2066544"/>
            <a:ext cx="475488" cy="530352"/>
          </a:xfrm>
          <a:prstGeom prst="rect">
            <a:avLst/>
          </a:prstGeom>
          <a:solidFill>
            <a:srgbClr val="A0AABC"/>
          </a:solidFill>
          <a:ln w="12700">
            <a:solidFill>
              <a:srgbClr val="A0AAB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dirty="0">
                <a:solidFill>
                  <a:srgbClr val="8A96AD"/>
                </a:solidFill>
              </a:rPr>
              <a:t>Janvier 2024</a:t>
            </a:r>
            <a:endParaRPr lang="en-US" sz="1200" dirty="0"/>
          </a:p>
        </p:txBody>
      </p:sp>
      <p:sp>
        <p:nvSpPr>
          <p:cNvPr id="13" name="Shape 11"/>
          <p:cNvSpPr/>
          <p:nvPr/>
        </p:nvSpPr>
        <p:spPr>
          <a:xfrm>
            <a:off x="320040" y="2670048"/>
            <a:ext cx="8503920" cy="530352"/>
          </a:xfrm>
          <a:prstGeom prst="rect">
            <a:avLst/>
          </a:prstGeom>
          <a:solidFill>
            <a:srgbClr val="E8F5ED"/>
          </a:solidFill>
          <a:ln w="19050">
            <a:solidFill>
              <a:srgbClr val="1A6B3C"/>
            </a:solidFill>
            <a:prstDash val="solid"/>
          </a:ln>
        </p:spPr>
      </p:sp>
      <p:sp>
        <p:nvSpPr>
          <p:cNvPr id="14" name="Shape 12"/>
          <p:cNvSpPr/>
          <p:nvPr/>
        </p:nvSpPr>
        <p:spPr>
          <a:xfrm>
            <a:off x="320040" y="2670048"/>
            <a:ext cx="475488" cy="530352"/>
          </a:xfrm>
          <a:prstGeom prst="rect">
            <a:avLst/>
          </a:prstGeom>
          <a:solidFill>
            <a:srgbClr val="1A6B3C"/>
          </a:solidFill>
          <a:ln w="12700">
            <a:solidFill>
              <a:srgbClr val="1A6B3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b="1" dirty="0">
                <a:solidFill>
                  <a:srgbClr val="1A6B3C"/>
                </a:solidFill>
              </a:rPr>
              <a:t>Mars 2025</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note de cadrage « L'accompagnement au développement de l'autodétermination et du pouvoir d'agir des personnes en ESSMS » a été validée le 11 mars 2025. Elle fait suite à la RBPP HAS 2022 sur l'accompagnement des personnes présentant un TDI.</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le GAPAS mentionné dans la note de cadrage HAS 2025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 organisme gouvernemental de contrôle et d'évaluation des ESSMS.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Le Groupement des Associations Partenaires d'Action Sociale, une entreprise d'économie sociale et solidaire.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 syndicat représentant les professionnels du secteur médico-social.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le GAPAS mentionné dans la note de cadrage HAS 2025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 organisme gouvernemental de contrôle et d'évaluation des ESSMS.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Le Groupement des Associations Partenaires d'Action Sociale, une entreprise d'économie sociale et solidaire.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 syndicat représentant les professionnels du secteur médico-social.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Le GAPAS (Groupement des Associations Partenaires d'Action Sociale) est une entreprise d'économie sociale et solidaire, association loi 1901 créée en 2007. Il regroupe plusieurs associations œuvrant dans le champ du handicap.</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RBPP HAS 2022, comment les échecs doivent-ils être abordés dans l'accompagnement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Comme des obstacles à éviter à tout prix en adaptant les objectifs à la baisse.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Comme faisant partie de l'expérience : ils permettent de comprendre ce qui n'a pas marché et d'imaginer d'autres façons de faire.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Comme des signaux d'arrêt indiquant que l'objectif n'est pas adapté à la personne.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HAS 2022, comment les échecs doivent-ils être abordés dans l'accompagnement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Comme des obstacles à éviter à tout prix en adaptant les objectifs à la baisse.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Comme faisant partie de l'expérience : ils permettent de comprendre ce qui n'a pas marché et d'imaginer d'autres façons de faire.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Comme des signaux d'arrêt indiquant que l'objectif n'est pas adapté à la personne.</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précise : « l'analyse des échecs fait partie de l'acquisition des composantes de l'autodétermination parce qu'elle permet de comprendre pourquoi cela n'a pas marché, d'imaginer et d'expérimenter d'autres façons de faire ». L'accompagnement aide à valoriser les réussites partielles.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89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 décret n° 2022-1561 du 13 décembre 2022 concerne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Les Conseils de la Vie Sociale et les autres formes de participation.</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Le parcours professionnel et les droits des travailleurs handicapés admis en ESAT.</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réforme des mesures de tutelle et de curatelle.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89/100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décret n° 2022-1561 du 13 décembre 2022 concerne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Les Conseils de la Vie Sociale et les autres formes de participation.</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Le parcours professionnel et les droits des travailleurs handicapés admis en ESAT.</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réforme des mesures de tutelle et de curatelle.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décret n° 2022-1561 renforce l'accompagnement des personnes en situation de handicap dans la construction de leur parcours professionnel en ESAT. Il contribue à dynamiser et sécuriser le mouvement des personnes afin d'augmenter leurs possibilités de choix professionnels.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Dans le modèle de Vygotsky, la « zone de rupture » correspond à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zone où la personne réussit facilement seule.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La zone où la personne est dépassée par la tâche, même avec aide.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zone d'apprentissage optimal avec accompagnement.</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Dans le modèle de Vygotsky, la « zone de rupture » correspond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zone où la personne réussit facilement seule.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La zone où la personne est dépassée par la tâche, même avec aide.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zone d'apprentissage optimal avec accompagnement.</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Dans le modèle de Vygotsky, la ZPD se situe entre la zone d'autonomie (réussit seul) et la zone de rupture (dépasse les capacités même avec aide). La zone de rupture est celle où la tâche est trop difficile, même accompagnée. Il faut rester dans la ZPD pour progresser.</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 RBPP HAS 2022 inclut-elle la question du droit de vote dans l'accompagnement à la citoyenneté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Non, le droit de vote relève de la sphère privée de la personne.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Oui, accompagner l'exercice de la citoyenneté inclut l'inscription sur les listes électorales et le droit de vote.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Uniquement pour les personnes dont la mesure de protection le permet expressément.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RBPP HAS 2022 inclut-elle la question du droit de vote dans l'accompagnement à la citoyenneté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Non, le droit de vote relève de la sphère privée de la personne.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Oui, accompagner l'exercice de la citoyenneté inclut l'inscription sur les listes électorales et le droit de vote.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Uniquement pour les personnes dont la mesure de protection le permet expressément.</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d'accompagner la personne présentant un TDI dans l'exercice de sa citoyenneté, notamment « l'inscription sur les listes électorales et le droit de vote qui en découle ». La loi du 23 mars 2019 a réaffirmé ce droit pour les personnes protégées.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Dans le modèle de Vygotsky, la « zone d'autonomie » correspond à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zone où la personne ne peut rien faire seule.</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La zone où la personne parvient à réaliser la tâche par elle-même, sans aide.</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La zone de progression optimale avec un accompagnement adapté.</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Dans le modèle de Vygotsky, la « zone d'autonomie » correspond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zone où la personne ne peut rien faire seule.</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La zone où la personne parvient à réaliser la tâche par elle-même, sans aide.</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La zone de progression optimale avec un accompagnement adapté.</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zone d'autonomie est la zone où la personne réussit seule. La ZPD (zone proximale de développement) se situe entre la zone d'autonomie et la zone de rupture. C'est dans la ZPD que se situent les apprentissages les plus efficaces, avec l'aide d'un tiers.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Pour soutenir le pouvoir d'agir, quels leviers doivent être mobilisés selon la note de cadrage HAS 2025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des leviers financiers pour améliorer les conditions matérielles.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Des leviers relatifs aux organisations professionnelles ET à l'accompagnement individuel des personnes.</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des leviers réglementaires et législatifs.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Pour soutenir le pouvoir d'agir, quels leviers doivent être mobilisés selon la note de cadrage HAS 2025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des leviers financiers pour améliorer les conditions matérielles.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Des leviers relatifs aux organisations professionnelles ET à l'accompagnement individuel des personnes.</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des leviers réglementaires et législatifs.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note de cadrage précise qu'il est nécessaire de « réfléchir à des leviers relatifs aux organisations professionnelles et à l'accompagnement individuel des personnes ». Ces deux niveaux (institutionnel et individuel) sont complémentaires et indispensables.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Quel exemple de partenariat innovant est cité dans la RBPP HAS 2022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Un partenariat avec des maisons de retraite pour des programmes intergénérationnels.</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Des collégiens ayant créé un pilulier automatique pour une personne avec TDI.</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 partenariat avec des entreprises de transport pour des navettes spécialisées.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 exemple de partenariat innovant est cité dans la RBPP HAS 2022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Un partenariat avec des maisons de retraite pour des programmes intergénérationnels.</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Des collégiens ayant créé un pilulier automatique pour une personne avec TDI.</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 partenariat avec des entreprises de transport pour des navettes spécialisées.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cite en illustration : « Des collégiens ont créé un pilulier automatique pour une personne présentant un TDI qui avait des difficultés dans la gestion de sa médication. Cette initiative a été très appréciée étant donné que la gestion médicamenteuse représentait le dernier obstacle vers une vie en appartement autonome.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Les programmes intergénérationnels en EHPAD peuvent contribuer à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Créer des problèmes de cohabitation entre publics différents.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Développer les habiletés sociales des personnes avec TDI en les mettant en lien avec d'autres personnes.</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Remplacer les activités spécialisées en structure pour les personnes avec TDI.</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Les programmes intergénérationnels en EHPAD peuvent contribuer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Créer des problèmes de cohabitation entre publics différents.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Développer les habiletés sociales des personnes avec TDI en les mettant en lien avec d'autres personnes.</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Remplacer les activités spécialisées en structure pour les personnes avec TDI.</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cite les « échanges avec d'autres ESSMS (par exemple : programmes intergénérationnels en EHPAD) » parmi les dispositifs permettant de développer les habiletés sociales et communicatives des personnes avec TDI, en favorisant l'inclusion sociale.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96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Quelles productions sont prévues pour les nouvelles RBPP autodétermination/pouvoir d'agir (note de cadrage 2025)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un livret de recommandations de bonnes pratiques.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Un livret de RBPP commun, des synthèses pour l'appropriation, des synthèses en FALC et un argumentaire scientifique.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un guide pratique pour les professionnels et les familles.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96/100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Quelles productions sont prévues pour les nouvelles RBPP autodétermination/pouvoir d'agir (note de cadrage 2025)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un livret de recommandations de bonnes pratiques.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Un livret de RBPP commun, des synthèses pour l'appropriation, des synthèses en FALC et un argumentaire scientifique.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un guide pratique pour les professionnels et les familles.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La note de cadrage HAS 2025 prévoit : (1) un livret de RBPP commun à tous les secteurs, (2) des synthèses pour l'appropriation, (3) des synthèses en FALC, et (4) un argumentaire scientifique. Les publications sont prévues jusqu'en T1 2027.</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97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L'article D142-1-1 du CASF relatif au travail social dispose que ce dernier vise à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Gérer les ressources humaines des ESSMS et optimiser les plannings de travail.</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Permettre l'accès aux droits fondamentaux, faciliter l'inclusion et exercer une pleine citoyenneté, contribuant au développement des capacités des personnes à agir.</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200" dirty="0">
                <a:solidFill>
                  <a:srgbClr val="FFFFFF"/>
                </a:solidFill>
              </a:rPr>
              <a:t>Contrôler la conformité réglementaire des établissements du secteur médico-social.</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97/100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L'article D142-1-1 du CASF relatif au travail social dispose que ce dernier vise à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Gérer les ressources humaines des ESSMS et optimiser les plannings de travail.</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Permettre l'accès aux droits fondamentaux, faciliter l'inclusion et exercer une pleine citoyenneté, contribuant au développement des capacités des personnes à agir.</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100" dirty="0">
                <a:solidFill>
                  <a:srgbClr val="8A96AD"/>
                </a:solidFill>
              </a:rPr>
              <a:t>Contrôler la conformité réglementaire des établissements du secteur médico-social.</a:t>
            </a:r>
            <a:endParaRPr lang="en-US" sz="11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L'article D142-1-1 du CASF précise que le travail social « vise à permettre l'accès des personnes à l'ensemble des droits fondamentaux, à faciliter leur inclusion sociale et à exercer une pleine citoyenneté » et « participe au développement des capacités des personnes à agir pour elles-mêmes et dans leur environnement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98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Selon la RBPP, quand doit-on idéalement commencer l'accompagnement à l'autodétermination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À l'âge adulte, lorsque la personne peut pleinement comprendre ses droits.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Dès l'enfance, en proposant des occasions d'autodétermination adaptées à chaque âge.</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À l'adolescence, lors de la transition vers la vie adulte.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98/100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quand doit-on idéalement commencer l'accompagnement à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À l'âge adulte, lorsque la personne peut pleinement comprendre ses droits.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Dès l'enfance, en proposant des occasions d'autodétermination adaptées à chaque âge.</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À l'adolescence, lors de la transition vers la vie adulte.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précise qu'il est idéal de « démarrer l'accompagnement dès l'enfance en proposant des occasions d'autodétermination ». Dès la petite enfance : proposer des choix, refléter des préférences, encourager la communication et les manifestations d'autonomie.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99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700" b="1" dirty="0">
                <a:solidFill>
                  <a:srgbClr val="FFFFFF"/>
                </a:solidFill>
              </a:rPr>
              <a:t>Selon la RBPP HAS 2022, une personne présentant un TDI peut-elle participer à des instances décisionnaires comme un conseil d'administration ?</a:t>
            </a:r>
            <a:endParaRPr lang="en-US" sz="17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Non, ces instances sont réservées aux professionnels et aux représentants légaux.</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Oui, les personnes doivent être informées de cette possibilité et accompagnées pour y jouer un rôle à part entière.</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Uniquement à titre consultatif, sans droit de vote ni d'expression.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99/100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300" i="1" dirty="0">
                <a:solidFill>
                  <a:srgbClr val="1B2A4A"/>
                </a:solidFill>
              </a:rPr>
              <a:t>Selon la RBPP HAS 2022, une personne présentant un TDI peut-elle participer à des instances décisionnaires comme un conseil d'administration ?</a:t>
            </a:r>
            <a:endParaRPr lang="en-US" sz="13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Non, ces instances sont réservées aux professionnels et aux représentants légaux.</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Oui, les personnes doivent être informées de cette possibilité et accompagnées pour y jouer un rôle à part entière.</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Uniquement à titre consultatif, sans droit de vote ni d'expression.</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 informer les personnes présentant un TDI sur la possibilité de participer à des instances associatives (ex : conseils d'administration) et décisionnaires (ex : commissions MDPH) » et de « prévoir l'accompagnement nécessaire pour que les personnes puissent avoir une place à part entière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100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RBPP HAS 2022, que doivent être préparées à exprimer les personnes présentant un TDI en fin de vie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Uniquement leurs préférences alimentaires et de loisirs.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Leurs choix sur les questions fondamentales, notamment les soins de fin de vie et les directives anticipées.</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Rien, ces décisions revenant entièrement à la famille et aux soignants.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100/100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RBPP HAS 2022, que doivent être préparées à exprimer les personnes présentant un TDI en fin de vie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Uniquement leurs préférences alimentaires et de loisirs.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Leurs choix sur les questions fondamentales, notamment les soins de fin de vie et les directives anticipées.</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Rien, ces décisions revenant entièrement à la famille et aux soignants.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recommande de « permettre à la personne présentant un TDI de faire des choix, notamment sur les questions fondamentales, telles que les soins de fin de vie et la rédaction des directives anticipées ». L'autodétermination s'étend jusqu'aux décisions les plus importantes.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101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La RBPP recommande d'expliquer à la personne les « conséquences d'une prise de décision » pour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La dissuader de prendre des décisions risquées.</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Lui permettre de comprendre que chaque choix a des conséquences, entraîne un renoncement et implique la tenue d'un engagement.</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Lui transférer la responsabilité juridique de ses actes.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101/100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La RBPP recommande d'expliquer à la personne les « conséquences d'une prise de décision » pour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La dissuader de prendre des décisions risquées.</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Lui permettre de comprendre que chaque choix a des conséquences, entraîne un renoncement et implique la tenue d'un engagement.</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Lui transférer la responsabilité juridique de ses actes.</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Dans le cadre des interactions sociales, la RBPP recommande d'expliquer les conséquences d'une prise de décision : « chaque choix a des conséquences, un choix entraîne un renoncement, la tenue d'un engagement, etc. » Cela fait partie de l'apprentissage de l'autodétermination.</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102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Pour accompagner l'expression des choix d'une personne présentant des difficultés de communication, la RBPP recommande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200" dirty="0">
                <a:solidFill>
                  <a:srgbClr val="FFFFFF"/>
                </a:solidFill>
              </a:rPr>
              <a:t>De renoncer temporairement au projet d'autodétermination jusqu'à amélioration de la communication.</a:t>
            </a:r>
            <a:endParaRPr lang="en-US" sz="12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D'utiliser des outils ou supports adaptés (CAA, pictos, FALC, photos, vidéos).</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De déléguer à la famille le soin d'exprimer les préférences de la personne.</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102/100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Pour accompagner l'expression des choix d'une personne présentant des difficultés de communication, la RBPP recommande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100" dirty="0">
                <a:solidFill>
                  <a:srgbClr val="8A96AD"/>
                </a:solidFill>
              </a:rPr>
              <a:t>De renoncer temporairement au projet d'autodétermination jusqu'à amélioration de la communication.</a:t>
            </a:r>
            <a:endParaRPr lang="en-US" sz="11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D'utiliser des outils ou supports adaptés (CAA, pictos, FALC, photos, vidéos).</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De déléguer à la famille le soin d'exprimer les préférences de la personne.</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La RBPP précise : « Si la personne rencontre des difficultés de communication, utiliser les outils ou des supports adaptés. » Parmi ceux-ci : communication alternative et augmentée (CAA), pictos, FALC, albums photo, clips vidéo, tablettes et autres outils numériques.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103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2100" b="1" dirty="0">
                <a:solidFill>
                  <a:srgbClr val="FFFFFF"/>
                </a:solidFill>
              </a:rPr>
              <a:t>Qu'est-ce que NEXEM, l'un des demandeurs des RBPP 2025 sur l'autodétermination ?</a:t>
            </a:r>
            <a:endParaRPr lang="en-US" sz="21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Une association nationale de personnes en situation de handicap.</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000" dirty="0">
                <a:solidFill>
                  <a:srgbClr val="FFFFFF"/>
                </a:solidFill>
              </a:rPr>
              <a:t>L'organisation professionnelle représentant les employeurs du secteur social, médico-social et sanitaire privé à but non lucratif.</a:t>
            </a:r>
            <a:endParaRPr lang="en-US" sz="10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 réseau national de centres de ressources sur le handicap.</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103/100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Qu'est-ce que NEXEM, l'un des demandeurs des RBPP 2025 sur l'autodétermination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Une association nationale de personnes en situation de handicap.</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900" b="1" dirty="0">
                <a:solidFill>
                  <a:srgbClr val="1A6B3C"/>
                </a:solidFill>
              </a:rPr>
              <a:t>L'organisation professionnelle représentant les employeurs du secteur social, médico-social et sanitaire privé à but non lucratif.</a:t>
            </a:r>
            <a:endParaRPr lang="en-US" sz="9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 réseau national de centres de ressources sur le handicap.</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1000" dirty="0">
                <a:solidFill>
                  <a:srgbClr val="1B2A4A"/>
                </a:solidFill>
              </a:rPr>
              <a:t>Nexem est l'organisation professionnelle représentant les employeurs du secteur social, médico-social et sanitaire privé à but non lucratif. Avec le GAPAS, Nexem a conjointement saisi la HAS pour élaborer les RBPP sur l'autodétermination en ESSMS.</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104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Le modèle fonctionnel de Wehmeyer (Annexe 1, RBPP HAS 2022) schématise l'autodétermination relative comme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Un état fixe atteignable uniquement par les personnes sans handicap.</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200" dirty="0">
                <a:solidFill>
                  <a:srgbClr val="FFFFFF"/>
                </a:solidFill>
              </a:rPr>
              <a:t>Un continuum évoluant dans le temps, dépendant des facteurs personnels et environnementaux.</a:t>
            </a:r>
            <a:endParaRPr lang="en-US" sz="12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Un niveau standardisé mesurable par un bilan d'évaluation annuel.</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104/100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Le modèle fonctionnel de Wehmeyer (Annexe 1, RBPP HAS 2022) schématise l'autodétermination relative comme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Un état fixe atteignable uniquement par les personnes sans handicap.</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100" b="1" dirty="0">
                <a:solidFill>
                  <a:srgbClr val="1A6B3C"/>
                </a:solidFill>
              </a:rPr>
              <a:t>Un continuum évoluant dans le temps, dépendant des facteurs personnels et environnementaux.</a:t>
            </a:r>
            <a:endParaRPr lang="en-US" sz="11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Un niveau standardisé mesurable par un bilan d'évaluation annuel.</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modèle fonctionnel (Wehmeyer, 1999) représente l'autodétermination comme une « autodétermination relative » s'inscrivant dans un continuum évoluant dans le temps. Elle dépend des capacités (développement, apprentissages), des occasions (environnement, expériences) et des soutiens.</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F48024"/>
          </a:solidFill>
          <a:ln w="12700">
            <a:solidFill>
              <a:srgbClr val="F48024"/>
            </a:solidFill>
            <a:prstDash val="solid"/>
          </a:ln>
        </p:spPr>
      </p:sp>
      <p:sp>
        <p:nvSpPr>
          <p:cNvPr id="3" name="Text 1"/>
          <p:cNvSpPr/>
          <p:nvPr/>
        </p:nvSpPr>
        <p:spPr>
          <a:xfrm>
            <a:off x="320040" y="0"/>
            <a:ext cx="4114800" cy="530352"/>
          </a:xfrm>
          <a:prstGeom prst="rect">
            <a:avLst/>
          </a:prstGeom>
          <a:noFill/>
          <a:ln/>
        </p:spPr>
        <p:txBody>
          <a:bodyPr wrap="square" lIns="0" tIns="0" rIns="0" bIns="0" rtlCol="0" anchor="ctr"/>
          <a:lstStyle/>
          <a:p>
            <a:pPr marL="0" indent="0">
              <a:buNone/>
            </a:pPr>
            <a:r>
              <a:rPr lang="en-US" sz="1300" b="1" dirty="0">
                <a:solidFill>
                  <a:srgbClr val="FFFFFF"/>
                </a:solidFill>
              </a:rPr>
              <a:t>QUESTION 105 / 100</a:t>
            </a:r>
            <a:endParaRPr lang="en-US" sz="1300" dirty="0"/>
          </a:p>
        </p:txBody>
      </p:sp>
      <p:sp>
        <p:nvSpPr>
          <p:cNvPr id="4" name="Text 2"/>
          <p:cNvSpPr/>
          <p:nvPr/>
        </p:nvSpPr>
        <p:spPr>
          <a:xfrm>
            <a:off x="4572000" y="0"/>
            <a:ext cx="4389120" cy="530352"/>
          </a:xfrm>
          <a:prstGeom prst="rect">
            <a:avLst/>
          </a:prstGeom>
          <a:noFill/>
          <a:ln/>
        </p:spPr>
        <p:txBody>
          <a:bodyPr wrap="square" lIns="0" tIns="0" rIns="0" bIns="0" rtlCol="0" anchor="ctr"/>
          <a:lstStyle/>
          <a:p>
            <a:pPr marL="0" indent="0" algn="r">
              <a:buNone/>
            </a:pPr>
            <a:r>
              <a:rPr lang="en-US" sz="1100" i="1" dirty="0">
                <a:solidFill>
                  <a:srgbClr val="FFFFFF"/>
                </a:solidFill>
              </a:rPr>
              <a:t>Quiz Autodétermination · RBPP HAS</a:t>
            </a:r>
            <a:endParaRPr lang="en-US" sz="1100" dirty="0"/>
          </a:p>
        </p:txBody>
      </p:sp>
      <p:sp>
        <p:nvSpPr>
          <p:cNvPr id="5" name="Text 3"/>
          <p:cNvSpPr/>
          <p:nvPr/>
        </p:nvSpPr>
        <p:spPr>
          <a:xfrm>
            <a:off x="320040" y="594360"/>
            <a:ext cx="8503920" cy="1097280"/>
          </a:xfrm>
          <a:prstGeom prst="rect">
            <a:avLst/>
          </a:prstGeom>
          <a:noFill/>
          <a:ln/>
        </p:spPr>
        <p:txBody>
          <a:bodyPr wrap="square" rtlCol="0" anchor="t"/>
          <a:lstStyle/>
          <a:p>
            <a:pPr marL="0" indent="0">
              <a:buNone/>
            </a:pPr>
            <a:r>
              <a:rPr lang="en-US" sz="1900" b="1" dirty="0">
                <a:solidFill>
                  <a:srgbClr val="FFFFFF"/>
                </a:solidFill>
              </a:rPr>
              <a:t>Selon la note de cadrage HAS 2025, quel calendrier prévisionnel est fixé pour les nouvelles RBPP ?</a:t>
            </a:r>
            <a:endParaRPr lang="en-US" sz="1900" dirty="0"/>
          </a:p>
        </p:txBody>
      </p:sp>
      <p:sp>
        <p:nvSpPr>
          <p:cNvPr id="6" name="Shape 4"/>
          <p:cNvSpPr/>
          <p:nvPr/>
        </p:nvSpPr>
        <p:spPr>
          <a:xfrm>
            <a:off x="320040" y="1828800"/>
            <a:ext cx="8503920" cy="640080"/>
          </a:xfrm>
          <a:prstGeom prst="rect">
            <a:avLst/>
          </a:prstGeom>
          <a:solidFill>
            <a:srgbClr val="FFFFFF">
              <a:alpha val="20000"/>
            </a:srgbClr>
          </a:solidFill>
          <a:ln w="6350">
            <a:solidFill>
              <a:srgbClr val="FFFFFF">
                <a:alpha val="35000"/>
              </a:srgbClr>
            </a:solidFill>
            <a:prstDash val="solid"/>
          </a:ln>
        </p:spPr>
      </p:sp>
      <p:sp>
        <p:nvSpPr>
          <p:cNvPr id="7" name="Shape 5"/>
          <p:cNvSpPr/>
          <p:nvPr/>
        </p:nvSpPr>
        <p:spPr>
          <a:xfrm>
            <a:off x="320040" y="1828800"/>
            <a:ext cx="475488" cy="640080"/>
          </a:xfrm>
          <a:prstGeom prst="rect">
            <a:avLst/>
          </a:prstGeom>
          <a:solidFill>
            <a:srgbClr val="F48024"/>
          </a:solidFill>
          <a:ln w="12700">
            <a:solidFill>
              <a:srgbClr val="F48024"/>
            </a:solidFill>
            <a:prstDash val="solid"/>
          </a:ln>
        </p:spPr>
      </p:sp>
      <p:sp>
        <p:nvSpPr>
          <p:cNvPr id="8" name="Text 6"/>
          <p:cNvSpPr/>
          <p:nvPr/>
        </p:nvSpPr>
        <p:spPr>
          <a:xfrm>
            <a:off x="320040" y="182880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A</a:t>
            </a:r>
            <a:endParaRPr lang="en-US" sz="1400" dirty="0"/>
          </a:p>
        </p:txBody>
      </p:sp>
      <p:sp>
        <p:nvSpPr>
          <p:cNvPr id="9" name="Text 7"/>
          <p:cNvSpPr/>
          <p:nvPr/>
        </p:nvSpPr>
        <p:spPr>
          <a:xfrm>
            <a:off x="914400" y="1856232"/>
            <a:ext cx="7726680" cy="585216"/>
          </a:xfrm>
          <a:prstGeom prst="rect">
            <a:avLst/>
          </a:prstGeom>
          <a:noFill/>
          <a:ln/>
        </p:spPr>
        <p:txBody>
          <a:bodyPr wrap="square" rtlCol="0" anchor="ctr"/>
          <a:lstStyle/>
          <a:p>
            <a:pPr marL="0" indent="0">
              <a:buNone/>
            </a:pPr>
            <a:r>
              <a:rPr lang="en-US" sz="1300" dirty="0">
                <a:solidFill>
                  <a:srgbClr val="FFFFFF"/>
                </a:solidFill>
              </a:rPr>
              <a:t>Publication des RBPP au T1 2025, FALC au T2 2025.</a:t>
            </a:r>
            <a:endParaRPr lang="en-US" sz="1300" dirty="0"/>
          </a:p>
        </p:txBody>
      </p:sp>
      <p:sp>
        <p:nvSpPr>
          <p:cNvPr id="10" name="Shape 8"/>
          <p:cNvSpPr/>
          <p:nvPr/>
        </p:nvSpPr>
        <p:spPr>
          <a:xfrm>
            <a:off x="320040" y="2560320"/>
            <a:ext cx="8503920" cy="640080"/>
          </a:xfrm>
          <a:prstGeom prst="rect">
            <a:avLst/>
          </a:prstGeom>
          <a:solidFill>
            <a:srgbClr val="FFFFFF">
              <a:alpha val="20000"/>
            </a:srgbClr>
          </a:solidFill>
          <a:ln w="6350">
            <a:solidFill>
              <a:srgbClr val="FFFFFF">
                <a:alpha val="35000"/>
              </a:srgbClr>
            </a:solidFill>
            <a:prstDash val="solid"/>
          </a:ln>
        </p:spPr>
      </p:sp>
      <p:sp>
        <p:nvSpPr>
          <p:cNvPr id="11" name="Shape 9"/>
          <p:cNvSpPr/>
          <p:nvPr/>
        </p:nvSpPr>
        <p:spPr>
          <a:xfrm>
            <a:off x="320040" y="2560320"/>
            <a:ext cx="475488" cy="640080"/>
          </a:xfrm>
          <a:prstGeom prst="rect">
            <a:avLst/>
          </a:prstGeom>
          <a:solidFill>
            <a:srgbClr val="F48024"/>
          </a:solidFill>
          <a:ln w="12700">
            <a:solidFill>
              <a:srgbClr val="F48024"/>
            </a:solidFill>
            <a:prstDash val="solid"/>
          </a:ln>
        </p:spPr>
      </p:sp>
      <p:sp>
        <p:nvSpPr>
          <p:cNvPr id="12" name="Text 10"/>
          <p:cNvSpPr/>
          <p:nvPr/>
        </p:nvSpPr>
        <p:spPr>
          <a:xfrm>
            <a:off x="320040" y="256032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B</a:t>
            </a:r>
            <a:endParaRPr lang="en-US" sz="1400" dirty="0"/>
          </a:p>
        </p:txBody>
      </p:sp>
      <p:sp>
        <p:nvSpPr>
          <p:cNvPr id="13" name="Text 11"/>
          <p:cNvSpPr/>
          <p:nvPr/>
        </p:nvSpPr>
        <p:spPr>
          <a:xfrm>
            <a:off x="914400" y="2587752"/>
            <a:ext cx="7726680" cy="585216"/>
          </a:xfrm>
          <a:prstGeom prst="rect">
            <a:avLst/>
          </a:prstGeom>
          <a:noFill/>
          <a:ln/>
        </p:spPr>
        <p:txBody>
          <a:bodyPr wrap="square" rtlCol="0" anchor="ctr"/>
          <a:lstStyle/>
          <a:p>
            <a:pPr marL="0" indent="0">
              <a:buNone/>
            </a:pPr>
            <a:r>
              <a:rPr lang="en-US" sz="1300" dirty="0">
                <a:solidFill>
                  <a:srgbClr val="FFFFFF"/>
                </a:solidFill>
              </a:rPr>
              <a:t>Démarrage des groupes de travail au T3 2025, RBPP en T4 2026, FALC en T1 2027.</a:t>
            </a:r>
            <a:endParaRPr lang="en-US" sz="1300" dirty="0"/>
          </a:p>
        </p:txBody>
      </p:sp>
      <p:sp>
        <p:nvSpPr>
          <p:cNvPr id="14" name="Shape 12"/>
          <p:cNvSpPr/>
          <p:nvPr/>
        </p:nvSpPr>
        <p:spPr>
          <a:xfrm>
            <a:off x="320040" y="3291840"/>
            <a:ext cx="8503920" cy="640080"/>
          </a:xfrm>
          <a:prstGeom prst="rect">
            <a:avLst/>
          </a:prstGeom>
          <a:solidFill>
            <a:srgbClr val="FFFFFF">
              <a:alpha val="20000"/>
            </a:srgbClr>
          </a:solidFill>
          <a:ln w="6350">
            <a:solidFill>
              <a:srgbClr val="FFFFFF">
                <a:alpha val="35000"/>
              </a:srgbClr>
            </a:solidFill>
            <a:prstDash val="solid"/>
          </a:ln>
        </p:spPr>
      </p:sp>
      <p:sp>
        <p:nvSpPr>
          <p:cNvPr id="15" name="Shape 13"/>
          <p:cNvSpPr/>
          <p:nvPr/>
        </p:nvSpPr>
        <p:spPr>
          <a:xfrm>
            <a:off x="320040" y="3291840"/>
            <a:ext cx="475488" cy="640080"/>
          </a:xfrm>
          <a:prstGeom prst="rect">
            <a:avLst/>
          </a:prstGeom>
          <a:solidFill>
            <a:srgbClr val="F48024"/>
          </a:solidFill>
          <a:ln w="12700">
            <a:solidFill>
              <a:srgbClr val="F48024"/>
            </a:solidFill>
            <a:prstDash val="solid"/>
          </a:ln>
        </p:spPr>
      </p:sp>
      <p:sp>
        <p:nvSpPr>
          <p:cNvPr id="16" name="Text 14"/>
          <p:cNvSpPr/>
          <p:nvPr/>
        </p:nvSpPr>
        <p:spPr>
          <a:xfrm>
            <a:off x="320040" y="3291840"/>
            <a:ext cx="475488" cy="640080"/>
          </a:xfrm>
          <a:prstGeom prst="rect">
            <a:avLst/>
          </a:prstGeom>
          <a:noFill/>
          <a:ln/>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7" name="Text 15"/>
          <p:cNvSpPr/>
          <p:nvPr/>
        </p:nvSpPr>
        <p:spPr>
          <a:xfrm>
            <a:off x="914400" y="3319272"/>
            <a:ext cx="7726680" cy="585216"/>
          </a:xfrm>
          <a:prstGeom prst="rect">
            <a:avLst/>
          </a:prstGeom>
          <a:noFill/>
          <a:ln/>
        </p:spPr>
        <p:txBody>
          <a:bodyPr wrap="square" rtlCol="0" anchor="ctr"/>
          <a:lstStyle/>
          <a:p>
            <a:pPr marL="0" indent="0">
              <a:buNone/>
            </a:pPr>
            <a:r>
              <a:rPr lang="en-US" sz="1300" dirty="0">
                <a:solidFill>
                  <a:srgbClr val="FFFFFF"/>
                </a:solidFill>
              </a:rPr>
              <a:t>RBPP publiées dès T2 2025, révision prévue en 2030.</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0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6B3C"/>
          </a:solidFill>
          <a:ln w="12700">
            <a:solidFill>
              <a:srgbClr val="1A6B3C"/>
            </a:solidFill>
            <a:prstDash val="solid"/>
          </a:ln>
        </p:spPr>
      </p:sp>
      <p:sp>
        <p:nvSpPr>
          <p:cNvPr id="3" name="Text 1"/>
          <p:cNvSpPr/>
          <p:nvPr/>
        </p:nvSpPr>
        <p:spPr>
          <a:xfrm>
            <a:off x="320040" y="0"/>
            <a:ext cx="8503920" cy="530352"/>
          </a:xfrm>
          <a:prstGeom prst="rect">
            <a:avLst/>
          </a:prstGeom>
          <a:noFill/>
          <a:ln/>
        </p:spPr>
        <p:txBody>
          <a:bodyPr wrap="square" lIns="0" tIns="0" rIns="0" bIns="0" rtlCol="0" anchor="ctr"/>
          <a:lstStyle/>
          <a:p>
            <a:pPr marL="0" indent="0">
              <a:buNone/>
            </a:pPr>
            <a:r>
              <a:rPr lang="en-US" sz="1300" b="1" dirty="0">
                <a:solidFill>
                  <a:srgbClr val="FFFFFF"/>
                </a:solidFill>
              </a:rPr>
              <a:t>REPONSE : B  |  Question 105/100</a:t>
            </a:r>
            <a:endParaRPr lang="en-US" sz="1300" dirty="0"/>
          </a:p>
        </p:txBody>
      </p:sp>
      <p:sp>
        <p:nvSpPr>
          <p:cNvPr id="4" name="Text 2"/>
          <p:cNvSpPr/>
          <p:nvPr/>
        </p:nvSpPr>
        <p:spPr>
          <a:xfrm>
            <a:off x="320040" y="594360"/>
            <a:ext cx="8503920" cy="777240"/>
          </a:xfrm>
          <a:prstGeom prst="rect">
            <a:avLst/>
          </a:prstGeom>
          <a:noFill/>
          <a:ln/>
        </p:spPr>
        <p:txBody>
          <a:bodyPr wrap="square" rtlCol="0" anchor="t"/>
          <a:lstStyle/>
          <a:p>
            <a:pPr marL="0" indent="0">
              <a:buNone/>
            </a:pPr>
            <a:r>
              <a:rPr lang="en-US" sz="1500" i="1" dirty="0">
                <a:solidFill>
                  <a:srgbClr val="1B2A4A"/>
                </a:solidFill>
              </a:rPr>
              <a:t>Selon la note de cadrage HAS 2025, quel calendrier prévisionnel est fixé pour les nouvelles RBPP ?</a:t>
            </a:r>
            <a:endParaRPr lang="en-US" sz="1500" dirty="0"/>
          </a:p>
        </p:txBody>
      </p:sp>
      <p:sp>
        <p:nvSpPr>
          <p:cNvPr id="5" name="Shape 3"/>
          <p:cNvSpPr/>
          <p:nvPr/>
        </p:nvSpPr>
        <p:spPr>
          <a:xfrm>
            <a:off x="320040" y="1463040"/>
            <a:ext cx="8503920" cy="530352"/>
          </a:xfrm>
          <a:prstGeom prst="rect">
            <a:avLst/>
          </a:prstGeom>
          <a:solidFill>
            <a:srgbClr val="E8EAF2"/>
          </a:solidFill>
          <a:ln w="19050">
            <a:solidFill>
              <a:srgbClr val="C0C8D8"/>
            </a:solidFill>
            <a:prstDash val="solid"/>
          </a:ln>
        </p:spPr>
      </p:sp>
      <p:sp>
        <p:nvSpPr>
          <p:cNvPr id="6" name="Shape 4"/>
          <p:cNvSpPr/>
          <p:nvPr/>
        </p:nvSpPr>
        <p:spPr>
          <a:xfrm>
            <a:off x="320040" y="1463040"/>
            <a:ext cx="475488" cy="530352"/>
          </a:xfrm>
          <a:prstGeom prst="rect">
            <a:avLst/>
          </a:prstGeom>
          <a:solidFill>
            <a:srgbClr val="A0AABC"/>
          </a:solidFill>
          <a:ln w="12700">
            <a:solidFill>
              <a:srgbClr val="A0AABC"/>
            </a:solidFill>
            <a:prstDash val="solid"/>
          </a:ln>
        </p:spPr>
      </p:sp>
      <p:sp>
        <p:nvSpPr>
          <p:cNvPr id="7" name="Text 5"/>
          <p:cNvSpPr/>
          <p:nvPr/>
        </p:nvSpPr>
        <p:spPr>
          <a:xfrm>
            <a:off x="320040" y="1463040"/>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8" name="Text 6"/>
          <p:cNvSpPr/>
          <p:nvPr/>
        </p:nvSpPr>
        <p:spPr>
          <a:xfrm>
            <a:off x="914400" y="1481328"/>
            <a:ext cx="7726680" cy="493776"/>
          </a:xfrm>
          <a:prstGeom prst="rect">
            <a:avLst/>
          </a:prstGeom>
          <a:noFill/>
          <a:ln/>
        </p:spPr>
        <p:txBody>
          <a:bodyPr wrap="square" rtlCol="0" anchor="ctr"/>
          <a:lstStyle/>
          <a:p>
            <a:pPr marL="0" indent="0">
              <a:buNone/>
            </a:pPr>
            <a:r>
              <a:rPr lang="en-US" sz="1200" dirty="0">
                <a:solidFill>
                  <a:srgbClr val="8A96AD"/>
                </a:solidFill>
              </a:rPr>
              <a:t>Publication des RBPP au T1 2025, FALC au T2 2025.</a:t>
            </a:r>
            <a:endParaRPr lang="en-US" sz="1200" dirty="0"/>
          </a:p>
        </p:txBody>
      </p:sp>
      <p:sp>
        <p:nvSpPr>
          <p:cNvPr id="9" name="Shape 7"/>
          <p:cNvSpPr/>
          <p:nvPr/>
        </p:nvSpPr>
        <p:spPr>
          <a:xfrm>
            <a:off x="320040" y="2066544"/>
            <a:ext cx="8503920" cy="530352"/>
          </a:xfrm>
          <a:prstGeom prst="rect">
            <a:avLst/>
          </a:prstGeom>
          <a:solidFill>
            <a:srgbClr val="E8F5ED"/>
          </a:solidFill>
          <a:ln w="19050">
            <a:solidFill>
              <a:srgbClr val="1A6B3C"/>
            </a:solidFill>
            <a:prstDash val="solid"/>
          </a:ln>
        </p:spPr>
      </p:sp>
      <p:sp>
        <p:nvSpPr>
          <p:cNvPr id="10" name="Shape 8"/>
          <p:cNvSpPr/>
          <p:nvPr/>
        </p:nvSpPr>
        <p:spPr>
          <a:xfrm>
            <a:off x="320040" y="2066544"/>
            <a:ext cx="475488" cy="530352"/>
          </a:xfrm>
          <a:prstGeom prst="rect">
            <a:avLst/>
          </a:prstGeom>
          <a:solidFill>
            <a:srgbClr val="1A6B3C"/>
          </a:solidFill>
          <a:ln w="12700">
            <a:solidFill>
              <a:srgbClr val="1A6B3C"/>
            </a:solidFill>
            <a:prstDash val="solid"/>
          </a:ln>
        </p:spPr>
      </p:sp>
      <p:sp>
        <p:nvSpPr>
          <p:cNvPr id="11" name="Text 9"/>
          <p:cNvSpPr/>
          <p:nvPr/>
        </p:nvSpPr>
        <p:spPr>
          <a:xfrm>
            <a:off x="320040" y="2066544"/>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2" name="Text 10"/>
          <p:cNvSpPr/>
          <p:nvPr/>
        </p:nvSpPr>
        <p:spPr>
          <a:xfrm>
            <a:off x="914400" y="2084832"/>
            <a:ext cx="7726680" cy="493776"/>
          </a:xfrm>
          <a:prstGeom prst="rect">
            <a:avLst/>
          </a:prstGeom>
          <a:noFill/>
          <a:ln/>
        </p:spPr>
        <p:txBody>
          <a:bodyPr wrap="square" rtlCol="0" anchor="ctr"/>
          <a:lstStyle/>
          <a:p>
            <a:pPr marL="0" indent="0">
              <a:buNone/>
            </a:pPr>
            <a:r>
              <a:rPr lang="en-US" sz="1200" b="1" dirty="0">
                <a:solidFill>
                  <a:srgbClr val="1A6B3C"/>
                </a:solidFill>
              </a:rPr>
              <a:t>Démarrage des groupes de travail au T3 2025, RBPP en T4 2026, FALC en T1 2027.</a:t>
            </a:r>
            <a:endParaRPr lang="en-US" sz="1200" dirty="0"/>
          </a:p>
        </p:txBody>
      </p:sp>
      <p:sp>
        <p:nvSpPr>
          <p:cNvPr id="13" name="Shape 11"/>
          <p:cNvSpPr/>
          <p:nvPr/>
        </p:nvSpPr>
        <p:spPr>
          <a:xfrm>
            <a:off x="320040" y="2670048"/>
            <a:ext cx="8503920" cy="530352"/>
          </a:xfrm>
          <a:prstGeom prst="rect">
            <a:avLst/>
          </a:prstGeom>
          <a:solidFill>
            <a:srgbClr val="E8EAF2"/>
          </a:solidFill>
          <a:ln w="19050">
            <a:solidFill>
              <a:srgbClr val="C0C8D8"/>
            </a:solidFill>
            <a:prstDash val="solid"/>
          </a:ln>
        </p:spPr>
      </p:sp>
      <p:sp>
        <p:nvSpPr>
          <p:cNvPr id="14" name="Shape 12"/>
          <p:cNvSpPr/>
          <p:nvPr/>
        </p:nvSpPr>
        <p:spPr>
          <a:xfrm>
            <a:off x="320040" y="2670048"/>
            <a:ext cx="475488" cy="530352"/>
          </a:xfrm>
          <a:prstGeom prst="rect">
            <a:avLst/>
          </a:prstGeom>
          <a:solidFill>
            <a:srgbClr val="A0AABC"/>
          </a:solidFill>
          <a:ln w="12700">
            <a:solidFill>
              <a:srgbClr val="A0AABC"/>
            </a:solidFill>
            <a:prstDash val="solid"/>
          </a:ln>
        </p:spPr>
      </p:sp>
      <p:sp>
        <p:nvSpPr>
          <p:cNvPr id="15" name="Text 13"/>
          <p:cNvSpPr/>
          <p:nvPr/>
        </p:nvSpPr>
        <p:spPr>
          <a:xfrm>
            <a:off x="320040" y="2670048"/>
            <a:ext cx="475488" cy="530352"/>
          </a:xfrm>
          <a:prstGeom prst="rect">
            <a:avLst/>
          </a:prstGeom>
          <a:noFill/>
          <a:ln/>
        </p:spPr>
        <p:txBody>
          <a:bodyPr wrap="square" lIns="0" tIns="0" rIns="0" bIns="0" rtlCol="0" anchor="ctr"/>
          <a:lstStyle/>
          <a:p>
            <a:pPr marL="0" indent="0" algn="ctr">
              <a:buNone/>
            </a:pPr>
            <a:r>
              <a:rPr lang="en-US" sz="1300" b="1" dirty="0">
                <a:solidFill>
                  <a:srgbClr val="FFFFFF"/>
                </a:solidFill>
              </a:rPr>
              <a:t>C</a:t>
            </a:r>
            <a:endParaRPr lang="en-US" sz="1300" dirty="0"/>
          </a:p>
        </p:txBody>
      </p:sp>
      <p:sp>
        <p:nvSpPr>
          <p:cNvPr id="16" name="Text 14"/>
          <p:cNvSpPr/>
          <p:nvPr/>
        </p:nvSpPr>
        <p:spPr>
          <a:xfrm>
            <a:off x="914400" y="2688336"/>
            <a:ext cx="7726680" cy="493776"/>
          </a:xfrm>
          <a:prstGeom prst="rect">
            <a:avLst/>
          </a:prstGeom>
          <a:noFill/>
          <a:ln/>
        </p:spPr>
        <p:txBody>
          <a:bodyPr wrap="square" rtlCol="0" anchor="ctr"/>
          <a:lstStyle/>
          <a:p>
            <a:pPr marL="0" indent="0">
              <a:buNone/>
            </a:pPr>
            <a:r>
              <a:rPr lang="en-US" sz="1200" dirty="0">
                <a:solidFill>
                  <a:srgbClr val="8A96AD"/>
                </a:solidFill>
              </a:rPr>
              <a:t>RBPP publiées dès T2 2025, révision prévue en 2030.</a:t>
            </a:r>
            <a:endParaRPr lang="en-US" sz="1200" dirty="0"/>
          </a:p>
        </p:txBody>
      </p:sp>
      <p:sp>
        <p:nvSpPr>
          <p:cNvPr id="17" name="Shape 15"/>
          <p:cNvSpPr/>
          <p:nvPr/>
        </p:nvSpPr>
        <p:spPr>
          <a:xfrm>
            <a:off x="320040" y="3319272"/>
            <a:ext cx="8503920" cy="1687068"/>
          </a:xfrm>
          <a:prstGeom prst="rect">
            <a:avLst/>
          </a:prstGeom>
          <a:solidFill>
            <a:srgbClr val="EEF2FF"/>
          </a:solidFill>
          <a:ln w="12700">
            <a:solidFill>
              <a:srgbClr val="B8C4E0"/>
            </a:solidFill>
            <a:prstDash val="solid"/>
          </a:ln>
        </p:spPr>
      </p:sp>
      <p:sp>
        <p:nvSpPr>
          <p:cNvPr id="18" name="Shape 16"/>
          <p:cNvSpPr/>
          <p:nvPr/>
        </p:nvSpPr>
        <p:spPr>
          <a:xfrm>
            <a:off x="320040" y="3319272"/>
            <a:ext cx="64008" cy="1687068"/>
          </a:xfrm>
          <a:prstGeom prst="rect">
            <a:avLst/>
          </a:prstGeom>
          <a:solidFill>
            <a:srgbClr val="1B3A6B"/>
          </a:solidFill>
          <a:ln w="12700">
            <a:solidFill>
              <a:srgbClr val="1B3A6B"/>
            </a:solidFill>
            <a:prstDash val="solid"/>
          </a:ln>
        </p:spPr>
      </p:sp>
      <p:sp>
        <p:nvSpPr>
          <p:cNvPr id="19" name="Text 17"/>
          <p:cNvSpPr/>
          <p:nvPr/>
        </p:nvSpPr>
        <p:spPr>
          <a:xfrm>
            <a:off x="502920" y="3364992"/>
            <a:ext cx="8183880" cy="1613916"/>
          </a:xfrm>
          <a:prstGeom prst="rect">
            <a:avLst/>
          </a:prstGeom>
          <a:noFill/>
          <a:ln/>
        </p:spPr>
        <p:txBody>
          <a:bodyPr wrap="square" rtlCol="0" anchor="t"/>
          <a:lstStyle/>
          <a:p>
            <a:pPr marL="0" indent="0">
              <a:buNone/>
            </a:pPr>
            <a:r>
              <a:rPr lang="en-US" sz="900" dirty="0">
                <a:solidFill>
                  <a:srgbClr val="1B2A4A"/>
                </a:solidFill>
              </a:rPr>
              <a:t>Le calendrier prévisionnel de la note de cadrage HAS 2025 : T2 2025 : appel à candidatures et étude littérature ; T3 2025 : démarrage des groupes de travail ; T2 2026 : groupe de lecture ; T4 2026 : validation COI et CSMS des RBPP ; T1 2027 : transcription FALC.</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18137</Words>
  <Application>Microsoft Office PowerPoint</Application>
  <PresentationFormat>Affichage à l'écran (16:9)</PresentationFormat>
  <Paragraphs>2154</Paragraphs>
  <Slides>211</Slides>
  <Notes>211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211</vt:i4>
      </vt:variant>
    </vt:vector>
  </HeadingPairs>
  <TitlesOfParts>
    <vt:vector size="214"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Autodétermination – RBPP HAS</dc:title>
  <dc:subject>PptxGenJS Presentation</dc:subject>
  <dc:creator>PptxGenJS</dc:creator>
  <cp:lastModifiedBy>Eric AUBRUN</cp:lastModifiedBy>
  <cp:revision>1</cp:revision>
  <dcterms:created xsi:type="dcterms:W3CDTF">2026-03-23T15:13:53Z</dcterms:created>
  <dcterms:modified xsi:type="dcterms:W3CDTF">2026-03-23T20:14:52Z</dcterms:modified>
</cp:coreProperties>
</file>