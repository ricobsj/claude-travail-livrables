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slideMasters/slideMaster176.xml" ContentType="application/vnd.openxmlformats-officedocument.presentationml.slideMaster+xml"/>
  <Override PartName="/ppt/slides/slide176.xml" ContentType="application/vnd.openxmlformats-officedocument.presentationml.slide+xml"/>
  <Override PartName="/ppt/slideMasters/slideMaster177.xml" ContentType="application/vnd.openxmlformats-officedocument.presentationml.slideMaster+xml"/>
  <Override PartName="/ppt/slides/slide177.xml" ContentType="application/vnd.openxmlformats-officedocument.presentationml.slide+xml"/>
  <Override PartName="/ppt/slideMasters/slideMaster178.xml" ContentType="application/vnd.openxmlformats-officedocument.presentationml.slideMaster+xml"/>
  <Override PartName="/ppt/slides/slide178.xml" ContentType="application/vnd.openxmlformats-officedocument.presentationml.slide+xml"/>
  <Override PartName="/ppt/slideMasters/slideMaster179.xml" ContentType="application/vnd.openxmlformats-officedocument.presentationml.slideMaster+xml"/>
  <Override PartName="/ppt/slides/slide179.xml" ContentType="application/vnd.openxmlformats-officedocument.presentationml.slide+xml"/>
  <Override PartName="/ppt/slideMasters/slideMaster180.xml" ContentType="application/vnd.openxmlformats-officedocument.presentationml.slideMaster+xml"/>
  <Override PartName="/ppt/slides/slide180.xml" ContentType="application/vnd.openxmlformats-officedocument.presentationml.slide+xml"/>
  <Override PartName="/ppt/slideMasters/slideMaster181.xml" ContentType="application/vnd.openxmlformats-officedocument.presentationml.slideMaster+xml"/>
  <Override PartName="/ppt/slides/slide181.xml" ContentType="application/vnd.openxmlformats-officedocument.presentationml.slide+xml"/>
  <Override PartName="/ppt/slideMasters/slideMaster182.xml" ContentType="application/vnd.openxmlformats-officedocument.presentationml.slideMaster+xml"/>
  <Override PartName="/ppt/slides/slide182.xml" ContentType="application/vnd.openxmlformats-officedocument.presentationml.slide+xml"/>
  <Override PartName="/ppt/slideMasters/slideMaster183.xml" ContentType="application/vnd.openxmlformats-officedocument.presentationml.slideMaster+xml"/>
  <Override PartName="/ppt/slides/slide183.xml" ContentType="application/vnd.openxmlformats-officedocument.presentationml.slide+xml"/>
  <Override PartName="/ppt/slideMasters/slideMaster184.xml" ContentType="application/vnd.openxmlformats-officedocument.presentationml.slideMaster+xml"/>
  <Override PartName="/ppt/slides/slide184.xml" ContentType="application/vnd.openxmlformats-officedocument.presentationml.slide+xml"/>
  <Override PartName="/ppt/slideMasters/slideMaster185.xml" ContentType="application/vnd.openxmlformats-officedocument.presentationml.slideMaster+xml"/>
  <Override PartName="/ppt/slides/slide185.xml" ContentType="application/vnd.openxmlformats-officedocument.presentationml.slide+xml"/>
  <Override PartName="/ppt/slideMasters/slideMaster186.xml" ContentType="application/vnd.openxmlformats-officedocument.presentationml.slideMaster+xml"/>
  <Override PartName="/ppt/slides/slide186.xml" ContentType="application/vnd.openxmlformats-officedocument.presentationml.slide+xml"/>
  <Override PartName="/ppt/slideMasters/slideMaster187.xml" ContentType="application/vnd.openxmlformats-officedocument.presentationml.slideMaster+xml"/>
  <Override PartName="/ppt/slides/slide18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</p:sldIdLst>
  <p:notesMasterIdLst>
    <p:notesMasterId r:id="rId18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notesMaster" Target="notesMasters/notesMaster1.xml"/><Relationship Id="rId190" Type="http://schemas.openxmlformats.org/officeDocument/2006/relationships/presProps" Target="presProps.xml"/><Relationship Id="rId191" Type="http://schemas.openxmlformats.org/officeDocument/2006/relationships/viewProps" Target="viewProps.xml"/><Relationship Id="rId192" Type="http://schemas.openxmlformats.org/officeDocument/2006/relationships/theme" Target="theme/theme1.xml"/><Relationship Id="rId19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_rels/notesSlide1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6.xml"/>
		</Relationships>
</file>

<file path=ppt/notesSlides/_rels/notesSlide1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7.xml"/>
		</Relationships>
</file>

<file path=ppt/notesSlides/_rels/notesSlide1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8.xml"/>
		</Relationships>
</file>

<file path=ppt/notesSlides/_rels/notesSlide1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9.xml"/>
		</Relationships>
</file>

<file path=ppt/notesSlides/_rels/notesSlide1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0.xml"/>
		</Relationships>
</file>

<file path=ppt/notesSlides/_rels/notesSlide1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1.xml"/>
		</Relationships>
</file>

<file path=ppt/notesSlides/_rels/notesSlide1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2.xml"/>
		</Relationships>
</file>

<file path=ppt/notesSlides/_rels/notesSlide1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3.xml"/>
		</Relationships>
</file>

<file path=ppt/notesSlides/_rels/notesSlide1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4.xml"/>
		</Relationships>
</file>

<file path=ppt/notesSlides/_rels/notesSlide1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5.xml"/>
		</Relationships>
</file>

<file path=ppt/notesSlides/_rels/notesSlide1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6.xml"/>
		</Relationships>
</file>

<file path=ppt/notesSlides/_rels/notesSlide1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RBPP — HAS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Accompagner la vie intime,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affective et sexuelle des personnes en ESSMS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Volet 1 – Socle transversal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37490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— Validé CSMS 14 janvier 2025 | Mis à jour novembre 2025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questions QCM — 2026-06-22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Selon la définition HAS, la vie intime, affective et sexuelle (VIAS) est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Une pratique réservée aux personnes sans handicap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La liberté d'exprimer et de réaliser ses désirs en lien avec l'intimité, l'affectivité et la sexualité dans le respect de la loi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Un sujet médical relevant uniquement du psychiatre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Une thématique exclue du champ des RBPP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La liberté d'exprimer et de réaliser ses désirs en lien avec l'intimité, l'affectivité et la sexualité dans le respect de la loi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VIAS est définie par la HAS comme une liberté fondamentale, dans le respect des droits de chacun et dans le cadre de la loi.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'Accompagner la VIAS en ESSMS — Volet 1' a été validée par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L'ANESM en 2018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La CSMS le 14 janvier 2025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Le Ministère de la Santé en mars 2026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La Cour des comptes en 2024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La CSMS le 14 janvier 2025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Commission en charge du social et médico-social (CSMS) de la HAS a validé cette RBPP le 14 janvier 2025.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RBPP a été mise à jour en novembre 2025 suite à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La publication du manuel d'évaluation HAS révisé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La promulgation de la Loi n°2025-1057 modifiant la définition pénale du viol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Une décision du Conseil d'État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La parution du volet 2 de la RBPP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La promulgation de la Loi n°2025-1057 modifiant la définition pénale du viol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Loi n°2025-1057 du 6 novembre 2025 a modifié la définition pénale du viol et des agressions sexuelles, nécessitant une actualisation.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VIAS concerne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Uniquement les personnes en situation de handicap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Uniquement les adultes en ESSMS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L'ensemble des personnes en situation de vulnérabilité accompagnées par les ESSMS (mineurs, personnes âgées, handicap, précarité)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Uniquement les majeurs protégés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C. L'ensemble des personnes en situation de vulnérabilité accompagnées par les ESSMS (mineurs, personnes âgées, handicap, précarité)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RBPP est transversale à tous les publics vulnérables : mineurs, personnes âgées, handicap, exclusion, psychiatrie.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L'approche positive de la VIAS signifie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Encourager toutes les pratiques sexuelles sans restriction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Considérer la VIAS comme un signal positif de santé et créer une dynamique favorable autour d'elle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Éviter d'aborder ce sujet avec les personnes accompagnées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Déléguer cette mission aux médecins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Considérer la VIAS comme un signal positif de santé et créer une dynamique favorable autour d'elle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L'approche positive consiste à reconnaître les bénéfices de la VIAS pour le bien-être et d'en favoriser l'expression dans le respect des droits.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L'intimité est définie dans cette RBPP comme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Uniquement l'intimité du corps lors de la toilette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Un espace physique, mental, social et/ou émotionnel que les personnes peuvent choisir de partager ou non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Le secret médical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L'absence de relation avec les autres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Un espace physique, mental, social et/ou émotionnel que les personnes peuvent choisir de partager ou non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L'intimité dépasse la dimension corporelle : c'est un droit au respect de la vie privée et un espace protégé de soi.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vie affective est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Synonyme de vie sexuelle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Un espace émotionnel permettant d'éprouver et d'exprimer des sentiments, n'impliquant pas systématiquement de pratique sexuelle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Une activité réservée aux personnes sans troubles cognitifs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Un concept uniquement pédiatrique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Un espace émotionnel permettant d'éprouver et d'exprimer des sentiments, n'impliquant pas systématiquement de pratique sexuelle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 affective et vie sexuelle sont distinctes mais liées : on peut avoir une vie affective sans pratique sexuelle.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Selon l'OMS (2006), la santé sexuelle est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L'absence de maladies sexuellement transmissibles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Un état de bien-être physique, émotionnel, mental et social en matière de sexualité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La capacité reproductive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Une norme comportementale définie par le médecin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Un état de bien-être physique, émotionnel, mental et social en matière de sexualité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définition OMS est globale : bien-être physique, émotionnel, mental ET social, pas seulement l'absence de pathologie.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VIAS N'est PAS abordée dans cette RBPP concernant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Le droit à l'intimité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La parentalité et l'accompagnement à la grossesse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Le consentement sexuel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La formation des professionnels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La parentalité et l'accompagnement à la grossesse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parentalité et la grossesse font l'objet d'autres RBPP HAS. Cette RBPP exclut également l'assistance sexuelle (hors cadre légal).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10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L'autodétermination en lien avec la VIAS passe notamment par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La permission des parents ou tuteurs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La connaissance de soi, le renforcement de l'estime de soi, et l'acceptation du risque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La décision du médecin référent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L'absence de tout risque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Q10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La connaissance de soi, le renforcement de l'estime de soi, et l'acceptation du risque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L'autodétermination implique que la personne soit actrice de ses choix, avec un soutien professionnel et des outils adaptés (CAA, FALC).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11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Inscrire la VIAS dans le projet d'établissement est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Optionnel selon la direction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Indispensable pour rassembler tous les acteurs autour de postures et pratiques communes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Déconseillé car trop sensible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Réservé aux établissements médico-sociaux accueillant des adultes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Q11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Indispensable pour rassembler tous les acteurs autour de postures et pratiques communes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L'inscription institutionnelle est une recommandation forte : elle officialise l'engagement de l'ESSMS et donne un cadre commun.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12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quels outils institutionnels la VIAS doit-elle être inscrite 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Uniquement dans le projet personnalisé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Dans le projet d'établissement, le règlement de fonctionnement, le livret d'accueil et le contrat de séjour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Dans la fiche de poste du médecin coordinateur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Dans le DUERP uniquement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Q12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Dans le projet d'établissement, le règlement de fonctionnement, le livret d'accueil et le contrat de séjour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recommande une inscription systématique dans l'ensemble des outils formels de l'établissement.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13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liberté de circulation dans un ESSMS est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Un privilège accordé selon le comportement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Un droit fondamental qui doit être organisé dans le respect de la sécurité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Une décision médicale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Sans rapport avec la VIAS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Q13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Un droit fondamental qui doit être organisé dans le respect de la sécurité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liberté de circulation est liée à la VIAS car elle conditionne la possibilité de maintenir des relations et une vie sociale et intime.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14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Concernant la confidentialité des informations liées à la VIAS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Toute l'équipe doit être informée de la vie sexuelle des résidents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Les informations doivent être partagées dans le strict respect de la vie privée et de la confidentialité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La famille a droit à toutes les informations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Le DUI doit tout contenir sans restriction</a:t>
            </a:r>
            <a:endParaRPr lang="en-US" sz="1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Q14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Les informations doivent être partagées dans le strict respect de la vie privée et de la confidentialité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insiste sur le respect absolu de la vie privée : les informations relatives à la VIAS ne se partagent qu'avec l'accord de la personne.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15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espaces de la VIAS dans un ESSMS doivent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Être surveillés en permanence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Garantir l'intimité des personnes (fermeture possible, signalétique adaptée)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Être accessibles uniquement aux résidents sans mesure de protection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Être réservés aux couples mariés</a:t>
            </a:r>
            <a:endParaRPr lang="en-US" sz="1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Q15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Garantir l'intimité des personnes (fermeture possible, signalétique adaptée)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Penser l'aménagement des espaces pour permettre l'intimité est une recommandation explicite de la RBPP.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16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formation des professionnels à la VIAS est présentée dans la RBPP comme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Une option selon les ressources budgétaires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Une nécessité reconnue et incontournable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Une compétence personnelle, pas professionnelle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Uniquement utile pour les sexologues</a:t>
            </a:r>
            <a:endParaRPr lang="en-US" sz="1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Q16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Une nécessité reconnue et incontournable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identifie le manque de formation comme un frein majeur et recommande une formation initiale et continue pour tous.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17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professionnel la RBPP recommande-t-elle de nommer dans les ESSMS 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Un médecin sexologue à temps plein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Un ou des référents 'Vie intime, affective et sexuelle'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Un psychologue dédié à la VIAS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Un conseiller juridique</a:t>
            </a:r>
            <a:endParaRPr lang="en-US" sz="17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Q17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Un ou des référents 'Vie intime, affective et sexuelle'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recommande de nommer des référents VIAS au sein des établissements pour coordonner les pratiques et être ressource pour l'équipe.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18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outils d'information pour les personnes accompagnées doivent être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Exclusivement en format texte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Adaptés au public : FALC, CAA, pictogrammes, braille, langue des signes (LSF)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Rédigés par le médecin coordinateur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Identiques pour tous les publics</a:t>
            </a:r>
            <a:endParaRPr lang="en-US" sz="17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Q18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Adaptés au public : FALC, CAA, pictogrammes, braille, langue des signes (LSF)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rappelle l'obligation d'adapter tous les supports : FALC, CAA assistée et non assistée, braille, TIC selon le public.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19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Associer les proches à la réflexion sur la VIAS doit se faire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Systématiquement dès l'admission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Avec l'accord exprès de la personne accompagnée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Sur décision du mandataire judiciaire uniquement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Jamais, la VIAS est strictement privée</a:t>
            </a:r>
            <a:endParaRPr lang="en-US" sz="17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Q19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Avec l'accord exprès de la personne accompagnée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personne accompagnée reste maître de ce qu'elle partage avec ses proches : son consentement est requis avant toute implication de l'entourage.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20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proches qui manifestent des inquiétudes sur la VIAS de leur proche doivent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Être ignorés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Être accompagnés et informés sur les droits de la personne et le positionnement de l'ESSMS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Avoir un droit de veto sur les choix de la personne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Être orientés uniquement vers le médecin</a:t>
            </a:r>
            <a:endParaRPr lang="en-US" sz="17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Q20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Être accompagnés et informés sur les droits de la personne et le positionnement de l'ESSMS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recommande d'accompagner et de soutenir les proches dans leurs questionnements, tout en leur rappelant les droits fondamentaux de la personne.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21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principal frein identifié chez les professionnels concernant la VIAS est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Le manque de budget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Un sentiment d'illégitimité à aborder ce sujet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L'opposition des directions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Le refus des personnes accompagnées</a:t>
            </a:r>
            <a:endParaRPr lang="en-US" sz="17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Q21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Un sentiment d'illégitimité à aborder ce sujet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recueillies par la HAS confirment que les professionnels se sentent illégitimes à aborder la VIAS faute de cadre et de formation.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22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travail sur les représentations des professionnels vise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À les convaincre d'accepter toutes les pratiques sans limite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À interroger les stéréotypes et tabous qui freinent l'accompagnement de la VIAS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À réduire leur rôle dans la VIAS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À les remplacer par des experts extérieurs</a:t>
            </a:r>
            <a:endParaRPr lang="en-US" sz="17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Q22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À interroger les stéréotypes et tabous qui freinent l'accompagnement de la VIAS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préconise une réflexion régulière en équipe sur les représentations pour éviter que les tabous personnels n'influencent l'accompagnement.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23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instances recommandées pour travailler les représentations en équipe sont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Uniquement les réunions de synthèse sur les projets personnalisés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Le CVS, les réunions d'équipe, les groupes de parole, la supervision et l'analyse des pratiques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Les réunions budgétaires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Les formations en e-learning uniquement</a:t>
            </a:r>
            <a:endParaRPr lang="en-US" sz="17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Q23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Le CVS, les réunions d'équipe, les groupes de parole, la supervision et l'analyse des pratiques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encourage l'utilisation de toutes les instances collectives pour nourrir la réflexion éthique autour de la VIAS.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24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personnes accompagnées peuvent également avoir des représentations négatives de leur propre VIAS. Cela s'appelle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Un comportement problème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L'intériorisation des stéréotypes et l'auto-censure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Un trouble psychiatrique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Un refus de soin</a:t>
            </a:r>
            <a:endParaRPr lang="en-US" sz="17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Q24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L'intériorisation des stéréotypes et l'auto-censure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personnes accompagnées intègrent parfois les messages négatifs de leur environnement sur leur sexualité. L'accompagnement doit déconstruire ces stéréotypes.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25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'idée reçue' fréquente concernant les personnes en situation de handicap et la VIAS est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Qu'elles ont les mêmes droits que les autres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Qu'elles n'ont pas de vie affective ou sexuelle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Qu'elles expriment facilement leurs besoins en matière de VIAS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Qu'elles sont toutes informées de leurs droits</a:t>
            </a:r>
            <a:endParaRPr lang="en-US" sz="17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Q25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Qu'elles n'ont pas de vie affective ou sexuelle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déconstruit explicitement l'idée reçue selon laquelle les personnes en situation de handicap n'auraient pas de vie affective ou sexuelle.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26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L'accompagnement de la VIAS doit être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Standardisé pour tous les résidents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Personnalisé, partant des attentes et désirs de la personne, respectant son rythme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Conditionné à l'absence de trouble du comportement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Décidé par l'équipe soignante</a:t>
            </a:r>
            <a:endParaRPr lang="en-US" sz="17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Q26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Personnalisé, partant des attentes et désirs de la personne, respectant son rythme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insiste sur la personnalisation : chaque projet de VIAS est unique, co-construit avec la personne dans le respect de ses choix.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27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Promouvoir l'expression du consentement sexuel auprès des personnes accompagnées passe par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Une interdiction des relations sexuelles en établissement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Une information adaptée (FALC, CAA), des ateliers, et un accompagnement individualisé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La signature d'un contrat par le tuteur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Une décision médicale préalable</a:t>
            </a:r>
            <a:endParaRPr lang="en-US" sz="17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Q27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Une information adaptée (FALC, CAA), des ateliers, et un accompagnement individualisé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consentement éclairé s'apprend et se soutient : la RBPP recommande des outils accessibles et des espaces de parole adaptés.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28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ressource externe recommandée par la RBPP pour accompagner la VIAS est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Les services de gynécologie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Les centres Intimagir, les sexologues cliniciens, et les associations spécialisées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Les commissariats de police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Les services de psychiatrie uniquement</a:t>
            </a:r>
            <a:endParaRPr lang="en-US" sz="17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Q28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Les centres Intimagir, les sexologues cliniciens, et les associations spécialisées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centres ressources Intimagir et les sexologues cliniciens connaissant les publics vulnérables sont les ressources clés recommandées.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29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Favoriser la vie relationnelle des personnes accompagnées signifie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Organiser des sorties uniquement en groupe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Soutenir les relations amicales, amoureuses et sociales dans et hors de l'établissement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Limiter les contacts avec l'extérieur pour des raisons de sécurité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Conditionner les sorties à l'accord du tuteur</a:t>
            </a:r>
            <a:endParaRPr lang="en-US" sz="17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Q29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Soutenir les relations amicales, amoureuses et sociales dans et hors de l'établissement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encourage activement le maintien et le développement des liens relationnels comme composante essentielle de la VIAS.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30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droit à la vie privée est ancré dans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Uniquement la loi 2002-2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La Déclaration des droits de l'homme, la Constitution, les conventions internationales et la Charte des droits fondamentaux de l'UE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Le code du travail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Le règlement RGPD uniquement</a:t>
            </a:r>
            <a:endParaRPr lang="en-US" sz="17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Q30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La Déclaration des droits de l'homme, la Constitution, les conventions internationales et la Charte des droits fondamentaux de l'UE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droit à la vie privée bénéficie d'une protection multi-niveaux : textes nationaux et internationaux. Le Conseil constitutionnel le rattache aux droits naturels de l'homme.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31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L'article L. 312-1 du CASF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Définit les droits des tuteurs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Liste les établissements et services sociaux et médico-sociaux concernés par cette RBPP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Réglemente la formation professionnelle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Encadre le financement des ESSMS</a:t>
            </a:r>
            <a:endParaRPr lang="en-US" sz="17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Q31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Liste les établissements et services sociaux et médico-sociaux concernés par cette RBPP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L'article L. 312-1 du CASF est la référence pour identifier les ESSMS auxquels s'applique cette RBPP.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32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méthode d'élaboration de cette RBPP est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Essai contrôlé randomisé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Consensus simple avec triple expertise (scientifique, professionnelle, expérientielle)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Avis d'experts médicaux uniquement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Méta-analyse Cochrane</a:t>
            </a:r>
            <a:endParaRPr lang="en-US" sz="17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Q32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Consensus simple avec triple expertise (scientifique, professionnelle, expérientielle)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HAS applique sa méthodologie RBPP spécifique au social-médico-social : consensus simple avec participation des personnes concernées, des professionnels et des chercheurs.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33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loi n°2025-1057 du 6 novembre 2025 a modifié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Le financement des ESSMS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La définition pénale du viol et des agressions sexuelles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Le code de déontologie des travailleurs sociaux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Le référentiel d'évaluation HAS</a:t>
            </a:r>
            <a:endParaRPr lang="en-US" sz="17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Q33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La définition pénale du viol et des agressions sexuelles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loi a conduit à la mise à jour de la RBPP en novembre 2025. Les professionnels doivent en connaître les nouvelles définitions légales.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34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L'article D. 142-1-1 du CASF énonce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La liste des RBPP obligatoires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Les objectifs du travail social : inclusion, émancipation, autonomie, protection, participation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Les tarifs des ESSMS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Les conditions de recrutement des professionnels</a:t>
            </a:r>
            <a:endParaRPr lang="en-US" sz="17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Q34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Les objectifs du travail social : inclusion, émancipation, autonomie, protection, participation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 article ancre les valeurs du travail social, sur lesquelles s'appuient les recommandations de cette RBPP.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35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Communication Alternative et Augmentée (CAA) assistée comprend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Uniquement la langue des signes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Les pictogrammes, PECS, FALC, synthèse vocale, photolangage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Uniquement les supports numériques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Les thérapies cognitivo-comportementales</a:t>
            </a:r>
            <a:endParaRPr lang="en-US" sz="17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Q35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Les pictogrammes, PECS, FALC, synthèse vocale, photolangage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CAA assistée regroupe tous les outils qui s'appuient sur un support externe : pictogrammes, PECS, FALC, etc.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36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FALC signifie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Formation à l'accompagnement légal et clinique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Facile à Lire et à Comprendre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Fiche d'analyse linguistique et communicationnelle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Format adapté aux langues courantes</a:t>
            </a:r>
            <a:endParaRPr lang="en-US" sz="17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Q36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Facile à Lire et à Comprendre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FALC est une méthode de traduction du langage ordinaire en langage simplifié, utile pour les personnes en situation de handicap cognitif.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37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PECS est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Un protocole d'évaluation comportementale standardisé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Un système de communication alternatif basé sur l'échange de pictogrammes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Un traitement pharmacologique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Un outil d'évaluation de la qualité</a:t>
            </a:r>
            <a:endParaRPr lang="en-US" sz="17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Q37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Un système de communication alternatif basé sur l'échange de pictogrammes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Picture Exchange Communication System (PECS) est un outil de CAA assistée particulièrement utilisé avec les personnes avec autisme ou TDI.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38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boîte à outils de cette RBPP contient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Des formulaires de soins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Des ressources légales, des ressources à consulter, et une illustration du rôle des référents VIAS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Des protocoles médicaux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Des grilles d'évaluation HAS</a:t>
            </a:r>
            <a:endParaRPr lang="en-US" sz="17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Q38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Des ressources légales, des ressources à consulter, et une illustration du rôle des référents VIAS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boîte à outils pratique de la RBPP comprend 3 outils : ressources légales, ressources associatives/institutionnelles, et illustration du rôle des référents VIAS.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39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recherche documentaire pour cette RBPP a été réalisée par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Le groupe de travail pluridisciplinaire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Des documentalistes spécialisés (A. Dancoisne, S. Lascols)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Les personnes accompagnées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L'ANSM</a:t>
            </a:r>
            <a:endParaRPr lang="en-US" sz="17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Q39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Des documentalistes spécialisés (A. Dancoisne, S. Lascols)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rigueur méthodologique de la HAS inclut une revue documentaire réalisée par des professionnels de la documentation.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40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RBPP s'adresse aux professionnels du secteur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Uniquement du handicap adulte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Du handicap, de la protection de l'enfance, de l'inclusion sociale, des personnes âgées, et de la psychiatrie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Uniquement des établissements avec hébergement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Uniquement des services à domicile</a:t>
            </a:r>
            <a:endParaRPr lang="en-US" sz="17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Q40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Du handicap, de la protection de l'enfance, de l'inclusion sociale, des personnes âgées, et de la psychiatrie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est transversale à tous les secteurs des ESSMS cités à l'article L. 312-1 du CASF, y compris les interventions à domicile.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41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Concernant les mineurs en ESSMS, la RBPP recommande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De ne pas aborder la VIAS avant 18 ans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Une éducation complète à la sexualité adaptée à l'âge, à la maturité et aux capacités des personnes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Une délégation exclusive aux parents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Un encadrement uniquement médical</a:t>
            </a:r>
            <a:endParaRPr lang="en-US" sz="17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Q41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Une éducation complète à la sexualité adaptée à l'âge, à la maturité et aux capacités des personnes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L'éducation complète à la sexualité pour les mineurs (définition UNESCO) est un pilier de cette RBPP, adaptée selon l'âge et les besoins.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42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personnes en situation de précarité et d'exclusion, la VIAS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N'est pas couverte par cette RBPP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Est incluse au même titre que les autres publics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Est gérée exclusivement par les CSAPA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Relève uniquement du secteur sanitaire</a:t>
            </a:r>
            <a:endParaRPr lang="en-US" sz="17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Q42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Est incluse au même titre que les autres publics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personnes en situation de précarité (CHRS, CADA, CHU, CSAPA) sont explicitement incluses dans le champ de cette RBPP.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43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personnes âgées en perte d'autonomie, la VIAS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Disparaît naturellement avec l'âge selon la RBPP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Reste une dimension essentielle de l'accompagnement tout au long de l'existence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Est du ressort exclusif du médecin gériatre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N'est pas concernée par le volet 1 de la RBPP</a:t>
            </a:r>
            <a:endParaRPr lang="en-US" sz="17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Q43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Reste une dimension essentielle de l'accompagnement tout au long de l'existence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souligne que la VIAS accompagne toute l'existence : les personnes âgées ont les mêmes droits fondamentaux que les autres publics.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44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prévention des violences sexistes et sexuelles (VSS) est présentée dans la RBPP comme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Un sujet distinct à traiter séparément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Un objectif transversal à l'ensemble de l'accompagnement de la VIAS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Une mission uniquement policière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Une responsabilité médicale</a:t>
            </a:r>
            <a:endParaRPr lang="en-US" sz="17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Q44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Un objectif transversal à l'ensemble de l'accompagnement de la VIAS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prévention des VSS est un fil conducteur de toute la RBPP : elle s'inscrit dans l'approche positive et la formation des professionnels.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45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 de suspicion de violence sexuelle dans un ESSMS, le professionnel doit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Ne pas en parler pour préserver la confidentialité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Signaler conformément au cadre légal, notamment la loi n°2025-1057 et les dispositions du CASF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Attendre la confirmation médicale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En discuter uniquement avec la famille</a:t>
            </a:r>
            <a:endParaRPr lang="en-US" sz="17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Q45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Signaler conformément au cadre légal, notamment la loi n°2025-1057 et les dispositions du CASF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mise à jour 2025 de la RBPP rappelle le cadre légal renforcé : les professionnels doivent connaître leurs obligations de signalement.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46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L'équilibre entre protection de la personne et respect de ses libertés est décrit dans la RBPP comme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Simple à gérer avec des protocoles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Un enjeu éthique permanent nécessitant des instances de réflexion et un cadre institutionnel solide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Une question uniquement médicale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Résolu par le règlement de fonctionnement</a:t>
            </a:r>
            <a:endParaRPr lang="en-US" sz="17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Q46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Un enjeu éthique permanent nécessitant des instances de réflexion et un cadre institutionnel solide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reconnaît explicitement cette tension centrale du travail social : il n'existe pas de réponse unique, d'où l'importance des instances éthiques.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47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Parmi les freins à l'accompagnement de la VIAS identifiés par la RBPP, on trouve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L'excès de formation des professionnels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Les difficultés liées à la vie en collectivité, l'absence de cadre commun, et les craintes des proches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L'excès de ressources budgétaires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L'absence de besoins exprimés par les personnes</a:t>
            </a:r>
            <a:endParaRPr lang="en-US" sz="17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Q47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Les difficultés liées à la vie en collectivité, l'absence de cadre commun, et les craintes des proches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répertorie plusieurs freins systémiques : vie en collectivité, manque de cadre, tabous professionnels, pression des familles.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48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tension entre vie privée et intervention du travail social est qualifiée dans la RBPP de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Simple et surmontable par la procédure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Complexe et permanente, requérant une réflexion éthique continue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Inexistante grâce au CASF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Uniquement juridique</a:t>
            </a:r>
            <a:endParaRPr lang="en-US" sz="17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Q48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Complexe et permanente, requérant une réflexion éthique continue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travail social intervient dans la sphère privée par nature. Cette tension doit être régulièrement travaillée en équipe, sans prétendre la résoudre définitivement.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49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Conseil de la Vie Sociale (CVS) peut contribuer à l'accompagnement de la VIAS en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Prenant des décisions à la place des personnes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Étant une instance de travail collectif sur les représentations et les pratiques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Remplaçant les professionnels référents VIAS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Statuant sur les projets personnalisés</a:t>
            </a:r>
            <a:endParaRPr lang="en-US" sz="17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Q49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Étant une instance de travail collectif sur les représentations et les pratiques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CVS est l'une des instances collectives recommandées par la RBPP pour aborder la VIAS de manière participative.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50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pierres angulaires du socle transversal de cette RBPP sont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Le financement et le personnel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Droits fondamentaux, autodétermination, éducation à la sexualité, approche personnalisée, reconnaissance institutionnelle, accompagnement systémique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Les protocoles médicaux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Les outils d'évaluation HAS</a:t>
            </a:r>
            <a:endParaRPr lang="en-US" sz="17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Q50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Droits fondamentaux, autodétermination, éducation à la sexualité, approche personnalisée, reconnaissance institutionnelle, accompagnement systémique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décrit 7 pierres angulaires du socle : droits humains, autodétermination, éducation sexuelle, approche personnalisée, légitimité institutionnelle, experts qualifiés, travail sur les représentations.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51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volet 2 de cette RBPP portera sur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Les droits fondamentaux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Les outils, interventions et pratiques d'accompagnement ciblés par public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La révision du référentiel d'évaluation HAS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La parentalité</a:t>
            </a:r>
            <a:endParaRPr lang="en-US" sz="17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Q51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Les outils, interventions et pratiques d'accompagnement ciblés par public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volet 2, en cours d'élaboration, descend au niveau opérationnel : outils et pratiques concrètes par public cible (handicap, personnes âgées, etc.).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52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RBPP N'aborde PAS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Le droit à la vie privée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La parentalité, la grossesse et l'assistance sexuelle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La formation des professionnels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Le consentement</a:t>
            </a:r>
            <a:endParaRPr lang="en-US" sz="17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Q52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La parentalité, la grossesse et l'assistance sexuelle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est explicite sur ses limites : parentalité (autre RBPP 2012), grossesse (autre RBPP 2024), assistance sexuelle (hors cadre légal français).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53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RBPP contribue à l'évaluation HAS des ESSMS principalement dans le domaine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De la gestion financière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Des droits des personnes, de la bientraitance et de la personnalisation de l'accompagnement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De la sécurité incendie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Des ressources humaines</a:t>
            </a:r>
            <a:endParaRPr lang="en-US" sz="17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Q53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Des droits des personnes, de la bientraitance et de la personnalisation de l'accompagnement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critères du référentiel HAS d'évaluation mobilisent directement cette RBPP pour évaluer le respect des droits, l'approche personnalisée et la bientraitance.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54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professionnel se sent mal à l'aise quand un résident lui parle de sa vie amoureuse. Selon la RBPP, il doit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Rediriger immédiatement vers le médecin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Interroger ses propres représentations, s'appuyer sur le cadre institutionnel et solliciter la supervision ou le référent VIAS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Écrire un rapport d'incident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Ignorer la situation</a:t>
            </a:r>
            <a:endParaRPr lang="en-US" sz="17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Q54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Interroger ses propres représentations, s'appuyer sur le cadre institutionnel et solliciter la supervision ou le référent VIAS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prévoit explicitement ce cas : le sentiment d'illégitimité doit être travaillé en équipe. Le professionnel n'est pas seul face à cette situation.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55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proche s'oppose aux relations amoureuses de son enfant adulte en ESSMS. L'équipe doit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Respecter l'avis du proche car il connaît mieux son enfant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Rappeler que l'adulte accompagné conserve ses droits fondamentaux, tout en accompagnant le proche dans ses inquiétudes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Demander une décision du tribunal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Interdire toute relation dans l'intérêt de la sécurité</a:t>
            </a:r>
            <a:endParaRPr lang="en-US" sz="17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Q55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Rappeler que l'adulte accompagné conserve ses droits fondamentaux, tout en accompagnant le proche dans ses inquiétudes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est claire : les droits fondamentaux de la personne accompagnée ne peuvent être limités par les seules inquiétudes des proches. L'accompagnement du proche est aussi recommandé.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56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résident demande à fermer la porte de sa chambre. L'équipe doit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Refuser systématiquement pour des raisons de surveillance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Examiner la demande au regard du droit à l'intimité et adapter le règlement de fonctionnement si nécessaire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Transmettre la décision au médecin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Demander l'accord du tuteur</a:t>
            </a:r>
            <a:endParaRPr lang="en-US" sz="17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Q56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Examiner la demande au regard du droit à l'intimité et adapter le règlement de fonctionnement si nécessaire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Penser l'aménagement des espaces pour permettre l'intimité est une recommandation explicite. La fermeture de la chambre est un droit fondamental à concilier avec les contraintes de sécurité.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57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Lors d'une réunion d'équipe, un professionnel affirme qu'une personne avec TDI sévère ne peut pas avoir de vie affective. Selon la RBPP, le cadre de service doit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Approuver : les personnes avec TDI sévère sont effectivement exclues du champ de la RBPP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Déconstruire cette représentation : la VIAS concerne toutes les personnes accompagnées, y compris celles avec TDI sévère, avec un accompagnement adapté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Ne pas intervenir dans les croyances personnelles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Demander une expertise psychiatrique</a:t>
            </a:r>
            <a:endParaRPr lang="en-US" sz="17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Q57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Déconstruire cette représentation : la VIAS concerne toutes les personnes accompagnées, y compris celles avec TDI sévère, avec un accompagnement adapté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s'applique à toutes les personnes accompagnées. L'idée que certaines n'ont pas de vie affective est une idée reçue explicitement déconstruite dans le document.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58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inscrire la VIAS dans le projet personnalisé, le professionnel doit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Compléter la rubrique VIAS dans tous les projets personnalisés sans exception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Aborder la thématique avec la personne et n'inscrire des éléments que si elle y consent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Recueillir l'accord du tuteur avant tout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Attendre la demande spontanée de la personne</a:t>
            </a:r>
            <a:endParaRPr lang="en-US" sz="17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Q58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Aborder la thématique avec la personne et n'inscrire des éléments que si elle y consent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consentement de la personne est préalable à toute inscription dans le projet personnalisé. La RBPP recommande d'aborder le sujet, pas de l'imposer.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59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notion de 'triple expertise' dans l'élaboration des RBPP HAS désigne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Trois niveaux de validation administrative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L'expertise scientifique, professionnelle et expérientielle (personnes concernées)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Trois relectures du document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Les expertises médicale, juridique et pédagogique</a:t>
            </a:r>
            <a:endParaRPr lang="en-US" sz="17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Q59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L'expertise scientifique, professionnelle et expérientielle (personnes concernées)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méthodologie HAS pour les RBPP du secteur social-médico-social intègre systématiquement les trois formes d'expertise, dont celle des personnes accompagnées.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60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partenaires externes recommandés pour soutenir la VIAS en ESSMS incluent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Uniquement les établissements psychiatriques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Les sexologues cliniciens, les centres Intimagir, les associations spécialisées et les ressources locales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Uniquement le médecin traitant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Les services de police et gendarmerie</a:t>
            </a:r>
            <a:endParaRPr lang="en-US" sz="17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Q60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Les sexologues cliniciens, les centres Intimagir, les associations spécialisées et les ressources locales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recommande de constituer un réseau partenarial : centres Intimagir, sexologues, associations. Ces ressources complètent les compétences internes.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61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mise à jour de la RBPP en novembre 2025 implique pour les ESSMS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Aucun changement pratique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Une mise à jour des formations et protocoles de signalement intégrant la nouvelle définition légale du viol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La réécriture complète du projet d'établissement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Une notification obligatoire à l'ARS</a:t>
            </a:r>
            <a:endParaRPr lang="en-US" sz="17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Q61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Une mise à jour des formations et protocoles de signalement intégrant la nouvelle définition légale du viol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modification de la définition pénale du viol nécessite une actualisation des formations des professionnels et des protocoles internes de signalement.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62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VIAS est décrite dans la RBPP comme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Un privilège accordé sous conditions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Une dimension essentielle de la dignité humaine et du bien-être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Un problème à gérer en ESSMS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Une compétence à développer par les professionnels</a:t>
            </a:r>
            <a:endParaRPr lang="en-US" sz="17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Q62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Une dimension essentielle de la dignité humaine et du bien-être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affirme dès son préambule que la VIAS est une liberté fondamentale et un élément substantiel de la dignité humaine.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63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L'autodétermination selon Wehmeyer (1996) est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La capacité à prendre des décisions sans aide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L'ensemble des habiletés permettant à une personne d'agir directement sur sa vie en effectuant librement des choix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Un niveau de développement atteint à l'âge adulte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Une notion uniquement applicable aux personnes sans handicap</a:t>
            </a:r>
            <a:endParaRPr lang="en-US" sz="17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Q63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L'ensemble des habiletés permettant à une personne d'agir directement sur sa vie en effectuant librement des choix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définition de Wehmeyer (1996), traduite par Lachapelle, est la référence mobilisée dans la RBPP pour définir l'autodétermination.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64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renforcement de l'estime de soi dans l'accompagnement de la VIAS est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Secondaire par rapport à la prévention des risques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Un des leviers essentiels de l'autodétermination des personnes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Une compétence uniquement psychologique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Un objectif uniquement pédiatrique</a:t>
            </a:r>
            <a:endParaRPr lang="en-US" sz="17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Q64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Un des leviers essentiels de l'autodétermination des personnes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identifie l'estime de soi comme un des fondements de l'autodétermination en matière de VIAS.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65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sexualité selon l'OMS (2012) englobe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Uniquement les pratiques génitales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Le sexe, l'identité sexuelle, l'orientation sexuelle, l'érotisme, le plaisir, l'intimité et la reproduction, influencés par de multiples facteurs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Les aspects reproductifs uniquement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Les dimensions biologiques uniquement</a:t>
            </a:r>
            <a:endParaRPr lang="en-US" sz="17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Q65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Le sexe, l'identité sexuelle, l'orientation sexuelle, l'érotisme, le plaisir, l'intimité et la reproduction, influencés par de multiples facteurs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définition OMS est très large : la sexualité est influencée par des facteurs biologiques, psychologiques, sociaux, culturels, éthiques, juridiques et spirituels.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66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vie affective se développe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Uniquement à l'adolescence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Dès l'enfance et continue d'évoluer tout au long de l'existence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À partir de l'âge adulte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Uniquement dans le cadre de relations de couple</a:t>
            </a:r>
            <a:endParaRPr lang="en-US" sz="17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Q66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Dès l'enfance et continue d'évoluer tout au long de l'existence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insiste sur la dimension développementale de la vie affective : elle commence dès l'enfance et évolue tout au long de la vie.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67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identités et expressions de genre ainsi que les orientations sexuelles doivent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Être corrigées si elles s'éloignent de la norme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Être respectées et intégrées dans l'accompagnement institutionnel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Être signalées au médecin psychiatre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Ne pas être abordées en ESSMS</a:t>
            </a:r>
            <a:endParaRPr lang="en-US" sz="17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Q67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Être respectées et intégrées dans l'accompagnement institutionnel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est explicite : le respect des identités de genre, expressions de genre et orientations sexuelles est une recommandation institutionnelle forte.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68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CAA non assistée comprend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Les pictogrammes et supports papier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La langue des signes française, les expressions faciales et postures corporelles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Uniquement la communication écrite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Le FALC</a:t>
            </a:r>
            <a:endParaRPr lang="en-US" sz="17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Q68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La langue des signes française, les expressions faciales et postures corporelles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CAA non assistée ne nécessite pas de support externe : LSF, expressions faciales, postures corporelles. La CAA assistée utilise des supports (pictogrammes, PECS, etc.).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69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Concernant les pratiques sexuelles entre personnes accompagnées dans un ESSMS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Elles sont automatiquement interdites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Elles doivent être encadrées par le cadre institutionnel dans le respect du consentement et du cadre légal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Elles sont libres sans aucune limite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Elles nécessitent l'accord écrit du tuteur dans tous les cas</a:t>
            </a:r>
            <a:endParaRPr lang="en-US" sz="17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Q69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Elles doivent être encadrées par le cadre institutionnel dans le respect du consentement et du cadre légal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ne les interdit pas mais insiste sur la nécessité d'un cadre institutionnel clair, fondé sur le consentement et le respect du cadre légal.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70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L'absence de définition officielle consensuelle de la VIAS dans la littérature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Justifie de ne pas en parler en ESSMS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 conduit le groupe de travail HAS à élaborer une définition commune pour cette RBPP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Prouve que ce n'est pas un sujet professionnel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Est résolue par le DSM-5</a:t>
            </a:r>
            <a:endParaRPr lang="en-US" sz="17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Q70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A conduit le groupe de travail HAS à élaborer une définition commune pour cette RBPP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reconnaît ce manque et y répond en proposant une définition claire élaborée par le groupe de travail pluridisciplinaire.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71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effets positifs de la VIAS sur la santé incluent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Uniquement les bénéfices reproductifs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Une amélioration des relations interpersonnelles, de la santé physique et mentale, et de l'espérance de vie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Des risques uniquement à gérer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Aucun bénéfice prouvé scientifiquement</a:t>
            </a:r>
            <a:endParaRPr lang="en-US" sz="17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Q71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Une amélioration des relations interpersonnelles, de la santé physique et mentale, et de l'espérance de vie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cite les données de la littérature : la VIAS a un impact positif sur les relations sociales, la santé physique, mentale et l'espérance de vie.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72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contrat de séjour d'un ESSMS doit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Interdire explicitement toute relation intime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Clarifier le positionnement de l'établissement sur l'accompagnement de la VIAS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Ne pas mentionner la VIAS pour des raisons de confidentialité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Être signé uniquement par le tuteur</a:t>
            </a:r>
            <a:endParaRPr lang="en-US" sz="17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Q72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Clarifier le positionnement de l'établissement sur l'accompagnement de la VIAS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contrat de séjour est un outil institutionnel formel dans lequel la RBPP recommande d'inscrire le positionnement de l'établissement sur la VIAS.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73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supervision des professionnels est recommandée par la RBPP pour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Contrôler les comportements des résidents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Soutenir les professionnels dans leur réflexion éthique sur la VIAS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Remplacer la formation initiale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Réduire les coûts de formation</a:t>
            </a:r>
            <a:endParaRPr lang="en-US" sz="17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Q73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Soutenir les professionnels dans leur réflexion éthique sur la VIAS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supervision est un espace de soutien aux professionnels face aux dilemmes éthiques que pose l'accompagnement de la VIAS.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74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groupe de travail ayant élaboré cette RBPP était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Exclusivement composé de médecins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Pluridisciplinaire : professionnels, représentants d'usagers et personnes accompagnées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Uniquement composé de juristes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Composé uniquement d'experts HAS</a:t>
            </a:r>
            <a:endParaRPr lang="en-US" sz="170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Q74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Pluridisciplinaire : professionnels, représentants d'usagers et personnes accompagnées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méthode 'triple expertise' HAS exige la participation de professionnels, de représentants d'usagers ET de personnes accompagnées dans le groupe de travail.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75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thématique de l'assistance sexuelle dans cette RBPP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Est recommandée dans certains cas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N'est pas abordée car hors du cadre légal français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Est traitée dans le volet 2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Est une responsabilité médicale</a:t>
            </a:r>
            <a:endParaRPr lang="en-US" sz="170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Q75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N'est pas abordée car hors du cadre légal français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l'indique clairement : 'le périmètre des recommandations émises par la HAS étant limité au cadre légal et règlementaire', l'assistance sexuelle n'est pas abordée.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76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L'information sur les droits en matière de VIAS doit être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Donnée une seule fois à l'admission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Régulièrement renouvelée, accessible et adaptée au mode de communication de la personne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Réservée aux personnes sans mesure de protection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Communiquée uniquement par écrit</a:t>
            </a:r>
            <a:endParaRPr lang="en-US" sz="1700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Q76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Régulièrement renouvelée, accessible et adaptée au mode de communication de la personne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insiste sur la régularité et l'accessibilité de l'information : elle doit être adaptée (FALC, CAA) et renouvelée selon les besoins.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77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groupes de pairs sont recommandés par la RBPP comme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Un facteur de risque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Une modalité d'accompagnement pour l'accès à la littératie en santé sexuelle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Une activité réservée aux mineurs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Un dispositif médical</a:t>
            </a:r>
            <a:endParaRPr lang="en-US" sz="1700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Q77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Une modalité d'accompagnement pour l'accès à la littératie en santé sexuelle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groupes d'expression autour de la vie affective et sexuelle, les groupes de pairs, contribuent à la littératie en santé sexuelle des personnes accompagnées.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78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'littératie en santé sexuelle' désigne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La capacité à lire des documents médicaux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La capacité à accéder à des informations sur la santé sexuelle et à les comprendre pour faire des choix éclairés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Un diplôme professionnel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Un outil d'évaluation des ESSMS</a:t>
            </a:r>
            <a:endParaRPr lang="en-US" sz="1700" dirty="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Q78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La capacité à accéder à des informations sur la santé sexuelle et à les comprendre pour faire des choix éclairés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littératie en santé sexuelle est la capacité des personnes à accéder, comprendre et utiliser l'information pour leur santé sexuelle. La RBPP en fait un objectif d'accompagnement.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79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règlement de fonctionnement d'un ESSMS doit préciser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L'interdiction de toute vie affective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Les modalités de respect de la vie privée et les conditions permettant l'expression de la VIAS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Uniquement les règles de vie collective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Les tarifs de séjour</a:t>
            </a:r>
            <a:endParaRPr lang="en-US" sz="1700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Q79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Les modalités de respect de la vie privée et les conditions permettant l'expression de la VIAS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recommande que le règlement de fonctionnement aborde explicitement les conditions d'exercice de la VIAS, en équilibre avec la vie collective.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80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Concernant les personnes avec TDI (trouble du développement intellectuel), la RBPP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Les exclut du champ car leur consentement est impossible à évaluer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Les inclut pleinement avec un accompagnement adapté et des outils spécifiques (CAA, FALC)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Délègue entièrement l'accompagnement au psychiatre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Recommande la décision du tuteur pour tout ce qui concerne la VIAS</a:t>
            </a:r>
            <a:endParaRPr lang="en-US" sz="1700" dirty="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Q80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Les inclut pleinement avec un accompagnement adapté et des outils spécifiques (CAA, FALC)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inclut les personnes avec TDI et recommande des approches adaptées. Le TDI n'annule pas les droits fondamentaux en matière de VIAS.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81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d'établissement ou de service doit aborder la VIAS car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C'est une obligation légale explicite du CASF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Cela rassemble tous les acteurs autour de pratiques et valeurs communes et formalise l'engagement de l'ESSMS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La direction peut sinon être sanctionnée par l'ARS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Les financeurs l'exigent</a:t>
            </a:r>
            <a:endParaRPr lang="en-US" sz="1700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Q81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Cela rassemble tous les acteurs autour de pratiques et valeurs communes et formalise l'engagement de l'ESSMS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justifie cette recommandation par la nécessité de créer un cadre commun et de formaliser l'engagement institutionnel, pas par une obligation légale directe.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82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formation des personnes accompagnées à leur VIAS doit être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Identique à celle des professionnels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Adaptée à leur âge, maturité, capacités et mode de communication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Uniquement théorique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Dispensée uniquement par un médecin</a:t>
            </a:r>
            <a:endParaRPr lang="en-US" sz="170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Q82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Adaptée à leur âge, maturité, capacités et mode de communication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est très précise : les supports et contenus destinés aux personnes accompagnées doivent être adaptés (FALC, CAA, pictogrammes, TIC, ateliers).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83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L'impact de la VIAS sur la qualité de vie des personnes accompagnées est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Marginal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Significatif : elle améliore les relations interpersonnelles, la santé physique, mentale et l'espérance de vie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Négatif selon la littérature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Non documenté</a:t>
            </a:r>
            <a:endParaRPr lang="en-US" sz="1700" dirty="0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Q83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Significatif : elle améliore les relations interpersonnelles, la santé physique, mentale et l'espérance de vie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s'appuie sur la littérature scientifique pour démontrer l'impact positif de la VIAS sur la qualité de vie globale des personnes.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84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lien avec SERAFIN-PH, l'accompagnement de la VIAS s'inscrit dans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Les prestations de soins médicaux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Les prestations de soutien à l'autonomie et à la vie sociale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Les prestations de transport adapté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Les prestations d'hébergement</a:t>
            </a:r>
            <a:endParaRPr lang="en-US" sz="1700" dirty="0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Q84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Les prestations de soutien à l'autonomie et à la vie sociale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la nomenclature SERAFIN-PH, la VIAS relève des prestations de soutien à l'autonomie et à la vie sociale, à tracer dans le DUI dès maintenant.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85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Lors d'un entretien de projet personnalisé, la personne refuse de parler de sa VIAS. Le professionnel doit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Insister car c'est obligatoire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Respecter ce refus et noter qu'il a été abordé ; la personne peut revenir sur ce choix ultérieurement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Reporter le projet personnalisé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Alerter le médecin</a:t>
            </a:r>
            <a:endParaRPr lang="en-US" sz="1700" dirty="0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Q85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Respecter ce refus et noter qu'il a été abordé ; la personne peut revenir sur ce choix ultérieurement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respecte l'autodétermination : la personne a le droit de ne pas aborder sa VIAS. Le professionnel note la proposition faite et laisse la porte ouverte.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86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notion de 'vulnérabilité' dans le contexte de la VIAS signifie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L'incapacité définitive à avoir une vie affective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Un contexte situationnel qui peut évoluer : vulnérabilité et consentement sont contextuels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Une raison d'interdire toute relation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Un diagnostic médical permanent</a:t>
            </a:r>
            <a:endParaRPr lang="en-US" sz="1700" dirty="0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Q86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Un contexte situationnel qui peut évoluer : vulnérabilité et consentement sont contextuels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rappelle explicitement que la vulnérabilité et le consentement sont contextuels : ils peuvent évoluer selon les situations et ne sont pas des états figés.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87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témoignages de personnes accompagnées intégrés dans la RBPP visent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À illustrer des cas pathologiques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À illustrer des exemples de bonnes pratiques et à donner la parole aux personnes concernées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À remplacer la littérature scientifique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À justifier des sanctions disciplinaires</a:t>
            </a:r>
            <a:endParaRPr lang="en-US" sz="1700" dirty="0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Q87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À illustrer des exemples de bonnes pratiques et à donner la parole aux personnes concernées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Conformément à la triple expertise HAS, les témoignages de personnes accompagnées sont inclus pour illustrer des bonnes pratiques et enrichir la RBPP d'une perspective expérientielle.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88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'idées reçues' présentées dans la RBPP ont pour objectif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De recenser les pratiques interdites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D'interroger de manière ludique certaines représentations en lien avec la VIAS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D'évaluer les compétences des professionnels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De lister les comportements des résidents</a:t>
            </a:r>
            <a:endParaRPr lang="en-US" sz="1700" dirty="0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Q88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D'interroger de manière ludique certaines représentations en lien avec la VIAS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encadrés 'Idée reçue' sont un outil pédagogique de la RBPP pour déconstruire les stéréotypes de manière accessible et non culpabilisante.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89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réflexion éthique en ESSMS autour de la VIAS doit être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Ponctuelle, lors des incidents uniquement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Régulière et institutionnalisée (supervision, analyse des pratiques, comité d'éthique)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Déléguée au médecin psychiatre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Uniquement à l'initiative des professionnels volontaires</a:t>
            </a:r>
            <a:endParaRPr lang="en-US" sz="1700" dirty="0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Q89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Régulière et institutionnalisée (supervision, analyse des pratiques, comité d'éthique)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recommande d'institutionnaliser la réflexion éthique : elle ne peut pas reposer uniquement sur les bonnes volontés individuelles.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90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RBPP a été produite dans le cadre d'une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Demande du Ministère de la Justice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Auto-saisine de la HAS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Commande de l'ARS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Demande des fédérations employeurs</a:t>
            </a:r>
            <a:endParaRPr lang="en-US" sz="1700" dirty="0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Q90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Auto-saisine de la HAS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précise que le demandeur est 'auto-saisine' : c'est la HAS elle-même qui a initié ce travail, ce qui souligne son importance stratégique.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91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L'ISBN de cette RBPP est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978-2-11-172700-7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978-2-11-172702-1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978-2-11-000000-0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Il n'y a pas d'ISBN</a:t>
            </a:r>
            <a:endParaRPr lang="en-US" sz="1700" dirty="0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Q91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978-2-11-172702-1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L'ISBN 978-2-11-172702-1 est celui indiqué en page de garde. Connaître l'ISBN permet de référencer précisément la source dans les documents institutionnels.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92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partage d'informations sur la VIAS d'une personne dans le DUI doit se faire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Librement entre tous les professionnels de l'équipe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Dans le strict respect de la vie privée et avec l'accord de la personne concernée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Systématiquement pour améliorer la coordination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Uniquement si la personne est sous tutelle</a:t>
            </a:r>
            <a:endParaRPr lang="en-US" sz="1700" dirty="0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Q92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Dans le strict respect de la vie privée et avec l'accord de la personne concernée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rappelle que le droit à la confidentialité s'applique aux informations sur la VIAS. Le partage doit être limité au nécessaire et avec l'accord de la personne.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93 / 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sur la vie intime, affective et sexuelle en ESSMS est 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La première RBPP HAS sur ce sujet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La première RBPP transversale à tous les ESSMS sur ce thème, s'appuyant sur des travaux préalables (2013-2014)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39776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La troisième édition d'une recommandation existante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4892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Uniquement destinée aux ESSMS pour personnes âgées</a:t>
            </a:r>
            <a:endParaRPr lang="en-US" sz="1700" dirty="0"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Q93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Bonne réponse : B. La première RBPP transversale à tous les ESSMS sur ce thème, s'appuyant sur des travaux préalables (2013-2014)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travaux préalables existaient (recommandation vie affective et sexuelle 2013-2014) mais ce volet 1 est le premier socle transversal à l'ensemble des ESSMS.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RBPP HAS — Vie intime, affective et sexuelle en ESSMS — Volet 1 (janv. 2025)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187</Slides>
  <Notes>187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187</vt:i4>
      </vt:variant>
    </vt:vector>
  </HeadingPairs>
  <TitlesOfParts>
    <vt:vector size="19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2026-06-22T06:39:52Z</dcterms:created>
  <dcterms:modified xsi:type="dcterms:W3CDTF">2026-06-22T06:39:52Z</dcterms:modified>
</cp:coreProperties>
</file>