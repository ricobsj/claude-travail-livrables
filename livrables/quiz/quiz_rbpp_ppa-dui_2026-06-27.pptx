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</p:sldIdLst>
  <p:notesMasterIdLst>
    <p:notesMasterId r:id="rId2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notesMaster" Target="notesMasters/notesMaster1.xml"/><Relationship Id="rId203" Type="http://schemas.openxmlformats.org/officeDocument/2006/relationships/presProps" Target="presProps.xml"/><Relationship Id="rId204" Type="http://schemas.openxmlformats.org/officeDocument/2006/relationships/viewProps" Target="viewProps.xml"/><Relationship Id="rId205" Type="http://schemas.openxmlformats.org/officeDocument/2006/relationships/theme" Target="theme/theme1.xml"/><Relationship Id="rId2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Q1. Que signifie PPA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Projet Personnalisé d'Accompagnement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Plan Programmé d'Activités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Protocole Personnalisé d'Aide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Projet Pédagogique Adapté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PPA = Projet Personnalisé d'Accompagnement.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Q2. Que signifie DUI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Dossier Unique d'Information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Dossier Usager Informatisé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Donnée d'Usage Interne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Document Universel d'Intervention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DUI = Dossier Usager Informatisé.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Q3. Quelle loi fonde le projet personnalisé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Loi 2002-2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Loi 2005-102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Loi HPST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Loi 2015-1776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Loi 2002-2 rénovant l'action sociale et médico-sociale.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Q4. Le guide HAS sur le PPA dans le DUI est de quelle nature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Décret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Recommandation/guide de bonne pratique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Circulaire ARS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Norme ISO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Guide de bonne pratique pour le secteur social et médico-social.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Q5. Date de validation du guide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12 mai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1 août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24 décembre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2 février 2026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Validé le 12 mai 2026 (publié le 24 juin 2026).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Q6. Le PPA est avant tout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 formulaire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processus dynamique et participatif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Un document figé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Une obligation comptable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Processus dynamique et participatif, pas un simple document.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Q7. Dans le DUI, le numérique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Une finalité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moyen au service de la personnalisation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Réservé à la direction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Optionnel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DUI est un moyen ; la finalité reste l'accompagnement personnalisé.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Q8. La RBPP socle du PPA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« Les attentes de la personne et le projet personnalisé 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« Bientraitance 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« Conduites à risque 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« QVT »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RBPP HAS/ANESM de référence.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Q9. L'autorité émettrice du guide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ANESM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HAS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CNSA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 HAS (qui a intégré les missions de l'ANESM).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Q10. La personne accompagnée est dans le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Destinataire passif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Co-auteure de son projet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Informée après coup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Représentée seulement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Co-construction : la personne est actrice de son projet.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Q11. La 1re étape d'élaboration du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Fixer le budget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Recueillir attentes et besoins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Choisir le logiciel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Archiver l'ancien projet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On part des attentes et besoins de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Q12. Un objectif de PPA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Vague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Réaliste et évaluable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Imposé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Non révisable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Objectifs réalistes, atteignables, évaluables.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Q13. L'autodétermination, c'est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Décider pour la personne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Soutenir son pouvoir d'agir et ses choix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Limiter ses choix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Déléguer au tuteur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Capacité d'agir sur sa propre vie ; objectif central du guide.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Q14. La co-construction associe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personne (et son représentant si besoin) et l'équipe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Seulement l'équipe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Seulement la famille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Seulement le référent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Personne + entourage/représentant + professionnels.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Q15. Le consentement de la personne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Facultatif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Recherché et tracé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Présumé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Donné par l'ESSMS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Recueil et traçabilité du consentement.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Q16. L'écriture du PPA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Stigmatisante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Factuelle, claire, centrée sur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Très médicale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Anonyme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Écriture non stigmatisante centrée sur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Q17. Les « moyens » du PPA désignent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budget global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Les ressources/actions au service des objectifs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matériel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Les effectifs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Moyens = actions/ressources pour atteindre les objectifs.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Q18. La logique du PPA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Objectifs → tarifs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Attentes/besoins → objectifs → moyens → échéances → évaluation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Moyens → attentes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Évaluation → besoins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Chaîne attentes/besoins → objectifs → moyens → évaluation.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Q19. La participation se mesure par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seule signature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contribution réelle aux choix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présence passive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L'avis familial seul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Participation = contribution effective aux décisions.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Q20. L'actualisation du PPA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Inutile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Régulière et selon l'évolution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Tous les 5 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l'initiative de l'ARS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Révision régulière et lors d'évolutions.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Q21. Le représentant légal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Se substitue toujours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Appuie sans effacer l'expression de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N'intervient jamais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Signe seulement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appuie sans se substituer quand la personne peut s'exprimer.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Q22. Le PPA centré sur la personne évite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clarté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 jargon et les abréviations internes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traçabilité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Les objectifs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Éviter le jargon ; rester compréhensible.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Q23. Les attentes recueillies doivent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Reformulées sans la personne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Recueillies avec la personne et respectées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Ignorées si irréalistes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Décidées par la direction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Recueil avec la personne et respect de sa parole.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Q24. Un PPA de qualité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Identique pour tous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Singulier, propre à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Rempli par défaut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Standardisé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« personnalisé » : un projet singulier.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Q25. L'évaluation des objectifs sert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Sanctionner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Mesurer l'atteinte et réajuster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Clore le dossier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Réduire les coûts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Évaluer pour réajuster le projet.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Q26. La structuration des données vise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À complexifier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L'harmonisation pour partage et coordination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À restreindre l'accès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supprimer le texte libre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Structuration harmonisée → partage/coordination.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Q27. L'interopérabilité, c'est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Isoler les systèmes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Permettre l'échange de données entre systèmes/acteurs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Ralentir les parcours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Empêcher le partage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Capacité des systèmes à échanger des données en sécurité.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Q28. Un item structuré commun permet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divergence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comparabilité et l'interopérabilité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De masquer l'info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Plus de saisie libre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Items communs → comparabilité et échange.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Q29. La traçabilité des versions sert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Encombrer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Suivre l'évolution et fiabiliser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Masquer les changements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Réduire les droits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Documenter l'évolution et fiabiliser l'information.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Q30. La qualité de saisie conditionne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Rien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fiabilité et l'utilité de l'info partagée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L'esthétique seule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budget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Saisie fiable = information utile pour la coordination.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Q31. Le bon principe d'accès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Tous voient tout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Accès gradué selon le besoin d'en connaître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Accès direction seule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Accès public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Habilitations selon le besoin d'en connaître.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Q32. L'information du PPA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Périmée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jour, datée, fiable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Illisible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Abrégée en privé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Information à jour, datée et fiable.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Q33. Le DUI facilite la coordination car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Il cloisonne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L'info utile est accessible au bon professionnel au bon moment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Il supprime les échanges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Il remplace l'équipe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Bonne info, bon professionnel, bon moment.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Q34. La standardisation excessive risque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D'améliorer le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D'effacer la parole singulière (« cases »)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De fiabiliser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De sécuriser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Vigilance : ne pas réduire le projet à des cases.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Q35. Le texte libre dans le DUI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Doit disparaître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Reste utile pour la singularité, en complément des items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interdit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Remplace tout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Texte libre + items structurés : complémentaires.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Q36. L'éditeur DUI doit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Définir le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Aligner la structuration sur le guide HAS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Remplacer les pros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Fixer les objectifs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L'éditeur outille et s'aligne sur les recommandations.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Q37. Le partage d'informations vise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surveillance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Continuité et sécurité du parcours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publicité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baisse d'effectifs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Partage au service de la continuité/sécurité.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Q38. Le partage concerne les secteurs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Médico-social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Médico-social, social, soins de ville et hôpital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Hôpital seul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Aucun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Coordination entre médico-social, social, ville, hôpital.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Q39. La fiabilité des données dépend de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L'éditeur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Pratiques de saisie et gouvernance de la donnée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Du hasard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Du papier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Saisie + gouvernance de la donnée.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Q40. Une donnée non nécessaire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Collectée quand même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Non collectée (minimisation)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Partagée largement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Conservée à vie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Minimisation : seules les données nécessaires.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Q41. Les données du PPA relèvent souvent de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Données anodines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Données de santé sensibles (art. 9 RGPD)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Données publiques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Données commerciales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Données sensibles → protection renforcée.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Q42. L'hébergement des données de santé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Libre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Certifié HDS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Sur clé USB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Sur messagerie perso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Hébergeur de Données de Santé certifié.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Q43. La durée de conservation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Illimitée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Définie et proportionnée à la finalité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Décidée par l'éditeur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Nulle</a:t>
            </a:r>
            <a:endParaRPr lang="en-US" sz="1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Durées définies et proportionnées (RGPD).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Q44. La personne a, sur son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Aucun droit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droit d'information, d'accès, d'opposition et de rectification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Un accès payant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 accès via la famille seule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Droits d'information, d'accès, d'opposition et de rectification.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Q45. Le consentement au partage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Présumé global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Éclairé et tracé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Donné par l'ESSMS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Inutile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Consentement éclairé et tracé.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Q46. La sécurité du DUI repose sur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Mots de passe partagés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Authentification et habilitations gérées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Aucun contrôle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papier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Authentification + gestion des habilitations.</a:t>
            </a:r>
            <a:endParaRPr 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Q47. La minimisation des données signifie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Tout collecter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Ne traiter que le nécessaire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Tout supprimer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Tout anonymiser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Principe RGPD de minimisation.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Q48. En cas de violation de données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Ne rien faire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Notifier la CNIL (72 h) et informer si besoin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Attendre 1 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Supprimer le dossier</a:t>
            </a:r>
            <a:endParaRPr lang="en-US" sz="1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Notification CNIL sous 72 h (art. 33-34).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Q49. Le registre des traitements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Facultatif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Tenu et à jour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Réservé à l'éditeur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Inutile en ESSMS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Registre obligatoire et tenu à jour.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Q50. Une AIPD est pertinente quand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Jamais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Traitement de données sensibles à risque élevé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Pour les données publiques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Sur demande de l'ARS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AIPD pour traitements à risque élevé.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Q51. Le DPO intervient pour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Fixer les objectifs PPA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Conseiller sur la conformité des traitements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Saisir le PPA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Héberger les données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DPO conseille et veille à la conformité.</a:t>
            </a:r>
            <a:endParaRPr lang="en-US" sz="16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Q52. Le « besoin d'en connaître » limite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soin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L'accès aux seules infos utiles à la mission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coordination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traçabilité</a:t>
            </a:r>
            <a:endParaRPr 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Accès limité aux informations nécessaires.</a:t>
            </a:r>
            <a:endParaRPr lang="en-US" sz="1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Q53. La traçabilité des accès permet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De ralentir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De savoir qui a consulté/modifié quoi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De masquer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De supprimer les droits</a:t>
            </a:r>
            <a:endParaRPr lang="en-US" sz="1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Journalisation des accès et modifications.</a:t>
            </a:r>
            <a:endParaRPr lang="en-US" sz="1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Q54. Le secret partagé suppose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 partage libre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cadre (équipe de soins/accompagnement) et le consentement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Aucune règle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 partage public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Partage encadré entre intervenants concernés, avec consentement.</a:t>
            </a:r>
            <a:endParaRPr lang="en-US" sz="1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Q55. La formation porte sur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L'outil DUI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démarche PPA ET l'outil DUI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droit du travail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comptabilité</a:t>
            </a:r>
            <a:endParaRPr lang="en-US" sz="1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Double compétence : démarche + outil.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Q56. La posture éthique implique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Décider pour la personne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Respecter ses choix, son consentement, sa parole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Ignorer le consentement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Standardiser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Respect des choix et de la parole.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Q57. Un usage raisonné du numérique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Tout informatiser sans réflexion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Mobiliser l'outil au service de la relation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Supprimer l'humain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Réserver à la direction</a:t>
            </a:r>
            <a:endParaRPr lang="en-US" sz="1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numérique soutient la relation, ne la remplace pas.</a:t>
            </a:r>
            <a:endParaRPr lang="en-US" sz="16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Q58. La conduite du changement vise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À imposer l'outil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accompagner les équipes vers les nouvelles pratiques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À réduire la formation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éviter l'évaluation</a:t>
            </a:r>
            <a:endParaRPr lang="en-US" sz="16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Accompagner les équipes.</a:t>
            </a:r>
            <a:endParaRPr lang="en-US" sz="1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Q59. L'écriture professionnelle doit éviter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clarté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Les jugements de valeur stigmatisants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Les faits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datation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Des faits, sans jugements stigmatisants.</a:t>
            </a:r>
            <a:endParaRPr lang="en-US" sz="1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Q60. Former à l'écriture du PPA, c'est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Inutile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Garantir une rédaction centrée personne et factuelle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Réservé aux cadres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Optionnel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Compétence d'écriture centrée sur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Q61. Le professionnel saisit dans le DUI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Tout, sans tri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Une information pertinente, utile et à jour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moins possible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Uniquement des codes</a:t>
            </a:r>
            <a:endParaRPr lang="en-US" sz="16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Information pertinente, utile, à jour.</a:t>
            </a:r>
            <a:endParaRPr lang="en-US" sz="1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Q62. La pluridisciplinarité dans le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Nuit au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Enrichit l'analyse des besoins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interdite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Remplace la personne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Regards croisés au service du projet.</a:t>
            </a:r>
            <a:endParaRPr lang="en-US" sz="16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Q63. Le référent de parcours/PPA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Décide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Coordonne et garantit le suivi avec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N'existe pas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Remplace l'équipe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Rôle de coordination et de suivi.</a:t>
            </a:r>
            <a:endParaRPr lang="en-US" sz="16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Q64. Former, c'est aussi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Réduire les compétences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Soutenir l'appropriation éthique de l'outil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Éviter le DUI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Standardiser la parole</a:t>
            </a:r>
            <a:endParaRPr lang="en-US" sz="16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Appropriation éthique et compétente de l'outil.</a:t>
            </a:r>
            <a:endParaRPr lang="en-US" sz="1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Q65. L'accompagnement des équipes inclut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Aucun support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Temps, méthode et appui au changement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Une note de service seule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Une sanction</a:t>
            </a:r>
            <a:endParaRPr lang="en-US" sz="16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Soutien réel (temps, méthode, appui).</a:t>
            </a:r>
            <a:endParaRPr lang="en-US" sz="16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Q66. La culture de la donnée en ESSMS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inutile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Se construit par la formation et la gouvernance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Relève de l'éditeur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Est innée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 construit (formation + gouvernance).</a:t>
            </a:r>
            <a:endParaRPr lang="en-US" sz="16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Q67. Une perspective d'évolution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cloisonnement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Harmonisation nationale et interopérabilité accrue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retour au papier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suppression du PPA</a:t>
            </a:r>
            <a:endParaRPr lang="en-US" sz="16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Harmonisation et interopérabilité.</a:t>
            </a:r>
            <a:endParaRPr lang="en-US" sz="1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Q68. Le PPA structuré et tracé est un atout pour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Rien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L'évaluation HAS (preuves) et SERAFIN-PH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Réduire les droits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Augmenter les tarifs</a:t>
            </a:r>
            <a:endParaRPr lang="en-US" sz="16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Preuves pour l'évaluation et articulation SERAFIN-PH.</a:t>
            </a:r>
            <a:endParaRPr lang="en-US" sz="1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Q69. SERAFIN-PH concerne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RGPD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réforme du financement des ESSMS PH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L'hébergement HDS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code du travail</a:t>
            </a:r>
            <a:endParaRPr lang="en-US" sz="1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SERAFIN-PH = réforme tarifaire des ESSMS PH.</a:t>
            </a:r>
            <a:endParaRPr lang="en-US" sz="16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Q70. Le PPA s'articule au numérique en santé via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L'isolement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Référentiels et interopérabilité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messagerie perso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papier</a:t>
            </a:r>
            <a:endParaRPr lang="en-US" sz="16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Référentiels nationaux + interopérabilité.</a:t>
            </a:r>
            <a:endParaRPr lang="en-US" sz="16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Q71. La finalité ultime du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Remplir le logiciel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qualité d'accompagnement centrée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Satisfaire l'éditeur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Réduire les coûts</a:t>
            </a:r>
            <a:endParaRPr lang="en-US" sz="16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Qualité de l'accompagnement de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Q72. La coordination des parcours suppose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Des silos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partage maîtrisé et pertinent d'informations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Aucun échange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Du papier exclusif</a:t>
            </a:r>
            <a:endParaRPr lang="en-US" sz="16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Partage maîtrisé pour la continuité.</a:t>
            </a:r>
            <a:endParaRPr lang="en-US" sz="16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Q73. Un DUI conforme au guide favorise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divergence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continuité entre établissements/services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cloisonnement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perte d'info</a:t>
            </a:r>
            <a:endParaRPr lang="en-US" sz="16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Continuité et coordination.</a:t>
            </a:r>
            <a:endParaRPr lang="en-US" sz="1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Q74. L'harmonisation nationale vise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Tout différencier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Comparer et échanger entre acteurs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Empêcher l'échange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Supprimer les items</a:t>
            </a:r>
            <a:endParaRPr lang="en-US" sz="1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Comparabilité et échange.</a:t>
            </a:r>
            <a:endParaRPr lang="en-US" sz="1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Q75. Le PPA contribue à la démarche qualité par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Rien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Des objectifs suivis, évalués et tracés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seule signature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budget</a:t>
            </a:r>
            <a:endParaRPr lang="en-US" sz="16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Objectifs suivis/évalués = preuves qualité.</a:t>
            </a:r>
            <a:endParaRPr lang="en-US" sz="1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Q76. L'évaluation externe (HAS) valorise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L'absence de traces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PPA co-construit, suivi et tracé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papier perdu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Les cases vides</a:t>
            </a:r>
            <a:endParaRPr lang="en-US" sz="16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Co-construction + suivi + traçabilité.</a:t>
            </a:r>
            <a:endParaRPr lang="en-US" sz="16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Q77. L'interopérabilité bénéficie surtout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À l'éditeur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la continuité du parcours de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À la direction seule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personne</a:t>
            </a:r>
            <a:endParaRPr lang="en-US" sz="16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 parcours de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Q78. Le guide encourage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Numériser sans réflexion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Concilier qualité, droits et coordination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Réduire les droits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Supprimer le PPA</a:t>
            </a:r>
            <a:endParaRPr lang="en-US" sz="16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Concilier qualité, droits et coordination.</a:t>
            </a:r>
            <a:endParaRPr lang="en-US" sz="1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Q79. Les données partagées doivent rester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Permanentes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Pertinentes, à jour et sécurisées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Publiques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Non datées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Pertinentes, à jour, sécurisées.</a:t>
            </a:r>
            <a:endParaRPr lang="en-US" sz="16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Q80. Vrai/faux : le DUI remplace la relation d'accompagnement.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Vrai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Faux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Parfois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Selon l'éditeur</a:t>
            </a:r>
            <a:endParaRPr lang="en-US" sz="16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Faux : le DUI est un outil au service de la relation.</a:t>
            </a:r>
            <a:endParaRPr lang="en-US" sz="16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Q81. Un PPA pré-rempli par défaut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Une bonne pratique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proscrire (perte de personnalisation)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Obligatoire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Recommandé</a:t>
            </a:r>
            <a:endParaRPr lang="en-US" sz="16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À proscrire : le projet doit être singulier.</a:t>
            </a:r>
            <a:endParaRPr lang="en-US" sz="16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Q82. Partager tout le dossier « par confort »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Conforme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Contraire au besoin d'en connaître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Recommandé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Sans risque</a:t>
            </a:r>
            <a:endParaRPr lang="en-US" sz="16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Contraire à la minimisation.</a:t>
            </a:r>
            <a:endParaRPr lang="en-US" sz="16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Q83. Saisir une donnée fausse « pour gagner du temps »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acceptable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Compromet la fiabilité et la sécurité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Sans conséquence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Recommandé</a:t>
            </a:r>
            <a:endParaRPr lang="en-US" sz="16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 fiabilité conditionne la sécurité.</a:t>
            </a:r>
            <a:endParaRPr lang="en-US" sz="16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Q84. Ne pas tracer le consentement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sans risque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Pose un problème de droits et de preuve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Accélère le projet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Est recommandé</a:t>
            </a:r>
            <a:endParaRPr lang="en-US" sz="16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consentement doit être recherché ET tracé.</a:t>
            </a:r>
            <a:endParaRPr lang="en-US" sz="16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Q85. Réduire le PPA à des cases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Améliore la qualité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Risque d'effacer la parole de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neutre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Est recommandé</a:t>
            </a:r>
            <a:endParaRPr lang="en-US" sz="16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Risque majeur de standardisation.</a:t>
            </a:r>
            <a:endParaRPr lang="en-US" sz="16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Q86. Un objectif non évaluable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idéal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Empêche le suivi et le réajustement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recommandé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Facilite l'évaluation</a:t>
            </a:r>
            <a:endParaRPr lang="en-US" sz="16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Sans critère, pas de suivi.</a:t>
            </a:r>
            <a:endParaRPr lang="en-US" sz="16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Q87. Conserver les données sans limite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conforme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Viole le principe de durée proportionnée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recommandé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Sans risque</a:t>
            </a:r>
            <a:endParaRPr lang="en-US" sz="16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Durées proportionnées exigées.</a:t>
            </a:r>
            <a:endParaRPr lang="en-US" sz="16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Q88. Former uniquement à l'outil (pas à la démarche)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Suffit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Est insuffisant : la démarche PPA prime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recommandé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Évite les erreurs</a:t>
            </a:r>
            <a:endParaRPr lang="en-US" sz="16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Former à la démarche ET à l'outil.</a:t>
            </a:r>
            <a:endParaRPr lang="en-US" sz="16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Q89. Le meilleur indicateur d'un bon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nombre de pages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participation effective de la personne et l'atteinte des objectifs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rapidité de saisie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coût</a:t>
            </a:r>
            <a:endParaRPr lang="en-US" sz="16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Participation réelle + objectifs atteints.</a:t>
            </a:r>
            <a:endParaRPr lang="en-US" sz="16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Q90. Le guide a été adopté par quelle instance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CSMS (Commission sociale et médico-sociale), le 12 mai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 collège, en 2024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L'ANESM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Parlement</a:t>
            </a:r>
            <a:endParaRPr lang="en-US" sz="16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Guide adopté par la CSMS le 12 mai 2026 (méthode par consensus simple).</a:t>
            </a:r>
            <a:endParaRPr lang="en-US" sz="16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Q91. Avant de recueillir les besoins, l'étape 1.1 du guide consiste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Fixer les objectifs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Informer la personne et recueillir son consentement OU son refus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Saisir le DUI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Signer le contrat</a:t>
            </a:r>
            <a:endParaRPr lang="en-US" sz="16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guide débute par l'information de la personne et le recueil de son consentement ou refus.</a:t>
            </a:r>
            <a:endParaRPr lang="en-US" sz="16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Q92. Le guide recueille les besoins, les attentes et aussi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Les revenus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Les désirs de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Les diagnostics seuls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Les avis de l'ARS</a:t>
            </a:r>
            <a:endParaRPr lang="en-US" sz="16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Recueil des besoins, attentes ET désirs de la personne (chap. 1.2).</a:t>
            </a:r>
            <a:endParaRPr lang="en-US" sz="16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Q93. Le PPA, souvent un « document plat » non évolutif, doit devenir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 PDF figé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élément dynamique et cyclique (réévaluation)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Un tableau Excel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 document annuel unique</a:t>
            </a:r>
            <a:endParaRPr lang="en-US" sz="16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guide promeut un PPA dynamique et cyclique, contre le « document plat ».</a:t>
            </a:r>
            <a:endParaRPr lang="en-US" sz="16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Q94. Le PPA peut notamment alimenter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DMP supprimé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Mon espace santé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Un cloud personnel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Aucun service national</a:t>
            </a:r>
            <a:endParaRPr lang="en-US" sz="16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guide prévoit l'alimentation de Mon espace santé avec le PPA (chap. 1.8.2).</a:t>
            </a:r>
            <a:endParaRPr lang="en-US" sz="16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Q95. Le guide vise à intégrer un PPA harmonisé dans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RGPD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 CI-SIS (cadre d'interopérabilité), avec l'Agence du numérique en santé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SERAFIN-PH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code du travail</a:t>
            </a:r>
            <a:endParaRPr lang="en-US" sz="16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Objectif : intégration d'un PPA harmonisé dans le CI-SIS, avec l'ANS.</a:t>
            </a:r>
            <a:endParaRPr lang="en-US" sz="16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Q96. Selon la loi 2002-2, le contrat de séjour/DIPC est rédigé dans un délai de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1 mois après l'admission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1 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6 mois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48 heures</a:t>
            </a:r>
            <a:endParaRPr lang="en-US" sz="16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DIPC/contrat de séjour sous 1 mois après l'admission.</a:t>
            </a:r>
            <a:endParaRPr lang="en-US" sz="16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Q97. L'avenant précisant objectifs et prestations doit être établi sous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6 mois, puis mis à jour chaque année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24 mois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1 semaine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Jamais</a:t>
            </a:r>
            <a:endParaRPr lang="en-US" sz="16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Avenant sous 6 mois max, mis à jour annuellement (art. D.311 CASF).</a:t>
            </a:r>
            <a:endParaRPr lang="en-US" sz="16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Q98. Le terme « projet personnalisé » a été proposé par la HAS en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2008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2002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2016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2022</a:t>
            </a:r>
            <a:endParaRPr lang="en-US" sz="16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 HAS a proposé le terme « projet personnalisé » en 2008.</a:t>
            </a:r>
            <a:endParaRPr lang="en-US" sz="16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Q99. Le partage d'informations s'inscrit dans le cadre de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presse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L'équipe de soins (art. L.1110-12 CSP)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Aucun cadre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famille élargie</a:t>
            </a:r>
            <a:endParaRPr lang="en-US" sz="16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Cadre de l'« équipe de soins » défini à l'article L.1110-12 du CSP.</a:t>
            </a:r>
            <a:endParaRPr lang="en-US" sz="16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Q100. Dans ses perspectives, le guide interroge notamment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suppression du PPA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L'idée d'un « PPA unique » et la communication alternative et améliorée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retour au papier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fin du DUI</a:t>
            </a:r>
            <a:endParaRPr lang="en-US" sz="16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Perspectives : « un PPA unique ? », association de la famille, communication alternative et améliorée (CAA), tensions gestion/droits.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200</Slides>
  <Notes>200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200</vt:i4>
      </vt:variant>
    </vt:vector>
  </HeadingPairs>
  <TitlesOfParts>
    <vt:vector size="2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2026-06-27T13:14:01Z</dcterms:created>
  <dcterms:modified xsi:type="dcterms:W3CDTF">2026-06-27T13:14:01Z</dcterms:modified>
</cp:coreProperties>
</file>