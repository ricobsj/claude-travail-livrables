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Lst>
  <p:notesMasterIdLst>
    <p:notesMasterId r:id="rId2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notesMaster" Target="notesMasters/notesMaster1.xml"/><Relationship Id="rId242" Type="http://schemas.openxmlformats.org/officeDocument/2006/relationships/presProps" Target="presProps.xml"/><Relationship Id="rId243" Type="http://schemas.openxmlformats.org/officeDocument/2006/relationships/viewProps" Target="viewProps.xml"/><Relationship Id="rId244" Type="http://schemas.openxmlformats.org/officeDocument/2006/relationships/theme" Target="theme/theme1.xml"/><Relationship Id="rId2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8321040" y="0"/>
            <a:ext cx="3840480" cy="6858000"/>
          </a:xfrm>
          <a:prstGeom prst="rect">
            <a:avLst/>
          </a:prstGeom>
          <a:solidFill>
            <a:srgbClr val="00B4D8">
              <a:alpha val="22000"/>
            </a:srgbClr>
          </a:solidFill>
          <a:ln w="12700">
            <a:solidFill>
              <a:srgbClr val="00B4D8">
                <a:alpha val="22000"/>
              </a:srgbClr>
            </a:solidFill>
            <a:prstDash val="solid"/>
          </a:ln>
        </p:spPr>
      </p:sp>
      <p:sp>
        <p:nvSpPr>
          <p:cNvPr id="3" name="Shape 1"/>
          <p:cNvSpPr/>
          <p:nvPr/>
        </p:nvSpPr>
        <p:spPr>
          <a:xfrm>
            <a:off x="8686800" y="-548640"/>
            <a:ext cx="2926080" cy="2926080"/>
          </a:xfrm>
          <a:prstGeom prst="ellipse">
            <a:avLst/>
          </a:prstGeom>
          <a:solidFill>
            <a:srgbClr val="00B4D8">
              <a:alpha val="35000"/>
            </a:srgbClr>
          </a:solidFill>
          <a:ln w="12700">
            <a:solidFill>
              <a:srgbClr val="00B4D8">
                <a:alpha val="35000"/>
              </a:srgbClr>
            </a:solidFill>
            <a:prstDash val="solid"/>
          </a:ln>
        </p:spPr>
      </p:sp>
      <p:sp>
        <p:nvSpPr>
          <p:cNvPr id="4" name="Shape 2"/>
          <p:cNvSpPr/>
          <p:nvPr/>
        </p:nvSpPr>
        <p:spPr>
          <a:xfrm>
            <a:off x="9875520" y="4572000"/>
            <a:ext cx="2560320" cy="2560320"/>
          </a:xfrm>
          <a:prstGeom prst="ellipse">
            <a:avLst/>
          </a:prstGeom>
          <a:solidFill>
            <a:srgbClr val="FFB703">
              <a:alpha val="30000"/>
            </a:srgbClr>
          </a:solidFill>
          <a:ln w="12700">
            <a:solidFill>
              <a:srgbClr val="FFB703">
                <a:alpha val="30000"/>
              </a:srgbClr>
            </a:solidFill>
            <a:prstDash val="solid"/>
          </a:ln>
        </p:spPr>
      </p:sp>
      <p:sp>
        <p:nvSpPr>
          <p:cNvPr id="5" name="Shape 3"/>
          <p:cNvSpPr/>
          <p:nvPr/>
        </p:nvSpPr>
        <p:spPr>
          <a:xfrm>
            <a:off x="-365760" y="5029200"/>
            <a:ext cx="2011680" cy="2011680"/>
          </a:xfrm>
          <a:prstGeom prst="ellipse">
            <a:avLst/>
          </a:prstGeom>
          <a:solidFill>
            <a:srgbClr val="FFB703">
              <a:alpha val="25000"/>
            </a:srgbClr>
          </a:solidFill>
          <a:ln w="12700">
            <a:solidFill>
              <a:srgbClr val="FFB703">
                <a:alpha val="25000"/>
              </a:srgbClr>
            </a:solidFill>
            <a:prstDash val="solid"/>
          </a:ln>
        </p:spPr>
      </p:sp>
      <p:sp>
        <p:nvSpPr>
          <p:cNvPr id="6" name="Shape 4"/>
          <p:cNvSpPr/>
          <p:nvPr/>
        </p:nvSpPr>
        <p:spPr>
          <a:xfrm>
            <a:off x="548640" y="3063240"/>
            <a:ext cx="6858000" cy="0"/>
          </a:xfrm>
          <a:prstGeom prst="line">
            <a:avLst/>
          </a:prstGeom>
          <a:noFill/>
          <a:ln w="25400">
            <a:solidFill>
              <a:srgbClr val="FFB703"/>
            </a:solidFill>
            <a:prstDash val="solid"/>
          </a:ln>
        </p:spPr>
      </p:sp>
      <p:sp>
        <p:nvSpPr>
          <p:cNvPr id="7" name="Shape 5"/>
          <p:cNvSpPr/>
          <p:nvPr/>
        </p:nvSpPr>
        <p:spPr>
          <a:xfrm>
            <a:off x="548640" y="1234440"/>
            <a:ext cx="2926080" cy="438912"/>
          </a:xfrm>
          <a:prstGeom prst="roundRect">
            <a:avLst>
              <a:gd name="adj" fmla="val 20833"/>
            </a:avLst>
          </a:prstGeom>
          <a:solidFill>
            <a:srgbClr val="00B4D8"/>
          </a:solidFill>
          <a:ln w="12700">
            <a:solidFill>
              <a:srgbClr val="00B4D8"/>
            </a:solidFill>
            <a:prstDash val="solid"/>
          </a:ln>
        </p:spPr>
      </p:sp>
      <p:sp>
        <p:nvSpPr>
          <p:cNvPr id="8" name="Text 6"/>
          <p:cNvSpPr/>
          <p:nvPr/>
        </p:nvSpPr>
        <p:spPr>
          <a:xfrm>
            <a:off x="548640" y="1234440"/>
            <a:ext cx="292608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RBPP HAS · TSA 2026</a:t>
            </a:r>
            <a:endParaRPr lang="en-US" sz="1300" dirty="0"/>
          </a:p>
        </p:txBody>
      </p:sp>
      <p:sp>
        <p:nvSpPr>
          <p:cNvPr id="9" name="Text 7"/>
          <p:cNvSpPr/>
          <p:nvPr/>
        </p:nvSpPr>
        <p:spPr>
          <a:xfrm>
            <a:off x="548640" y="1755648"/>
            <a:ext cx="7772400" cy="11887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Trouble du Spectre de l'Autisme</a:t>
            </a:r>
            <a:endParaRPr lang="en-US" sz="3400" dirty="0"/>
          </a:p>
        </p:txBody>
      </p:sp>
      <p:sp>
        <p:nvSpPr>
          <p:cNvPr id="10" name="Text 8"/>
          <p:cNvSpPr/>
          <p:nvPr/>
        </p:nvSpPr>
        <p:spPr>
          <a:xfrm>
            <a:off x="548640" y="2944368"/>
            <a:ext cx="7498080" cy="548640"/>
          </a:xfrm>
          <a:prstGeom prst="rect">
            <a:avLst/>
          </a:prstGeom>
          <a:noFill/>
          <a:ln/>
        </p:spPr>
        <p:txBody>
          <a:bodyPr wrap="square" lIns="0" tIns="0" rIns="0" bIns="0" rtlCol="0" anchor="ctr"/>
          <a:lstStyle/>
          <a:p>
            <a:pPr indent="0" marL="0">
              <a:buNone/>
            </a:pPr>
            <a:r>
              <a:rPr lang="en-US" sz="1700" dirty="0">
                <a:solidFill>
                  <a:srgbClr val="00B4D8"/>
                </a:solidFill>
                <a:latin typeface="Calibri" pitchFamily="34" charset="0"/>
                <a:ea typeface="Calibri" pitchFamily="34" charset="-122"/>
                <a:cs typeface="Calibri" pitchFamily="34" charset="-120"/>
              </a:rPr>
              <a:t>Interventions et parcours de vie — RBPP HAS 2026</a:t>
            </a:r>
            <a:endParaRPr lang="en-US" sz="1700" dirty="0"/>
          </a:p>
        </p:txBody>
      </p:sp>
      <p:sp>
        <p:nvSpPr>
          <p:cNvPr id="11" name="Text 9"/>
          <p:cNvSpPr/>
          <p:nvPr/>
        </p:nvSpPr>
        <p:spPr>
          <a:xfrm>
            <a:off x="548640" y="3657600"/>
            <a:ext cx="7315200" cy="640080"/>
          </a:xfrm>
          <a:prstGeom prst="rect">
            <a:avLst/>
          </a:prstGeom>
          <a:noFill/>
          <a:ln/>
        </p:spPr>
        <p:txBody>
          <a:bodyPr wrap="square" lIns="0" tIns="0" rIns="0" bIns="0" rtlCol="0" anchor="ctr"/>
          <a:lstStyle/>
          <a:p>
            <a:pPr indent="0" marL="0">
              <a:buNone/>
            </a:pPr>
            <a:r>
              <a:rPr lang="en-US" sz="2800" b="1" dirty="0">
                <a:solidFill>
                  <a:srgbClr val="FFB703"/>
                </a:solidFill>
                <a:latin typeface="Calibri" pitchFamily="34" charset="0"/>
                <a:ea typeface="Calibri" pitchFamily="34" charset="-122"/>
                <a:cs typeface="Calibri" pitchFamily="34" charset="-120"/>
              </a:rPr>
              <a:t>119 questions</a:t>
            </a:r>
            <a:pPr indent="0" marL="0">
              <a:buNone/>
            </a:pPr>
            <a:r>
              <a:rPr lang="en-US" sz="1400" dirty="0">
                <a:solidFill>
                  <a:srgbClr val="8BAEC8"/>
                </a:solidFill>
                <a:latin typeface="Calibri" pitchFamily="34" charset="0"/>
                <a:ea typeface="Calibri" pitchFamily="34" charset="-122"/>
                <a:cs typeface="Calibri" pitchFamily="34" charset="-120"/>
              </a:rPr>
              <a:t>  Niveau professionnel médico-social</a:t>
            </a:r>
            <a:endParaRPr lang="en-US" sz="2800" dirty="0"/>
          </a:p>
        </p:txBody>
      </p:sp>
      <p:sp>
        <p:nvSpPr>
          <p:cNvPr id="12" name="Text 10"/>
          <p:cNvSpPr/>
          <p:nvPr/>
        </p:nvSpPr>
        <p:spPr>
          <a:xfrm>
            <a:off x="548640" y="5074920"/>
            <a:ext cx="7315200" cy="365760"/>
          </a:xfrm>
          <a:prstGeom prst="rect">
            <a:avLst/>
          </a:prstGeom>
          <a:noFill/>
          <a:ln/>
        </p:spPr>
        <p:txBody>
          <a:bodyPr wrap="square" lIns="0" tIns="0" rIns="0" bIns="0" rtlCol="0" anchor="ctr"/>
          <a:lstStyle/>
          <a:p>
            <a:pPr indent="0" marL="0">
              <a:buNone/>
            </a:pPr>
            <a:r>
              <a:rPr lang="en-US" sz="1100" i="1" dirty="0">
                <a:solidFill>
                  <a:srgbClr val="8BAEC8"/>
                </a:solidFill>
                <a:latin typeface="Calibri" pitchFamily="34" charset="0"/>
                <a:ea typeface="Calibri" pitchFamily="34" charset="-122"/>
                <a:cs typeface="Calibri" pitchFamily="34" charset="-120"/>
              </a:rPr>
              <a:t>Source : RBPP HAS — TSA Interventions, 2026</a:t>
            </a:r>
            <a:endParaRPr lang="en-US" sz="1100" dirty="0"/>
          </a:p>
        </p:txBody>
      </p:sp>
      <p:sp>
        <p:nvSpPr>
          <p:cNvPr id="13" name="Shape 11"/>
          <p:cNvSpPr/>
          <p:nvPr/>
        </p:nvSpPr>
        <p:spPr>
          <a:xfrm>
            <a:off x="548640" y="5760720"/>
            <a:ext cx="347472" cy="347472"/>
          </a:xfrm>
          <a:prstGeom prst="ellipse">
            <a:avLst/>
          </a:prstGeom>
          <a:solidFill>
            <a:srgbClr val="00B4D8"/>
          </a:solidFill>
          <a:ln w="12700">
            <a:solidFill>
              <a:srgbClr val="00B4D8"/>
            </a:solidFill>
            <a:prstDash val="solid"/>
          </a:ln>
        </p:spPr>
      </p:sp>
      <p:sp>
        <p:nvSpPr>
          <p:cNvPr id="14" name="Shape 12"/>
          <p:cNvSpPr/>
          <p:nvPr/>
        </p:nvSpPr>
        <p:spPr>
          <a:xfrm>
            <a:off x="1051560" y="5760720"/>
            <a:ext cx="347472" cy="347472"/>
          </a:xfrm>
          <a:prstGeom prst="ellipse">
            <a:avLst/>
          </a:prstGeom>
          <a:solidFill>
            <a:srgbClr val="FFB703"/>
          </a:solidFill>
          <a:ln w="12700">
            <a:solidFill>
              <a:srgbClr val="FFB703"/>
            </a:solidFill>
            <a:prstDash val="solid"/>
          </a:ln>
        </p:spPr>
      </p:sp>
      <p:sp>
        <p:nvSpPr>
          <p:cNvPr id="15" name="Shape 13"/>
          <p:cNvSpPr/>
          <p:nvPr/>
        </p:nvSpPr>
        <p:spPr>
          <a:xfrm>
            <a:off x="1554480" y="5760720"/>
            <a:ext cx="347472" cy="347472"/>
          </a:xfrm>
          <a:prstGeom prst="ellipse">
            <a:avLst/>
          </a:prstGeom>
          <a:solidFill>
            <a:srgbClr val="E63946"/>
          </a:solidFill>
          <a:ln w="12700">
            <a:solidFill>
              <a:srgbClr val="E63946"/>
            </a:solidFill>
            <a:prstDash val="solid"/>
          </a:ln>
        </p:spPr>
      </p:sp>
      <p:sp>
        <p:nvSpPr>
          <p:cNvPr id="16" name="Shape 14"/>
          <p:cNvSpPr/>
          <p:nvPr/>
        </p:nvSpPr>
        <p:spPr>
          <a:xfrm>
            <a:off x="2057400" y="5760720"/>
            <a:ext cx="347472" cy="347472"/>
          </a:xfrm>
          <a:prstGeom prst="ellipse">
            <a:avLst/>
          </a:prstGeom>
          <a:solidFill>
            <a:srgbClr val="06D6A0"/>
          </a:solidFill>
          <a:ln w="12700">
            <a:solidFill>
              <a:srgbClr val="06D6A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outil de dépistage du TSA est recommandé par la HAS lors du bilan de santé des 24 mois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ADOS-2</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M-CHAT-R/F</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ADI-R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CARS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M-CHAT-R/F</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M-CHAT-R/F (Modified Checklist for Autism in Toddlers, Revised with Follow-up) est l'outil de dépistage validé recommandé à 24 mois dans les bilans de santé obligatoires.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À quel âge la HAS recommande-t-elle d'initier la planification de la transition vers l'âge adulte pour un adolescent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16 ans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18 ans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14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12 ans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14 ans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transition vers l'âge adulte doit être anticipée dès 14 ans, avec un projet personnalisé co-construit avec l'adolescent et sa famille, pour éviter les ruptures de parcours.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ces interventions, laquelle est formellement non recommandée par la RBPP TSA 2026 de la HAS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ABA/EIBI</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TEACCH</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Communication facilitée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ESDM</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Communication facilitée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communication facilitée est explicitement exclue car elle n'a pas fait la preuve de son efficacité et présente des risques de fausses attributions de communication à la personne avec TSA.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durée hebdomadaire minimale recommandée pour une intervention intensive de type EIBI chez un jeune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5 à 10 heures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10 à 15 heures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15 à 25 heures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30 à 40 heures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15 à 25 heures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Pour les formes sévères, la HAS recommande une intervention comportementale globale intensive d'au minimum 15 à 25 heures par semaine, incluant les temps familiaux et scolaires.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signifie l'acronyme CAA dans le contexte de l'accompagnement du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Certification d'Accompagnement en Autisme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Communication Améliorée et Alternative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Coordination des Actions d'Apprentissage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Checklist d'Aide à l'Autonomie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Communication Améliorée et Alternative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CAA désigne l'ensemble des outils (PECS, MAKATON, pictogrammes, synthèse vocale) permettant de soutenir ou remplacer la communication verbale. Elle est recommandée dès que la communication orale est insuffisante.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 doit-on faire en premier face à un comportement-problème chez 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Mettre en place un programme ABA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Réaliser un bilan médical somatique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Contacter le psychiatre référent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Augmenter la fréquence des activités éducatives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Réaliser un bilan médical somatique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Avant toute intervention comportementale, une cause organique doit être éliminée (douleur, épilepsie, trouble du sommeil, RGO). Le bilan somatique est l'étape préalable indispensable.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dispositif scolaire est spécifiquement conçu pour les enfants avec TSA en maternelle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ULIS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UEEA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UEMA</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SESSAD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UEMA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L'UEMA (Unité d'Enseignement en Maternelle pour enfants avec Autisme) est un dispositif spécialisé co-géré par l'Éducation nationale et un ESMS, dédié aux enfants d'âge maternel avec TSA.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grade de recommandation la HAS attribue-t-elle à l'intervention EIBI/ABA pour les jeunes 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AE (accord d'experts)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C (faible niveau de preuve)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B (présomption scientifique)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A (preuve établie)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Grade A (preuve établie)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L'EIBI (Early Intensive Behavioural Intervention) basée sur l'ABA bénéficie d'un grade A, ce qui correspond à une preuve scientifique établie par des études de haut niveau.</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 rôle d'une Plateforme de Coordination et d'Orientation (PCO) dans le parcours d'un enfant suspect de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Poser le diagnostic définitif de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Coordonner les interventions précoces en attendant le diagnostic</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Financer les thérapies complémentaires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Gérer l'orientation vers les établissements médico-sociaux</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Coordonner les interventions précoces en attendant le diagnostic</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PCO permet de démarrer des interventions précoces sans attendre le diagnostic formel, en coordonnant l'orthophonie, la psychomotricité et l'ergothérapie pour les enfants de 0 à 7 ans.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Laquelle de ces méthodes est recommandée par la HAS pour le soutien parental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Psychanalyse parentale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PACT (Programme pour l'Autisme de la petite enfance)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Méthode Tomatis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Neurofeedback familial</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PACT (Programme pour l'Autisme de la petite enfance)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PACT est une intervention de guidance parentale validée scientifiquement qui améliore la qualité des interactions parent-enfant et les compétences socio-communicatives de l'enfant avec TSA.</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la Communication Améliorée et Alternative (CAA) retarde-t-elle le développement du langage oral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elle inhibe le développement verbal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elle le soutient ou ne le modifie pas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Seulement chez les enfants de moins de 3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dépend du type d'outil CAA utilisé</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elle le soutient ou ne le modifie pas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données probantes montrent que la CAA ne retarde pas l'émergence du langage oral. Au contraire, elle peut favoriser le développement communicationnel global de l'enfant.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outil d'évaluation du fonctionnement global est le plus utilisé dans les ESSMS pour les personnes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DSM-5 seul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CIF (Classification Internationale du Fonctionnement)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ADOS-2 et ADI-R combinés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WISC-V exclusivement</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CIF (Classification Internationale du Fonctionnement)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CIF (OMS) permet une évaluation multidimensionnelle du fonctionnement (capacités, limitations, participation, facteurs environnementaux) et est recommandée comme cadre de référence dans la RBPP.</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recommande la HAS concernant le Snoezelen dans l'accompagnement du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est recommandé comme intervention principale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est recommandé uniquement pour le confort et le bien-être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est totalement contre-indiqué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est recommandé en alternative à l'ABA</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 est recommandé uniquement pour le confort et le bien-être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Snoezelen n'est pas validé comme intervention thérapeutique pour le TSA mais peut être utilisé comme outil de confort sensoriel. Il ne doit pas se substituer aux interventions recommandées.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signification du sigle ESDM dans les interventions pour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Échelle de Sévérité Des Manifestations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Early Start Denver Model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Évaluation Structurée du Développement Moteur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École Spécialisée pour le Développement de l'Autiste</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Early Start Denver Model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L'ESDM est une approche d'intervention précoce intégrant des techniques comportementales et développementales, recommandée pour les enfants de 12 à 60 mois avec TSA.</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le principal facteur de risque de rupture de parcours chez l'adolescent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L'entrée au collège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L'absence de projet de transition anticipé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changement d'équipe soignante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survenue de la puberté</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L'absence de projet de transition anticipé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ruptures de parcours à l'adolescence et au moment du passage à l'âge adulte sont liées à l'absence de planification précoce de la transition, d'où la recommandation d'initier ce travail à 14 ans.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JASPER dans le contexte du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Joint Attention, Symbolic Play, Engagement and Regulation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Journal d'Apprentissage Sensoriel Pour l'Épanouissement et la Relation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Java-based Assessment of Special Programs for Educational Rehabilitation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Jugement et Analyse des Signes Précoces En Revue</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Joint Attention, Symbolic Play, Engagement and Regulation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JASPER est une intervention recommandée centrée sur le jeu et les interactions sociales, qui vise à améliorer l'attention conjointe, le jeu symbolique et la régulation émotionnelle chez les enfants avec TSA.</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ces comorbidités, laquelle doit être systématiquement recherchée chez un enfant avec TSA selon la HAS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Diabète de type 1</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Épilepsie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Asthme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Psoriasis</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Épilepsie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L'épilepsie est une comorbidité fréquente dans le TSA (prévalence estimée à 20-30%). Son dépistage et son traitement sont essentiels car elle peut aggraver les troubles comportementaux et cognitifs.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outil sert à évaluer le niveau de sévérité de l'autisme dans un contexte diagnostique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WISC-V</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ADOS-2</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VINELAND-3</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M-CHAT-R/F</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ADOS-2</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L'ADOS-2 (Autism Diagnostic Observation Schedule) est un outil d'observation standardisée qui évalue les symptômes du TSA et contribue au diagnostic. Il se combine idéalement avec l'ADI-R (entretien parental).</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approche la RBPP TSA 2026 recommande-t-elle pour la gestion des comportements-problèmes sévères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Restriction physique systématique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PBS (Positive Behaviour Support) après analyse fonctionnelle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Sédation médicamenteuse en première intention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Isolement thérapeutique</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PBS (Positive Behaviour Support) après analyse fonctionnelle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PBS (Soutien Comportemental Positif) est recommandé après analyse fonctionnelle du comportement. Il vise à identifier les causes du comportement et à modifier les facteurs environnementaux et les antécédents.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professionnel doit coordonner l'évaluation diagnostique pluridisciplinaire d'un enfant suspect de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médecin généraliste exclusivement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médecin spécialiste (neuropédiatre, pédopsychiatre)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L'orthophoniste référent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L'enseignant spécialisé de l'UEMA</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médecin spécialiste (neuropédiatre, pédopsychiatre)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diagnostic doit être posé par une équipe pluridisciplinaire coordonnée par un médecin spécialiste (pédopsychiatre ou neuropédiatre), en s'appuyant sur les outils standardisés (ADOS-2, ADI-R).</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intervention parentale est spécifiquement recommandée pour améliorer les interactions précoces avec les nourrissons présentant des signes de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Son-Rise Programme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PACT (Preschool Autism Communication Trial)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Méthode Padovan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Programme Feuerstein</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PACT (Preschool Autism Communication Trial)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PACT est une intervention de guidance parentale validée qui entraîne les parents à mieux répondre aux signaux communicatifs de leur enfant et à créer des opportunités d'interaction sociale naturelle.</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recommandation concernant la psychanalyse dans l'accompagnement du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Recommandée en complément d'ABA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recommandée comme intervention principale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Recommandée pour les parents uniquement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Recommandée uniquement pour les adultes avec TSA</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recommandée comme intervention principale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psychanalyse n'est pas recommandée comme intervention principale pour le TSA car elle n'a pas démontré d'efficacité sur les symptômes autistiques. Elle peut être proposée pour accompagner une souffrance psychologique associée.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signifie l'acronyme TEACCH dans les approches éducatives du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Treatment and Education of Autistic and related Communication-handicapped CHildren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Technique d'Évaluation et d'Accompagnement par Chronogramme des Compétences et Habiletés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Therapeutic Education Applied to Children with CHallenges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Total Environment Assessment for Communication and Cognitive Habilitation</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Treatment and Education of Autistic and related Communication-handicapped CHildren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TEACCH est une approche structurée recommandée par la HAS qui s'appuie sur les points forts des personnes avec TSA (traitement visuel) via l'organisation de l'environnement et les supports visuels.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l'enjeu principal de la recommandation HAS concernant les adolescents avec TSA « masqué »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Favoriser leur orientation en ESAT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Dépister le risque de dépression, d'anxiété et d'épuisement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Renforcer l'inclusion scolaire en milieu ordinaire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Limiter les prescriptions de psychotropes</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Dépister le risque de dépression, d'anxiété et d'épuisement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adolescents avec TSA 'masqué' (camouflage) présentent un risque élevé de santé mentale (burnout autistique, dépression, anxiété). La recommandation insiste sur la nécessité d'une vigilance accrue de l'entourage et des professionnels.</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ESSMS, que doit inclure un projet personnalisé pour un enfant avec TSA selon la RBPP 2026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les objectifs éducatifs et scolaires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objectifs de fonctionnement, les interventions choisies, le soutien familial et la coordination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liste des médicaments prescrits et les rendez-vous médicaux</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les activités thérapeutiques non médicamenteuses</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objectifs de fonctionnement, les interventions choisies, le soutien familial et la coordination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projet personnalisé doit être global et co-construit avec la famille et l'enfant (selon son niveau de compréhension), intégrant toutes les dimensions : éducative, thérapeutique, scolaire, familiale et sociale.</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définition du TSA selon le DSM-5 utilisée dans la RBPP 2026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spécifique du langage avec retard mental associé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neurodéveloppemental caractérisé par des déficits de la communication sociale et des comportements restreints et répétitifs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syndrome psychiatrique acquis avant l'âge de 3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de l'attachement précoce avec régression développementale</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trouble neurodéveloppemental caractérisé par des déficits de la communication sociale et des comportements restreints et répétitifs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DSM-5 définit le TSA comme un trouble neurodéveloppemental unique (spectre) regroupant les anciens syndromes d'Asperger, autisme infantile et TED-NS, caractérisé par deux domaines de symptômes.</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la méthode 3i est-elle recommandée pour les 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pour les enfants de moins de 6 ans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elle figure dans la liste des interventions non recommandées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en complément de l'ABA</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n'est pas mentionnée dans la recommandation</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elle figure dans la liste des interventions non recommandées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3i (Interactive, Intensive, Individualisée) ne dispose pas de données probantes d'efficacité pour le TSA et figure parmi les interventions formellement non recommandées par la HAS.</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principale mission du SESSAD dans l'accompagnement des enfants avec TSA scolarisés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Remplacer l'enseignant en classe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Assurer le suivi thérapeutique et éducatif en soutien à la scolarisation inclusive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Gérer l'orientation MDPH de l'enfant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Proposer un hébergement temporaire</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Assurer le suivi thérapeutique et éducatif en soutien à la scolarisation inclusive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SESSAD (Service d'Éducation Spéciale et de Soins à Domicile) intervient en milieu ordinaire pour soutenir la scolarisation inclusive, en proposant des interventions spécialisées (orthophonie, psychomotricité, éducation spécialisée).</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 signifie le grade 'AE' attribué à certaines recommandations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Absence d'Evidence — pas de recommandation possible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Accord d'Experts — recommandation fondée sur le consensus professionnel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Application Exclusive — réservée aux spécialistes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Actualisation Élargie — issue d'une méta-analyse internationale</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Accord d'Experts — recommandation fondée sur le consensus professionnel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grade AE (Accord d'Experts) indique que la recommandation repose sur l'accord du groupe de travail en l'absence d'études de haut niveau. C'est le niveau de preuve le plus faible mais la recommandation reste valide.</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approche est recommandée pour développer les habiletés sociales des adolescents avec TSA de haut niveau de fonctionnement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Psychodrame analytique en groupe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Groupes d'entraînement aux habiletés sociales (PEERS, ScS)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Jeux de rôle non structurés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par le jeu libre uniquement</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Groupes d'entraînement aux habiletés sociales (PEERS, ScS)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programmes structurés d'entraînement aux habiletés sociales (comme PEERS) sont recommandés pour les adolescents avec TSA sans déficience intellectuelle. Ils améliorent la qualité des interactions sociales.</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le rôle de l'AESH auprès d'un élève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Assurer l'enseignement individualisé en remplacement de l'enseignant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Accompagner l'élève dans les actes de la vie scolaire et faciliter sa participation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Poser les objectifs thérapeutiques de l'élève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Administrer les traitements médicamenteux à l'école</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Accompagner l'élève dans les actes de la vie scolaire et faciliter sa participation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L'AESH (Accompagnant des Élèves en Situation de Handicap) accompagne l'élève dans les actes de la vie scolaire, facilite sa participation aux activités et sa relation avec les pairs, en lien avec l'équipe éducative et le SESSAD.</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RBPP TSA 2026 recommande-t-elle le neurofeedback pour réduire les comportements répétitifs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en complément de la TCC</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il est formellement non recommandé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mais uniquement chez les adultes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n'est pas mentionné dans la recommandation</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il est formellement non recommandé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neurofeedback figure dans la liste des interventions non recommandées par la HAS car les preuves scientifiques de son efficacité dans le TSA sont insuffisantes et les études disponibles sont de faible qualité.</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l'analyse fonctionnelle du comportement dans le contexte des comportements-problèmes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test neuropsychologique standardisé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démarche visant à identifier les antécédents, le comportement et ses conséquences (modèle ABC)</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pharmacologique pour réduire l'agitation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évaluation des capacités motrices de la personne</a:t>
            </a:r>
            <a:endParaRPr lang="en-US" sz="13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démarche visant à identifier les antécédents, le comportement et ses conséquences (modèle ABC)</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L'analyse fonctionnelle (modèle Antécédent-Comportement-Conséquence) identifie les facteurs déclenchants et les renforçateurs du comportement, permettant de concevoir des interventions adaptées.</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recommandation concernant l'utilisation de médicaments psychotropes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recommandés en première intention pour les comportements-problèmes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réservés au traitement des comorbidités psychiatriques après évaluation spécialisée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contre-indiqués chez les enfants de moins de 12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doivent être prescrits par le médecin généraliste en coordination avec les parents</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Ils sont réservés au traitement des comorbidités psychiatriques après évaluation spécialisée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psychotropes ne traitent pas les symptômes fondamentaux du TSA. Ils peuvent être indiqués pour les comorbidités (TDAH, anxiété, épilepsie) après évaluation spécialisée, en dernière intention pour les comportements-problèmes sévères.</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NDBI dans la classification des interventions pour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Neuro-Developmental Behaviour Inventory</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Naturalistic Developmental Behavioural Intervention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National Database for Behaviour Intervention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Neurofeedback and Developmental Brain Imaging</a:t>
            </a:r>
            <a:endParaRPr lang="en-US" sz="13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Naturalistic Developmental Behavioural Intervention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NDBI (Interventions comportementales développementales naturalistes) regroupent des approches comme l'ESDM et JASPER, qui combinent les principes de l'ABA et les modèles développementaux dans des contextes naturels.</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 doit faire l'équipe ESSMS face à un enfant avec TSA présentant des troubles sévères du sommeil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Augmenter les activités physiques dans la journée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Orienter vers un médecin pour bilan et traitement des troubles du sommeil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Mettre en place un programme de relaxation Snoezelen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Proposer une consultation psychanalytique</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Orienter vers un médecin pour bilan et traitement des troubles du sommeil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troubles du sommeil sont très fréquents dans le TSA et peuvent aggraver les comportements-problèmes et les troubles de l'humeur. La HAS recommande une évaluation médicale systématique et un traitement adapté.</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type d'organisation de l'environnement est caractéristique de la méthode TEACCH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Environnement riche en stimulations sensorielles multiples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Structuration physique, temporelle et visuelle de l'espace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Organisation centrée sur le jeu libre non dirigé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Environnement sonore calibré par audiofréquences</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Structuration physique, temporelle et visuelle de l'espace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TEACCH repose sur la structuration de l'environnement (zones dédiées, emplois du temps visuels, systèmes de travail) pour réduire l'anxiété et favoriser l'autonomie des personnes avec TSA.</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fréquence recommandée pour réévaluer le projet personnalisé d'un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Tous les 5 ans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À chaque étape clé du développement (entrée en scolarité, adolescence, transition)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seule fois au moment du diagnostic</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en cas d'aggravation des comportements</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À chaque étape clé du développement (entrée en scolarité, adolescence, transition)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projet personnalisé doit être réévalué régulièrement, en particulier aux moments charnières du parcours (entrée à l'école, passage au collège, adolescence, transition vers l'âge adulte) pour adapter les interventions.</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approche la HAS recommande-t-elle pour les troubles anxieux comorbides fréquents chez les adolescents avec TSA de bon niveau cognitif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Benzodiazépines en première intention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Thérapies Cognitivo-Comportementales (TCC) adaptées au TSA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Musicothérapie analytique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Hypnose thérapeutique</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Thérapies Cognitivo-Comportementales (TCC) adaptées au TSA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TCC adaptées (avec supports visuels, langage concret, travail sur l'identification des émotions) sont recommandées pour les troubles anxieux et dépressifs chez les adolescents avec TSA sans déficience intellectuelle sévère.</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CAMSP et quel est son rôle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Centre d'Accueil Médicalisé en Soins Psychiatriques — psychiatrie adulte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Centre d'Action Médico-Sociale Précoce — interventions précoces pour les 0-6 ans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Centre d'Accompagnement et de Médiation en Situations de crise Psychologique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Cellule d'Aide Médicale pour le Suivi des Personnes autistes</a:t>
            </a:r>
            <a:endParaRPr lang="en-US" sz="13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Centre d'Action Médico-Sociale Précoce — interventions précoces pour les 0-6 ans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CAMSP est un service médico-social qui assure le dépistage, le diagnostic et les interventions précoces pour les enfants de 0 à 6 ans avec des troubles du développement, dont le TSA.</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professionnel est le plus souvent référent de la communication dans l'équipe ESSMS accompagnant 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L'éducateur spécialisé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L'orthophoniste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psychomotricien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L'ergothérapeute</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L'orthophoniste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L'orthophoniste joue un rôle central dans l'évaluation et le développement des compétences communicationnelles, y compris la mise en place de la CAA et le travail sur la pragmatique du langage.</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ces signes d'alerte, lequel est le plus précoce et le plus spécifique du TSA chez le nourrisson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Absence de marche à 18 mois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Absence de pointage proto-déclaratif à 12 mois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Absence de contrôle de la tête à 4 mois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Présence de stéréotypies motrices à 2 ans</a:t>
            </a:r>
            <a:endParaRPr lang="en-US" sz="13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Absence de pointage proto-déclaratif à 12 mois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L'absence de pointage proto-déclaratif (pointer pour partager un intérêt) à 12 mois est l'un des signes d'alerte précoces les plus spécifiques du TSA, indiquant un déficit de l'attention conjointe.</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recommande la RBPP TSA 2026 concernant la formation des professionnels en ESSMS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formation optionnelle laissée au choix individuel des professionnels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formation initiale et continue obligatoire aux interventions fondées sur les preuves, avec supervision régulière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formation de deux jours lors de l'embauche suffisante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formation est réservée aux professionnels paramédicaux</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formation initiale et continue obligatoire aux interventions fondées sur les preuves, avec supervision régulière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garantir la formation de toutes les équipes ESSMS, d'organiser des supervisions cliniques régulières et de s'assurer que les interventions délivrées sont conformes aux recommandations.</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l'objectif de l'attention conjointe dans le développement de l'enfant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Améliorer la concentration pendant les apprentissages scolaires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Partager l'expérience d'un objet ou événement avec autrui (regard, pointage, référencement social)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Augmenter la durée d'attention lors des activités sensorielles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Développer l'autonomie dans les tâches de la vie quotidienne</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Partager l'expérience d'un objet ou événement avec autrui (regard, pointage, référencement social)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L'attention conjointe est la capacité à coordonner son attention avec celle d'un autre sur un objet ou événement tiers. Elle est fondamentale pour le développement social et langagier et constitue une cible centrale des interventions précoces dans le TSA.</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ces troubles, lequel est considéré comme le TDAH comorbide le plus fréquent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 oppositionnel avec provocation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 déficitaire de l'attention avec ou sans hyperactivité (TDAH)</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 du spectre schizophrénique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 bipolaire</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Trouble déficitaire de l'attention avec ou sans hyperactivité (TDAH)</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TDAH est la comorbidité la plus fréquente dans le TSA, touchant 30 à 50% des personnes. Sa reconnaissance est essentielle car il aggrave les difficultés d'apprentissage et de comportement, et peut justifier une prise en charge spécifique.</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PECS dans le cadre de la CAA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Programme Éducatif pour l'Autonomie et la Communication Spécialisée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Picture Exchange Communication System</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Protocole d'Évaluation des Compétences en Situations naturelles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Processus d'Évaluation des Capacités Sensorielles</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Picture Exchange Communication System</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PECS est un système de communication par échange d'images dont l'efficacité est validée pour les personnes avec TSA non verbales ou avec communication limitée. Il favorise les initiations communicatives spontanées.</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le principal objectif de la guidance parentale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Responsabiliser les parents des comportements de leur enfant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Renforcer les compétences parentales d'interaction et d'accompagnement au quotidien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Informer les parents des traitements médicamenteux disponibles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Former les parents à réaliser eux-mêmes l'ABA à domicile</a:t>
            </a:r>
            <a:endParaRPr lang="en-US" sz="13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Renforcer les compétences parentales d'interaction et d'accompagnement au quotidien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guidance parentale vise à soutenir les parents dans leurs interactions avec l'enfant, à développer leur compréhension du TSA et à les rendre acteurs des interventions, sans culpabilisation.</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 doit comprendre l'évaluation fonctionnelle d'un enfant avec TSA en ESSMS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un bilan cognitif (QI)</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évaluation multidimensionnelle incluant cognition, communication, adaptation, sensorialité et comportement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bilan génétique et neurologique complet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observation de 48 heures en internat</a:t>
            </a:r>
            <a:endParaRPr lang="en-US" sz="13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évaluation multidimensionnelle incluant cognition, communication, adaptation, sensorialité et comportement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L'évaluation du fonctionnement doit être globale et multidimensionnelle, réalisée par plusieurs professionnels, en utilisant des outils standardisés et en tenant compte du contexte de vie de l'enfant.</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recommandation de la HAS concernant l'implication de l'enfant avec TSA dans son propre projet personnalisé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L'enfant est exclu du processus car il manque de compréhension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L'enfant doit être impliqué selon ses capacités de compréhension et d'expression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L'implication de l'enfant est laissée à l'appréciation de l'équipe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Seuls les adolescents de plus de 16 ans peuvent participer</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L'enfant doit être impliqué selon ses capacités de compréhension et d'expression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Dans une perspective d'autodétermination, la HAS recommande d'impliquer l'enfant dans son projet personnalisé, en utilisant des supports adaptés à son niveau de communication (pictogrammes, langage simplifié).</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position de la HAS concernant le régime sans gluten et sans caséine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 pour tous les enfants avec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recommandé en l'absence de preuve d'efficacité et de maladie cœliaque associée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 uniquement pour les enfants avec TDAH comorbide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Fortement déconseillé car dangereux pour la croissance</a:t>
            </a:r>
            <a:endParaRPr lang="en-US" sz="13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recommandé en l'absence de preuve d'efficacité et de maladie cœliaque associée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régime sans gluten et sans caséine n'a pas démontré d'efficacité sur les symptômes du TSA dans les études contrôlées. Il peut être envisagé uniquement en cas de maladie cœliaque ou d'allergie diagnostiquée.</a:t>
            </a:r>
            <a:endParaRPr lang="en-US" sz="1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 rôle de la MDPH dans le parcours d'un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Poser le diagnostic de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Évaluer le handicap et attribuer les droits et orientations adaptées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Financer directement les interventions thérapeutiques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Assurer le suivi médical régulier de l'enfant</a:t>
            </a:r>
            <a:endParaRPr lang="en-US" sz="13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Évaluer le handicap et attribuer les droits et orientations adaptées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MDPH (Maison Départementale des Personnes Handicapées) évalue la situation de handicap et attribue les droits (AEEH, PCH, orientations SESSAD/ESMS, AESH, AEEH) via la Commission des Droits et de l'Autonomie.</a:t>
            </a:r>
            <a:endParaRPr lang="en-US" sz="1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recommande la RBPP TSA 2026 concernant la méthode Doman-Delacato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Recommandée pour améliorer la motricité globale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recommandée — absence de preuves d'efficacité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Recommandée en complément de la rééducation orthophonique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Son efficacité est en cours d'évaluation</a:t>
            </a:r>
            <a:endParaRPr lang="en-US" sz="13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recommandée — absence de preuves d'efficacité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Doman-Delacato (patterning) est formellement non recommandée par la HAS car elle n'a pas démontré d'efficacité pour le TSA et peut mobiliser les familles de manière intensive sans bénéfice prouvé.</a:t>
            </a:r>
            <a:endParaRPr lang="en-US" sz="1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Dans la RBPP TSA 2026, quel est le rôle du psychomotricien dans l'accompagnement d'un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 diagnostic des troubles moteurs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L'évaluation et la rééducation du développement moteur, sensoriel, corporel et de la régulation tonique et émotionnelle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prescription des adaptations ergonomiques du poste scolaire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réalisation exclusive des bilans proprioceptifs</a:t>
            </a:r>
            <a:endParaRPr lang="en-US" sz="13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L'évaluation et la rééducation du développement moteur, sensoriel, corporel et de la régulation tonique et émotionnelle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psychomotricien contribue à l'évaluation du fonctionnement corporel et sensoriel et propose des interventions visant le développement psychomoteur, la régulation sensorielle, le schéma corporel et la gestion des émotions corporelles.</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quand doit-on proposer une intervention en CAA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après 5 ans d'échec au langage verbal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Dès que la communication verbale est insuffisante pour les besoins de l'enfant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Seulement chez les enfants sans aucune production verbale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sur prescription médicale</a:t>
            </a:r>
            <a:endParaRPr lang="en-US" sz="13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Dès que la communication verbale est insuffisante pour les besoins de l'enfant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CAA doit être proposée précocement, dès que les besoins communicatifs de l'enfant ne sont pas satisfaits par la communication verbale seule, sans attendre un seuil d'âge ou d'absence totale de langage.</a:t>
            </a:r>
            <a:endParaRPr lang="en-US" sz="1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recommandation de la RBPP TSA 2026 concernant la participation des pairs dans les interventions pour les 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pairs peuvent induire des comportements inadaptés et doivent être exclus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L'implication de pairs sans TSA comme médiateurs est recommandée pour développer les compétences sociales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interactions avec les pairs sont déconseillées avant 6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Seuls les siblings (frères et sœurs) peuvent servir de médiateurs</a:t>
            </a:r>
            <a:endParaRPr lang="en-US" sz="13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L'implication de pairs sans TSA comme médiateurs est recommandée pour développer les compétences sociales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interventions médiatisées par les pairs (peer-mediated interventions) sont recommandées car elles favorisent les interactions sociales naturelles dans des contextes inclusifs (école, activités de loisir).</a:t>
            </a:r>
            <a:endParaRPr lang="en-US" sz="1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qu'est-ce que le 'camouflage' ou 'masking' dans le TSA à l'adolescence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mécanisme de défense psychanalytique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dissimuler ses difficultés autistiques pour s'adapter socialement, au prix d'un épuisement important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technique éducative pour réduire les comportements visibles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comorbide distinct du TSA</a:t>
            </a:r>
            <a:endParaRPr lang="en-US" sz="13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dissimuler ses difficultés autistiques pour s'adapter socialement, au prix d'un épuisement important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masking/camouflage désigne les stratégies conscientes ou inconscientes utilisées par certaines personnes avec TSA pour dissimuler leurs difficultés. Très fréquent chez les filles, il entraîne un risque élevé de burnout autistique et de troubles dépressifs.</a:t>
            </a:r>
            <a:endParaRPr lang="en-US" sz="1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recommandation la HAS formule-t-elle pour les groupes de psychoéducation destinés aux parents d'enfants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déconseillés car ils peuvent créer des comparaisons anxiogènes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recommandés pour améliorer la qualité de vie familiale et les compétences parentales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réservés aux parents d'enfants sans déficience intellectuelle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ne sont recommandés qu'après l'âge de 6 ans de l'enfant</a:t>
            </a:r>
            <a:endParaRPr lang="en-US" sz="13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Ils sont recommandés pour améliorer la qualité de vie familiale et les compétences parentales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groupes de psychoéducation parentale permettent aux familles de mieux comprendre le TSA, de développer des stratégies d'accompagnement efficaces et de bénéficier d'un soutien par les pairs (pairaidance).</a:t>
            </a:r>
            <a:endParaRPr lang="en-US" sz="1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l'ergothérapeute intervient principalement sur quel domaine dans l'accompagnement du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développement du langage oral et écrit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activités de la vie quotidienne, les adaptations environnementales et le traitement sensoriel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prescription et l'adaptation des psychotropes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rédaction du projet personnalisé de l'établissement</a:t>
            </a:r>
            <a:endParaRPr lang="en-US" sz="13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activités de la vie quotidienne, les adaptations environnementales et le traitement sensoriel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L'ergothérapeute évalue et accompagne les enfants avec TSA dans les activités de la vie quotidienne (alimentation, habillage, écriture), propose des adaptations de l'environnement et travaille sur l'intégration sensorielle.</a:t>
            </a:r>
            <a:endParaRPr lang="en-US" sz="1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recommande la RBPP TSA 2026 concernant le recours aux hospitalisations psychiatriques pour les comportements-problèmes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recommandées en première intention pour les comportements sévères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doivent être évitées autant que possible ; la crise doit être gérée en priorité par des dispositifs ambulatoires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la seule solution pour les comportements d'auto-agressivité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recommandées systématiquement pour permettre un bilan complet</a:t>
            </a:r>
            <a:endParaRPr lang="en-US" sz="13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Elles doivent être évitées autant que possible ; la crise doit être gérée en priorité par des dispositifs ambulatoires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privilegier les interventions ambulatoires (équipes mobiles, SAMSAH, unités de crise) pour limiter les ruptures d'environnement. L'hospitalisation psychiatrique doit rester exceptionnelle et de courte durée.</a:t>
            </a:r>
            <a:endParaRPr lang="en-US" sz="1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outil recommande la RBPP pour évaluer le niveau de fonctionnement adaptatif (autonomie) d'un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WISC-V</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Vineland Adaptive Behavior Scales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ADOS-2</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M-CHAT-R/F</a:t>
            </a:r>
            <a:endParaRPr lang="en-US" sz="13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Vineland Adaptive Behavior Scales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Vineland Adaptive Behavior Scales (Vineland-3) évaluent les comportements adaptatifs (communication, vie quotidienne, socialisation, motricité) et sont recommandées pour compléter le bilan cognitif dans le TSA.</a:t>
            </a:r>
            <a:endParaRPr lang="en-US" sz="1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le principal risque de la méthode Son-Rise pour les familles d'enfants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trop coûteuse financièrement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mobilise intensément les familles sans bénéfice prouvé, pouvant conduire à un épuisement parental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entraîne des régressions comportementales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contre-indiquée pour les enfants de moins de 3 ans</a:t>
            </a:r>
            <a:endParaRPr lang="en-US" sz="13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mobilise intensément les familles sans bénéfice prouvé, pouvant conduire à un épuisement parental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Son-Rise est une méthode intensive basée sur le suivi de l'enfant dans ses comportements. Elle n'a pas démontré d'efficacité dans des études contrôlées et peut mobiliser les parents de façon très intensive sans bénéfice prouvé.</a:t>
            </a:r>
            <a:endParaRPr lang="en-US" sz="1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recommandation concernant les activités de loisir et la participation sociale pour les 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activités de loisir sont secondaires par rapport aux interventions thérapeutiques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participation à des activités de loisir inclusives est recommandée comme vecteur d'inclusion sociale et de qualité de vie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activités de loisir sont réservées aux enfants avec TSA sans déficience intellectuelle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activités de groupe sont contre-indiquées car génératrices d'anxiété</a:t>
            </a:r>
            <a:endParaRPr lang="en-US" sz="13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participation à des activités de loisir inclusives est recommandée comme vecteur d'inclusion sociale et de qualité de vie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soutenir la participation des enfants avec TSA à des activités de loisir adaptées en milieu ordinaire (sport, arts, musique), qui contribuent à l'inclusion sociale, à l'estime de soi et à la qualité de vie.</a:t>
            </a:r>
            <a:endParaRPr lang="en-US" sz="14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MAKATON dans le cadre de la CAA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test de dépistage du TSA pour les nourrissons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programme multimodal combinant signes, pictogrammes et parole pour soutenir la communication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logiciel de génération d'emplois du temps visuels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programme d'entraînement aux habiletés sociales</a:t>
            </a:r>
            <a:endParaRPr lang="en-US" sz="13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programme multimodal combinant signes, pictogrammes et parole pour soutenir la communication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MAKATON est un système de CAA qui associe des signes (adaptés de la Langue des Signes), des pictogrammes et la parole pour soutenir la compréhension et l'expression des personnes avec des difficultés de communication.</a:t>
            </a:r>
            <a:endParaRPr lang="en-US" sz="14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 est la recommandation concernant la coordination entre l'ESMS et l'Éducation nationale pour un enfant avec TSA scolarisé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Chaque institution travaille de façon indépendante pour protéger la confidentialité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coordination étroite et formalisée est recommandée (ESS, PPS, PAP, réunions de synthèse)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coordination est optionnelle et laissée à l'initiative des parents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L'ESMS prend en charge la scolarité à la place de l'Éducation nationale</a:t>
            </a:r>
            <a:endParaRPr lang="en-US" sz="13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coordination étroite et formalisée est recommandée (ESS, PPS, PAP, réunions de synthèse)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une coordination active entre l'ESMS et l'Éducation nationale via les Équipes de Suivi de Scolarisation (ESS), les PPS (Projet Personnalisé de Scolarisation) et des réunions de synthèse régulières.</a:t>
            </a:r>
            <a:endParaRPr lang="en-US" sz="14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comment doit être envisagée la prise en charge des troubles alimentaires fréquents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 régime strict sans gluten et sans caséine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une évaluation pluriprofessionnelle (orthophoniste, ergothérapeute, diététicien, médecin) et des interventions comportementales adaptées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une hospitalisation nutritionnelle systématique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l'arrêt de toute intervention et l'attente d'une évolution spontanée</a:t>
            </a:r>
            <a:endParaRPr lang="en-US" sz="13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 une évaluation pluriprofessionnelle (orthophoniste, ergothérapeute, diététicien, médecin) et des interventions comportementales adaptées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troubles alimentaires (sélectivité, refus, hypersensibilité sensorielle orale) nécessitent une évaluation pluriprofessionnelle et des interventions graduées, comportementales et sensorielles, en impliquant la famille.</a:t>
            </a:r>
            <a:endParaRPr lang="en-US" sz="1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RBPP TSA 2026 recommande-t-elle l'intégration de la fratrie dans l'accompagnement familial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cela pourrait nuire à la fratrie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des groupes dédiés à la fratrie et une information adaptée sont recommandés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Seulement si la fratrie en fait la demande explicite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dans le cadre d'une thérapie familiale psychanalytique</a:t>
            </a:r>
            <a:endParaRPr lang="en-US" sz="13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Oui, des groupes dédiés à la fratrie et une information adaptée sont recommandés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soutenir la fratrie d'enfants avec TSA, qui peut être impactée par le handicap de leur frère ou sœur. Des groupes frères-sœurs et une information adaptée à leur âge sont recommandés.</a:t>
            </a:r>
            <a:endParaRPr lang="en-US" sz="14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le niveau de preuve pour la méthode ESDM (Early Start Denver Model)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A (preuve établie)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B (présomption scientifique)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C (faible niveau de preuve)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AE (accord d'experts)</a:t>
            </a:r>
            <a:endParaRPr lang="en-US" sz="13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Grade B (présomption scientifique)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L'ESDM bénéficie d'un grade B, signifiant une présomption scientifique de son efficacité pour améliorer le développement des enfants avec TSA, notamment sur la communication et le développement cognitif.</a:t>
            </a:r>
            <a:endParaRPr lang="en-US" sz="14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l'autodétermination dans le contexte de l'accompagnement des adolescents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se diagnostiquer soi-même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faire des choix et à agir selon ses valeurs, besoins et préférences propres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L'indépendance totale sans besoin d'accompagnement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maîtrise complète des comportements répétitifs</a:t>
            </a:r>
            <a:endParaRPr lang="en-US" sz="13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faire des choix et à agir selon ses valeurs, besoins et préférences propres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L'autodétermination est un droit fondamental des personnes avec handicap, reconnu dans la RBPP. Elle implique de soutenir la capacité de l'adolescent à faire des choix éclairés, à exprimer ses préférences et à participer aux décisions qui le concernent.</a:t>
            </a:r>
            <a:endParaRPr lang="en-US" sz="14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critère classificatoire est utilisé pour le diagnostic de TSA en France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CIM-10 exclusivement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DSM-5</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DSM-IV-TR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CIM-11 exclusivement</a:t>
            </a:r>
            <a:endParaRPr lang="en-US" sz="13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DSM-5</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DSM-5 (Manuel Diagnostique et Statistique des Troubles Mentaux, 5e édition, 2013) est le système classificatoire de référence utilisé pour le diagnostic du TSA en France selon la RBPP 2026, en cohérence avec la CIM-11.</a:t>
            </a:r>
            <a:endParaRPr lang="en-US" sz="14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 est la recommandation concernant le répit pour les familles d'enfants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répit est considéré comme non essentiel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solutions de répit (accueil temporaire, services de répit à domicile) doivent être proposées et accessibles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répit doit être financé uniquement par les familles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répit est contre-indiqué car il perturbe les routines de l'enfant</a:t>
            </a:r>
            <a:endParaRPr lang="en-US" sz="13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Des solutions de répit (accueil temporaire, services de répit à domicile) doivent être proposées et accessibles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l'accès des familles à des solutions de répit (accueil temporaire en ESMS, services de répit à domicile) car l'épuisement parental est un facteur de risque majeur pour la qualité de l'accompagnement.</a:t>
            </a:r>
            <a:endParaRPr lang="en-US" sz="1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l'impact des troubles sensoriels dans le TSA sur la scolarisation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troubles sensoriels n'ont pas d'impact sur la scolarisation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peuvent générer de l'anxiété, des comportements d'évitement et perturber les apprentissages — des adaptations environnementales sont nécessaires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uniquement traités par le psychomotricien hors temps scolaire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justifient systématiquement une orientation en établissement spécialisé</a:t>
            </a:r>
            <a:endParaRPr lang="en-US" sz="13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Ils peuvent générer de l'anxiété, des comportements d'évitement et perturber les apprentissages — des adaptations environnementales sont nécessaires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troubles du traitement sensoriel (hypersensibilité au bruit, à la lumière, aux textures) peuvent fortement perturber le confort et les apprentissages à l'école. Des adaptations (casque antibruit, éclairage tamisé, coin calme) sont recommandées.</a:t>
            </a:r>
            <a:endParaRPr lang="en-US" sz="14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 doit inclure le bilan initial d'un enfant nouvellement accueilli en SESSAD avec diagnostic de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un bilan cognitif et un bilan orthophonique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bilan pluridisciplinaire complet incluant cognition, communication, comportements adaptatifs, sensorialité et analyse des besoins en CAA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bilan génétique et métabolique complet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bilan exclusivement réalisé par le médecin coordinateur</a:t>
            </a:r>
            <a:endParaRPr lang="en-US" sz="13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bilan pluridisciplinaire complet incluant cognition, communication, comportements adaptatifs, sensorialité et analyse des besoins en CAA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Lors de l'admission, le SESSAD doit réaliser une évaluation complète du fonctionnement de l'enfant pour définir un projet personnalisé pertinent, en s'appuyant sur une équipe pluridisciplinaire.</a:t>
            </a:r>
            <a:endParaRPr lang="en-US" sz="14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méthode Tomatis est-elle recommandée par la RBPP TSA 2026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pour les troubles du traitement auditif</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elle est formellement non recommandée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mais uniquement pour les enfants de plus de 6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fait l'objet d'une recommandation conditionnelle</a:t>
            </a:r>
            <a:endParaRPr lang="en-US" sz="13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elle est formellement non recommandée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Tomatis (entraînement auditif par filtrage de fréquences) est non recommandée par la HAS car elle n'a pas démontré d'efficacité dans le TSA dans des études rigoureuses.</a:t>
            </a:r>
            <a:endParaRPr lang="en-US" sz="14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comment doit être organisée la supervision clinique des professionnels en ESSMS accompagnant des personnes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optionnelle et ne relève pas des obligations de l'établissement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doit être régulière, assurée par un professionnel formé, et viser l'amélioration continue des pratiques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doit uniquement être réalisée lors des incidents graves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réservée aux professionnels en difficulté personnelle</a:t>
            </a:r>
            <a:endParaRPr lang="en-US" sz="13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doit être régulière, assurée par un professionnel formé, et viser l'amélioration continue des pratiques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des supervisions cliniques régulières pour garantir la qualité et la conformité des interventions aux recommandations, soutenir les équipes et prévenir l'épuisement professionnel.</a:t>
            </a:r>
            <a:endParaRPr lang="en-US" sz="14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qu'est-ce que la pairaidance dans le contexte du soutien aux familles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système d'aide financière entre familles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soutien entre personnes ayant une expérience commune du TSA (parents aidant d'autres parents, personnes autistes accompagnant d'autres personnes autistes)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programme de co-thérapie entre professionnels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dispositif d'aide à domicile financé par la CAF</a:t>
            </a:r>
            <a:endParaRPr lang="en-US" sz="13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soutien entre personnes ayant une expérience commune du TSA (parents aidant d'autres parents, personnes autistes accompagnant d'autres personnes autistes)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pairaidance (peer support) est recommandée par la HAS comme complément aux soutiens professionnels. Elle s'appuie sur le savoir expérientiel des personnes concernées pour soutenir d'autres familles ou personnes avec TSA.</a:t>
            </a:r>
            <a:endParaRPr lang="en-US" sz="14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à partir de quel âge les interventions précoces intensives doivent-elles idéalement commencer pour les 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Dès l'âge de 5 ans (entrée en maternelle)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plus tôt possible, dès les premiers signes suspects, sans attendre le diagnostic formel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après diagnostic confirmé à 3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À partir de 2 ans minimum</a:t>
            </a:r>
            <a:endParaRPr lang="en-US" sz="13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plus tôt possible, dès les premiers signes suspects, sans attendre le diagnostic formel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démarrer les interventions précoces dès l'apparition des premiers signes suspects, sans attendre la confirmation diagnostique, car la plasticité cérébrale est maximale dans les premières années de vie.</a:t>
            </a:r>
            <a:endParaRPr lang="en-US" sz="14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l'impact d'une intervention comportementale précoce intensive sur le pronostic d'un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n'y a pas de différence selon l'âge de début de l'intervention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début précoce améliore significativement les résultats en termes de communication, cognition et comportement adaptatif</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L'intervention précoce risque de fatiguer l'enfant et est contre-indiquée avant 4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 la qualité de l'école maternelle détermine le pronostic</a:t>
            </a:r>
            <a:endParaRPr lang="en-US" sz="13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début précoce améliore significativement les résultats en termes de communication, cognition et comportement adaptatif</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données probantes montrent qu'une intervention intensive et précoce (avant 4 ans) entraîne de meilleures évolutions en termes de communication, cognition, comportements adaptatifs et qualité de vie.</a:t>
            </a:r>
            <a:endParaRPr lang="en-US" sz="14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acronyme désigne le trouble autistique selon le DSM-5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TED (Trouble Envahissant du Développement)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TSA (Trouble du Spectre de l'Autisme)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TED-NS (TED non spécifié)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 (Syndrome d'Asperger)</a:t>
            </a:r>
            <a:endParaRPr lang="en-US" sz="13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TSA (Trouble du Spectre de l'Autisme)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Depuis le DSM-5 (2013), tous les anciens sous-types (autisme de Kanner, syndrome d'Asperger, TED-NS) sont regroupés sous un seul diagnostic : le Trouble du Spectre de l'Autisme (TSA), avec différents niveaux de soutien.</a:t>
            </a:r>
            <a:endParaRPr lang="en-US" sz="14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recommandation concernant l'inclusion des personnes autistes adultes comme experts dans la conception des interventions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Leur participation est difficile à organiser et n'est pas recommandée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participation des personnes autistes (experts par expérience) est recommandée dans l'élaboration des programmes et recommandations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Seuls les professionnels peuvent contribuer à la conception des interventions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participation est réservée aux personnes autistes sans déficience intellectuelle</a:t>
            </a:r>
            <a:endParaRPr lang="en-US" sz="13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participation des personnes autistes (experts par expérience) est recommandée dans l'élaboration des programmes et recommandations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RBPP inscrit la participation des personnes concernées dans une approche « Rien sur nous sans nous ». Les personnes autistes sont des experts par expérience dont la perspective est essentielle pour co-concevoir des interventions pertinentes.</a:t>
            </a:r>
            <a:endParaRPr lang="en-US" sz="14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quelles sont les deux grandes dimensions du TSA selon le DSM-5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du langage et troubles moteurs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Déficits de la communication sociale et comportements restreints et répétitifs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Déficience intellectuelle et troubles sensoriels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de l'attachement et déficits cognitifs</a:t>
            </a:r>
            <a:endParaRPr lang="en-US" sz="13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Déficits de la communication sociale et comportements restreints et répétitifs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DSM-5 définit le TSA par deux domaines de critères : (A) les déficits persistants de la communication et des interactions sociales, et (B) les comportements, intérêts ou activités restreints et répétitifs.</a:t>
            </a:r>
            <a:endParaRPr lang="en-US" sz="14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qu'est-ce que le 'burnout autistique'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psychiatrique distinct du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état d'épuisement profond lié aux efforts d'adaptation sociale, avec perte de compétences et augmentation des comportements-problèmes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complication neurologique du TSA</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effet secondaire fréquent des traitements médicamenteux</a:t>
            </a:r>
            <a:endParaRPr lang="en-US" sz="13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état d'épuisement profond lié aux efforts d'adaptation sociale, avec perte de compétences et augmentation des comportements-problèmes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burnout autistique est un état d'épuisement qui survient lorsque les ressources de la personne autiste sont dépassées par les exigences sociales, souvent après des efforts prolongés de camouflage. Il se manifeste par une régression des acquis, un retrait social et une augmentation des comportements-problèmes.</a:t>
            </a:r>
            <a:endParaRPr lang="en-US" sz="14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le niveau de preuve du packing dans le traitement des comportements d'auto-agression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A (très efficace)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Formellement non recommandé — risques démontrés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B pour les cas sévères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Grade AE (accord d'experts favorable)</a:t>
            </a:r>
            <a:endParaRPr lang="en-US" sz="13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Formellement non recommandé — risques démontrés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packing (enveloppement dans des linges humides froids) est formellement et définitivement non recommandé par la HAS. Il a été considéré comme une pratique maltraitante et ne dispose d'aucune preuve d'efficacité.</a:t>
            </a:r>
            <a:endParaRPr lang="en-US" sz="14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le rôle de l'Unité d'Enseignement en Élémentaire pour Autistes (UEEA)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Accueillir exclusivement des enfants avec TSA sans déficience intellectuelle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Proposer un enseignement spécialisé adapté au TSA en école élémentaire, en co-gestion ESMS/Éducation nationale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Remplacer entièrement la scolarisation en classe ordinaire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Offrir un hébergement de semaine pour les enfants avec TSA sévère</a:t>
            </a:r>
            <a:endParaRPr lang="en-US" sz="13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Proposer un enseignement spécialisé adapté au TSA en école élémentaire, en co-gestion ESMS/Éducation nationale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L'UEEA (anciennement UE en école élémentaire) est un dispositif spécialisé co-géré par un ESMS et l'Éducation nationale, accueillant des enfants d'âge élémentaire avec TSA pour un enseignement adapté incluant des interventions thérapeutiques.</a:t>
            </a:r>
            <a:endParaRPr lang="en-US" sz="14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 recommande la HAS concernant la coordination pluriprofessionnelle dans les ESSMS accueillant des personnes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Chaque professionnel travaille de façon autonome selon sa spécialité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approche transdisciplinaire avec réunions régulières, référent de parcours identifié et projet personnalisé partagé est recommandée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coordination est uniquement nécessaire lors des crises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coordination est déléguée exclusivement au médecin coordinateur</a:t>
            </a:r>
            <a:endParaRPr lang="en-US" sz="13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approche transdisciplinaire avec réunions régulières, référent de parcours identifié et projet personnalisé partagé est recommandée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une approche transdisciplinaire (et non simplement multidisciplinaire) dans laquelle les professionnels partagent un cadre de référence commun, coordonnent leurs interventions et co-construisent le projet personnalisé.</a:t>
            </a:r>
            <a:endParaRPr lang="en-US" sz="14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le principal objectif de l'EIBI (Early Intensive Behavioural Intervention)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Éliminer les comportements répétitifs par la punition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Développer les compétences cognitives, communicationnelles et sociales par un entraînement comportemental intensif et systématique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Améliorer la motricité globale et la coordination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Réduire les troubles du sommeil par un programme de désensibilisation</a:t>
            </a:r>
            <a:endParaRPr lang="en-US" sz="13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Développer les compétences cognitives, communicationnelles et sociales par un entraînement comportemental intensif et systématique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L'EIBI vise à développer les compétences des jeunes enfants avec TSA dans tous les domaines (langage, socialisation, autonomie, cognition) par des séances intensives d'entraînement comportemental basé sur l'ABA, généralement 25-40 h/semaine.</a:t>
            </a:r>
            <a:endParaRPr lang="en-US" sz="14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recommandation de la RBPP TSA 2026 concernant la méthode Padovan (thérapie neuro-développementale)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Recommandée pour améliorer la coordination neuromotrice dans le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recommandée — absence de preuves d'efficacité spécifiques au TSA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Recommandée uniquement chez les enfants avec TSA et dyspraxie associée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cours d'évaluation — pas encore de recommandation définitive</a:t>
            </a:r>
            <a:endParaRPr lang="en-US" sz="13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recommandée — absence de preuves d'efficacité spécifiques au TSA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Padovan (réorganisation neurofonctionnelle) est non recommandée par la HAS pour le TSA car elle ne dispose pas de données probantes démontrant son efficacité sur les symptômes autistiques.</a:t>
            </a:r>
            <a:endParaRPr lang="en-US" sz="14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outil peut être utilisé pour structurer le temps et l'espace d'un enfant avec TSA dans le cadre de la méthode TEACCH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tableau d'émotions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emploi du temps visuel pictographique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journal de comportement écrit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de reinforcement verbal</a:t>
            </a:r>
            <a:endParaRPr lang="en-US" sz="13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emploi du temps visuel pictographique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TEACCH s'appuie notamment sur les emplois du temps visuels (séquence d'images ou pictogrammes représentant les activités de la journée) qui réduisent l'anxiété liée à l'imprévisibilité et favorisent l'autonomie.</a:t>
            </a:r>
            <a:endParaRPr lang="en-US" sz="14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le lien entre troubles du sommeil et comportements-problèmes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troubles du sommeil n'influencent pas les comportements diurnes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troubles du sommeil aggravent l'irritabilité, l'anxiété et les comportements-problèmes — leur traitement est prioritaire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comportements-problèmes entraînent des troubles du sommeil mais l'inverse n'est pas vrai</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troubles du sommeil ne sont pertinents que chez les enfants de moins de 6 ans</a:t>
            </a:r>
            <a:endParaRPr lang="en-US" sz="13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troubles du sommeil aggravent l'irritabilité, l'anxiété et les comportements-problèmes — leur traitement est prioritaire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privation de sommeil chez les enfants avec TSA aggrave les comportements-problèmes, l'irritabilité et les troubles de l'humeur. La HAS recommande d'évaluer et traiter les troubles du sommeil en priorité avant toute intervention comportementale.</a:t>
            </a:r>
            <a:endParaRPr lang="en-US" sz="14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le rôle de la mélatonine dans la prise en charge des troubles du sommeil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contre-indiquée dans le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peut être prescrite sous contrôle médical pour les troubles d'endormissement résistants aux mesures non médicamenteuses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recommandée en première intention sans nécessiter d'avis médical</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uniquement indiquée chez les adolescents de plus de 15 ans</a:t>
            </a:r>
            <a:endParaRPr lang="en-US" sz="13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peut être prescrite sous contrôle médical pour les troubles d'endormissement résistants aux mesures non médicamenteuses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mélatonine peut être utilisée sous prescription médicale pour les troubles d'endormissement dans le TSA, après échec des mesures d'hygiène du sommeil. Son usage doit être réévalué régulièrement.</a:t>
            </a:r>
            <a:endParaRPr lang="en-US" sz="14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qu'est-ce que la 'régulation émotionnelle' et pourquoi est-elle une cible prioritaire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exprimer ses émotions uniquement par le langage verbal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identifier, comprendre et moduler ses états émotionnels — son déficit est à l'origine de nombreux comportements-problèmes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maîtrise complète des émotions sans besoin de soutien extérieur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compétence uniquement travaillée en séance de psychomotricité</a:t>
            </a:r>
            <a:endParaRPr lang="en-US" sz="13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identifier, comprendre et moduler ses états émotionnels — son déficit est à l'origine de nombreux comportements-problèmes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difficultés de régulation émotionnelle sont centrales dans le TSA et contribuent aux comportements-problèmes. Des interventions spécifiques (TCC adaptées, mindfulness adaptée, outils de visualisation des émotions) sont recommandées.</a:t>
            </a:r>
            <a:endParaRPr lang="en-US" sz="14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recommandation concernant la scolarisation des enfants avec TSA et déficience intellectuelle sévère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doivent être orientés exclusivement vers des établissements médico-sociaux spécialisés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scolarisation adaptée doit être proposée, en UEMA, UEEA ou ULIS selon les besoins, avec les soutiens nécessaires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dispensés de scolarisation obligatoire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 l'enseignement à domicile est recommandé pour cette population</a:t>
            </a:r>
            <a:endParaRPr lang="en-US" sz="13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scolarisation adaptée doit être proposée, en UEMA, UEEA ou ULIS selon les besoins, avec les soutiens nécessaires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Même les enfants avec TSA et déficience intellectuelle sévère ont droit à une scolarisation adaptée. Les dispositifs spécialisés (UEMA, UEEA) permettent une scolarisation avec les soutiens éducatifs et thérapeutiques nécessaires.</a:t>
            </a:r>
            <a:endParaRPr lang="en-US" sz="14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l'ULIS dans le système scolaire français pour les élèves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Unité de Liaison pour l'Intégration Sociale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Unité Localisée pour l'Inclusion Scolaire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Unité de Liaison pour l'Intégration en SESSAD</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Unité Légale d'Intégration Scolaire</a:t>
            </a:r>
            <a:endParaRPr lang="en-US" sz="13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Unité Localisée pour l'Inclusion Scolaire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L'ULIS est un dispositif en école, collège ou lycée qui accueille des élèves en situation de handicap, dont le TSA, pour des temps d'enseignement spécialisé, en alternance avec des inclusions en classe ordinaire selon les compétences.</a:t>
            </a:r>
            <a:endParaRPr lang="en-US" sz="14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 est la recommandation de la HAS concernant les méthodes d'intégration sensorielle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recommandées comme intervention principale en grade 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Leur efficacité est insuffisamment prouvée pour une recommandation forte ; elles peuvent être proposées avec prudence dans une approche globale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formellement non recommandées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réservées aux enfants avec TSA et syndrome d'Angelman associé</a:t>
            </a:r>
            <a:endParaRPr lang="en-US" sz="13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Leur efficacité est insuffisamment prouvée pour une recommandation forte ; elles peuvent être proposées avec prudence dans une approche globale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thérapies d'intégration sensorielle (Ayres) ne bénéficient pas d'un niveau de preuve suffisant pour une recommandation forte dans le TSA, mais peuvent être intégrées avec prudence à une prise en charge globale, notamment pour le confort sensoriel.</a:t>
            </a:r>
            <a:endParaRPr lang="en-US" sz="14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quels professionnels doivent participer à l'Équipe de Suivi de Scolarisation (ESS) d'un élève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l'enseignant et le directeur d'école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L'enseignant référent, les parents, les professionnels de l'ESMS/SESSAD, l'AESH, l'enseignant de la classe et le médecin scolaire si besoin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les professionnels médicaux et paramédicaux</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directeur académique et l'inspecteur de l'Éducation nationale</a:t>
            </a:r>
            <a:endParaRPr lang="en-US" sz="13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L'enseignant référent, les parents, les professionnels de l'ESMS/SESSAD, l'AESH, l'enseignant de la classe et le médecin scolaire si besoin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L'ESS réunit tous les acteurs du parcours scolaire et thérapeutique de l'élève pour assurer la cohérence et la continuité de son accompagnement, avec les parents au centre du dispositif.</a:t>
            </a:r>
            <a:endParaRPr lang="en-US" sz="14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 est la recommandation concernant l'accès aux soins somatiques courants pour les personnes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soins somatiques courants sont secondaires par rapport aux interventions éducatives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accès aux soins facilité doit être organisé, avec des professionnels formés au TSA et des adaptations de l'environnement des soins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soins somatiques doivent toujours être réalisés sous sédation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personnes avec TSA peuvent toujours être soignées dans les structures de droit commun sans adaptation</a:t>
            </a:r>
            <a:endParaRPr lang="en-US" sz="13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accès aux soins facilité doit être organisé, avec des professionnels formés au TSA et des adaptations de l'environnement des soins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personnes avec TSA rencontrent des obstacles majeurs dans l'accès aux soins courants (dentaire, médical, chirurgical). La HAS recommande la formation des soignants, l'adaptation des locaux et des protocoles de désensibilisation progressive.</a:t>
            </a:r>
            <a:endParaRPr lang="en-US" sz="14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qu'est-ce qu'un « référent de parcours » pour un enfant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médecin prescripteur qui délivre les ordonnances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professionnel identifié qui assure la coordination globale du parcours de l'enfant entre tous les acteurs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L'enseignant référent de la MDPH</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parent qui gère les rendez-vous médicaux</a:t>
            </a:r>
            <a:endParaRPr lang="en-US" sz="13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identifié qui assure la coordination globale du parcours de l'enfant entre tous les acteurs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d'identifier un référent de parcours (souvent un professionnel du SESSAD ou de la PCO) qui assure la cohérence des interventions, facilite la communication entre acteurs et accompagne la famille dans les démarches.</a:t>
            </a:r>
            <a:endParaRPr lang="en-US" sz="14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l'enjeu du diagnostic de TSA chez les filles par rapport aux garçons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filles ont un TSA moins sévère et nécessitent moins d'accompagnement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TSA est souvent sous-diagnostiqué chez les filles en raison de meilleures capacités de camouflage social et de présentation atypique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n'y a pas de différence diagnostique entre les filles et les garçons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TSA est plus fréquent chez les filles selon la RBPP 2026</a:t>
            </a:r>
            <a:endParaRPr lang="en-US" sz="13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TSA est souvent sous-diagnostiqué chez les filles en raison de meilleures capacités de camouflage social et de présentation atypique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RBPP souligne que les filles avec TSA sont fréquemment diagnostiquées plus tardivement car elles présentent souvent une phénotypie atypique (intérêts restreints plus socialement acceptables, meilleur camouflage) qui retarde la reconnaissance du trouble.</a:t>
            </a:r>
            <a:endParaRPr lang="en-US" sz="14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recommandation concernant la mise en place de mesures de contention physique dans les ESSMS pour les comportements-problèmes sévères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contention physique est recommandée en première intention pour les crises sévères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contention physique doit être évitée et réservée en dernier recours, en respectant un cadre éthique et réglementaire strict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contention physique est autorisée sans protocole particulier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contention physique est toujours interdite quelle que soit la situation</a:t>
            </a:r>
            <a:endParaRPr lang="en-US" sz="13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contention physique doit être évitée et réservée en dernier recours, en respectant un cadre éthique et réglementaire strict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ne recourir à la contention physique qu'en dernier recours, pour des raisons de sécurité immédiate, dans le respect des droits de la personne, avec traçabilité, protocole institutionnel et réévaluation régulière.</a:t>
            </a:r>
            <a:endParaRPr lang="en-US" sz="14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 recommande la HAS concernant l'usage de la tablette numérique ou des applications dans l'accompagnement des personnes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outils numériques sont formellement déconseillés dans le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outils numériques peuvent être des supports efficaces pour la CAA, la structuration et les apprentissages, sous réserve d'un usage encadré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outils numériques ne sont recommandés que pour les adultes avec TSA</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outils numériques remplacent avantageusement les interventions humaines</a:t>
            </a:r>
            <a:endParaRPr lang="en-US" sz="13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outils numériques peuvent être des supports efficaces pour la CAA, la structuration et les apprentissages, sous réserve d'un usage encadré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tablettes et applications de CAA, d'emplois du temps visuels ou d'entraînement aux compétences sociales peuvent être des outils utiles dans l'accompagnement du TSA, à condition d'être utilisés de façon encadrée et intégrés dans un projet global.</a:t>
            </a:r>
            <a:endParaRPr lang="en-US" sz="14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l'objectif principal du suivi médical régulier des comorbidités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Réduire les coûts de l'accompagnement médico-social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Prévenir, dépister et traiter les complications médicales qui aggravent les comportements-problèmes et réduisent la qualité de vie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Prescrire des psychotropes de façon systématique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Éviter les hospitalisations en service de psychiatrie</a:t>
            </a:r>
            <a:endParaRPr lang="en-US" sz="13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Prévenir, dépister et traiter les complications médicales qui aggravent les comportements-problèmes et réduisent la qualité de vie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suivi médical régulier vise à dépister et traiter les comorbidités fréquentes (épilepsie, troubles du sommeil, TDAH, troubles gastro-intestinaux, douleurs) qui, non traitées, aggravent considérablement les comportements-problèmes et la qualité de vie.</a:t>
            </a:r>
            <a:endParaRPr lang="en-US" sz="14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outil est recommandé pour évaluer les comportements adaptatifs d'un adolescent avec TSA dans le cadre de la préparation à la transition vers l'âge adulte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M-CHAT-R/F</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Vineland Adaptive Behavior Scales (Vineland-3)</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ADOS-2</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CARS-2</a:t>
            </a:r>
            <a:endParaRPr lang="en-US" sz="13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Vineland Adaptive Behavior Scales (Vineland-3)</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Vineland-3 évaluent les comportements adaptatifs (communication, vie quotidienne, socialisation, motricité) dans des situations réelles de vie, ce qui est essentiel pour planifier la transition vers l'âge adulte et les soutiens nécessaires.</a:t>
            </a:r>
            <a:endParaRPr lang="en-US" sz="14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 préconise la HAS concernant la participation des personnes avec TSA aux activités culturelles et sportives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Ces activités sont secondaires et ne font pas partie des recommandations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participation à des activités culturelles et sportives adaptées est recommandée pour soutenir la qualité de vie, l'inclusion et le bien-être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Ces activités sont réservées aux personnes avec TSA sans déficience intellectuelle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participation nécessite toujours un accord médical préalable</a:t>
            </a:r>
            <a:endParaRPr lang="en-US" sz="13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participation à des activités culturelles et sportives adaptées est recommandée pour soutenir la qualité de vie, l'inclusion et le bien-être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RBPP reconnaît l'importance des activités culturelles, sportives et de loisir pour la qualité de vie, l'estime de soi et l'inclusion sociale des personnes avec TSA, et recommande leur accessibilité.</a:t>
            </a:r>
            <a:endParaRPr lang="en-US" sz="14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le rôle du Centre Ressources Autisme (CRA) dans le parcours des personnes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pose le diagnostic et prescrit les traitements médicamenteux</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assure des missions d'évaluation diagnostique complexe, de formation des professionnels, d'information des familles et de recherche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gère les orientations MDPH pour les personnes avec TSA sévère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est uniquement accessible aux adultes avec TSA</a:t>
            </a:r>
            <a:endParaRPr lang="en-US" sz="13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 assure des missions d'évaluation diagnostique complexe, de formation des professionnels, d'information des familles et de recherche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CRA (un par région) ont pour missions l'évaluation diagnostique des cas complexes, la formation des professionnels de santé et médico-sociaux, l'information et le soutien des familles, et le développement de la recherche sur l'autisme.</a:t>
            </a:r>
            <a:endParaRPr lang="en-US" sz="14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qu'est-ce que l'hyperflexibilité dans le TSA et pourquoi est-elle médicalement importante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de la coordination motrice spécifique au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laxité articulaire fréquemment associée au TSA, pouvant entraîner des douleurs et des troubles posturaux</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syndrome comportemental de rigidité cognitive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compétence adaptative à développer par la rééducation motrice</a:t>
            </a:r>
            <a:endParaRPr lang="en-US" sz="13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laxité articulaire fréquemment associée au TSA, pouvant entraîner des douleurs et des troubles posturaux</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L'hyperflexibilité articulaire (syndrome d'Ehlers-Danlos hypermobile et apparentés) est plus fréquente dans le TSA que dans la population générale. Elle peut provoquer des douleurs chroniques sous-estimées, qui peuvent expliquer certains comportements-problèmes.</a:t>
            </a:r>
            <a:endParaRPr lang="en-US" sz="14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 est la recommandation de la HAS concernant la scolarisation à temps partiel des enfants avec TSA en ESMS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recommandée systématiquement pour réduire la fatigue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doit tendre vers une scolarisation à temps complet avec les soutiens nécessaires ; le temps partiel doit être justifié et réévalué régulièrement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interdite pour les enfants avec TSA léger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la norme pour tous les enfants avec TSA</a:t>
            </a:r>
            <a:endParaRPr lang="en-US" sz="13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doit tendre vers une scolarisation à temps complet avec les soutiens nécessaires ; le temps partiel doit être justifié et réévalué régulièrement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rappelle que la scolarisation à temps complet est le droit de tous les enfants. Le temps partiel ne peut être qu'une étape transitoire, justifiée par des besoins spécifiques évalués, avec un objectif de progression vers le temps complet.</a:t>
            </a:r>
            <a:endParaRPr lang="en-US" sz="14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 doit comprendre un programme de psychoéducation destiné aux parents d'enfants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informations sur les médicaments disponibles et leurs effets secondaires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connaissances sur le TSA, les stratégies d'interaction, la gestion des comportements et l'accès aux ressources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techniques de relaxation pour réduire le stress parental uniquement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formation à la réalisation de bilans cognitifs à domicile</a:t>
            </a:r>
            <a:endParaRPr lang="en-US" sz="13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Des connaissances sur le TSA, les stratégies d'interaction, la gestion des comportements et l'accès aux ressources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psychoéducation parentale recommandée par la HAS inclut des informations sur le TSA, les stratégies de communication et d'interaction, la gestion des comportements difficiles, les interventions disponibles et les ressources (associations, services de répit, droits).</a:t>
            </a:r>
            <a:endParaRPr lang="en-US" sz="14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pourquoi la méthode Saccade est-elle non recommandée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trop coûteuse pour les familles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manque de données probantes démontrant son efficacité spécifique dans le TSA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présente des risques d'effets secondaires neurologiques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réservée aux adultes avec TSA Asperger</a:t>
            </a:r>
            <a:endParaRPr lang="en-US" sz="13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manque de données probantes démontrant son efficacité spécifique dans le TSA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Saccade, développée au Québec, est non recommandée par la HAS car elle ne dispose pas d'études contrôlées suffisantes démontrant son efficacité dans l'amélioration des compétences sociales ou d'autres symptômes du TSA.</a:t>
            </a:r>
            <a:endParaRPr lang="en-US" sz="14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l'impact de l'identification tardive du TSA sur le parcours de vie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n'y a pas d'impact significatif du délai diagnostique sur le parcours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diagnostic tardif entraîne une errance diagnostique, des interventions inappropriées et un impact psychologique majeur pour la personne et sa famille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diagnostic tardif est préférable pour éviter l'étiquetage précoce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diagnostic tardif permet une meilleure adaptation de la personne à son environnement</a:t>
            </a:r>
            <a:endParaRPr lang="en-US" sz="13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diagnostic tardif entraîne une errance diagnostique, des interventions inappropriées et un impact psychologique majeur pour la personne et sa famille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L'errance diagnostique (délai moyen de plusieurs années entre les premiers signes et le diagnostic en France) entraîne une perte de chance pour les interventions précoces et un épuisement des familles. La RBPP insiste sur la nécessité d'un diagnostic rapide.</a:t>
            </a:r>
            <a:endParaRPr lang="en-US" sz="14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qu'est-ce qu'un « intérêt restreint » dans le TSA et comment doit-il être pris en compte dans l'accompagnement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déficit d'intérêt pour les activités sociales, à corriger par des interventions comportementales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intérêt intense et focalisé sur des sujets spécifiques, qui peut être utilisé comme levier de motivation et d'apprentissage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de l'attention à traiter en première intention par médication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caractéristique à éliminer progressivement par des activités de diversification</a:t>
            </a:r>
            <a:endParaRPr lang="en-US" sz="13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intérêt intense et focalisé sur des sujets spécifiques, qui peut être utilisé comme levier de motivation et d'apprentissage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intérêts restreints sont une caractéristique centrale du TSA. La RBPP recommande de les valoriser et de les utiliser comme levier d'apprentissage, de motivation et de développement des compétences, plutôt que de chercher à les éliminer.</a:t>
            </a:r>
            <a:endParaRPr lang="en-US" sz="14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110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quelle est la recommandation concernant l'utilisation de la mindfulness (pleine conscience) adaptée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formellement non recommandée dans le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programmes adaptés de pleine conscience peuvent être proposés, notamment pour la gestion de l'anxiété chez les adolescents avec TSA sans déficience intellectuelle sévère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recommandée uniquement en groupe, jamais en individuel</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réservée aux adultes avec TSA</a:t>
            </a:r>
            <a:endParaRPr lang="en-US" sz="13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110</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Des programmes adaptés de pleine conscience peuvent être proposés, notamment pour la gestion de l'anxiété chez les adolescents avec TSA sans déficience intellectuelle sévère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Des adaptations de la mindfulness (avec supports visuels, exercices concrets, durées raccourcies) montrent des résultats prometteurs pour la gestion de l'anxiété et des émotions chez les adolescents et adultes avec TSA à bon niveau de fonctionnement.</a:t>
            </a:r>
            <a:endParaRPr lang="en-US" sz="14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111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est l'objectif principal de la méthode JASPER dans l'accompagnement précoce du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Améliorer les compétences académiques (lecture, mathématiques)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Développer l'attention conjointe, le jeu symbolique et la régulation émotionnelle dans des contextes naturels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Réduire les comportements d'automutilation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Améliorer la coordination motrice fine</a:t>
            </a:r>
            <a:endParaRPr lang="en-US" sz="13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111</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Développer l'attention conjointe, le jeu symbolique et la régulation émotionnelle dans des contextes naturels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JASPER (Joint Attention, Symbolic Play, Engagement and Regulation) est une intervention qui cible spécifiquement les déficits précoces du TSA en matière d'attention conjointe et de jeu, en utilisant les interactions naturelles comme support.</a:t>
            </a:r>
            <a:endParaRPr lang="en-US" sz="14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112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 recommande la HAS concernant la détection du TSA chez les enfants présentant une déficience intellectuelle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TSA n'est pas diagnostiquable en présence de déficience intellectuelle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recherche systématique du TSA doit être effectuée chez tout enfant avec déficience intellectuelle, car la comorbidité est fréquente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diagnostic de TSA remplace celui de déficience intellectuelle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TSA n'est diagnostiqué qu'après 6 ans chez les enfants avec déficience intellectuelle</a:t>
            </a:r>
            <a:endParaRPr lang="en-US" sz="13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112</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recherche systématique du TSA doit être effectuée chez tout enfant avec déficience intellectuelle, car la comorbidité est fréquente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Environ 30-50% des personnes avec déficience intellectuelle présentent également un TSA. Un dépistage systématique du TSA est recommandé dans cette population car la reconnaissance de la double problématique change la prise en charge.</a:t>
            </a:r>
            <a:endParaRPr lang="en-US" sz="14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113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 dispositif est spécifiquement mentionné pour les adolescents avec TSA en situation de crise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L'hospitalisation psychiatrique de longue durée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équipes mobiles de psychiatrie et les unités de crise spécialisées en TSA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placement en foyer d'urgence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mise sous tutelle judiciaire</a:t>
            </a:r>
            <a:endParaRPr lang="en-US" sz="13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113</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équipes mobiles de psychiatrie et les unités de crise spécialisées en TSA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le développement d'équipes mobiles spécialisées capables d'intervenir au domicile ou en ESMS lors des crises, afin d'éviter les hospitalisations inadaptées et de gérer la situation dans l'environnement habituel de l'adolescent.</a:t>
            </a:r>
            <a:endParaRPr lang="en-US" sz="14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114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 recommande la HAS concernant les bilans génétiques dans le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bilan génétique complet est systématiquement requis avant tout diagnostic de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bilan génétique (CGH-array, recherche du syndrome X fragile) doit être proposé à l'enfant avec TSA, notamment en cas de TSA associé à une déficience intellectuelle ou à des anomalies physiques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bilans génétiques ne sont jamais utiles dans le TSA</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bilan génétique est réservé aux familles qui en font la demande</a:t>
            </a:r>
            <a:endParaRPr lang="en-US" sz="13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114</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bilan génétique (CGH-array, recherche du syndrome X fragile) doit être proposé à l'enfant avec TSA, notamment en cas de TSA associé à une déficience intellectuelle ou à des anomalies physiques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 bilan génétique est recommandé car il peut identifier une étiologie génétique dans 10-20% des cas de TSA (syndrome X fragile, délétion 22q11, trisomie 21, etc.), ce qui a des implications pour le conseil génétique familial et parfois pour la prise en charge.</a:t>
            </a:r>
            <a:endParaRPr lang="en-US" sz="14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115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 est la recommandation de la HAS concernant les interventions en groupe pour les enfants avec TSA en ESSMS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interventions en groupe sont contre-indiquées dans le TSA en raison des difficultés sociales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interventions en groupe sont recommandées pour développer les compétences sociales et communicationnelles, à condition d'être structurées et adaptées au niveau de l'enfant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Seules les interventions individuelles sont efficaces dans le TSA</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groupes sont uniquement utiles pour les enfants sans déficience intellectuelle</a:t>
            </a:r>
            <a:endParaRPr lang="en-US" sz="13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115</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interventions en groupe sont recommandées pour développer les compétences sociales et communicationnelles, à condition d'être structurées et adaptées au niveau de l'enfant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interventions en groupe permettent de travailler les habiletés sociales en situation réelle, avec d'autres enfants. Elles sont recommandées à condition d'être structurées, avec un nombre limité de participants et des objectifs définis.</a:t>
            </a:r>
            <a:endParaRPr lang="en-US" sz="14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116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qu'est-ce que l'hyperacousie dans le TSA et comment doit-elle être prise en compte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déficience auditive nécessitant un appareillage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hypersensibilité aux sons pouvant provoquer de l'anxiété et des comportements d'évitement — des adaptations environnementales sont nécessaires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de la perception musicale spécifique au TSA</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signe clinique indiquant une épilepsie temporale sous-jacente</a:t>
            </a:r>
            <a:endParaRPr lang="en-US" sz="135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116</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hypersensibilité aux sons pouvant provoquer de l'anxiété et des comportements d'évitement — des adaptations environnementales sont nécessaires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L'hyperacousie est une hypersensibilité sonore fréquente dans le TSA qui peut provoquer une souffrance importante (douleur, anxiété, comportements d'évitement). Des adaptations (casques antibruit, signalisation des changements sonores) sont recommandées.</a:t>
            </a:r>
            <a:endParaRPr lang="en-US" sz="14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117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quelle est la durée recommandée pour un suivi longitudinal des enfants avec TSA par les équipes spécialisées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jusqu'au diagnostic confirmé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Tout au long de l'enfance et de l'adolescence, avec transition organisée vers les services pour adultes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Jusqu'à l'âge de 12 ans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lors des phases de crise</a:t>
            </a:r>
            <a:endParaRPr lang="en-US" sz="13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117</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Tout au long de l'enfance et de l'adolescence, avec transition organisée vers les services pour adultes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TSA est un trouble permanent qui nécessite un suivi et un accompagnement tout au long de la vie. La RBPP recommande un suivi longitudinal continu, avec une transition soigneusement planifiée vers les services pour adultes à partir de 18-20 ans.</a:t>
            </a:r>
            <a:endParaRPr lang="en-US" sz="14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118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TSA 2026, quel est le principal objectif des interventions précoces pour les nourrissons de moins de 12 mois présentant des signes d'alerte de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Confirmer le diagnostic le plus rapidement possible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Soutenir le développement socio-communicatif et la relation parent-enfant avant que les patterns autistiques ne se consolident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Démarrer l'ABA intensive dès les premiers mois de vie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Mettre en place une médication préventive</a:t>
            </a:r>
            <a:endParaRPr lang="en-US" sz="13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118</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Soutenir le développement socio-communicatif et la relation parent-enfant avant que les patterns autistiques ne se consolident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Chez les nourrissons présentant des signaux d'alerte (fratrie de personnes avec TSA, signes comportementaux précoces), des interventions centrées sur les parents et le développement de la communication précoce peuvent être initiées avant même la confirmation diagnostique.</a:t>
            </a:r>
            <a:endParaRPr lang="en-US" sz="14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B4D8"/>
          </a:solidFill>
          <a:ln w="12700">
            <a:solidFill>
              <a:srgbClr val="00B4D8"/>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164592" y="201168"/>
            <a:ext cx="1024128" cy="1024128"/>
          </a:xfrm>
          <a:prstGeom prst="ellipse">
            <a:avLst/>
          </a:prstGeom>
          <a:solidFill>
            <a:srgbClr val="FFB703"/>
          </a:solidFill>
          <a:ln w="12700">
            <a:solidFill>
              <a:srgbClr val="FFB703"/>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119 / 119</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 RBPP, que recommande la HAS concernant la communication entre professionnels de santé et équipes ESSMS pour une personne avec TSA ?</a:t>
            </a:r>
            <a:endParaRPr lang="en-US" sz="1700" dirty="0"/>
          </a:p>
        </p:txBody>
      </p:sp>
      <p:sp>
        <p:nvSpPr>
          <p:cNvPr id="9" name="Shape 7"/>
          <p:cNvSpPr/>
          <p:nvPr/>
        </p:nvSpPr>
        <p:spPr>
          <a:xfrm>
            <a:off x="164592" y="1865376"/>
            <a:ext cx="11832336" cy="36576"/>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00B4D8"/>
            </a:solidFill>
            <a:prstDash val="solid"/>
          </a:ln>
        </p:spPr>
      </p:sp>
      <p:sp>
        <p:nvSpPr>
          <p:cNvPr id="11" name="Shape 9"/>
          <p:cNvSpPr/>
          <p:nvPr/>
        </p:nvSpPr>
        <p:spPr>
          <a:xfrm>
            <a:off x="164592" y="1956816"/>
            <a:ext cx="73152" cy="987552"/>
          </a:xfrm>
          <a:prstGeom prst="rect">
            <a:avLst/>
          </a:prstGeom>
          <a:solidFill>
            <a:srgbClr val="00B4D8"/>
          </a:solidFill>
          <a:ln w="12700">
            <a:solidFill>
              <a:srgbClr val="00B4D8"/>
            </a:solidFill>
            <a:prstDash val="solid"/>
          </a:ln>
        </p:spPr>
      </p:sp>
      <p:sp>
        <p:nvSpPr>
          <p:cNvPr id="12" name="Shape 10"/>
          <p:cNvSpPr/>
          <p:nvPr/>
        </p:nvSpPr>
        <p:spPr>
          <a:xfrm>
            <a:off x="320040" y="2130552"/>
            <a:ext cx="640080" cy="640080"/>
          </a:xfrm>
          <a:prstGeom prst="ellipse">
            <a:avLst/>
          </a:prstGeom>
          <a:solidFill>
            <a:srgbClr val="00B4D8"/>
          </a:solidFill>
          <a:ln w="12700">
            <a:solidFill>
              <a:srgbClr val="00B4D8"/>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Chaque institution garde ses informations confidentielles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FFB703"/>
            </a:solidFill>
            <a:prstDash val="solid"/>
          </a:ln>
        </p:spPr>
      </p:sp>
      <p:sp>
        <p:nvSpPr>
          <p:cNvPr id="16" name="Shape 14"/>
          <p:cNvSpPr/>
          <p:nvPr/>
        </p:nvSpPr>
        <p:spPr>
          <a:xfrm>
            <a:off x="164592" y="3026664"/>
            <a:ext cx="73152" cy="987552"/>
          </a:xfrm>
          <a:prstGeom prst="rect">
            <a:avLst/>
          </a:prstGeom>
          <a:solidFill>
            <a:srgbClr val="FFB703"/>
          </a:solidFill>
          <a:ln w="12700">
            <a:solidFill>
              <a:srgbClr val="FFB703"/>
            </a:solidFill>
            <a:prstDash val="solid"/>
          </a:ln>
        </p:spPr>
      </p:sp>
      <p:sp>
        <p:nvSpPr>
          <p:cNvPr id="17" name="Shape 15"/>
          <p:cNvSpPr/>
          <p:nvPr/>
        </p:nvSpPr>
        <p:spPr>
          <a:xfrm>
            <a:off x="320040" y="3200400"/>
            <a:ext cx="640080" cy="640080"/>
          </a:xfrm>
          <a:prstGeom prst="ellipse">
            <a:avLst/>
          </a:prstGeom>
          <a:solidFill>
            <a:srgbClr val="FFB703"/>
          </a:solidFill>
          <a:ln w="12700">
            <a:solidFill>
              <a:srgbClr val="FFB703"/>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partage d'informations pertinentes doit être organisé, avec l'accord de la personne ou de ses représentants légaux, pour assurer la cohérence du parcours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E63946"/>
            </a:solidFill>
            <a:prstDash val="solid"/>
          </a:ln>
        </p:spPr>
      </p:sp>
      <p:sp>
        <p:nvSpPr>
          <p:cNvPr id="21" name="Shape 19"/>
          <p:cNvSpPr/>
          <p:nvPr/>
        </p:nvSpPr>
        <p:spPr>
          <a:xfrm>
            <a:off x="164592" y="4096512"/>
            <a:ext cx="73152" cy="987552"/>
          </a:xfrm>
          <a:prstGeom prst="rect">
            <a:avLst/>
          </a:prstGeom>
          <a:solidFill>
            <a:srgbClr val="E63946"/>
          </a:solidFill>
          <a:ln w="12700">
            <a:solidFill>
              <a:srgbClr val="E63946"/>
            </a:solidFill>
            <a:prstDash val="solid"/>
          </a:ln>
        </p:spPr>
      </p:sp>
      <p:sp>
        <p:nvSpPr>
          <p:cNvPr id="22" name="Shape 20"/>
          <p:cNvSpPr/>
          <p:nvPr/>
        </p:nvSpPr>
        <p:spPr>
          <a:xfrm>
            <a:off x="320040" y="4270248"/>
            <a:ext cx="640080" cy="640080"/>
          </a:xfrm>
          <a:prstGeom prst="ellipse">
            <a:avLst/>
          </a:prstGeom>
          <a:solidFill>
            <a:srgbClr val="E63946"/>
          </a:solidFill>
          <a:ln w="12700">
            <a:solidFill>
              <a:srgbClr val="E6394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communication est réservée aux situations d'urgence uniquement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06D6A0"/>
            </a:solidFill>
            <a:prstDash val="solid"/>
          </a:ln>
        </p:spPr>
      </p:sp>
      <p:sp>
        <p:nvSpPr>
          <p:cNvPr id="26" name="Shape 24"/>
          <p:cNvSpPr/>
          <p:nvPr/>
        </p:nvSpPr>
        <p:spPr>
          <a:xfrm>
            <a:off x="164592" y="5166360"/>
            <a:ext cx="73152" cy="987552"/>
          </a:xfrm>
          <a:prstGeom prst="rect">
            <a:avLst/>
          </a:prstGeom>
          <a:solidFill>
            <a:srgbClr val="06D6A0"/>
          </a:solidFill>
          <a:ln w="12700">
            <a:solidFill>
              <a:srgbClr val="06D6A0"/>
            </a:solidFill>
            <a:prstDash val="solid"/>
          </a:ln>
        </p:spPr>
      </p:sp>
      <p:sp>
        <p:nvSpPr>
          <p:cNvPr id="27" name="Shape 25"/>
          <p:cNvSpPr/>
          <p:nvPr/>
        </p:nvSpPr>
        <p:spPr>
          <a:xfrm>
            <a:off x="320040" y="5340096"/>
            <a:ext cx="640080" cy="640080"/>
          </a:xfrm>
          <a:prstGeom prst="ellipse">
            <a:avLst/>
          </a:prstGeom>
          <a:solidFill>
            <a:srgbClr val="06D6A0"/>
          </a:solidFill>
          <a:ln w="12700">
            <a:solidFill>
              <a:srgbClr val="06D6A0"/>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professionnels de santé ne doivent pas communiquer avec les équipes éducatives</a:t>
            </a:r>
            <a:endParaRPr lang="en-US" sz="13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00C897"/>
          </a:solidFill>
          <a:ln w="12700">
            <a:solidFill>
              <a:srgbClr val="00C897"/>
            </a:solidFill>
            <a:prstDash val="solid"/>
          </a:ln>
        </p:spPr>
      </p:sp>
      <p:sp>
        <p:nvSpPr>
          <p:cNvPr id="3" name="Shape 1"/>
          <p:cNvSpPr/>
          <p:nvPr/>
        </p:nvSpPr>
        <p:spPr>
          <a:xfrm>
            <a:off x="0" y="6739128"/>
            <a:ext cx="12161520" cy="118872"/>
          </a:xfrm>
          <a:prstGeom prst="rect">
            <a:avLst/>
          </a:prstGeom>
          <a:solidFill>
            <a:srgbClr val="FFB703"/>
          </a:solidFill>
          <a:ln w="12700">
            <a:solidFill>
              <a:srgbClr val="FFB703"/>
            </a:solidFill>
            <a:prstDash val="solid"/>
          </a:ln>
        </p:spPr>
      </p:sp>
      <p:sp>
        <p:nvSpPr>
          <p:cNvPr id="4" name="Shape 2"/>
          <p:cNvSpPr/>
          <p:nvPr/>
        </p:nvSpPr>
        <p:spPr>
          <a:xfrm>
            <a:off x="0" y="0"/>
            <a:ext cx="201168" cy="6858000"/>
          </a:xfrm>
          <a:prstGeom prst="rect">
            <a:avLst/>
          </a:prstGeom>
          <a:solidFill>
            <a:srgbClr val="00C897"/>
          </a:solidFill>
          <a:ln w="12700">
            <a:solidFill>
              <a:srgbClr val="00C897"/>
            </a:solidFill>
            <a:prstDash val="solid"/>
          </a:ln>
        </p:spPr>
      </p:sp>
      <p:sp>
        <p:nvSpPr>
          <p:cNvPr id="5" name="Shape 3"/>
          <p:cNvSpPr/>
          <p:nvPr/>
        </p:nvSpPr>
        <p:spPr>
          <a:xfrm>
            <a:off x="320040" y="182880"/>
            <a:ext cx="548640" cy="548640"/>
          </a:xfrm>
          <a:prstGeom prst="ellipse">
            <a:avLst/>
          </a:prstGeom>
          <a:solidFill>
            <a:srgbClr val="00C897"/>
          </a:solidFill>
          <a:ln w="12700">
            <a:solidFill>
              <a:srgbClr val="00C897"/>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119</a:t>
            </a:r>
            <a:endParaRPr lang="en-US" sz="1100" dirty="0"/>
          </a:p>
        </p:txBody>
      </p:sp>
      <p:sp>
        <p:nvSpPr>
          <p:cNvPr id="9" name="Shape 7"/>
          <p:cNvSpPr/>
          <p:nvPr/>
        </p:nvSpPr>
        <p:spPr>
          <a:xfrm>
            <a:off x="201168" y="822960"/>
            <a:ext cx="11960352" cy="1078992"/>
          </a:xfrm>
          <a:prstGeom prst="rect">
            <a:avLst/>
          </a:prstGeom>
          <a:solidFill>
            <a:srgbClr val="044E3A"/>
          </a:solidFill>
          <a:ln w="9525">
            <a:solidFill>
              <a:srgbClr val="00C897"/>
            </a:solidFill>
            <a:prstDash val="solid"/>
          </a:ln>
        </p:spPr>
      </p:sp>
      <p:sp>
        <p:nvSpPr>
          <p:cNvPr id="10" name="Shape 8"/>
          <p:cNvSpPr/>
          <p:nvPr/>
        </p:nvSpPr>
        <p:spPr>
          <a:xfrm>
            <a:off x="347472" y="1042416"/>
            <a:ext cx="640080" cy="640080"/>
          </a:xfrm>
          <a:prstGeom prst="ellipse">
            <a:avLst/>
          </a:prstGeom>
          <a:solidFill>
            <a:srgbClr val="00C897"/>
          </a:solidFill>
          <a:ln w="12700">
            <a:solidFill>
              <a:srgbClr val="00C897"/>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partage d'informations pertinentes doit être organisé, avec l'accord de la personne ou de ses représentants légaux, pour assurer la cohérence du parcours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FFB703"/>
          </a:solidFill>
          <a:ln w="12700">
            <a:solidFill>
              <a:srgbClr val="FFB703"/>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une communication organisée et formalisée entre les différents professionnels (santé, éducatif, médico-social) pour garantir la cohérence du parcours, en respectant les règles de confidentialité et avec le consentement des familles.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239</Slides>
  <Notes>239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239</vt:i4>
      </vt:variant>
    </vt:vector>
  </HeadingPairs>
  <TitlesOfParts>
    <vt:vector size="2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 du Spectre de l'Autisme</dc:title>
  <dc:subject>PptxGenJS Presentation</dc:subject>
  <dc:creator>PptxGenJS</dc:creator>
  <cp:lastModifiedBy>PptxGenJS</cp:lastModifiedBy>
  <cp:revision>1</cp:revision>
  <dcterms:created xsi:type="dcterms:W3CDTF">2026-04-05T09:54:11Z</dcterms:created>
  <dcterms:modified xsi:type="dcterms:W3CDTF">2026-04-05T09:54:11Z</dcterms:modified>
</cp:coreProperties>
</file>