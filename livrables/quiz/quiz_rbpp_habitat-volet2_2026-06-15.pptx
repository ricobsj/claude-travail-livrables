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Lst>
  <p:notesMasterIdLst>
    <p:notesMasterId r:id="rId20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notesMaster" Target="notesMasters/notesMaster1.xml"/><Relationship Id="rId204" Type="http://schemas.openxmlformats.org/officeDocument/2006/relationships/presProps" Target="presProps.xml"/><Relationship Id="rId205" Type="http://schemas.openxmlformats.org/officeDocument/2006/relationships/viewProps" Target="viewProps.xml"/><Relationship Id="rId206" Type="http://schemas.openxmlformats.org/officeDocument/2006/relationships/theme" Target="theme/theme1.xml"/><Relationship Id="rId20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457200" y="274320"/>
            <a:ext cx="10972800" cy="0"/>
          </a:xfrm>
          <a:prstGeom prst="rect">
            <a:avLst/>
          </a:prstGeom>
          <a:noFill/>
          <a:ln/>
        </p:spPr>
        <p:txBody>
          <a:bodyPr wrap="square" rtlCol="0" anchor="ctr"/>
          <a:lstStyle/>
          <a:p>
            <a:pPr algn="ctr" indent="0" marL="0">
              <a:buNone/>
            </a:pPr>
            <a:r>
              <a:rPr lang="en-US" sz="1800" b="1" dirty="0">
                <a:solidFill>
                  <a:srgbClr val="FFD700"/>
                </a:solidFill>
                <a:latin typeface="Calibri" pitchFamily="34" charset="0"/>
                <a:ea typeface="Calibri" pitchFamily="34" charset="-122"/>
                <a:cs typeface="Calibri" pitchFamily="34" charset="-120"/>
              </a:rPr>
              <a:t>QUIZ RBPP</a:t>
            </a:r>
            <a:endParaRPr lang="en-US" sz="1800" dirty="0"/>
          </a:p>
        </p:txBody>
      </p:sp>
      <p:sp>
        <p:nvSpPr>
          <p:cNvPr id="3" name="Text 1"/>
          <p:cNvSpPr/>
          <p:nvPr/>
        </p:nvSpPr>
        <p:spPr>
          <a:xfrm>
            <a:off x="457200" y="1097280"/>
            <a:ext cx="10972800" cy="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L'accompagnement vers et dans l'habitat</a:t>
            </a:r>
            <a:endParaRPr lang="en-US" sz="2800" dirty="0"/>
          </a:p>
          <a:p>
            <a:pPr algn="ctr" indent="0" marL="0">
              <a:buNone/>
            </a:pPr>
            <a:r>
              <a:rPr lang="en-US" sz="2800" b="1" dirty="0">
                <a:solidFill>
                  <a:srgbClr val="FFFFFF"/>
                </a:solidFill>
                <a:latin typeface="Calibri" pitchFamily="34" charset="0"/>
                <a:ea typeface="Calibri" pitchFamily="34" charset="-122"/>
                <a:cs typeface="Calibri" pitchFamily="34" charset="-120"/>
              </a:rPr>
              <a:t>par les professionnels des ESSMS</a:t>
            </a:r>
            <a:endParaRPr lang="en-US" sz="2800" dirty="0"/>
          </a:p>
        </p:txBody>
      </p:sp>
      <p:sp>
        <p:nvSpPr>
          <p:cNvPr id="4" name="Text 2"/>
          <p:cNvSpPr/>
          <p:nvPr/>
        </p:nvSpPr>
        <p:spPr>
          <a:xfrm>
            <a:off x="457200" y="2560320"/>
            <a:ext cx="10972800" cy="0"/>
          </a:xfrm>
          <a:prstGeom prst="rect">
            <a:avLst/>
          </a:prstGeom>
          <a:noFill/>
          <a:ln/>
        </p:spPr>
        <p:txBody>
          <a:bodyPr wrap="square" rtlCol="0" anchor="ctr"/>
          <a:lstStyle/>
          <a:p>
            <a:pPr algn="ctr" indent="0" marL="0">
              <a:buNone/>
            </a:pPr>
            <a:r>
              <a:rPr lang="en-US" sz="2000" dirty="0">
                <a:solidFill>
                  <a:srgbClr val="FFD700"/>
                </a:solidFill>
                <a:latin typeface="Calibri" pitchFamily="34" charset="0"/>
                <a:ea typeface="Calibri" pitchFamily="34" charset="-122"/>
                <a:cs typeface="Calibri" pitchFamily="34" charset="-120"/>
              </a:rPr>
              <a:t>Volet 2 — Accompagner la personne dans l'élaboration de son projet d'habitat</a:t>
            </a:r>
            <a:endParaRPr lang="en-US" sz="2000" dirty="0"/>
          </a:p>
        </p:txBody>
      </p:sp>
      <p:sp>
        <p:nvSpPr>
          <p:cNvPr id="5" name="Text 3"/>
          <p:cNvSpPr/>
          <p:nvPr/>
        </p:nvSpPr>
        <p:spPr>
          <a:xfrm>
            <a:off x="457200" y="3474720"/>
            <a:ext cx="10972800" cy="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100 Questions QCM</a:t>
            </a:r>
            <a:endParaRPr lang="en-US" sz="2200" dirty="0"/>
          </a:p>
        </p:txBody>
      </p:sp>
      <p:sp>
        <p:nvSpPr>
          <p:cNvPr id="6" name="Text 4"/>
          <p:cNvSpPr/>
          <p:nvPr/>
        </p:nvSpPr>
        <p:spPr>
          <a:xfrm>
            <a:off x="457200" y="4389120"/>
            <a:ext cx="10972800" cy="0"/>
          </a:xfrm>
          <a:prstGeom prst="rect">
            <a:avLst/>
          </a:prstGeom>
          <a:noFill/>
          <a:ln/>
        </p:spPr>
        <p:txBody>
          <a:bodyPr wrap="square" rtlCol="0" anchor="ctr"/>
          <a:lstStyle/>
          <a:p>
            <a:pPr algn="ctr" indent="0" marL="0">
              <a:buNone/>
            </a:pPr>
            <a:r>
              <a:rPr lang="en-US" sz="1600" dirty="0">
                <a:solidFill>
                  <a:srgbClr val="AAAAAA"/>
                </a:solidFill>
                <a:latin typeface="Calibri" pitchFamily="34" charset="0"/>
                <a:ea typeface="Calibri" pitchFamily="34" charset="-122"/>
                <a:cs typeface="Calibri" pitchFamily="34" charset="-120"/>
              </a:rPr>
              <a:t>HAS — RBPP publiée le 25 novembre 2025</a:t>
            </a:r>
            <a:endParaRPr lang="en-US" sz="1600" dirty="0"/>
          </a:p>
        </p:txBody>
      </p:sp>
      <p:sp>
        <p:nvSpPr>
          <p:cNvPr id="7" name="Text 5"/>
          <p:cNvSpPr/>
          <p:nvPr/>
        </p:nvSpPr>
        <p:spPr>
          <a:xfrm>
            <a:off x="457200" y="6217920"/>
            <a:ext cx="10972800" cy="0"/>
          </a:xfrm>
          <a:prstGeom prst="rect">
            <a:avLst/>
          </a:prstGeom>
          <a:noFill/>
          <a:ln/>
        </p:spPr>
        <p:txBody>
          <a:bodyPr wrap="square" rtlCol="0" anchor="ctr"/>
          <a:lstStyle/>
          <a:p>
            <a:pPr algn="ctr" indent="0" marL="0">
              <a:buNone/>
            </a:pPr>
            <a:r>
              <a:rPr lang="en-US" sz="1200" dirty="0">
                <a:solidFill>
                  <a:srgbClr val="888888"/>
                </a:solidFill>
                <a:latin typeface="Calibri" pitchFamily="34" charset="0"/>
                <a:ea typeface="Calibri" pitchFamily="34" charset="-122"/>
                <a:cs typeface="Calibri" pitchFamily="34" charset="-120"/>
              </a:rPr>
              <a:t>Généré automatiquement le 2026-06-15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1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loi constitue le socle principal du droit au « chez-soi » pour les personnes accompagnées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Loi 2002-2 rénovant l'action sociale et médico-sociale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Loi ELAN de 2018</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Loi du 11 février 2005 sur l'égalité des droits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Loi Claeys-Leonetti de 2016</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1</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C. Loi du 11 février 2005 sur l'égalité des droits</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loi du 11 février 2005 sur l'égalité des droits et des chances pose le droit à la compensation et à la vie en milieu ordinaire comme piliers de l'accompagnement des personnes handicapées.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2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est l'objet principal du Volet 2 de la RBPP « Accompagnement vers et dans l'habitat »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Former les équipes à la gestion locative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Accompagner la personne dans l'élaboration de son projet d'habitat</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Définir les critères d'accessibilité des logements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Établir les modalités de sortie de l'ESSMS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2</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Accompagner la personne dans l'élaboration de son projet d'habitat</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Volet 2 se concentre sur la co-construction du projet d'habitat avec la personne, en partant de ses aspirations et en mobilisant une évaluation pluridimensionnelle.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3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instance de la HAS a validé la RBPP « Accompagnement vers et dans l'habitat » Volet 2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Le Comité de pilotage SERAFIN-PH</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La Commission d'évaluation et d'amélioration de la qualité des ESSMS (CSMS)</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La Direction générale de la cohésion sociale (DGCS)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Le Haut Conseil de la famille, de l'enfance et de l'âge (HCFEA)</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3</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La Commission d'évaluation et d'amélioration de la qualité des ESSMS (CSMS)</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Commission en charge du social et du médico-social (CSMS) de la HAS est responsable de la validation des RBPP dans ce secteur.</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4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Quand le Volet 2 de la RBPP sur l'habitat a-t-il été publié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Janvier 2024</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Juin 2025</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Novembre 2025</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Mars 2026</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4</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C. Novembre 2025</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Volet 2 a été publié en novembre 2025, après le Volet 1 (socle transversal) publié en janvier 2024.</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5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thème abordera le Volet 3 de la RBPP sur l'habitat, en cours d'élaboration en 2026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La gestion des conflits en habitat partagé</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L'accompagnement vers l'autonomie dans l'habitat</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Le financement de l'habitat inclusif</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L'accessibilité architecturale des logements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5</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L'accompagnement vers l'autonomie dans l'habitat</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Volet 3 portera sur l'accompagnement de la personne vers l'autonomie dans son habitat, c'est-à-dire une fois installée dans son chez-soi.</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6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Quels sont les principaux publics concernés par la RBPP sur l'accompagnement vers et dans l'habitat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Enfants en situation de handicap uniquement</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Adultes et jeunes majeurs vulnérables de différents secteurs (handicap, âge, enfance, précarité)</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Personnes âgées en EHPAD exclusivement</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Bénéficiaires du RSA uniquement</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6</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Adultes et jeunes majeurs vulnérables de différents secteurs (handicap, âge, enfance, précarité)</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RBPP s'adresse aux professionnels accompagnant des adultes et jeunes majeurs en situation de handicap, personnes âgées, sortants de l'aide à l'enfance et personnes en précarité.</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7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Quels professionnels sont principalement visés par les recommandations du Volet 2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Les médecins psychiatres des CMP</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Les professionnels des ESSMS travaillant sur la dimension résidentielle des projets personnalisés</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Les agents immobiliers spécialisés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Les travailleurs sociaux des conseils départementaux uniquement</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7</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Les professionnels des ESSMS travaillant sur la dimension résidentielle des projets personnalisés</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recommandations s'adressent en priorité aux professionnels de terrain des ESSMS (éducateurs spécialisés, AES, moniteurs, chefs de service) qui co-construisent le projet personnalisé.</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8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Pourquoi les personnes en situation de handicap psychique nécessitent-elles un accompagnement spécifique dans le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Elles ne peuvent jamais accéder à un habitat ordinaire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Leurs capacités fluctuent et leur projet peut évoluer au fil du temps</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Elles ne sont pas concernées par la RBPP habitat</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Leur accompagnement relève uniquement du secteur psychiatrique</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8</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Leurs capacités fluctuent et leur projet peut évoluer au fil du temps</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handicap psychique se caractérise par une variabilité des capacités. L'évaluation et l'accompagnement doivent être régulièrement réévalués et adaptés aux fluctuations de l'état de la personne.</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9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Quelles dimensions de la situation de la personne la RBPP recommande-t-elle de prendre en compte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Uniquement la dimension financière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Uniquement les aspects médicaux et de santé</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Les dimensions sociales, sanitaires, financières et environnementales, dans leur interdépendance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Les dimensions juridiques et administratives uniquement</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9</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C. Les dimensions sociales, sanitaires, financières et environnementales, dans leur interdépendance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RBPP insiste sur une approche globale et pluridimensionnelle : toutes les dimensions (sociale, santé, financière, relationnelle, environnementale) sont liées et doivent être évaluées ensemble.</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10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Pourquoi la RBPP parle-t-elle d'« interdépendance » des dimensions de la situation de la personne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Pour complexifier inutilement l'évaluation</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Parce que la vie d'une personne ne peut se réduire à une seule dimension — les problèmes financiers impactent la santé, qui impacte l'autonomie, etc.</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Pour justifier des évaluations spécialisées par domaine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Pour exclure les personnes en situation de précarité</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10</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Parce que la vie d'une personne ne peut se réduire à une seule dimension — les problèmes financiers impactent la santé, qui impacte l'autonomie, etc.</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L'interdépendance signifie qu'une difficulté dans un domaine (par exemple, financier) se répercute sur les autres (santé, réseau social, autonomie). L'accompagnement doit tenir compte de cette globalité.</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11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Qu'est-ce que le « sentiment d'appartenance » à un lieu de vie, tel que défini dans la RBPP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Le fait d'être propriétaire de son logement</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L'expérience subjective de se sentir « chez soi », avec maîtrise et appropriation de son espace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L'inscription au registre municipal de la commune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La durée de séjour dans un établissement</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11</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L'expérience subjective de se sentir « chez soi », avec maîtrise et appropriation de son espace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chez-soi va bien au-delà du statut juridique d'occupation : c'est un sentiment de maîtrise, d'intimité, d'appartenance et d'expression de soi dans son lieu de vie.</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12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Comment la RBPP qualifie-t-elle les évaluations à conduire dans le cadre du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Ponctuelles et définitives, à l'entrée dans l'ESSMS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Régulières, dynamiques et actualisées dans le temps</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Exclusivement médicales et paramédicales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Réalisées uniquement à la demande de la personne</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12</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Régulières, dynamiques et actualisées dans le temps</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évaluations doivent être régulières et dynamiques car les personnes évoluent. Une évaluation initiale figée ne peut suffire à accompagner un projet résidentiel dans la durée.</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13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 recommande la RBPP concernant les apprentissages réalisés par la personne au cours de son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Ne pas y accorder trop d'importance pour ne pas créer de faux espoirs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Les valoriser et, si nécessaire, établir de nouveaux apprentissages pour renforcer l'autonomie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Les consigner dans un cahier personnel non partagé</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Les évaluer uniquement tous les cinq ans</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13</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Les valoriser et, si nécessaire, établir de nouveaux apprentissages pour renforcer l'autonomie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RBPP encourage à valoriser les progrès réalisés et à construire des apprentissages supplémentaires ciblés pour que la personne puisse progressivement acquérir les compétences nécessaires à son projet.</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14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type d'outil la RBPP préconise-t-elle pour évaluer les capacités résidentielles d'une personne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Des outils standardisés adaptés au profil de la personne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Des questionnaires élaborés librement par chaque ESSMS sans cadre commun</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Une observation informelle au quotidien sans grille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Des tests neuropsychologiques exclusivement</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14</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A. Des outils standardisés adaptés au profil de la personne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RBPP recommande l'usage d'outils d'évaluation standardisés et adaptés aux spécificités du public (type de handicap, niveau d'autonomie), tout en restant attentif au vécu subjectif de la personne.</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15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Qui participe à l'évaluation des capacités de la personne dans le cadre du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Le chef de service seul</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La personne elle-même, les professionnels, et potentiellement ses proches aidants (avec son accord)</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Exclusivement l'équipe médicale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La MDPH et les services de l'État uniquement</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15</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La personne elle-même, les professionnels, et potentiellement ses proches aidants (avec son accord)</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L'évaluation est pluridisciplinaire et inclusive. La personne est actrice de sa propre évaluation. Les proches peuvent y contribuer avec l'accord explicite de la personne.</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16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Qu'est-ce que la « co-construction » du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Le fait que l'établissement décide seul des orientations résidentielles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Une démarche où professionnels et personne élaborent ensemble le projet, à partir des souhaits de la personne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La signature d'un contrat entre la personne et un bailleur</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L'organisation de réunions d'équipe sans la personne</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16</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Une démarche où professionnels et personne élaborent ensemble le projet, à partir des souhaits de la personne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co-construction signifie que la personne est pleinement associée à l'élaboration de son projet. Les professionnels accompagnent sans décider à la place de la personne.</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17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Selon la RBPP, à quel rythme doit progresser le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Le plus vite possible pour libérer des places en ESSMS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Au rythme de la personne, sans précipiter les transitions</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Selon le planning de sortie décidé par l'équipe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En six mois maximum selon le cadre réglementaire</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17</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Au rythme de la personne, sans précipiter les transitions</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respect du rythme de la personne est central. Des transitions trop rapides peuvent générer des ruptures et des échecs. La progressivité protège la personne et sécurise le projet.</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18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Quelles sont les grandes étapes de la co-construction du projet d'habitat selon la RBPP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Évaluation → admission → sortie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Sensibilisation → élaboration → concrétisation</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Diagnostic → prescription → mise en œuvre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Bilan → orientation → réorientation</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18</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Sensibilisation → élaboration → concrétisation</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RBPP distingue trois phases : sensibiliser la personne aux enjeux de l'habitat, co-élaborer le projet, puis accompagner la concrétisation avec des expérimentations progressives.</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19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rôle jouent les proches aidants dans le projet d'habitat selon la RBPP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Ils décident à la place de la personne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Ils peuvent être impliqués avec l'accord explicite de la personne, comme soutien et ressource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Ils sont systématiquement exclus du processus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Ils ont un droit de veto sur les décisions de la personne</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19</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Ils peuvent être impliqués avec l'accord explicite de la personne, comme soutien et ressource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proches aidants peuvent constituer une ressource précieuse dans la construction du projet, mais leur implication nécessite l'accord de la personne accompagnée, dans le respect de son autonomie.</a:t>
            </a:r>
            <a:endParaRPr lang="en-US"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20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 sont les « périodes d'essai » mentionnées dans la RBPP sur l'habitat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Des évaluations trimestrielles de l'équipe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Des temps d'expérimentation en habitat ordinaire avant toute décision définitive de sortie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Des stages obligatoires en entreprise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Des visites médicales préventives</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20</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Des temps d'expérimentation en habitat ordinaire avant toute décision définitive de sortie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RBPP préconise de mettre en place des expérimentations progressives : nuits, week-ends, séjours temporaires en habitat ordinaire pour que la personne teste sa capacité à y vivre avant de s'engager définitivement.</a:t>
            </a:r>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21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Comment formuler le projet d'habitat avec une personne qui a des difficultés à s'exprimer verbalement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Ne pas aborder le sujet avec elle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Utiliser des outils de communication alternative et augmentée (CAA), des images, des mises en situation concrètes</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Se référer uniquement au diagnostic médical</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Déléguer entièrement au tuteur ou à la famille</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21</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Utiliser des outils de communication alternative et augmentée (CAA), des images, des mises en situation concrètes</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RBPP insiste sur l'adaptation des modalités de communication. La CAA, les pictogrammes, les visites concrètes et les mises en situation permettent d'inclure les personnes ayant des difficultés d'expression.</a:t>
            </a:r>
            <a:endParaRPr lang="en-US"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22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Quelles ressources matérielles et humaines la RBPP recommande-t-elle de mobiliser pour le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Uniquement les ressources internes à l'ESSMS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Les ressources territoriales : bailleurs sociaux, MDPH, allocations (APL, AAH), réseaux d'aide à domicile, habitat inclusif</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Les ressources privées de la famille exclusivement</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Les ressources de l'État central uniquement</a:t>
            </a:r>
            <a:endParaRPr 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22</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Les ressources territoriales : bailleurs sociaux, MDPH, allocations (APL, AAH), réseaux d'aide à domicile, habitat inclusif</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projet d'habitat repose sur une cartographie des ressources du territoire : logement social, aides financières, services d'aide à domicile, réseaux de soutien à la vie inclusive.</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23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est l'Allocation aux Adultes Handicapés (AAH) et son rôle dans le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Une aide destinée aux parents d'enfants handicapés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Une prestation garantissant un revenu minimum permettant à la personne d'accéder à un logement autonome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Une aide technique pour l'adaptation du logement</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Une compensation pour les soins médicaux uniquement</a:t>
            </a:r>
            <a:endParaRPr lang="en-US"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23</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Une prestation garantissant un revenu minimum permettant à la personne d'accéder à un logement autonome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L'AAH est un filet de sécurité financier essentiel. Son niveau conditionne souvent la faisabilité du projet d'habitat autonome. Les professionnels doivent connaître les droits de la personne et les compléments (ALS, APL, etc.).</a:t>
            </a:r>
            <a:endParaRPr 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24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Qu'est-ce que l'habitat inclusif au sens de la loi ELAN 2018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Un logement adapté architecturalement pour personnes à mobilité réduite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Un logement situé dans un immeuble ordinaire, avec un projet de vie sociale partagée et un accompagnement</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Un foyer de vie classique rebaptisé</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Un logement réservé aux personnes âgées de plus de 75 ans</a:t>
            </a:r>
            <a:endParaRPr lang="en-US"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24</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Un logement situé dans un immeuble ordinaire, avec un projet de vie sociale partagée et un accompagnement</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L'habitat inclusif (article 129 loi ELAN) est un logement ordinaire dans lequel des personnes vulnérables choisissent de vivre ensemble avec un projet partagé, bénéficiant d'un forfait habitat inclusif (FHI) versé par le conseil départemental.</a:t>
            </a:r>
            <a:endParaRPr lang="en-US" sz="1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25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est le rôle de la MDPH dans le projet d'habitat d'une personne en situation de handicap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Décider du lieu de vie de la personne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Évaluer les besoins de compensation et orienter vers des réponses adaptées (orientation ESAT, SAVS, foyer, habitat inclusif, etc.)</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Gérer les listes d'attente des logements sociaux</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Financer directement les travaux d'adaptation</a:t>
            </a:r>
            <a:endParaRPr lang="en-US" sz="1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25</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Évaluer les besoins de compensation et orienter vers des réponses adaptées (orientation ESAT, SAVS, foyer, habitat inclusif, etc.)</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MDPH évalue les besoins via l'équipe pluridisciplinaire et la CDAPH oriente. Elle est un acteur incontournable du parcours résidentiel, notamment pour les notifications d'orientation et la PCH (Prestation de Compensation du Handicap).</a:t>
            </a:r>
            <a:endParaRPr lang="en-US" sz="1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26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Comment articuler le projet d'habitat avec les acteurs du logement ordinaire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Éviter tout contact pour préserver la confidentialité</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Construire des partenariats formalisés avec les bailleurs sociaux, les CLLAJ, les agences de location sociale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Attendre que la personne fasse les démarches seule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Se limiter aux résidences sociales gérées par l'ESSMS</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26</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Construire des partenariats formalisés avec les bailleurs sociaux, les CLLAJ, les agences de location sociale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RBPP recommande de développer des partenariats territoriaux proactifs avec les acteurs du logement de droit commun pour élargir les possibilités résidentielles au-delà de l'offre de l'ESSMS.</a:t>
            </a:r>
            <a:endParaRPr lang="en-US" sz="1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27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outil permet de tracer les étapes du projet d'habitat dans l'ESSMS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Un cahier de liaison informel</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Le Dossier Unique de l'Usager (DUI)</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Le registre des présences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Le tableau de bord de direction</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27</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Le Dossier Unique de l'Usager (DUI)</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DUI est le support légal de traçabilité du projet personnalisé, dont le projet d'habitat fait partie. Une bonne documentation permet la continuité de l'accompagnement en cas de changement de professionnel.</a:t>
            </a:r>
            <a:endParaRPr lang="en-US" sz="1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28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Pourquoi désigner un professionnel référent pour le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Pour décharger le chef de service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Pour assurer la continuité du suivi et être l'interlocuteur principal de la personne et de ses partenaires</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Pour réduire les réunions d'équipe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Pour répondre aux exigences administratives uniquement</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28</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Pour assurer la continuité du suivi et être l'interlocuteur principal de la personne et de ses partenaires</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 référent identifié garantit la cohérence et la continuité de l'accompagnement. Il est le pivot entre la personne, l'équipe interne et les partenaires extérieurs.</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29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À quelle fréquence la RBPP recommande-t-elle de réévaluer le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Uniquement à la demande de la personne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Régulièrement, en cohérence avec le rythme de révision du projet personnalisé</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Une seule fois à l'entrée dans l'ESSMS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Tous les cinq ans</a:t>
            </a:r>
            <a:endParaRPr lang="en-US" sz="1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29</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Régulièrement, en cohérence avec le rythme de révision du projet personnalisé</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projet d'habitat s'inscrit dans la dynamique du projet personnalisé. Sa révision doit être régulière, notamment lors des révisions annuelles ou à chaque événement de vie significatif.</a:t>
            </a:r>
            <a:endParaRPr lang="en-US" sz="1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30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Qu'est-ce que la pluridisciplinarité dans le suivi du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La réunion d'équipe dirigée uniquement par le chef de service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L'implication coordonnée de professionnels de différentes compétences (éducateurs, soignants, assistants sociaux, psychologues) autour du projet de la personne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La consultation de plusieurs bailleurs sociaux</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L'organisation de plusieurs réunions sur le même sujet</a:t>
            </a:r>
            <a:endParaRPr lang="en-US" sz="1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30</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L'implication coordonnée de professionnels de différentes compétences (éducateurs, soignants, assistants sociaux, psychologues) autour du projet de la personne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pluridisciplinarité permet d'avoir un regard global sur la situation de la personne, en combinant les expertises éducatives, sociales, médicales et psychologiques pour un accompagnement cohérent.</a:t>
            </a:r>
            <a:endParaRPr lang="en-US" sz="1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31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Qu'est-ce que l'autodétermination dans le contexte du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La capacité de la personne à gérer seule ses finances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Le droit de la personne à faire ses propres choix de vie, dont son lieu d'habitat, avec le soutien nécessaire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L'obligation pour la personne de quitter l'ESSMS après 5 ans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La désignation d'un tuteur légal</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31</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Le droit de la personne à faire ses propres choix de vie, dont son lieu d'habitat, avec le soutien nécessaire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L'autodétermination est un droit fondamental : la personne doit pouvoir choisir où et comment elle vit. Les professionnels soutiennent ce choix sans se substituer à la personne.</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32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Comment la RBPP aborde-t-elle la question du risque dans le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Le risque doit être éliminé à tout prix</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Le risque zéro n'existe pas : accompagner la prise de risque raisonnée fait partie de l'accompagnement à l'autonomie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La personne ne peut prendre aucun risque sans autorisation de la famille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Le risque est uniquement de la responsabilité de la personne</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32</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Le risque zéro n'existe pas : accompagner la prise de risque raisonnée fait partie de l'accompagnement à l'autonomie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RBPP reconnaît que l'autonomie implique des risques. Le rôle du professionnel est d'accompagner une prise de risque raisonnée et éclairée, pas de protéger à l'excès au détriment de l'autonomie.</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33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est le risque de la « bienveillance excessive » dans l'accompagnement du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Aucun risque : la bienveillance est toujours positive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Conduire à une surprotection qui empêche la personne de développer son autonomie et de choisir réellement</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Augmenter les coûts de l'accompagnement</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Créer des conflits avec la famille</a:t>
            </a:r>
            <a:endParaRPr lang="en-US" sz="1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33</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Conduire à une surprotection qui empêche la personne de développer son autonomie et de choisir réellement</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Une bienveillance mal calibrée peut devenir paternaliste et priver la personne de son droit à l'expérimentation et à l'erreur, qui sont constitutifs de l'apprentissage de l'autonomie.</a:t>
            </a:r>
            <a:endParaRPr lang="en-US" sz="1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34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 signifie « un projet d'habitat souhaité et non imposé »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La personne peut refuser tout projet résidentiel sans conséquence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Le projet doit émerger des aspirations de la personne, et non être dicté par les contraintes organisationnelles de l'ESSMS</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Le projet doit être validé par l'autorité de contrôle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La personne est libre de gérer seule son projet sans l'aide des professionnels</a:t>
            </a:r>
            <a:endParaRPr lang="en-US" sz="1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34</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Le projet doit émerger des aspirations de la personne, et non être dicté par les contraintes organisationnelles de l'ESSMS</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 projet imposé par l'ESSMS (par exemple pour gérer des listes d'attente ou des places disponibles) est contraire à la RBPP. Le projet doit correspondre à un souhait réel et exprimé de la personne.</a:t>
            </a:r>
            <a:endParaRPr lang="en-US" sz="1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35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Comment informer la personne de ses droits en matière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Remettre un document juridique complexe lors de l'admission</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Utiliser des supports adaptés (livret d'accueil simplifié, FALC, pictogrammes) et reprendre régulièrement l'information dans le cadre du projet personnalisé</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Ne l'informer qu'en cas de demande explicite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Déléguer entièrement cette information au mandataire judiciaire</a:t>
            </a:r>
            <a:endParaRPr lang="en-US" sz="1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35</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Utiliser des supports adaptés (livret d'accueil simplifié, FALC, pictogrammes) et reprendre régulièrement l'information dans le cadre du projet personnalisé</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L'information doit être accessible : langue claire, FALC (Facile à Lire et à Comprendre), supports visuels. Elle doit être répétée et s'inscrire dans la relation de confiance avec la personne.</a:t>
            </a:r>
            <a:endParaRPr lang="en-US" sz="1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36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Quelles sont les principales formes d'habitat inclusif en France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Les EHPAD et les foyers de vie uniquement</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Les collocations entre personnes vulnérables avec projet partagé, bénéficiant d'un Forfait Habitat Inclusif (FHI)</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Les résidences étudiantes adaptées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Les appartements thérapeutiques en psychiatrie uniquement</a:t>
            </a:r>
            <a:endParaRPr lang="en-US" sz="1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36</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Les collocations entre personnes vulnérables avec projet partagé, bénéficiant d'un Forfait Habitat Inclusif (FHI)</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L'habitat inclusif regroupe différentes formules où des personnes vulnérables choisissent de vivre ensemble en milieu ordinaire avec un projet de vie sociale et un accompagnement financé via le FHI.</a:t>
            </a:r>
            <a:endParaRPr lang="en-US" sz="1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37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Qu'est-ce que le Forfait Habitat Inclusif (FHI)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Une aide au loyer versée directement à la personne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Une dotation versée par le conseil départemental à l'opérateur de l'habitat inclusif pour financer l'animation du projet de vie partagée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Un crédit immobilier à taux zéro</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Une compensation versée par la CPAM pour les frais de santé</a:t>
            </a:r>
            <a:endParaRPr lang="en-US" sz="1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37</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Une dotation versée par le conseil départemental à l'opérateur de l'habitat inclusif pour financer l'animation du projet de vie partagée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FHI (créé par la loi ELAN 2018) est versé par le conseil départemental à l'opérateur pour financer l'animation et le soutien au projet de vie partagée, sans financer l'accompagnement individuel.</a:t>
            </a:r>
            <a:endParaRPr lang="en-US" sz="1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38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différence y a-t-il entre un SAVS et un SAMSAH dans l'accompagnement vers l'habitat ordinaire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Aucune différence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Le SAVS accompagne les personnes handicapées en milieu ordinaire ; le SAMSAH y ajoute un accompagnement médical et paramédical</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Le SAMSAH accueille les personnes en hébergement collectif</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Le SAVS est réservé aux personnes avec handicap moteur</a:t>
            </a:r>
            <a:endParaRPr lang="en-US" sz="1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38</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Le SAVS accompagne les personnes handicapées en milieu ordinaire ; le SAMSAH y ajoute un accompagnement médical et paramédical</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SAVS (Service d'Accompagnement à la Vie Sociale) soutient la vie en milieu ordinaire. Le SAMSAH (Service d'Accompagnement Médico-Social pour Adultes Handicapés) y ajoute des prestations de soins, pour les personnes nécessitant un suivi médical renforcé.</a:t>
            </a:r>
            <a:endParaRPr lang="en-US" sz="1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39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Qu'est-ce qu'un « bail glissant » dans le cadre d'un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Un contrat de location sans durée déterminée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Un dispositif par lequel un organisme (association ou ESSMS) est locataire d'un logement qu'il sous-loue à une personne, avec transfert du bail à terme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Un bail commercial adapté aux ESSMS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Un hébergement d'urgence temporaire</a:t>
            </a:r>
            <a:endParaRPr lang="en-US" sz="1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39</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Un dispositif par lequel un organisme (association ou ESSMS) est locataire d'un logement qu'il sous-loue à une personne, avec transfert du bail à terme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bail glissant permet à une personne vulnérable d'occuper un logement ordinaire avec la sécurité d'un tiers garant (l'organisme). Quand la personne est prête, le bail « glisse » en son nom, lui conférant un statut de locataire direct.</a:t>
            </a:r>
            <a:endParaRPr lang="en-US" sz="1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40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est le principal frein institutionnel à l'accompagnement vers l'habitat ordinaire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Le manque de motivation des personnes accompagnées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Le risque de perte de places et de financement pour l'ESSMS si les personnes partent</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L'absence de recommandation officielle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La résistance des bailleurs sociaux uniquement</a:t>
            </a:r>
            <a:endParaRPr lang="en-US" sz="1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40</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Le risque de perte de places et de financement pour l'ESSMS si les personnes partent</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modèle de financement des ESSMS à la place occupée peut créer un frein institutionnel : accompagner les sorties vers l'habitat ordinaire réduit le taux d'occupation et donc les recettes. C'est un angle mort à dépasser.</a:t>
            </a:r>
            <a:endParaRPr lang="en-US" sz="1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41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Comment dépasser le frein de la surcharge des équipes dans l'accompagnement du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En confiant le projet uniquement à la direction</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En intégrant le projet d'habitat dans les outils existants (projet personnalisé, réunions d'équipe) et en développant des partenariats pour déléguer certaines tâches</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En refusant tout projet d'habitat pour les personnes ayant un handicap lourd</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En recrutant un poste dédié uniquement si le budget le permet</a:t>
            </a:r>
            <a:endParaRPr lang="en-US" sz="1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41</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En intégrant le projet d'habitat dans les outils existants (projet personnalisé, réunions d'équipe) et en développant des partenariats pour déléguer certaines tâches</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clé est l'intégration dans les pratiques existantes et le développement de partenariats territoriaux. Certaines missions d'accompagnement (logement, financement) peuvent être partagées avec des partenaires spécialisés.</a:t>
            </a:r>
            <a:endParaRPr lang="en-US" sz="18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42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est le rôle de la famille dans le projet d'habitat, selon la RBPP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Elle décide seule si la personne peut quitter l'ESSMS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Elle est une ressource potentielle si la personne le souhaite, mais elle ne peut ni imposer ni bloquer le projet de la personne majeure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Elle n'a aucun rôle à jouer</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Elle est obligatoirement consultée avant toute décision résidentielle</a:t>
            </a:r>
            <a:endParaRPr lang="en-US" sz="18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42</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Elle est une ressource potentielle si la personne le souhaite, mais elle ne peut ni imposer ni bloquer le projet de la personne majeure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famille peut être un soutien précieux, mais les droits de la personne majeure primant. La RBPP rappelle que le projet appartient à la personne et qu'une opposition familiale ne peut y faire obstacle sans base légale.</a:t>
            </a:r>
            <a:endParaRPr lang="en-US" sz="18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43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Comment aborder les craintes de l'équipe face au projet de départ d'une personne vers l'habitat ordinaire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Les ignorer car elles sont irrationnelles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Les travailler en supervision, en analysant les représentations et en distinguant les risques réels des peurs projectives</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Interdire l'expression de ces craintes dans les réunions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Valider les craintes et différer indéfiniment le projet</a:t>
            </a:r>
            <a:endParaRPr lang="en-US" sz="18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43</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Les travailler en supervision, en analysant les représentations et en distinguant les risques réels des peurs projectives</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craintes de l'équipe méritent d'être entendues et travaillées. La supervision, l'analyse des pratiques et la formation permettent de distinguer les risques objectifs des projections défensives des professionnels.</a:t>
            </a:r>
            <a:endParaRPr lang="en-US" sz="18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44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Dans quel thème du référentiel d'évaluation HAS le projet d'habitat s'inscrit-il principalement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La sécurité des personnes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L'autodétermination et le projet de vie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La gestion des ressources humaines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La maintenance des locaux</a:t>
            </a:r>
            <a:endParaRPr lang="en-US" sz="18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44</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L'autodétermination et le projet de vie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référentiel d'évaluation externe HAS intègre l'autodétermination comme axe majeur. Le projet d'habitat, en tant qu'expression du projet de vie de la personne, est un élément clé d'appréciation.</a:t>
            </a:r>
            <a:endParaRPr lang="en-US" sz="18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45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Qu'est-ce qu'un indicateur de qualité pertinent pour le projet d'habitat dans un ESSMS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Le taux d'occupation des places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Le pourcentage de personnes dont le projet personnalisé intègre une rubrique habitat formalisée et actualisée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Le nombre de mètres carrés par résident</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Le budget alloué aux travaux de rénovation</a:t>
            </a:r>
            <a:endParaRPr lang="en-US" sz="18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45</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Le pourcentage de personnes dont le projet personnalisé intègre une rubrique habitat formalisée et actualisée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 indicateur qualitatif pertinent mesure si le projet d'habitat est systématiquement inclus dans le projet personnalisé et régulièrement révisé, indépendamment de la faisabilité immédiate.</a:t>
            </a:r>
            <a:endParaRPr lang="en-US" sz="18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46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Pourquoi la RBPP habitat est-elle une référence à citer dans le rapport d'évaluation interne HAS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Parce qu'elle est obligatoire pour tous les ESSMS par décret</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Parce qu'elle constitue une norme professionnelle officielle que l'ESSMS doit s'approprier et dont il peut démontrer l'application</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Parce que la HAS l'impose spécifiquement lors des évaluations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Parce que son application donne droit à des financements supplémentaires</a:t>
            </a:r>
            <a:endParaRPr lang="en-US" sz="18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46</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Parce qu'elle constitue une norme professionnelle officielle que l'ESSMS doit s'approprier et dont il peut démontrer l'application</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Citer la RBPP dans le rapport d'évaluation interne démontre que l'établissement s'appuie sur des références professionnelles validées pour construire ses pratiques. C'est un élément valorisant lors de l'évaluation externe.</a:t>
            </a:r>
            <a:endParaRPr lang="en-US" sz="18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47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Comment intégrer la RBPP habitat dans le projet d'établissement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En l'annexant sans modification au document existant</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En traduisant ses recommandations en objectifs opérationnels, indicateurs et plans d'action inscrits dans le projet d'établissement</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En la réservant à l'usage exclusif de la direction</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En attendant la publication d'un décret d'application</a:t>
            </a:r>
            <a:endParaRPr lang="en-US" sz="18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47</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En traduisant ses recommandations en objectifs opérationnels, indicateurs et plans d'action inscrits dans le projet d'établissement</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L'intégration dans le projet d'établissement passe par la traduction des recommandations en engagements concrets : objectifs mesurables, indicateurs de suivi, formation des équipes, partenariats à développer.</a:t>
            </a:r>
            <a:endParaRPr lang="en-US" sz="18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48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Comment le projet d'habitat s'articule-t-il avec la nomenclature SERAFIN-PH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SERAFIN-PH ne prend pas en compte la dimension résidentielle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Les prestations d'accompagnement vers l'habitat s'inscrivent dans les sous-domaines « Vie dans la cité » et « Accès aux droits » de SERAFIN-PH</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SERAFIN-PH remplace la RBPP habitat</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SERAFIN-PH ne concerne que les ESAT</a:t>
            </a:r>
            <a:endParaRPr lang="en-US" sz="18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48</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Les prestations d'accompagnement vers l'habitat s'inscrivent dans les sous-domaines « Vie dans la cité » et « Accès aux droits » de SERAFIN-PH</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nomenclature SERAFIN-PH intègre les prestations liées au soutien à l'autodétermination et à la vie en milieu ordinaire. La documentation du projet d'habitat dans le DUI alimentera les indicateurs SERAFIN-PH à partir de 2027.</a:t>
            </a:r>
            <a:endParaRPr lang="en-US" sz="18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49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est l'échéance prévue pour la bascule SERAFIN-PH dans le financement des ESSMS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2024</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2025</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2027</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2030</a:t>
            </a:r>
            <a:endParaRPr lang="en-US" sz="18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49</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C. 2027</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bascule vers un financement modulé par les besoins selon la nomenclature SERAFIN-PH est prévue à l'horizon 2027. Les ESSMS doivent anticiper cette transition dans leur organisation et leur documentation.</a:t>
            </a:r>
            <a:endParaRPr lang="en-US" sz="18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50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posture professionnelle la RBPP préconise-t-elle dans l'accompagnement du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Une posture directive pour sécuriser la personne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Une posture d'accompagnement, de soutien et de facilitation, centrée sur les forces et les aspirations de la personne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Une posture neutre et non impliquée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Une posture exclusivement technique et procédurale</a:t>
            </a:r>
            <a:endParaRPr lang="en-US" sz="18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50</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Une posture d'accompagnement, de soutien et de facilitation, centrée sur les forces et les aspirations de la personne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RBPP appelle à une posture « empowerment » : valoriser ce que la personne sait faire, soutenir son pouvoir d'agir, et se mettre au service de son projet plutôt que de le diriger.</a:t>
            </a:r>
            <a:endParaRPr lang="en-US" sz="18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51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Qu'est-ce que l'entretien motivationnel et en quoi est-il utile pour le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Une technique de vente pour convaincre les personnes de partir</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Une approche centrée sur la personne qui aide à explorer et renforcer sa motivation intrinsèque pour le changement</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Un outil de bilan médical</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Une méthode de recrutement des professionnels</a:t>
            </a:r>
            <a:endParaRPr lang="en-US" sz="18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51</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Une approche centrée sur la personne qui aide à explorer et renforcer sa motivation intrinsèque pour le changement</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L'entretien motivationnel (Miller &amp; Rollnick) est particulièrement adapté pour accompagner les ambivalences des personnes face au changement résidentiel. Il favorise l'expression des souhaits profonds sans imposer de direction.</a:t>
            </a:r>
            <a:endParaRPr lang="en-US" sz="18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52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Pourquoi la formation des équipes est-elle un levier clé pour mettre en œuvre la RBPP 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Parce que la HAS l'impose par décret</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Parce que les représentations des professionnels sur les capacités des personnes handicapées influencent directement la qualité de l'accompagnement proposé</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Parce que la formation est obligatoire une fois par an</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Pour répondre aux exigences du plan de formation de l'ARS</a:t>
            </a:r>
            <a:endParaRPr lang="en-US" sz="18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52</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Parce que les représentations des professionnels sur les capacités des personnes handicapées influencent directement la qualité de l'accompagnement proposé</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représentations (parfois sous-estimées) sur les capacités des personnes à vivre de façon autonome constituent le premier frein. La formation permet d'actualiser ces représentations et de développer de nouvelles compétences pratiques.</a:t>
            </a:r>
            <a:endParaRPr lang="en-US" sz="18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53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Qu'est-ce que le FALC (Facile à Lire et à Comprendre) et à quoi sert-il dans ce contexte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Un logiciel de traitement de texte simplifié</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Un ensemble de règles de rédaction pour rendre l'information accessible aux personnes ayant des difficultés de compréhension</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Un diplôme professionnel dans le secteur médico-social</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Un outil d'évaluation des apprentissages scolaires</a:t>
            </a:r>
            <a:endParaRPr lang="en-US" sz="18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53</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Un ensemble de règles de rédaction pour rendre l'information accessible aux personnes ayant des difficultés de compréhension</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FALC est une méthode européenne qui simplifie la rédaction (phrases courtes, mots simples, images d'appui) pour rendre les documents accessibles aux personnes avec déficience intellectuelle ou troubles cognitifs.</a:t>
            </a:r>
            <a:endParaRPr lang="en-US" sz="18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54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Marie, 34 ans, vivant en foyer de vie depuis 12 ans, exprime un souhait de « vivre dans mon appartement ». Quelle est la première action recommandée par la RBPP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Lui expliquer que ce n'est pas réaliste compte tenu de son niveau de dépendance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Ouvrir un espace d'expression pour explorer ce souhait, ses contours, ses conditions, sans le valider ni l'invalider d'emblée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Contacter immédiatement la MDPH pour une réorientation</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Lancer une recherche de logement social sans délai</a:t>
            </a:r>
            <a:endParaRPr lang="en-US" sz="18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54</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Ouvrir un espace d'expression pour explorer ce souhait, ses contours, ses conditions, sans le valider ni l'invalider d'emblée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première étape est d'accueillir et d'explorer le souhait : qu'est-ce que « vivre dans un appartement » signifie pour elle ? Quelles conditions lui paraissent nécessaires ? C'est le point de départ de la co-construction.</a:t>
            </a:r>
            <a:endParaRPr lang="en-US" sz="18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55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Ahmed, 28 ans, en situation de handicap psychique, voit ses capacités fluctuer. Comment gérer cette instabilité dans son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Suspendre le projet tant que sa situation n'est pas stabilisée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Adapter le projet à ses périodes de plus grande autonomie, prévoir des soutiens adaptés pour les périodes difficiles, et maintenir le cap à long terme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Décider de maintien en foyer de vie définitif</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Confier le projet uniquement au psychiatre référent</a:t>
            </a:r>
            <a:endParaRPr lang="en-US" sz="18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55</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Adapter le projet à ses périodes de plus grande autonomie, prévoir des soutiens adaptés pour les périodes difficiles, et maintenir le cap à long terme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variabilité du handicap psychique ne contre-indique pas le projet d'habitat : elle implique de construire un accompagnement flexible, avec des filets de sécurité et une équipe soutien disponible en cas de crise.</a:t>
            </a:r>
            <a:endParaRPr lang="en-US" sz="18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56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L'équipe d'un foyer de vie s'oppose au projet d'habitat d'une personne, estimant que 'c'est trop risqué'. Comment le chef de service gère-t-il cette situation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Valider l'opposition de l'équipe pour éviter les conflits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Animer un travail sur les représentations, distinguer les risques objectifs des peurs projectives, et rappeler le droit de la personne à l'autodétermination</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Imposer le projet d'habitat sans tenir compte des inquiétudes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Saisir immédiatement la direction générale</a:t>
            </a:r>
            <a:endParaRPr lang="en-US" sz="18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56</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Animer un travail sur les représentations, distinguer les risques objectifs des peurs projectives, et rappeler le droit de la personne à l'autodétermination</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chef de service est le garant de l'équilibre entre protection et autonomie. Il doit travailler les résistances de l'équipe tout en respectant le droit de la personne, en appui sur les RBPP comme cadre professionnel de référence.</a:t>
            </a:r>
            <a:endParaRPr lang="en-US" sz="18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57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Comment documenter un projet d'habitat refusé par la personne elle-même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Ne pas mentionner ce refus pour ne pas stigmatiser la personne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Noter dans le DUI que la personne a été informée de ses droits et possibilités, qu'elle a exprimé son souhait de rester en ESSMS, et que la décision sera réexaminée lors de la prochaine révision du projet personnalisé</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Signaler le refus à la MDPH comme indicateur d'inaptitude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Fermer définitivement le volet habitat du projet personnalisé</a:t>
            </a:r>
            <a:endParaRPr lang="en-US" sz="18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57</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Noter dans le DUI que la personne a été informée de ses droits et possibilités, qu'elle a exprimé son souhait de rester en ESSMS, et que la décision sera réexaminée lors de la prochaine révision du projet personnalisé</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droit de rester en ESSMS est tout aussi respectable que le droit de partir. La documentation doit attester que l'information a été donnée et que le refus est un choix éclairé, réexaminable à tout moment.</a:t>
            </a:r>
            <a:endParaRPr lang="en-US" sz="18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58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est le lien entre le projet personnalisé et le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Ce sont deux documents distincts sans lien</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Le projet d'habitat est une composante du projet personnalisé, qui doit intégrer systématiquement la dimension résidentielle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Le projet d'habitat remplace le projet personnalisé</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Le projet personnalisé est géré par la direction, le projet d'habitat par l'équipe de terrain</a:t>
            </a:r>
            <a:endParaRPr lang="en-US" sz="18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58</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Le projet d'habitat est une composante du projet personnalisé, qui doit intégrer systématiquement la dimension résidentielle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projet personnalisé est le document de référence de l'accompagnement. La dimension habitat doit y être intégrée comme un axe à part entière, avec des objectifs, des actions et des indicateurs propres.</a:t>
            </a:r>
            <a:endParaRPr lang="en-US" sz="18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59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Qu'est-ce que la « capacité résidentielle » d'une personne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Le nombre de mètres carrés qu'elle est capable de gérer</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L'ensemble des compétences et ressources qu'une personne possède ou peut développer pour vivre de façon autonome dans un logement</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Son statut juridique de locataire ou propriétaire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Le montant de ses revenus disponibles pour le logement</a:t>
            </a:r>
            <a:endParaRPr lang="en-US" sz="18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59</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L'ensemble des compétences et ressources qu'une personne possède ou peut développer pour vivre de façon autonome dans un logement</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capacité résidentielle recouvre des compétences pratiques (entretien du logement, gestion du budget, relations de voisinage) et des ressources relationnelles et sociales. Elle s'évalue et s'accompagne dans le temps.</a:t>
            </a:r>
            <a:endParaRPr lang="en-US" sz="18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60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Qu'est-ce que le « parcours résidentiel » d'une personne accompagnée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La liste de tous les établissements fréquentés depuis l'enfance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La trajectoire de vie résidentielle de la personne, depuis son lieu de vie actuel jusqu'à son projet d'habitat futur, avec ses étapes et ses transitions</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Le dossier d'inscription au logement social</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L'historique des déménagements consignés dans le DUI</a:t>
            </a:r>
            <a:endParaRPr lang="en-US" sz="18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60</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La trajectoire de vie résidentielle de la personne, depuis son lieu de vie actuel jusqu'à son projet d'habitat futur, avec ses étapes et ses transitions</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parcours résidentiel est une notion dynamique : il retrace l'évolution des lieux de vie de la personne et projette ses aspirations futures. Les professionnels soutiennent ce parcours en accompagnant chaque étape et transition.</a:t>
            </a:r>
            <a:endParaRPr lang="en-US" sz="18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61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est la différence entre « accompagner vers l'habitat » et « accompagner dans l'habitat »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Ce sont des termes synonymes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Vers l'habitat : préparer et faciliter l'accès à un logement. Dans l'habitat : soutenir la personne une fois installée dans son logement</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Vers l'habitat concerne les jeunes, dans l'habitat concerne les personnes âgées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Vers l'habitat est le rôle de la MDPH, dans l'habitat est le rôle de l'ESSMS</a:t>
            </a:r>
            <a:endParaRPr lang="en-US" sz="18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61</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Vers l'habitat : préparer et faciliter l'accès à un logement. Dans l'habitat : soutenir la personne une fois installée dans son logement</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RBPP distingue deux phases : l'accompagnement vers l'habitat (construction du projet, recherche de logement, transition) et l'accompagnement dans l'habitat (soutien à la vie quotidienne une fois installé).</a:t>
            </a:r>
            <a:endParaRPr lang="en-US" sz="18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62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Pourquoi la question de l'habitat est-elle centrale dans la démarche d'évaluation externe HAS des ESSMS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Parce qu'elle est le seul critère évalué</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Parce qu'elle est le reflet concret de la capacité de l'établissement à respecter et promouvoir les droits et l'autodétermination des personnes</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Parce que le référentiel HAS l'impose comme critère unique de qualité</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Parce que l'ARS finance les établissements uniquement sur cet axe</a:t>
            </a:r>
            <a:endParaRPr lang="en-US" sz="18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62</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Parce qu'elle est le reflet concret de la capacité de l'établissement à respecter et promouvoir les droits et l'autodétermination des personnes</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L'habitat est une expression concrète du respect de la dignité et de l'autonomie. Un ESSMS qui accompagne réellement des projets d'habitat personnalisés démontre son engagement envers les droits des personnes.</a:t>
            </a:r>
            <a:endParaRPr lang="en-US" sz="18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63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Qu'est-ce qu'un « lieu de vie » au sens de la RBPP, différent d'un simple « logement »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Un logement de plus de 50 m²</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Un espace investi par la personne, où elle exerce une maîtrise et une appropriation de son environnement quotidien</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Tout hébergement collectif en ESSMS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Un appartement appartenant à la personne</a:t>
            </a:r>
            <a:endParaRPr lang="en-US" sz="18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63</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Un espace investi par la personne, où elle exerce une maîtrise et une appropriation de son environnement quotidien</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 lieu de vie » est un concept plus large que le logement : il intègre la dimension subjective (s'y sentir chez soi), relationnelle (y recevoir, choisir ses cohabitants) et identitaire (y exprimer qui l'on est).</a:t>
            </a:r>
            <a:endParaRPr lang="en-US" sz="18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64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Comment la RBPP définit-elle le rôle de l'ESSMS dans le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Décideur des orientations résidentielles de ses résidents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Facilitateur et soutien du projet de la personne, sans se substituer à elle ni décider à sa place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Gestionnaire unique du parc de logements occupés par ses résidents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Garant de la présence permanente de la personne dans ses locaux</a:t>
            </a:r>
            <a:endParaRPr lang="en-US" sz="18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64</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Facilitateur et soutien du projet de la personne, sans se substituer à elle ni décider à sa place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L'ESSMS est au service du projet de la personne. Son rôle est de faciliter, d'outiller, d'accompagner — pas de décider ni de gérer à la place de la personne.</a:t>
            </a:r>
            <a:endParaRPr lang="en-US" sz="18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65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 recommande la RBPP concernant l'information de la personne sur ses droits lors de l'admission en ESSMS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Remettre uniquement le règlement de fonctionnement</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Informer dès l'admission des droits de la personne concernant son projet de vie, dont la possibilité de vivre en habitat ordinaire, et réitérer cette information régulièrement</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N'aborder le sujet qu'à partir de 2 ans de présence dans l'établissement</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Déléguer entièrement cette information à la famille</a:t>
            </a:r>
            <a:endParaRPr lang="en-US" sz="18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65</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Informer dès l'admission des droits de la personne concernant son projet de vie, dont la possibilité de vivre en habitat ordinaire, et réitérer cette information régulièrement</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L'information dès l'admission pose le cadre : la personne sait qu'elle a le droit de construire un projet de vie hors de l'établissement. C'est une condition du respect de l'autodétermination dès le début de l'accompagnement.</a:t>
            </a:r>
            <a:endParaRPr lang="en-US" sz="18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66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Qu'est-ce que la « désinstitutionnalisation » et quel lien avec la RBPP 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La fermeture administrative des établissements médicaux</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Un mouvement visant à permettre aux personnes vivant en institutions de vivre en milieu ordinaire, dont la RBPP est un outil de mise en œuvre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La suppression des foyers de vie par décret</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Le remplacement des ESSMS par des services à domicile</a:t>
            </a:r>
            <a:endParaRPr lang="en-US" sz="18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66</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Un mouvement visant à permettre aux personnes vivant en institutions de vivre en milieu ordinaire, dont la RBPP est un outil de mise en œuvre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désinstitutionnalisation est une dynamique internationale (recommandations ONU, CRPD) et nationale. La RBPP sur l'habitat est un levier concret pour accompagner cette transition vers le milieu ordinaire tout en préservant la sécurité des personnes.</a:t>
            </a:r>
            <a:endParaRPr lang="en-US" sz="18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67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texte international fonde le droit des personnes handicapées à vivre dans la communauté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La Convention de Genève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La Convention des Nations Unies relative aux droits des personnes handicapées (CRPD), article 19</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Le Traité de Lisbonne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La Déclaration des droits de l'homme de 1948 (seule référence)</a:t>
            </a:r>
            <a:endParaRPr lang="en-US" sz="18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67</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La Convention des Nations Unies relative aux droits des personnes handicapées (CRPD), article 19</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L'article 19 de la CRPD (ratifiée par la France en 2010) consacre le droit à la vie autonome et à l'inclusion dans la société, incluant le droit de choisir son lieu de vie et son mode d'habitat.</a:t>
            </a:r>
            <a:endParaRPr lang="en-US" sz="18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68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En quoi le Volet 1 de la RBPP habitat diffère-t-il du Volet 2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Le Volet 1 s'adresse aux enfants, le Volet 2 aux adultes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Le Volet 1 pose le socle transversal (sensibilisation, principes généraux) ; le Volet 2 approfondit la co-construction du projet d'habitat avec la personne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Le Volet 1 est réservé aux EHPAD, le Volet 2 aux FAM</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Le Volet 1 est obligatoire, le Volet 2 facultatif</a:t>
            </a:r>
            <a:endParaRPr lang="en-US" sz="18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68</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Le Volet 1 pose le socle transversal (sensibilisation, principes généraux) ; le Volet 2 approfondit la co-construction du projet d'habitat avec la personne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Volet 1 (janvier 2024) établit les fondements communs à tous les publics et tous les ESSMS. Le Volet 2 (novembre 2025) entre dans la pratique concrète de l'élaboration du projet d'habitat.</a:t>
            </a:r>
            <a:endParaRPr lang="en-US" sz="18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69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est la durée recommandée pour construire un projet d'habitat solide selon la RBPP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6 mois maximum</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1 an obligatoire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Il n'y a pas de durée préconisée : le projet se construit au rythme de la personne, sans délai imposé</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5 ans minimum</a:t>
            </a:r>
            <a:endParaRPr lang="en-US" sz="18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69</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C. Il n'y a pas de durée préconisée : le projet se construit au rythme de la personne, sans délai imposé</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RBPP n'impose pas de durée : le projet doit avancer au rythme de la personne. Certains projets aboutissent en quelques mois, d'autres peuvent prendre plusieurs années. La progressivité prime sur la rapidité.</a:t>
            </a:r>
            <a:endParaRPr lang="en-US" sz="18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70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Qu'est-ce qu'un « habitat adapté » au sens de la RBPP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Un logement aux normes d'accessibilité PMR uniquement</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Un logement aménagé pour répondre aux besoins spécifiques de la personne (rampes, douche de plain-pied, domotique, etc.) et accessible financièrement</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Un logement situé dans un résidence spécialisée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Un logement géré exclusivement par un ESSMS</a:t>
            </a:r>
            <a:endParaRPr lang="en-US" sz="18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70</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Un logement aménagé pour répondre aux besoins spécifiques de la personne (rampes, douche de plain-pied, domotique, etc.) et accessible financièrement</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L'habitat adapté combine accessibilité architecturale (aménagements PMR), accessibilité financière (aides à l'adaptation, ANAH) et adéquation aux besoins fonctionnels de la personne.</a:t>
            </a:r>
            <a:endParaRPr lang="en-US" sz="18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71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est le rôle de l'ANAH dans l'accès à un habitat adapté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Financer les ESSMS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Accorder des subventions pour l'adaptation de logements privés aux situations de handicap ou de perte d'autonomie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Gérer les listes d'attente pour les logements sociaux</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Fixer les normes d'accessibilité des bâtiments publics</a:t>
            </a:r>
            <a:endParaRPr lang="en-US" sz="18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71</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Accorder des subventions pour l'adaptation de logements privés aux situations de handicap ou de perte d'autonomie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L'ANAH (Agence Nationale de l'Habitat) propose des subventions pour adapter un logement privé à une situation de handicap ou de perte d'autonomie, notamment via le programme MaPrimeAdapt' depuis 2024.</a:t>
            </a:r>
            <a:endParaRPr lang="en-US" sz="18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72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Comment la RBPP articule-t-elle le projet d'habitat avec la prévention de la maltraitance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Il n'y a pas de lien entre ces deux sujets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Un projet d'habitat réel favorise l'autodétermination et réduit le risque de situations d'emprise ou de maltraitance institutionnelle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La maltraitance ne concerne que les ESSMS, pas l'habitat ordinaire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L'habitat ordinaire expose davantage aux risques de maltraitance</a:t>
            </a:r>
            <a:endParaRPr lang="en-US" sz="18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72</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Un projet d'habitat réel favorise l'autodétermination et réduit le risque de situations d'emprise ou de maltraitance institutionnelle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vie en institution peut favoriser des dynamiques de dépendance, de déresponsabilisation et d'emprise. L'accès à un chez-soi choisi protège la personne en renforçant son autonomie et en diversifiant ses liens sociaux.</a:t>
            </a:r>
            <a:endParaRPr lang="en-US" sz="18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73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Qu'est-ce que la « transition vers l'habitat ordinaire » et quels sont ses risques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Un simple déménagement administratif sans enjeu particulier</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Un changement de vie majeur pouvant générer isolement, rupture de liens, difficultés pratiques — nécessitant un accompagnement renforcé dans les premiers mois</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Un processus automatique pris en charge par la MDPH</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Une étape réservée aux personnes sans handicap lourd</a:t>
            </a:r>
            <a:endParaRPr lang="en-US" sz="18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73</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Un changement de vie majeur pouvant générer isolement, rupture de liens, difficultés pratiques — nécessitant un accompagnement renforcé dans les premiers mois</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transition est un moment critique : la personne quitte un environnement sécurisé pour un habitat autonome. Les premiers mois sont décisifs et doivent bénéficier d'un accompagnement intensifié avant d'être progressivement allégé.</a:t>
            </a:r>
            <a:endParaRPr lang="en-US" sz="18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74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Comment évaluer le succès d'un projet d'habitat, selon la RBPP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Par le taux d'occupation libéré en ESSMS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Par le sentiment de bien-être, de sécurité et d'appartenance exprimé par la personne elle-même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Par le niveau de revenus de la personne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Par le nombre d'hospitalisation évitées</a:t>
            </a:r>
            <a:endParaRPr lang="en-US" sz="18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74</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Par le sentiment de bien-être, de sécurité et d'appartenance exprimé par la personne elle-même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critère premier de succès est la satisfaction subjective de la personne : se sent-elle chez elle ? Est-elle bien dans son habitat ? Les indicateurs objectifs (stabilité du logement, réseau social) viennent en complément.</a:t>
            </a:r>
            <a:endParaRPr lang="en-US" sz="18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75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 faire si une personne en habitat ordinaire traverse une crise et souhaite réintégrer l'ESSMS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Refuser pour ne pas encourager les allers-retours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Accueillir la demande avec bienveillance, proposer une réintégration temporaire si nécessaire, analyser les causes de la crise pour prévenir les rechutes</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Contacter immédiatement le psychiatre de secteur</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Notifier la MDPH d'un échec d'orientation</a:t>
            </a:r>
            <a:endParaRPr lang="en-US" sz="18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75</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Accueillir la demande avec bienveillance, proposer une réintégration temporaire si nécessaire, analyser les causes de la crise pour prévenir les rechutes</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RBPP préconise une approche sans jugement : une crise ou un retour temporaire n'est pas un échec mais une étape du parcours. L'important est d'accompagner le retour en stabilisant la situation et de préparer, si souhaité, un nouveau projet d'habitat.</a:t>
            </a:r>
            <a:endParaRPr lang="en-US" sz="18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76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est l'importance des « micro-expériences » dans la construction du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Elles sont superflues si la personne est motivée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Elles permettent à la personne de tester concrètement ses capacités, d'identifier ses besoins de soutien et de renforcer sa confiance en elle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Elles sont uniquement utiles pour les personnes ayant une déficience intellectuelle légère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Elles doivent être évitées pour ne pas créer de fausses attentes</a:t>
            </a:r>
            <a:endParaRPr lang="en-US" sz="18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76</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Elles permettent à la personne de tester concrètement ses capacités, d'identifier ses besoins de soutien et de renforcer sa confiance en elle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Les micro-expériences (week-ends en logement, stages en appartement thérapeutique) sont des étapes clés de la RBPP : elles permettent un apprentissage par l'expérience, plus puissant que tout enseignement théorique.</a:t>
            </a:r>
            <a:endParaRPr lang="en-US" sz="18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77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Qu'est-ce que le soutien par les pairs dans le contexte du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L'aide apportée par des professionnels certifiés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Le soutien apporté par des personnes ayant elles-mêmes vécu une expérience d'habitat ordinaire, partageant leur vécu et leurs stratégies</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L'accompagnement par les proches aidants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La formation entre collègues professionnels</a:t>
            </a:r>
            <a:endParaRPr lang="en-US" sz="18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77</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Le soutien apporté par des personnes ayant elles-mêmes vécu une expérience d'habitat ordinaire, partageant leur vécu et leurs stratégies</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soutien par les pairs (pair-aidance) est une approche valorisée par la RBPP : une personne qui a réussi sa transition vers l'habitat ordinaire peut témoigner et inspirer d'autres personnes encore en institution.</a:t>
            </a:r>
            <a:endParaRPr lang="en-US" sz="18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78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Qu'est-ce que la Prestation de Compensation du Handicap (PCH) en lien avec l'habitat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Une aide au loyer versée par la CAF</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Une prestation permettant de financer les aides humaines, techniques et d'aménagement du logement nécessaires à la compensation du handicap</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Un fonds d'urgence pour les expulsions locatives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Une allocation réservée aux personnes de plus de 60 ans</a:t>
            </a:r>
            <a:endParaRPr lang="en-US" sz="18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78</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Une prestation permettant de financer les aides humaines, techniques et d'aménagement du logement nécessaires à la compensation du handicap</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PCH (éléments logement et aménagement) peut financer des travaux d'adaptation du domicile. Elle est instruite par la MDPH et décidée par la CDAPH, et constitue un outil clé du projet d'habitat pour les personnes handicapées.</a:t>
            </a:r>
            <a:endParaRPr lang="en-US" sz="18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79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Qu'est-ce que la GUL (Garantie Universelle des Loyers) et son intérêt pour les personnes handicapées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Un dispositif d'assurance loyers impayés pour les bailleurs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Visaale : une caution gratuite pour les locataires sans garant, octroyée par Action Logement, facilitant l'accès au logement privé</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Une allocation pour les personnes en situation de surendettement</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Un prêt à taux zéro pour l'accession à la propriété</a:t>
            </a:r>
            <a:endParaRPr lang="en-US" sz="18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79</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Visaale : une caution gratuite pour les locataires sans garant, octroyée par Action Logement, facilitant l'accès au logement privé</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Visaale (ex-GUL) est une caution gratuite octroyée par Action Logement aux locataires sans garant. Elle lève un frein majeur à l'accès au logement privé pour les personnes handicapées ou précaires.</a:t>
            </a:r>
            <a:endParaRPr lang="en-US" sz="18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80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 est le rôle du référent de parcours dans le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Gérer les finances de la personne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Assurer la coordination des différents acteurs et la continuité du suivi du projet de vie de la personne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Décider des orientations résidentielles à la place de la personne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Rédiger les rapports d'évaluation HAS</a:t>
            </a:r>
            <a:endParaRPr lang="en-US" sz="18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80</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Assurer la coordination des différents acteurs et la continuité du suivi du projet de vie de la personne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référent de parcours (notion issue de la loi 2022) assure la cohérence du parcours de la personne entre les différents acteurs. Son rôle est central dans le suivi du projet d'habitat qui implique plusieurs partenaires.</a:t>
            </a:r>
            <a:endParaRPr lang="en-US" sz="18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81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Pourquoi la RBPP insiste-t-elle sur la notion de « chez-soi » plutôt que simplement « logement »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Pour des raisons terminologiques uniquement</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Parce que le chez-soi implique une appropriation, une intimité et une maîtrise que le seul droit à un logement ne garantit pas</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Parce que le terme logement est réservé au secteur du logement social</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Parce que chez-soi est défini dans la loi 2005</a:t>
            </a:r>
            <a:endParaRPr lang="en-US" sz="18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81</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Parce que le chez-soi implique une appropriation, une intimité et une maîtrise que le seul droit à un logement ne garantit pas</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chez-soi est une notion qui intègre la dimension subjective et identitaire : un espace où l'on se sent soi-même, où l'on reçoit, où l'on décide. Le simple fait d'occuper un logement ne suffit pas à constituer un chez-soi.</a:t>
            </a:r>
            <a:endParaRPr lang="en-US" sz="18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82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Dans quelle mesure les ESSMS doivent-ils coopérer avec les SPIP (services pénitentiaires) pour le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Il n'y a aucune coopération possible entre ces secteurs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Pour les personnes en situation de handicap sortant de détention, les ESSMS peuvent être amenés à co-construire un projet d'habitat avec les SPIP</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Les SPIP gèrent seuls les projets d'habitat des sortants de prison</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Les ESSMS ne peuvent pas accueillir des personnes ayant un casier judiciaire</a:t>
            </a:r>
            <a:endParaRPr lang="en-US" sz="180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82</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Pour les personnes en situation de handicap sortant de détention, les ESSMS peuvent être amenés à co-construire un projet d'habitat avec les SPIP</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désinstitutionnalisation concerne aussi les personnes sortant de détention avec un handicap. Les ESSMS peuvent être des partenaires des SPIP pour construire des projets résidentiels adaptés, dans une logique de parcours.</a:t>
            </a:r>
            <a:endParaRPr lang="en-US" sz="18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83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Qu'est-ce que l'« habitat partagé » et en quoi diffère-t-il du colocation classique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Un habitat partagé est une colocation classique entre personnes sans handicap</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Un habitat partagé entre personnes vulnérables intègre un projet de vie sociale commun et un accompagnement structuré, au-delà du simple partage de l'espace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Un habitat partagé est uniquement réservé aux personnes âgées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Un habitat partagé est géré exclusivement par une association spécialisée</a:t>
            </a:r>
            <a:endParaRPr lang="en-US" sz="180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83</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Un habitat partagé entre personnes vulnérables intègre un projet de vie sociale commun et un accompagnement structuré, au-delà du simple partage de l'espace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L'habitat partagé (forme d'habitat inclusif) repose sur un projet de vie sociale : activités communes, entraide, liens de voisinage. Ce projet partagé est soutenu par un accompagnement et financé via le FHI, contrairement à une simple colocation.</a:t>
            </a:r>
            <a:endParaRPr lang="en-US" sz="18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84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est la place de la pair-aidance dans les ESSMS selon les tendances actuelles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La pair-aidance est interdite dans les ESSMS par déontologie professionnelle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Des personnes ayant vécu des expériences similaires peuvent être recrutées ou mobilisées comme ressources pour soutenir les projets d'habitat</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La pair-aidance est réservée aux secteurs de la psychiatrie et des addictions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La pair-aidance remplace le travail des professionnels diplômés</a:t>
            </a:r>
            <a:endParaRPr lang="en-US" sz="180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84</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Des personnes ayant vécu des expériences similaires peuvent être recrutées ou mobilisées comme ressources pour soutenir les projets d'habitat</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pair-aidance se développe dans le secteur médico-social. Des personnes ayant vécu une transition vers l'habitat ordinaire peuvent témoigner et accompagner d'autres personnes dans cette démarche, en complément des professionnels.</a:t>
            </a:r>
            <a:endParaRPr lang="en-US" sz="18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85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Quels sont les principes de la Convention des Nations Unies relative aux droits des personnes handicapées (CRPD) pertinents pour l'habitat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Uniquement l'accessibilité physique des bâtiments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La vie autonome, l'inclusion dans la communauté, le choix du lieu de vie, la non-discrimination — article 19 en particulier</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Le droit aux soins médicaux de qualité</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Le droit à l'hébergement institutionnel de qualité</a:t>
            </a:r>
            <a:endParaRPr lang="en-US" sz="18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85</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La vie autonome, l'inclusion dans la communauté, le choix du lieu de vie, la non-discrimination — article 19 en particulier</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L'article 19 de la CRPD (vie autonome et inclusion dans la société) est le fondement international du droit à choisir son lieu de vie. La France a ratifié cette convention en 2010 et doit en respecter les principes.</a:t>
            </a:r>
            <a:endParaRPr lang="en-US" sz="18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86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Comment associer une personne sous mesure de protection juridique (tutelle/curatelle) à son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Attendre l'autorisation du tuteur avant de lui parler de son projet</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La personne reste actrice de son projet d'habitat. Le tuteur/curateur est informé et consulté, mais le droit de la personne à s'exprimer prime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La personne sous tutelle ne peut pas participer aux décisions la concernant</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Le projet d'habitat relève exclusivement du mandataire judiciaire</a:t>
            </a:r>
            <a:endParaRPr lang="en-US" sz="18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86</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La personne reste actrice de son projet d'habitat. Le tuteur/curateur est informé et consulté, mais le droit de la personne à s'exprimer prime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mesure de protection ne supprime pas la personnalité juridique ni le droit à l'autodétermination. Le mandataire judiciaire accompagne les actes juridiques mais ne décide pas à la place de la personne sur son projet de vie.</a:t>
            </a:r>
            <a:endParaRPr lang="en-US" sz="180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87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est la différence entre le projet personnalisé et le contrat de séjour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Ce sont deux noms pour le même document</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Le contrat de séjour formalise les conditions d'accueil dans l'ESSMS ; le projet personnalisé définit les objectifs d'accompagnement et les moyens mis en œuvre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Le projet personnalisé remplace le contrat de séjour depuis 2022</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Le contrat de séjour est rédigé par la direction, le projet personnalisé par l'éducateur référent</a:t>
            </a:r>
            <a:endParaRPr lang="en-US" sz="180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87</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Le contrat de séjour formalise les conditions d'accueil dans l'ESSMS ; le projet personnalisé définit les objectifs d'accompagnement et les moyens mis en œuvre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Ces deux documents sont complémentaires et obligatoires (loi 2002-2). Le contrat de séjour précise les conditions matérielles et financières de l'accueil. Le projet personnalisé définit les objectifs d'accompagnement, dont le projet d'habitat.</a:t>
            </a:r>
            <a:endParaRPr lang="en-US" sz="180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88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En quoi la désinstitutionnalisation nécessite-t-elle une transformation de l'offre ESSMS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Elle n'implique aucune transformation si les établissements maintiennent leurs places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Elle implique une diversification des modalités d'accompagnement : habitat inclusif, SAVS/SAMSAH, accueil de jour, ESSMS hors les murs</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Elle nécessite uniquement une réduction du nombre de places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Elle impose la fermeture de tous les foyers de vie et FAM à l'horizon 2027</a:t>
            </a:r>
            <a:endParaRPr lang="en-US" sz="180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88</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Elle implique une diversification des modalités d'accompagnement : habitat inclusif, SAVS/SAMSAH, accueil de jour, ESSMS hors les murs</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désinstitutionnalisation ne signifie pas fermer les établissements mais transformer l'offre : développer des services de soutien à la vie ordinaire (SAVS, SAMSAH), l'habitat inclusif, et des formules souples permettant à chacun de vivre là où il le souhaite.</a:t>
            </a:r>
            <a:endParaRPr lang="en-US" sz="18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89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 signifie accompagner « hors les murs » dans le contexte du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Des visites de l'équipe dans les logements des anciens résidents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Un mode d'intervention où les professionnels de l'ESSMS accompagnent les personnes dans leur environnement ordinaire (logement, quartier, commerces)</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Des sorties culturelles organisées par l'établissement</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Des interventions dans d'autres établissements partenaires</a:t>
            </a:r>
            <a:endParaRPr lang="en-US" sz="180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89</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Un mode d'intervention où les professionnels de l'ESSMS accompagnent les personnes dans leur environnement ordinaire (logement, quartier, commerces)</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travail hors les murs est un mode d'intervention pivot pour le projet d'habitat : les professionnels accompagnent la personne dans son futur logement, dans ses démarches administratives, dans son quartier — rendant l'accompagnement contextuel et ancré dans la réalité.</a:t>
            </a:r>
            <a:endParaRPr lang="en-US" sz="180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90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Pourquoi la RBPP recommande-t-elle d'explorer les réseaux sociaux naturels de la personne dans le cadre du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Pour déléguer l'accompagnement aux proches et réduire les coûts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Parce que les liens sociaux (famille, amis, voisins, associations) sont des facteurs de protection et d'ancrage dans la vie ordinaire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Pour signaler tout risque de maltraitance familiale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Pour respecter l'obligation légale de consultation des proches</a:t>
            </a:r>
            <a:endParaRPr lang="en-US" sz="180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90</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Parce que les liens sociaux (famille, amis, voisins, associations) sont des facteurs de protection et d'ancrage dans la vie ordinaire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 réseau social naturel dense est un facteur de succès majeur pour l'habitat autonome. Il offre soutien informel, sentiment d'appartenance et protection contre l'isolement — complémentaire à l'accompagnement professionnel.</a:t>
            </a:r>
            <a:endParaRPr lang="en-US" sz="180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91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Qu'est-ce qu'un « projet d'habitat inclusif » pour une personne avec autisme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Un placement en MAS renforcée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Un logement adapté à ses besoins sensoriels et cognitifs, avec des routines prévisibles, situé en milieu ordinaire et soutenu par un accompagnement spécialisé</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Un logement uniquement pour personnes avec TSA</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Un hébergement temporaire en attente d'une place en ESMS spécialisé</a:t>
            </a:r>
            <a:endParaRPr lang="en-US" sz="180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91</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Un logement adapté à ses besoins sensoriels et cognitifs, avec des routines prévisibles, situé en milieu ordinaire et soutenu par un accompagnement spécialisé</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Pour une personne avec TSA, le projet d'habitat ordinaire peut réussir avec des aménagements sensoriels appropriés (lumière, bruit, rangement prévisible), un accompagnement structuré, et un environnement stable favorisant les routines.</a:t>
            </a:r>
            <a:endParaRPr lang="en-US" sz="180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92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Quels sont les indicateurs d'alerte d'un projet d'habitat en difficulté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Une demande de révision du projet par la personne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Un isolement croissant, des impayés de loyer répétés, une dégradation du logement, un refus de contact avec les professionnels</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Une hospitalisation ponctuelle</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Un déménagement volontaire vers un logement plus grand</a:t>
            </a:r>
            <a:endParaRPr lang="en-US" sz="180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92</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Un isolement croissant, des impayés de loyer répétés, une dégradation du logement, un refus de contact avec les professionnels</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Ces indicateurs signalent que la personne peut être en difficulté et nécessite un soutien renforcé. Un suivi régulier permet de les détecter précocement et d'intervenir avant une rupture de logement.</a:t>
            </a:r>
            <a:endParaRPr lang="en-US" sz="180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93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Comment adapter le projet d'habitat à une personne qui vieillit avec un handicap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La maintenir dans l'ESSMS initial quel que soit son âge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Anticiper l'évolution des besoins liés au vieillissement et adapter progressivement le projet (accessibilité, aides techniques, coordination sanitaire)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Transférer automatiquement la personne en EHPAD à 60 ans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Réduire l'accompagnement car la personne est désormais âgée</a:t>
            </a:r>
            <a:endParaRPr lang="en-US" sz="180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93</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Anticiper l'évolution des besoins liés au vieillissement et adapter progressivement le projet (accessibilité, aides techniques, coordination sanitaire)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vieillissement des personnes handicapées nécessite une anticipation : adapter le logement (PMR, domotique), renforcer les aides à domicile, et articuler les accompagnements médico-sociaux et sanitaires.</a:t>
            </a:r>
            <a:endParaRPr lang="en-US" sz="180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94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Qu'est-ce que la « continuité de l'accompagnement » dans le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Ne jamais changer de professionnel référent</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Assurer que le projet d'habitat et son suivi ne sont pas interrompus lors des transitions (changement d'équipe, arrêt maladie, réorganisation)</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Maintenir la personne dans l'ESSMS sans changement</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Garantir la présence physique permanente d'un professionnel au domicile</a:t>
            </a:r>
            <a:endParaRPr lang="en-US" sz="180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94</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Assurer que le projet d'habitat et son suivi ne sont pas interrompus lors des transitions (changement d'équipe, arrêt maladie, réorganisation)</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continuité est un principe clé : le projet d'habitat doit survivre aux changements de professionnels. D'où l'importance de la traçabilité dans le DUI et du travail d'équipe plutôt que de la relation duelle exclusive.</a:t>
            </a:r>
            <a:endParaRPr lang="en-US" sz="180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95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Pourquoi est-il important de distinguer les besoins d'accompagnement des préférences personnelles dans le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Parce que les préférences de la personne ne sont pas pertinentes</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Pour ne pas imposer des soutiens non désirés ni négliger des besoins réels — l'accompagnement doit être nécessaire ET accepté</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Parce que la distinction est imposée par le référentiel HAS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Pour réduire les coûts d'accompagnement</a:t>
            </a:r>
            <a:endParaRPr lang="en-US" sz="180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95</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Pour ne pas imposer des soutiens non désirés ni négliger des besoins réels — l'accompagnement doit être nécessaire ET accepté</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 accompagnement trop intrusif viole l'autonomie ; un accompagnement insuffisant expose à des risques. La bonne calibration repose sur une évaluation conjointe des besoins objectifs et des préférences de la personne.</a:t>
            </a:r>
            <a:endParaRPr lang="en-US" sz="180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96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Qu'est-ce que la « vie en milieu ordinaire » telle que promue par la loi française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La vie en appartement thérapeutique psychiatrique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La vie en dehors des établissements spécialisés, dans la cité, avec les mêmes droits et les mêmes accès que tout citoyen</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La vie dans un village d'accueil spécialisé</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La vie dans un foyer géré par une association non médicalisée</a:t>
            </a:r>
            <a:endParaRPr lang="en-US" sz="180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96</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La vie en dehors des établissements spécialisés, dans la cité, avec les mêmes droits et les mêmes accès que tout citoyen</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vie en milieu ordinaire (loi 2005, CRPD) désigne la vie dans la cité : logement ordinaire, emploi ordinaire, loisirs ordinaires — avec les aides et compensations nécessaires. C'est l'objectif fondamental de la politique du handicap.</a:t>
            </a:r>
            <a:endParaRPr lang="en-US" sz="180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97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Comment intégrer le projet d'habitat dans le cadre de la démarche qualité de l'ESSMS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Le séparer complètement de la démarche qualité</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L'inscrire comme axe d'amélioration dans le plan d'actions qualité, avec des indicateurs mesurables et un suivi annuel en réunion qualité</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Le confier uniquement à la direction qualité sans impliquer les équipes</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L'évaluer uniquement lors de l'évaluation externe HAS</a:t>
            </a:r>
            <a:endParaRPr lang="en-US" sz="180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97</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L'inscrire comme axe d'amélioration dans le plan d'actions qualité, avec des indicateurs mesurables et un suivi annuel en réunion qualité</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projet d'habitat est un axe qualité à part entière. Son intégration dans le plan d'amélioration continue garantit une attention soutenue, une mesure des progrès et une implication de toutes les équipes.</a:t>
            </a:r>
            <a:endParaRPr lang="en-US" sz="180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98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est la valeur ajoutée d'une démarche d'auto-évaluation interne sur le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Aucune valeur, seule l'évaluation externe compte</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Elle permet à l'équipe d'identifier ses forces et ses axes d'amélioration, de partager une culture commune, et de préparer l'évaluation externe HAS</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Elle est obligatoire tous les 5 ans uniquement</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Elle remplace le rapport d'activité annuel</a:t>
            </a:r>
            <a:endParaRPr lang="en-US" sz="180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98</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Elle permet à l'équipe d'identifier ses forces et ses axes d'amélioration, de partager une culture commune, et de préparer l'évaluation externe HAS</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L'auto-évaluation interne est une démarche réflexive collective. Sur le thème de l'habitat, elle amène l'équipe à questionner ses pratiques, ses représentations et ses résultats concrets pour la qualité de l'accompagnement.</a:t>
            </a:r>
            <a:endParaRPr lang="en-US" sz="180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99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 signifie « parcours sans rupture » dans le contexte du projet d'habitat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Un accompagnement identique de l'entrée à la sortie sans aucun changement</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Un projet résidentiel qui ne connaît ni interruption d'accompagnement, ni perte d'information, ni discontinuité entre les acteurs aux différentes étapes de la vie de la personne</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L'absence de toute hospitalisation pendant le projet</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Un hébergement stable pendant toute la durée du projet</a:t>
            </a:r>
            <a:endParaRPr lang="en-US" sz="180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99</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Un projet résidentiel qui ne connaît ni interruption d'accompagnement, ni perte d'information, ni discontinuité entre les acteurs aux différentes étapes de la vie de la personne</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Le parcours sans rupture est un idéal à viser : pas de trou dans la prise en charge lors des transitions (sortie d'institution, changement de référent, déménagement), assurée par une coordination proactive et une traçabilité rigoureuse.</a:t>
            </a:r>
            <a:endParaRPr lang="en-US" sz="180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Question 100 / 100</a:t>
            </a:r>
            <a:endParaRPr lang="en-US" sz="1300" dirty="0"/>
          </a:p>
        </p:txBody>
      </p:sp>
      <p:sp>
        <p:nvSpPr>
          <p:cNvPr id="3" name="Text 1"/>
          <p:cNvSpPr/>
          <p:nvPr/>
        </p:nvSpPr>
        <p:spPr>
          <a:xfrm>
            <a:off x="365760" y="548640"/>
            <a:ext cx="11216640" cy="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Quelle est la principale valeur défendue par la RBPP « Accompagnement vers et dans l'habitat » dans son ensemble ?</a:t>
            </a:r>
            <a:endParaRPr lang="en-US" sz="2200" dirty="0"/>
          </a:p>
        </p:txBody>
      </p:sp>
      <p:sp>
        <p:nvSpPr>
          <p:cNvPr id="4" name="Text 2"/>
          <p:cNvSpPr/>
          <p:nvPr/>
        </p:nvSpPr>
        <p:spPr>
          <a:xfrm>
            <a:off x="548640" y="21945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La sécurité maximale des personnes en institution</a:t>
            </a:r>
            <a:endParaRPr lang="en-US" sz="1800" dirty="0"/>
          </a:p>
        </p:txBody>
      </p:sp>
      <p:sp>
        <p:nvSpPr>
          <p:cNvPr id="5" name="Text 3"/>
          <p:cNvSpPr/>
          <p:nvPr/>
        </p:nvSpPr>
        <p:spPr>
          <a:xfrm>
            <a:off x="548640" y="31089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B. Le droit de chaque personne, quelle que soit sa situation de handicap, à choisir où et comment elle vit</a:t>
            </a:r>
            <a:endParaRPr lang="en-US" sz="1800" dirty="0"/>
          </a:p>
        </p:txBody>
      </p:sp>
      <p:sp>
        <p:nvSpPr>
          <p:cNvPr id="6" name="Text 4"/>
          <p:cNvSpPr/>
          <p:nvPr/>
        </p:nvSpPr>
        <p:spPr>
          <a:xfrm>
            <a:off x="548640" y="40233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 La réduction des coûts de l'accompagnement médico-social</a:t>
            </a:r>
            <a:endParaRPr lang="en-US" sz="1800" dirty="0"/>
          </a:p>
        </p:txBody>
      </p:sp>
      <p:sp>
        <p:nvSpPr>
          <p:cNvPr id="7" name="Text 5"/>
          <p:cNvSpPr/>
          <p:nvPr/>
        </p:nvSpPr>
        <p:spPr>
          <a:xfrm>
            <a:off x="548640" y="493776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 La standardisation des pratiques professionnelles à l'échelle nationale</a:t>
            </a:r>
            <a:endParaRPr lang="en-US" sz="180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365760" y="182880"/>
            <a:ext cx="11216640" cy="0"/>
          </a:xfrm>
          <a:prstGeom prst="rect">
            <a:avLst/>
          </a:prstGeom>
          <a:noFill/>
          <a:ln/>
        </p:spPr>
        <p:txBody>
          <a:bodyPr wrap="square" rtlCol="0" anchor="ctr"/>
          <a:lstStyle/>
          <a:p>
            <a:pPr indent="0" marL="0">
              <a:buNone/>
            </a:pPr>
            <a:r>
              <a:rPr lang="en-US" sz="1300" b="1" dirty="0">
                <a:solidFill>
                  <a:srgbClr val="FFD700"/>
                </a:solidFill>
                <a:latin typeface="Calibri" pitchFamily="34" charset="0"/>
                <a:ea typeface="Calibri" pitchFamily="34" charset="-122"/>
                <a:cs typeface="Calibri" pitchFamily="34" charset="-120"/>
              </a:rPr>
              <a:t>Réponse — Question 100</a:t>
            </a:r>
            <a:endParaRPr lang="en-US" sz="1300" dirty="0"/>
          </a:p>
        </p:txBody>
      </p:sp>
      <p:sp>
        <p:nvSpPr>
          <p:cNvPr id="3" name="Text 1"/>
          <p:cNvSpPr/>
          <p:nvPr/>
        </p:nvSpPr>
        <p:spPr>
          <a:xfrm>
            <a:off x="365760" y="640080"/>
            <a:ext cx="11216640" cy="0"/>
          </a:xfrm>
          <a:prstGeom prst="rect">
            <a:avLst/>
          </a:prstGeom>
          <a:noFill/>
          <a:ln/>
        </p:spPr>
        <p:txBody>
          <a:bodyPr wrap="square" rtlCol="0" anchor="ctr"/>
          <a:lstStyle/>
          <a:p>
            <a:pPr indent="0" marL="0">
              <a:buNone/>
            </a:pPr>
            <a:r>
              <a:rPr lang="en-US" sz="2200" b="1" dirty="0">
                <a:solidFill>
                  <a:srgbClr val="00FF99"/>
                </a:solidFill>
                <a:latin typeface="Calibri" pitchFamily="34" charset="0"/>
                <a:ea typeface="Calibri" pitchFamily="34" charset="-122"/>
                <a:cs typeface="Calibri" pitchFamily="34" charset="-120"/>
              </a:rPr>
              <a:t>✅ Bonne réponse : B. Le droit de chaque personne, quelle que soit sa situation de handicap, à choisir où et comment elle vit</a:t>
            </a:r>
            <a:endParaRPr lang="en-US" sz="2200" dirty="0"/>
          </a:p>
        </p:txBody>
      </p:sp>
      <p:sp>
        <p:nvSpPr>
          <p:cNvPr id="4" name="Text 2"/>
          <p:cNvSpPr/>
          <p:nvPr/>
        </p:nvSpPr>
        <p:spPr>
          <a:xfrm>
            <a:off x="365760" y="2286000"/>
            <a:ext cx="11216640" cy="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La RBPP est portée par une valeur fondamentale : toute personne, quel que soit son niveau de handicap, a le droit de disposer d'un chez-soi et de choisir sa vie résidentielle. C'est ce droit que les professionnels sont appelés à soutenir et à défendre.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201</Slides>
  <Notes>201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201</vt:i4>
      </vt:variant>
    </vt:vector>
  </HeadingPairs>
  <TitlesOfParts>
    <vt:vector size="20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2026-06-15T06:42:06Z</dcterms:created>
  <dcterms:modified xsi:type="dcterms:W3CDTF">2026-06-15T06:42:06Z</dcterms:modified>
</cp:coreProperties>
</file>