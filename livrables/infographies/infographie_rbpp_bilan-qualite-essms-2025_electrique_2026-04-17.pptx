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7B61FF">
              <a:alpha val="16000"/>
            </a:srgbClr>
          </a:solidFill>
          <a:ln w="6350">
            <a:solidFill>
              <a:srgbClr val="7B61FF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731520"/>
            <a:ext cx="3657600" cy="3657600"/>
          </a:xfrm>
          <a:prstGeom prst="ellipse">
            <a:avLst/>
          </a:prstGeom>
          <a:solidFill>
            <a:srgbClr val="7B61FF">
              <a:alpha val="30000"/>
            </a:srgbClr>
          </a:solidFill>
          <a:ln w="6350">
            <a:solidFill>
              <a:srgbClr val="7B61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754880"/>
            <a:ext cx="2926080" cy="2926080"/>
          </a:xfrm>
          <a:prstGeom prst="ellipse">
            <a:avLst/>
          </a:prstGeom>
          <a:solidFill>
            <a:srgbClr val="F9C846">
              <a:alpha val="25000"/>
            </a:srgbClr>
          </a:solidFill>
          <a:ln w="6350">
            <a:solidFill>
              <a:srgbClr val="F9C846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548640" y="5303520"/>
            <a:ext cx="2560320" cy="2560320"/>
          </a:xfrm>
          <a:prstGeom prst="ellipse">
            <a:avLst/>
          </a:prstGeom>
          <a:solidFill>
            <a:srgbClr val="00B4D8">
              <a:alpha val="20000"/>
            </a:srgbClr>
          </a:solidFill>
          <a:ln w="635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· Bilan ESSMS · 2025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09344"/>
            <a:ext cx="7040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Qualite des ESSMS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France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3145536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Referentiel national HAS · 8 dimensions · Bilan 2025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7040880" cy="18288"/>
          </a:xfrm>
          <a:prstGeom prst="line">
            <a:avLst/>
          </a:prstGeom>
          <a:noFill/>
          <a:ln w="19050">
            <a:solidFill>
              <a:srgbClr val="F9C8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47 700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64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ESSMS en France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92608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criteres HAS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30352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evalues en 2025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864608"/>
            <a:ext cx="219456" cy="219456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Referentiel HAS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51760" y="4864608"/>
            <a:ext cx="219456" cy="21945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4436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des personnes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4864608"/>
            <a:ext cx="219456" cy="21945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Accompagnement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58000" y="4864608"/>
            <a:ext cx="219456" cy="219456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Prev. maltraitance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5230368"/>
            <a:ext cx="219456" cy="219456"/>
          </a:xfrm>
          <a:prstGeom prst="ellipse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risques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51760" y="5230368"/>
            <a:ext cx="219456" cy="219456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4436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usagers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5230368"/>
            <a:ext cx="219456" cy="219456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858000" y="5230368"/>
            <a:ext cx="219456" cy="219456"/>
          </a:xfrm>
          <a:prstGeom prst="ellipse">
            <a:avLst/>
          </a:prstGeom>
          <a:solidFill>
            <a:srgbClr val="8B8EC8"/>
          </a:solidFill>
          <a:ln w="12700">
            <a:solidFill>
              <a:srgbClr val="8B8E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060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8640" y="6309360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HAS — Referentiel national d'evaluation ESSMS | Obligatoire depuis le 1er janvier 2022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Referentiel, droits et accompagnement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fondements de la qualite — Dimensions 1 a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43200" cy="5522976"/>
          </a:xfrm>
          <a:prstGeom prst="rect">
            <a:avLst/>
          </a:prstGeom>
          <a:solidFill>
            <a:srgbClr val="7B61FF">
              <a:alpha val="9000"/>
            </a:srgbClr>
          </a:solidFill>
          <a:ln w="6350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2743200" cy="914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Referentiel HAS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 criteres · 18 imperatifs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2523744" cy="18288"/>
          </a:xfrm>
          <a:prstGeom prst="rect">
            <a:avLst/>
          </a:prstGeom>
          <a:solidFill>
            <a:srgbClr val="7B61FF">
              <a:alpha val="5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37 % des 47 700 ESSMS evalues d'ici fin 2025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10,5 % valident les 18 criteres imperatifs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Periodicite 5 ans · Accreditation COFRAC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27832" y="1115568"/>
            <a:ext cx="2743200" cy="5522976"/>
          </a:xfrm>
          <a:prstGeom prst="rect">
            <a:avLst/>
          </a:prstGeom>
          <a:solidFill>
            <a:srgbClr val="00B4D8">
              <a:alpha val="9000"/>
            </a:srgbClr>
          </a:solidFill>
          <a:ln w="6350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27832" y="1115568"/>
            <a:ext cx="27432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7560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des personnes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Dignite · Intimite · Autodetermination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37560" y="2596896"/>
            <a:ext cx="2523744" cy="18288"/>
          </a:xfrm>
          <a:prstGeom prst="rect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2724912"/>
            <a:ext cx="4572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7288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2002-2 : 7 droits fondamentaux reconnus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37560" y="3401568"/>
            <a:ext cx="4572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47288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CVS, DIPC, livret d'accueil obligatoires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37560" y="4078224"/>
            <a:ext cx="4572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47288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 affective/sexuelle : axe le moins satisfait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35624" y="1115568"/>
            <a:ext cx="2743200" cy="5522976"/>
          </a:xfrm>
          <a:prstGeom prst="rect">
            <a:avLst/>
          </a:prstGeom>
          <a:solidFill>
            <a:srgbClr val="06D6A0">
              <a:alpha val="9000"/>
            </a:srgbClr>
          </a:solidFill>
          <a:ln w="6350">
            <a:solidFill>
              <a:srgbClr val="06D6A0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35624" y="1115568"/>
            <a:ext cx="2743200" cy="91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45352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45352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45352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Accompagnement personnalise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45352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 co-construit · Revision annuelle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45352" y="2596896"/>
            <a:ext cx="2523744" cy="18288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45352" y="2724912"/>
            <a:ext cx="45720" cy="5303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 : critere imperatif HAS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45352" y="3401568"/>
            <a:ext cx="45720" cy="5303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globale CIF (OMS) recommandee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45352" y="4078224"/>
            <a:ext cx="45720" cy="5303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Pair-aidance et empowerment de la personne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043416" y="1115568"/>
            <a:ext cx="2743200" cy="5522976"/>
          </a:xfrm>
          <a:prstGeom prst="rect">
            <a:avLst/>
          </a:prstGeom>
          <a:solidFill>
            <a:srgbClr val="FF6B9D">
              <a:alpha val="9000"/>
            </a:srgbClr>
          </a:solidFill>
          <a:ln w="6350">
            <a:solidFill>
              <a:srgbClr val="FF6B9D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43416" y="1115568"/>
            <a:ext cx="2743200" cy="9144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5314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5314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153144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maltraitance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153144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Bientraitance · Signalement · 3977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153144" y="2596896"/>
            <a:ext cx="2523744" cy="18288"/>
          </a:xfrm>
          <a:prstGeom prst="rect">
            <a:avLst/>
          </a:prstGeom>
          <a:solidFill>
            <a:srgbClr val="FF6B9D">
              <a:alpha val="50000"/>
            </a:srgbClr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153144" y="2724912"/>
            <a:ext cx="45720" cy="53035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62872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types de maltraitance identifies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153144" y="3401568"/>
            <a:ext cx="45720" cy="53035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62872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 obligatoire (art. 434-3 C. penal)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153144" y="4078224"/>
            <a:ext cx="45720" cy="53035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262872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collective et culture bientraitante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Risques, participation, gouvernance et financement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et ouverture — Dimensions 5 a 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43200" cy="5522976"/>
          </a:xfrm>
          <a:prstGeom prst="rect">
            <a:avLst/>
          </a:prstGeom>
          <a:solidFill>
            <a:srgbClr val="F9C846">
              <a:alpha val="9000"/>
            </a:srgbClr>
          </a:solidFill>
          <a:ln w="6350">
            <a:solidFill>
              <a:srgbClr val="F9C846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2743200" cy="91440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risques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 · Securite · Continuite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2523744" cy="18288"/>
          </a:xfrm>
          <a:prstGeom prst="rect">
            <a:avLst/>
          </a:prstGeom>
          <a:solidFill>
            <a:srgbClr val="F9C846">
              <a:alpha val="50000"/>
            </a:srgbClr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 EIG obligatoire aupres de l'ARS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causes racines recommandee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bleu · Contention medicalement prescrite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27832" y="1115568"/>
            <a:ext cx="2743200" cy="5522976"/>
          </a:xfrm>
          <a:prstGeom prst="rect">
            <a:avLst/>
          </a:prstGeom>
          <a:solidFill>
            <a:srgbClr val="FB923C">
              <a:alpha val="9000"/>
            </a:srgbClr>
          </a:solidFill>
          <a:ln w="6350">
            <a:solidFill>
              <a:srgbClr val="FB923C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27832" y="1115568"/>
            <a:ext cx="2743200" cy="914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7560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usagers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 · FALC · Empowerment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37560" y="2596896"/>
            <a:ext cx="2523744" cy="18288"/>
          </a:xfrm>
          <a:prstGeom prst="rect">
            <a:avLst/>
          </a:prstGeom>
          <a:solidFill>
            <a:srgbClr val="FB923C">
              <a:alpha val="5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2724912"/>
            <a:ext cx="45720" cy="5303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7288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 : 3 reunions minimum par an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37560" y="3401568"/>
            <a:ext cx="45720" cy="5303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47288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Enquetes satisfaction accessibles en FALC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37560" y="4078224"/>
            <a:ext cx="45720" cy="5303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47288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Liberte d'aller et venir : droit fondamental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35624" y="1115568"/>
            <a:ext cx="2743200" cy="5522976"/>
          </a:xfrm>
          <a:prstGeom prst="rect">
            <a:avLst/>
          </a:prstGeom>
          <a:solidFill>
            <a:srgbClr val="C084FC">
              <a:alpha val="9000"/>
            </a:srgbClr>
          </a:solidFill>
          <a:ln w="6350">
            <a:solidFill>
              <a:srgbClr val="C084FC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35624" y="1115568"/>
            <a:ext cx="2743200" cy="9144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45352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45352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45352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&amp; gouvernance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45352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CPOM · PAQ · Demarche qualite PDCA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45352" y="2596896"/>
            <a:ext cx="2523744" cy="18288"/>
          </a:xfrm>
          <a:prstGeom prst="rect">
            <a:avLst/>
          </a:prstGeom>
          <a:solidFill>
            <a:srgbClr val="C084FC">
              <a:alpha val="5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45352" y="2724912"/>
            <a:ext cx="45720" cy="53035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Roue de Deming PDCA : amelioration continue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45352" y="3401568"/>
            <a:ext cx="45720" cy="53035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CPOM 5 ans signe avec ARS / Conseil dep.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45352" y="4078224"/>
            <a:ext cx="45720" cy="53035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QVT = levier direct de qualite de service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043416" y="1115568"/>
            <a:ext cx="2743200" cy="5522976"/>
          </a:xfrm>
          <a:prstGeom prst="rect">
            <a:avLst/>
          </a:prstGeom>
          <a:solidFill>
            <a:srgbClr val="8B8EC8">
              <a:alpha val="9000"/>
            </a:srgbClr>
          </a:solidFill>
          <a:ln w="6350">
            <a:solidFill>
              <a:srgbClr val="8B8EC8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43416" y="1115568"/>
            <a:ext cx="2743200" cy="91440"/>
          </a:xfrm>
          <a:prstGeom prst="rect">
            <a:avLst/>
          </a:prstGeom>
          <a:solidFill>
            <a:srgbClr val="8B8EC8"/>
          </a:solidFill>
          <a:ln w="12700">
            <a:solidFill>
              <a:srgbClr val="8B8EC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5314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8B8EC8"/>
          </a:solidFill>
          <a:ln w="12700">
            <a:solidFill>
              <a:srgbClr val="8B8EC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5314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153144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&amp; reglementation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153144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 · CD · CNSA · MDPH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153144" y="2596896"/>
            <a:ext cx="2523744" cy="18288"/>
          </a:xfrm>
          <a:prstGeom prst="rect">
            <a:avLst/>
          </a:prstGeom>
          <a:solidFill>
            <a:srgbClr val="8B8EC8">
              <a:alpha val="50000"/>
            </a:srgbClr>
          </a:solidFill>
          <a:ln w="12700">
            <a:solidFill>
              <a:srgbClr val="8B8EC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153144" y="2724912"/>
            <a:ext cx="45720" cy="530352"/>
          </a:xfrm>
          <a:prstGeom prst="rect">
            <a:avLst/>
          </a:prstGeom>
          <a:solidFill>
            <a:srgbClr val="8B8EC8"/>
          </a:solidFill>
          <a:ln w="12700">
            <a:solidFill>
              <a:srgbClr val="8B8EC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62872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Reforme SERAFIN-PH en cours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153144" y="3401568"/>
            <a:ext cx="45720" cy="530352"/>
          </a:xfrm>
          <a:prstGeom prst="rect">
            <a:avLst/>
          </a:prstGeom>
          <a:solidFill>
            <a:srgbClr val="8B8EC8"/>
          </a:solidFill>
          <a:ln w="12700">
            <a:solidFill>
              <a:srgbClr val="8B8EC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62872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PCH, AAH, RQTH orientes par MDPH/CDAPH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153144" y="4078224"/>
            <a:ext cx="45720" cy="530352"/>
          </a:xfrm>
          <a:prstGeom prst="rect">
            <a:avLst/>
          </a:prstGeom>
          <a:solidFill>
            <a:srgbClr val="8B8EC8"/>
          </a:solidFill>
          <a:ln w="12700">
            <a:solidFill>
              <a:srgbClr val="8B8EC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262872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Dotations globales (pas de T2A en ESSMS)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cles du bilan 2025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bilan national revele sur la qualite des ESSMS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5577840" cy="2487168"/>
          </a:xfrm>
          <a:prstGeom prst="rect">
            <a:avLst/>
          </a:prstGeom>
          <a:solidFill>
            <a:srgbClr val="7B61FF">
              <a:alpha val="9000"/>
            </a:srgbClr>
          </a:solidFill>
          <a:ln w="6350">
            <a:solidFill>
              <a:srgbClr val="7B61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73152" cy="248716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4712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Ecart important sur les criteres imperatifs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Seuls 10,5 % des etablissements evalues satisfont les 18 criteres imperatifs. Des marges de progression importantes existent sur les droits, la bientraitance et la continuite de l'accompagnement.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62472" y="1115568"/>
            <a:ext cx="5577840" cy="2487168"/>
          </a:xfrm>
          <a:prstGeom prst="rect">
            <a:avLst/>
          </a:prstGeom>
          <a:solidFill>
            <a:srgbClr val="06D6A0">
              <a:alpha val="9000"/>
            </a:srgbClr>
          </a:solidFill>
          <a:ln w="6350">
            <a:solidFill>
              <a:srgbClr val="06D6A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62472" y="1115568"/>
            <a:ext cx="73152" cy="248716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45352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67144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personnalise au coeur de la qualite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PPA co-construit reste l'axe le plus evalue et le plus impactant. Sa mise en oeuvre effective — et non seulement sa formalisation — conditionne la reconnaissance de la qualite de l'accompagnement.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730752"/>
            <a:ext cx="5577840" cy="2487168"/>
          </a:xfrm>
          <a:prstGeom prst="rect">
            <a:avLst/>
          </a:prstGeom>
          <a:solidFill>
            <a:srgbClr val="FF6B9D">
              <a:alpha val="9000"/>
            </a:srgbClr>
          </a:solidFill>
          <a:ln w="6350">
            <a:solidFill>
              <a:srgbClr val="FF6B9D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730752"/>
            <a:ext cx="73152" cy="2487168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24712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Bientraitance : une vigilance permanente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prevention de la maltraitance institutionnelle, le signalement, l'APP et la culture bientraitante sont identifies comme insuffisamment deployes dans de nombreux ESSMS evalues.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62472" y="3730752"/>
            <a:ext cx="5577840" cy="2487168"/>
          </a:xfrm>
          <a:prstGeom prst="rect">
            <a:avLst/>
          </a:prstGeom>
          <a:solidFill>
            <a:srgbClr val="F9C846">
              <a:alpha val="9000"/>
            </a:srgbClr>
          </a:solidFill>
          <a:ln w="6350">
            <a:solidFill>
              <a:srgbClr val="F9C846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62472" y="3730752"/>
            <a:ext cx="73152" cy="2487168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5352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67144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gouvernance comme condition du progres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45352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ESSMS les mieux evalues investissent dans une demarche PDCA, associent les usagers a l'amelioration continue et inscrivent la qualite dans leur CPOM et leur projet d'etablissement.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2026-04-17T20:51:37Z</dcterms:created>
  <dcterms:modified xsi:type="dcterms:W3CDTF">2026-04-17T20:51:37Z</dcterms:modified>
</cp:coreProperties>
</file>