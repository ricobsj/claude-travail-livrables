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F97316">
              <a:alpha val="16000"/>
            </a:srgbClr>
          </a:solidFill>
          <a:ln w="6350">
            <a:solidFill>
              <a:srgbClr val="F9731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F97316">
              <a:alpha val="30000"/>
            </a:srgbClr>
          </a:solidFill>
          <a:ln w="6350">
            <a:solidFill>
              <a:srgbClr val="F9731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EAB308">
              <a:alpha val="25000"/>
            </a:srgbClr>
          </a:solidFill>
          <a:ln w="6350">
            <a:solidFill>
              <a:srgbClr val="EAB30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22D3EE">
              <a:alpha val="20000"/>
            </a:srgbClr>
          </a:solidFill>
          <a:ln w="6350">
            <a:solidFill>
              <a:srgbClr val="22D3EE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Visites en presence d'un tiers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en Presence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d'un Tiers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— Proteger l'enfant et soutenir le lien — 7 axes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EAB30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d'intervention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publiee le 2/03/2026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Preparation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Mise en oeuvre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Observation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Ajustement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professionnels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Visites en presence d'un tiers, publiee le 2 mars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Contexte, role professionnel et preparation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fondements de la pratique des VPT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63774" cy="5522976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63774" cy="914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des VPT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judiciaire · Heterogeneite · Absence cadre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44318" cy="1828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d'assistance educative ordonnee par le juge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significative du recours aux VPT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Heterogeneite des pratiques — absence de cadre national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8406" y="1115568"/>
            <a:ext cx="2763774" cy="5522976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8406" y="1115568"/>
            <a:ext cx="2763774" cy="91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813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813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8134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du professionnel tiers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8134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Securite · Observation · Soutien lien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8134" y="2596896"/>
            <a:ext cx="2544318" cy="18288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8134" y="2724912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7862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de la securite physique et psychique de l'enfant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58134" y="3401568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67862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Observateur structure des interactions parent-enfant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58134" y="4078224"/>
            <a:ext cx="45720" cy="5303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67862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actif du lien et acteur du travail partenarial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76772" y="1115568"/>
            <a:ext cx="2763774" cy="5522976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6772" y="1115568"/>
            <a:ext cx="2763774" cy="9144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8650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650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86500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Preparation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86500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· Cadre · Preparer l'enfant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86500" y="2596896"/>
            <a:ext cx="2544318" cy="18288"/>
          </a:xfrm>
          <a:prstGeom prst="rect">
            <a:avLst/>
          </a:prstGeom>
          <a:solidFill>
            <a:srgbClr val="EAB308">
              <a:alpha val="5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6500" y="2724912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96228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Clarifier les objectifs de la mesure judiciaire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86500" y="3401568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96228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le cadre, la duree, la frequence, le lieu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86500" y="4078224"/>
            <a:ext cx="45720" cy="53035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96228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l'enfant de maniere adaptee a son age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105138" y="1115568"/>
            <a:ext cx="2763774" cy="5522976"/>
          </a:xfrm>
          <a:prstGeom prst="rect">
            <a:avLst/>
          </a:prstGeom>
          <a:solidFill>
            <a:srgbClr val="22D3EE">
              <a:alpha val="9000"/>
            </a:srgbClr>
          </a:solidFill>
          <a:ln w="6350">
            <a:solidFill>
              <a:srgbClr val="22D3EE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05138" y="1115568"/>
            <a:ext cx="2763774" cy="914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1486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1486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14866" y="1600200"/>
            <a:ext cx="254431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Mise en oeuvre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214866" y="2286000"/>
            <a:ext cx="25443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· Adolescents · Posture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214866" y="2596896"/>
            <a:ext cx="2544318" cy="18288"/>
          </a:xfrm>
          <a:prstGeom prst="rect">
            <a:avLst/>
          </a:prstGeom>
          <a:solidFill>
            <a:srgbClr val="22D3EE">
              <a:alpha val="5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214866" y="2724912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24594" y="2724912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Nourrissons : visites courtes et frequentes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214866" y="3401568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24594" y="3401568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Adolescents : respect du point de vue et de l'intime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214866" y="4078224"/>
            <a:ext cx="45720" cy="5303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24594" y="4078224"/>
            <a:ext cx="243459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bienveillante et neutre du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Observation, ajustement et soutien des equipes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avancees et prevention de l'epuisement — Axes 5 a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3739896" cy="5522976"/>
          </a:xfrm>
          <a:prstGeom prst="rect">
            <a:avLst/>
          </a:prstGeom>
          <a:solidFill>
            <a:srgbClr val="F472B6">
              <a:alpha val="9000"/>
            </a:srgbClr>
          </a:solidFill>
          <a:ln w="6350">
            <a:solidFill>
              <a:srgbClr val="F472B6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3739896" cy="9144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Observation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 · Documentee · Reguliere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3520440" cy="18288"/>
          </a:xfrm>
          <a:prstGeom prst="rect">
            <a:avLst/>
          </a:prstGeom>
          <a:solidFill>
            <a:srgbClr val="F472B6">
              <a:alpha val="5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la qualite des interactions (faits bruts)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rigoureusement : faits, pas interpretations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Evaluer regulierement les effets sur l'enfant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224528" y="1115568"/>
            <a:ext cx="3739896" cy="5522976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24528" y="1115568"/>
            <a:ext cx="3739896" cy="91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34256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4256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334256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Ajustement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4256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· Comptes rendus juge · Coordination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334256" y="2596896"/>
            <a:ext cx="3520440" cy="18288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34256" y="2724912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 mesure selon l'evolution de la situation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34256" y="3401568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43984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 les comptes rendus pour le juge et l'ASE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34256" y="4078224"/>
            <a:ext cx="45720" cy="5303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43984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Signaler toute situation de danger immediatement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29016" y="1115568"/>
            <a:ext cx="3739896" cy="5522976"/>
          </a:xfrm>
          <a:prstGeom prst="rect">
            <a:avLst/>
          </a:prstGeom>
          <a:solidFill>
            <a:srgbClr val="34D399">
              <a:alpha val="9000"/>
            </a:srgbClr>
          </a:solidFill>
          <a:ln w="6350">
            <a:solidFill>
              <a:srgbClr val="34D399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29016" y="1115568"/>
            <a:ext cx="3739896" cy="91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387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38744" y="1600200"/>
            <a:ext cx="352044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Soutien aux professionnels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38744" y="22860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· Supervision · Prevention burnout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238744" y="2596896"/>
            <a:ext cx="3520440" cy="18288"/>
          </a:xfrm>
          <a:prstGeom prst="rect">
            <a:avLst/>
          </a:prstGeom>
          <a:solidFill>
            <a:srgbClr val="34D399">
              <a:alpha val="50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38744" y="2724912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2724912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specifique aux pratiques des VPT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238744" y="340156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48472" y="3401568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et analyse de pratiques regulieres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38744" y="4078224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48472" y="4078224"/>
            <a:ext cx="3410712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de l'epuisement professionnel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RBPP HAS 2026 — VPT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recommandation preconise pour les professionnels des VPT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F97316">
              <a:alpha val="9000"/>
            </a:srgbClr>
          </a:solidFill>
          <a:ln w="635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securite de l'enfant, priorite absolue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visite en presence d'un tiers est une mesure de protection : le professionnel tiers est d'abord garant de la securite de l'enfant, avant d'etre un soutien a la relation parent-enfant.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EAB308">
              <a:alpha val="9000"/>
            </a:srgbClr>
          </a:solidFill>
          <a:ln w="6350">
            <a:solidFill>
              <a:srgbClr val="EAB308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Preparer et cadrer minutieusement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phase de preparation — clarification des objectifs, definition du cadre, preparation de l'enfant selon son age — conditionne la qualite de toute la demarche VPT qui suivra.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EF4444">
              <a:alpha val="9000"/>
            </a:srgbClr>
          </a:solidFill>
          <a:ln w="6350">
            <a:solidFill>
              <a:srgbClr val="EF4444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avec rigueur, documenter sans interpreter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L'observation structuree des interactions (faits, pas interpretations) et la documentation rigoureuse sont les fondements du compte rendu remis au juge et a l'ASE. La traçabilite est essentielle.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A78BFA">
              <a:alpha val="9000"/>
            </a:srgbClr>
          </a:solidFill>
          <a:ln w="635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Prevenir l'epuisement des professionnels VPT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pratique des VPT est emotionnellement chargee. Formation specifique, supervision, APP et soutien psychologique institutionnel sont indispensables pour prevenir le burnout des equipes.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2026-04-17T21:04:13Z</dcterms:created>
  <dcterms:modified xsi:type="dcterms:W3CDTF">2026-04-17T21:04:13Z</dcterms:modified>
</cp:coreProperties>
</file>