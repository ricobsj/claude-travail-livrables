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AUBRUN" userId="4fc61db2-4c88-4eb6-b1fc-02ee2d950335" providerId="ADAL" clId="{49ADEA23-2FA9-4D13-B8B3-53591C40D3D5}"/>
    <pc:docChg chg="modSld">
      <pc:chgData name="Eric AUBRUN" userId="4fc61db2-4c88-4eb6-b1fc-02ee2d950335" providerId="ADAL" clId="{49ADEA23-2FA9-4D13-B8B3-53591C40D3D5}" dt="2026-03-26T14:30:48.634" v="0" actId="14100"/>
      <pc:docMkLst>
        <pc:docMk/>
      </pc:docMkLst>
      <pc:sldChg chg="modSp mod">
        <pc:chgData name="Eric AUBRUN" userId="4fc61db2-4c88-4eb6-b1fc-02ee2d950335" providerId="ADAL" clId="{49ADEA23-2FA9-4D13-B8B3-53591C40D3D5}" dt="2026-03-26T14:30:48.634" v="0" actId="14100"/>
        <pc:sldMkLst>
          <pc:docMk/>
          <pc:sldMk cId="0" sldId="256"/>
        </pc:sldMkLst>
        <pc:spChg chg="mod">
          <ac:chgData name="Eric AUBRUN" userId="4fc61db2-4c88-4eb6-b1fc-02ee2d950335" providerId="ADAL" clId="{49ADEA23-2FA9-4D13-B8B3-53591C40D3D5}" dt="2026-03-26T14:30:48.634" v="0" actId="14100"/>
          <ac:spMkLst>
            <pc:docMk/>
            <pc:sldMk cId="0" sldId="256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57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2D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L'AUTODÉTERMINATION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fonctionnel — Lachapelle &amp; Wehmeyer (2003)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89020" y="1157630"/>
            <a:ext cx="1325880" cy="2331720"/>
          </a:xfrm>
          <a:prstGeom prst="ellipse">
            <a:avLst/>
          </a:prstGeom>
          <a:solidFill>
            <a:srgbClr val="6FAF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89020" y="1157630"/>
            <a:ext cx="13258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12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Indiquer ses préférences,</a:t>
            </a:r>
            <a:endParaRPr lang="en-US" sz="12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des choix et</a:t>
            </a:r>
            <a:endParaRPr lang="en-US" sz="12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amorcer une action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89020" y="4374490"/>
            <a:ext cx="1325880" cy="2331720"/>
          </a:xfrm>
          <a:prstGeom prst="ellipse">
            <a:avLst/>
          </a:prstGeom>
          <a:solidFill>
            <a:srgbClr val="D98A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9020" y="4374490"/>
            <a:ext cx="13258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Autoréalisation</a:t>
            </a:r>
            <a:endParaRPr lang="en-US" sz="12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ses forces</a:t>
            </a:r>
            <a:endParaRPr lang="en-US" sz="12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agir en conséquence</a:t>
            </a:r>
            <a:endParaRPr lang="en-US" sz="12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(conscience de soi)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77670" y="3268980"/>
            <a:ext cx="2331720" cy="1325880"/>
          </a:xfrm>
          <a:prstGeom prst="ellipse">
            <a:avLst/>
          </a:prstGeom>
          <a:solidFill>
            <a:srgbClr val="8878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7670" y="326898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psychologique</a:t>
            </a:r>
            <a:endParaRPr lang="en-US" sz="11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Croire en sa capacité</a:t>
            </a:r>
            <a:endParaRPr lang="en-US" sz="11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d'exercer un contrôle</a:t>
            </a:r>
            <a:endParaRPr lang="en-US" sz="11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sa propre vie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94530" y="3268980"/>
            <a:ext cx="2331720" cy="1325880"/>
          </a:xfrm>
          <a:prstGeom prst="ellipse">
            <a:avLst/>
          </a:prstGeom>
          <a:solidFill>
            <a:srgbClr val="4E92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4530" y="326898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Autorégulation</a:t>
            </a:r>
            <a:endParaRPr lang="en-US" sz="12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Analyser, décider</a:t>
            </a:r>
            <a:endParaRPr lang="en-US" sz="12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évaluer les</a:t>
            </a:r>
            <a:endParaRPr lang="en-US" sz="12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 de ses choix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74136" y="3054096"/>
            <a:ext cx="1755648" cy="175564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3127248"/>
            <a:ext cx="1609344" cy="1609344"/>
          </a:xfrm>
          <a:prstGeom prst="ellipse">
            <a:avLst/>
          </a:prstGeom>
          <a:solidFill>
            <a:srgbClr val="4A356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3127248"/>
            <a:ext cx="1609344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DÉTER-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52360" y="1097280"/>
            <a:ext cx="0" cy="5577840"/>
          </a:xfrm>
          <a:prstGeom prst="line">
            <a:avLst/>
          </a:prstGeom>
          <a:noFill/>
          <a:ln w="12700">
            <a:solidFill>
              <a:srgbClr val="D0C9B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680960" y="1097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CLÉS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0" y="1508760"/>
            <a:ext cx="4206240" cy="1572768"/>
          </a:xfrm>
          <a:prstGeom prst="rect">
            <a:avLst/>
          </a:prstGeom>
          <a:solidFill>
            <a:srgbClr val="EDE8F7"/>
          </a:solidFill>
          <a:ln w="12700">
            <a:solidFill>
              <a:srgbClr val="9488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508760"/>
            <a:ext cx="118872" cy="1572768"/>
          </a:xfrm>
          <a:prstGeom prst="rect">
            <a:avLst/>
          </a:prstGeom>
          <a:solidFill>
            <a:srgbClr val="8878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1581912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facteurs du développement (Wehmeyer, 1999)</a:t>
            </a:r>
            <a:endParaRPr lang="en-US" sz="1050" dirty="0"/>
          </a:p>
          <a:p>
            <a:pPr marL="0" indent="0">
              <a:buNone/>
            </a:pPr>
            <a:r>
              <a:rPr lang="en-US" sz="900" b="1" dirty="0">
                <a:solidFill>
                  <a:srgbClr val="4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9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individuelles (développement &amp; apprentissages)
</a:t>
            </a:r>
            <a:r>
              <a:rPr lang="en-US" sz="900" b="1" dirty="0">
                <a:solidFill>
                  <a:srgbClr val="4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9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Occasions offertes par l'environnement
</a:t>
            </a:r>
            <a:r>
              <a:rPr lang="en-US" sz="900" b="1" dirty="0">
                <a:solidFill>
                  <a:srgbClr val="4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9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offert aux personnes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3282696"/>
            <a:ext cx="4206240" cy="1572768"/>
          </a:xfrm>
          <a:prstGeom prst="rect">
            <a:avLst/>
          </a:prstGeom>
          <a:solidFill>
            <a:srgbClr val="FBF0E7"/>
          </a:solidFill>
          <a:ln w="12700">
            <a:solidFill>
              <a:srgbClr val="D484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3282696"/>
            <a:ext cx="118872" cy="1572768"/>
          </a:xfrm>
          <a:prstGeom prst="rect">
            <a:avLst/>
          </a:prstGeom>
          <a:solidFill>
            <a:srgbClr val="D98A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3355848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Dignité du risque (Perske, 1972)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excessivement une personne contre les risques normaux nuit à son développement et à sa dignité.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6E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prise de risque normale est nécessaire à la croissance.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5056632"/>
            <a:ext cx="4206240" cy="1572768"/>
          </a:xfrm>
          <a:prstGeom prst="rect">
            <a:avLst/>
          </a:prstGeom>
          <a:solidFill>
            <a:srgbClr val="E5F4EE"/>
          </a:solidFill>
          <a:ln w="12700">
            <a:solidFill>
              <a:srgbClr val="5A9E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5056632"/>
            <a:ext cx="118872" cy="1572768"/>
          </a:xfrm>
          <a:prstGeom prst="rect">
            <a:avLst/>
          </a:prstGeom>
          <a:solidFill>
            <a:srgbClr val="6FAF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5129784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Proximale de Développement (Vygotsky, 1985)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 zone d'autonomie et la zone de rupture : le niveau optimal d'apprentissage.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2A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personne ne peut faire seule, elle peut l'atteindre avec soutien.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268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A8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L'autodétermination n'est pas synonyme d'indépendance — c'est le droit de diriger sa propre vie »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Grand écran</PresentationFormat>
  <Paragraphs>33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L'Autodétermination – Modèle Fonctionnel</dc:title>
  <dc:subject>PptxGenJS Presentation</dc:subject>
  <dc:creator>PptxGenJS</dc:creator>
  <cp:lastModifiedBy>Eric AUBRUN</cp:lastModifiedBy>
  <cp:revision>1</cp:revision>
  <dcterms:created xsi:type="dcterms:W3CDTF">2026-03-26T14:25:40Z</dcterms:created>
  <dcterms:modified xsi:type="dcterms:W3CDTF">2026-03-26T14:30:58Z</dcterms:modified>
</cp:coreProperties>
</file>