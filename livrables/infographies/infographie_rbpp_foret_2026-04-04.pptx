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10B981">
              <a:alpha val="16000"/>
            </a:srgbClr>
          </a:solidFill>
          <a:ln w="6350">
            <a:solidFill>
              <a:srgbClr val="10B981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731520"/>
            <a:ext cx="3657600" cy="3657600"/>
          </a:xfrm>
          <a:prstGeom prst="ellipse">
            <a:avLst/>
          </a:prstGeom>
          <a:solidFill>
            <a:srgbClr val="10B981">
              <a:alpha val="30000"/>
            </a:srgbClr>
          </a:solidFill>
          <a:ln w="635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754880"/>
            <a:ext cx="2926080" cy="2926080"/>
          </a:xfrm>
          <a:prstGeom prst="ellipse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548640" y="5303520"/>
            <a:ext cx="2560320" cy="2560320"/>
          </a:xfrm>
          <a:prstGeom prst="ellipse">
            <a:avLst/>
          </a:prstGeom>
          <a:solidFill>
            <a:srgbClr val="8B5CF6">
              <a:alpha val="20000"/>
            </a:srgbClr>
          </a:solidFill>
          <a:ln w="6350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· RBPP · TSA Enfant &amp; Adolescent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7040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 Enfant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Adolescent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145536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HAS 2026 — Interventions et parcours de vie — 8 axes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7040880" cy="18288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de recommandation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92608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/ EIBI precoce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30352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essentiel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864608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51760" y="4864608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4436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Soutien familles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4864608"/>
            <a:ext cx="219456" cy="219456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58000" y="4864608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Scolarisation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5230368"/>
            <a:ext cx="219456" cy="21945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medical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51760" y="5230368"/>
            <a:ext cx="219456" cy="21945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4436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Adolescence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5230368"/>
            <a:ext cx="219456" cy="21945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858000" y="5230368"/>
            <a:ext cx="219456" cy="21945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060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8640" y="6309360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HAS — RBPP TSA Enfant &amp; Adolescent, publiee en fevrier 2026 | has-sante.fr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soutien et interventions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fondements cliniques et therapeutiques — Axes 1 a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63774" cy="5522976"/>
          </a:xfrm>
          <a:prstGeom prst="rect">
            <a:avLst/>
          </a:prstGeom>
          <a:solidFill>
            <a:srgbClr val="10B981">
              <a:alpha val="9000"/>
            </a:srgbClr>
          </a:solidFill>
          <a:ln w="635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2763774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Multidimensionnelle · CIF · Equipe pluripro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2544318" cy="18288"/>
          </a:xfrm>
          <a:prstGeom prst="rect">
            <a:avLst/>
          </a:prstGeom>
          <a:solidFill>
            <a:srgbClr val="10B981">
              <a:alpha val="5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ADOS-2, ADI-R, Vineland-3, WISC-V recommandes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Reevaluation aux etapes cles du parcours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pluri : medecin, ortho, psychomot, ergo, psy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8406" y="1115568"/>
            <a:ext cx="2763774" cy="5522976"/>
          </a:xfrm>
          <a:prstGeom prst="rect">
            <a:avLst/>
          </a:prstGeom>
          <a:solidFill>
            <a:srgbClr val="0D9488">
              <a:alpha val="9000"/>
            </a:srgbClr>
          </a:solidFill>
          <a:ln w="635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8406" y="1115568"/>
            <a:ext cx="2763774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5813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813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8134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Soutien aux familles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58134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parentale · Repit · Pair-aidance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58134" y="2596896"/>
            <a:ext cx="2544318" cy="18288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58134" y="2724912"/>
            <a:ext cx="457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67862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parentale structuree : PACT, JASPER parents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58134" y="3401568"/>
            <a:ext cx="457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67862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de psychoeducation et pair-aidance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58134" y="4078224"/>
            <a:ext cx="457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67862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Soutien specifique pour la fratrie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76772" y="1115568"/>
            <a:ext cx="2763774" cy="5522976"/>
          </a:xfrm>
          <a:prstGeom prst="rect">
            <a:avLst/>
          </a:prstGeom>
          <a:solidFill>
            <a:srgbClr val="84CC16">
              <a:alpha val="9000"/>
            </a:srgbClr>
          </a:solidFill>
          <a:ln w="6350">
            <a:solidFill>
              <a:srgbClr val="84CC16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6772" y="1115568"/>
            <a:ext cx="2763774" cy="9144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86500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86500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86500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 recommandees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86500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ABA/EIBI (grade A) · ESDM · TEACCH · CAA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86500" y="2596896"/>
            <a:ext cx="2544318" cy="18288"/>
          </a:xfrm>
          <a:prstGeom prst="rect">
            <a:avLst/>
          </a:prstGeom>
          <a:solidFill>
            <a:srgbClr val="84CC16">
              <a:alpha val="50000"/>
            </a:srgbClr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86500" y="2724912"/>
            <a:ext cx="45720" cy="530352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96228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ABA/EIBI : intervention precoce intensive (grade A)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86500" y="3401568"/>
            <a:ext cx="45720" cy="530352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96228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ESDM et JASPER : grade B recommandes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86500" y="4078224"/>
            <a:ext cx="45720" cy="530352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96228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 : PECS, MAKATON, synthese vocale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105138" y="1115568"/>
            <a:ext cx="2763774" cy="5522976"/>
          </a:xfrm>
          <a:prstGeom prst="rect">
            <a:avLst/>
          </a:prstGeom>
          <a:solidFill>
            <a:srgbClr val="F59E0B">
              <a:alpha val="9000"/>
            </a:srgbClr>
          </a:solidFill>
          <a:ln w="635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05138" y="1115568"/>
            <a:ext cx="2763774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214866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14866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214866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Scolarisation &amp; Autonomie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214866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Milieu ordinaire · UEMA · UEEA · ULIS · SESSAD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214866" y="2596896"/>
            <a:ext cx="2544318" cy="18288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214866" y="2724912"/>
            <a:ext cx="4572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24594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Scolarisation en milieu ordinaire prioritaire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214866" y="3401568"/>
            <a:ext cx="4572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24594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UEMA / UEEA / ULIS selon niveau et besoins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214866" y="4078224"/>
            <a:ext cx="4572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24594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SESSAD : soutien therapeutique en milieu scolaire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Sante, transition, comportements et formation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cliniques avances et coordination — Axes 5 a 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63774" cy="5522976"/>
          </a:xfrm>
          <a:prstGeom prst="rect">
            <a:avLst/>
          </a:prstGeom>
          <a:solidFill>
            <a:srgbClr val="F97316">
              <a:alpha val="9000"/>
            </a:srgbClr>
          </a:solidFill>
          <a:ln w="6350">
            <a:solidFill>
              <a:srgbClr val="F97316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2763774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medical &amp; Comorbidites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Epilepsie · TDAH · Sommeil · Psychotropes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2544318" cy="18288"/>
          </a:xfrm>
          <a:prstGeom prst="rect">
            <a:avLst/>
          </a:prstGeom>
          <a:solidFill>
            <a:srgbClr val="F97316">
              <a:alpha val="5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Epilepsie : 20-30 % — depistage et traitement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TDAH comorbide : 30-50 % des personnes TSA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Psychotropes : reserves aux comorbidites psychiatriques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8406" y="1115568"/>
            <a:ext cx="2763774" cy="5522976"/>
          </a:xfrm>
          <a:prstGeom prst="rect">
            <a:avLst/>
          </a:prstGeom>
          <a:solidFill>
            <a:srgbClr val="8B5CF6">
              <a:alpha val="9000"/>
            </a:srgbClr>
          </a:solidFill>
          <a:ln w="6350">
            <a:solidFill>
              <a:srgbClr val="8B5CF6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8406" y="1115568"/>
            <a:ext cx="2763774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5813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813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8134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Adolescence &amp; Transition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58134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ans · Masking · Autodetermination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58134" y="2596896"/>
            <a:ext cx="2544318" cy="18288"/>
          </a:xfrm>
          <a:prstGeom prst="rect">
            <a:avLst/>
          </a:prstGeom>
          <a:solidFill>
            <a:srgbClr val="8B5CF6">
              <a:alpha val="5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58134" y="2724912"/>
            <a:ext cx="45720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67862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Planifier la transition vers l'adulte des 14 ans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58134" y="3401568"/>
            <a:ext cx="45720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67862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/ burnout autistique : risque eleve chez les filles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58134" y="4078224"/>
            <a:ext cx="45720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67862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Continuite des equipes et des interventions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76772" y="1115568"/>
            <a:ext cx="2763774" cy="5522976"/>
          </a:xfrm>
          <a:prstGeom prst="rect">
            <a:avLst/>
          </a:prstGeom>
          <a:solidFill>
            <a:srgbClr val="06B6D4">
              <a:alpha val="9000"/>
            </a:srgbClr>
          </a:solidFill>
          <a:ln w="635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6772" y="1115568"/>
            <a:ext cx="2763774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86500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86500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86500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Comportements-problemes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86500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somatique · ABC · PBS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86500" y="2596896"/>
            <a:ext cx="2544318" cy="18288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86500" y="2724912"/>
            <a:ext cx="45720" cy="5303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96228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medical somatique en premiere intention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86500" y="3401568"/>
            <a:ext cx="45720" cy="5303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96228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fonctionnelle ABC avant toute intervention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86500" y="4078224"/>
            <a:ext cx="45720" cy="5303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96228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PBS et ABA — contention : dernier recours ethique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105138" y="1115568"/>
            <a:ext cx="2763774" cy="5522976"/>
          </a:xfrm>
          <a:prstGeom prst="rect">
            <a:avLst/>
          </a:prstGeom>
          <a:solidFill>
            <a:srgbClr val="6B7280">
              <a:alpha val="9000"/>
            </a:srgbClr>
          </a:solidFill>
          <a:ln w="6350">
            <a:solidFill>
              <a:srgbClr val="6B7280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05138" y="1115568"/>
            <a:ext cx="2763774" cy="914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214866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14866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214866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&amp; Coordination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214866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Equipes · Supervision · CRA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214866" y="2596896"/>
            <a:ext cx="2544318" cy="18288"/>
          </a:xfrm>
          <a:prstGeom prst="rect">
            <a:avLst/>
          </a:prstGeom>
          <a:solidFill>
            <a:srgbClr val="6B7280">
              <a:alpha val="50000"/>
            </a:srgbClr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214866" y="2724912"/>
            <a:ext cx="45720" cy="5303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24594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continue de toutes les equipes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214866" y="3401568"/>
            <a:ext cx="45720" cy="5303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24594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clinique reguliere par un expert TSA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214866" y="4078224"/>
            <a:ext cx="45720" cy="53035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24594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 de parcours + role du CRA regional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cles de la RBPP HAS 2026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la recommandation change dans les pratiques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5577840" cy="2487168"/>
          </a:xfrm>
          <a:prstGeom prst="rect">
            <a:avLst/>
          </a:prstGeom>
          <a:solidFill>
            <a:srgbClr val="10B981">
              <a:alpha val="9000"/>
            </a:srgbClr>
          </a:solidFill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73152" cy="2487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4712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Intervenir tot, intensement, globalement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L'intervention precoce (ABA/EIBI grade A, ESDM grade B) demarree des les premieres interrogations diagnostiques est le facteur predictif le plus fort du developpement de l'enfant avec TSA.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62472" y="1115568"/>
            <a:ext cx="5577840" cy="2487168"/>
          </a:xfrm>
          <a:prstGeom prst="rect">
            <a:avLst/>
          </a:prstGeom>
          <a:solidFill>
            <a:srgbClr val="84CC16">
              <a:alpha val="9000"/>
            </a:srgbClr>
          </a:solidFill>
          <a:ln w="6350">
            <a:solidFill>
              <a:srgbClr val="84CC16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62472" y="1115568"/>
            <a:ext cx="73152" cy="2487168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45352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67144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CAA est un droit, pas un dernier recours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Communication Amelioree et Alternative (PECS, MAKATON, synthese vocale) doit etre proposee precocement a tout enfant TSA, quelle que soit sa capacite de parole actuelle.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730752"/>
            <a:ext cx="5577840" cy="2487168"/>
          </a:xfrm>
          <a:prstGeom prst="rect">
            <a:avLst/>
          </a:prstGeom>
          <a:solidFill>
            <a:srgbClr val="F59E0B">
              <a:alpha val="9000"/>
            </a:srgbClr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730752"/>
            <a:ext cx="73152" cy="2487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24712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Soutenir les familles, c'est soutenir l'enfant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guidance parentale structuree (PACT, JASPER parents) et les groupes de psychoeducation sont recommandes en grade B. La fratrie et les aidants doivent etre integres au projet.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62472" y="3730752"/>
            <a:ext cx="5577840" cy="2487168"/>
          </a:xfrm>
          <a:prstGeom prst="rect">
            <a:avLst/>
          </a:prstGeom>
          <a:solidFill>
            <a:srgbClr val="8B5CF6">
              <a:alpha val="9000"/>
            </a:srgbClr>
          </a:solidFill>
          <a:ln w="635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62472" y="3730752"/>
            <a:ext cx="73152" cy="2487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5352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67144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transition se prepare des 14 ans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45352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L'autodetermination, la vigilance au masking et au burnout autistique, et la continuite des equipes sont les trois conditions d'une transition reussie vers l'age adulte.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2026-04-17T21:04:13Z</dcterms:created>
  <dcterms:modified xsi:type="dcterms:W3CDTF">2026-04-17T21:04:13Z</dcterms:modified>
</cp:coreProperties>
</file>