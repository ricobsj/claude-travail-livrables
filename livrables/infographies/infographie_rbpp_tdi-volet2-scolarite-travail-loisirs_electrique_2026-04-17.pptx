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7B61FF">
              <a:alpha val="16000"/>
            </a:srgbClr>
          </a:solidFill>
          <a:ln w="6350">
            <a:solidFill>
              <a:srgbClr val="7B61FF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7B61FF">
              <a:alpha val="30000"/>
            </a:srgbClr>
          </a:solidFill>
          <a:ln w="6350">
            <a:solidFill>
              <a:srgbClr val="7B61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F9C846">
              <a:alpha val="25000"/>
            </a:srgbClr>
          </a:solidFill>
          <a:ln w="6350">
            <a:solidFill>
              <a:srgbClr val="F9C84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00B4D8">
              <a:alpha val="20000"/>
            </a:srgbClr>
          </a:solidFill>
          <a:ln w="635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RBPP · TDI Volet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Scolarite, Travail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Loisirs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HAS · Adultes avec Troubles du Developpement Intellectuel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F9C8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de recommandation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protege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RQTH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 ordinaire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pro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ESAT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Milieu ordinaire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Loisirs et culture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sociale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Autodetermination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RBPP TDI Volet 2 · Adolescents et adultes ayant des troubles du developpement intellectuel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Scolarisation, formation et acces au travail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d'education et d'insertion professionnelle — Axes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5522976"/>
          </a:xfrm>
          <a:prstGeom prst="rect">
            <a:avLst/>
          </a:prstGeom>
          <a:solidFill>
            <a:srgbClr val="7B61FF">
              <a:alpha val="9000"/>
            </a:srgbClr>
          </a:solidFill>
          <a:ln w="635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43200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inclusive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PPS · ULIS · PIAL · SESSAD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23744" cy="18288"/>
          </a:xfrm>
          <a:prstGeom prst="rect">
            <a:avLst/>
          </a:prstGeom>
          <a:solidFill>
            <a:srgbClr val="7B61FF">
              <a:alpha val="5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a l'education pour tous les eleves TDI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SESSAD : soutien en milieu ordinaire scolarise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ecole vers ESSMS : a preparer tot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1115568"/>
            <a:ext cx="2743200" cy="5522976"/>
          </a:xfrm>
          <a:prstGeom prst="rect">
            <a:avLst/>
          </a:prstGeom>
          <a:solidFill>
            <a:srgbClr val="00B4D8">
              <a:alpha val="9000"/>
            </a:srgbClr>
          </a:solidFill>
          <a:ln w="635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115568"/>
            <a:ext cx="27432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professionnelle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CFAS · CFA adapte · VAE · CPF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596896"/>
            <a:ext cx="2523744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24912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CFAS : centres de formation specialises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401568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Alternance adaptee : rythme et duree modulables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078224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: valoriser les competences acquises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1115568"/>
            <a:ext cx="2743200" cy="5522976"/>
          </a:xfrm>
          <a:prstGeom prst="rect">
            <a:avLst/>
          </a:prstGeom>
          <a:solidFill>
            <a:srgbClr val="06D6A0">
              <a:alpha val="9000"/>
            </a:srgbClr>
          </a:solidFill>
          <a:ln w="6350">
            <a:solidFill>
              <a:srgbClr val="06D6A0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1115568"/>
            <a:ext cx="274320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45352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ESAT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5352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pro · Droits travailleurs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45352" y="2596896"/>
            <a:ext cx="2523744" cy="18288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5352" y="2724912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Remuneration garantie &gt;= 55 % du SMIC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5352" y="3401568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professionnel formalise et revise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4078224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: formation, conges, retraite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1115568"/>
            <a:ext cx="2743200" cy="5522976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1115568"/>
            <a:ext cx="2743200" cy="914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531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531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53144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milieu ordinaire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53144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RQTH · EA · Job coaching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53144" y="2596896"/>
            <a:ext cx="2523744" cy="18288"/>
          </a:xfrm>
          <a:prstGeom prst="rect">
            <a:avLst/>
          </a:prstGeom>
          <a:solidFill>
            <a:srgbClr val="FF6B9D">
              <a:alpha val="50000"/>
            </a:srgbClr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3144" y="2724912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2872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adaptee (EA) : passerelle vers le droit commun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53144" y="3401568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62872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coaching : tutorat dedie et amenagements de poste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53144" y="4078224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62872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RQTH : reconnaissance et droits associes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Loisirs, vie sociale et coordination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 la vie citoyenne et coordination des parcours — Axes 5 a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5522976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43200" cy="9144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Loisirs, sport et culture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adapte · GEM · Associations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23744" cy="18288"/>
          </a:xfrm>
          <a:prstGeom prst="rect">
            <a:avLst/>
          </a:prstGeom>
          <a:solidFill>
            <a:srgbClr val="F9C846">
              <a:alpha val="50000"/>
            </a:srgbClr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sport adapte : competitions, clubs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: pair-entraide et espace de socialisation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 culturelle et numerique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1115568"/>
            <a:ext cx="2743200" cy="5522976"/>
          </a:xfrm>
          <a:prstGeom prst="rect">
            <a:avLst/>
          </a:prstGeom>
          <a:solidFill>
            <a:srgbClr val="FB923C">
              <a:alpha val="9000"/>
            </a:srgbClr>
          </a:solidFill>
          <a:ln w="6350">
            <a:solidFill>
              <a:srgbClr val="FB923C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115568"/>
            <a:ext cx="2743200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sociale et citoyennete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· Habitat inclusif · Associations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596896"/>
            <a:ext cx="2523744" cy="18288"/>
          </a:xfrm>
          <a:prstGeom prst="rect">
            <a:avLst/>
          </a:prstGeom>
          <a:solidFill>
            <a:srgbClr val="FB923C">
              <a:alpha val="5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24912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de vote preserve (hors tutelle totale)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401568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inclusif (art. L281-1 CASF) + AVP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078224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associative et vie dans la cite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1115568"/>
            <a:ext cx="2743200" cy="5522976"/>
          </a:xfrm>
          <a:prstGeom prst="rect">
            <a:avLst/>
          </a:prstGeom>
          <a:solidFill>
            <a:srgbClr val="C084FC">
              <a:alpha val="9000"/>
            </a:srgbClr>
          </a:solidFill>
          <a:ln w="6350">
            <a:solidFill>
              <a:srgbClr val="C084FC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1115568"/>
            <a:ext cx="2743200" cy="914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45352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Autodetermination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5352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Empowerment · Choix de vie · FALC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45352" y="2596896"/>
            <a:ext cx="2523744" cy="18288"/>
          </a:xfrm>
          <a:prstGeom prst="rect">
            <a:avLst/>
          </a:prstGeom>
          <a:solidFill>
            <a:srgbClr val="C084FC">
              <a:alpha val="5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5352" y="2724912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vie co-construit par la personne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5352" y="3401568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Pair-aidance : soutien par des personnes similaires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4078224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eclairees : FALC et soutien adapte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1115568"/>
            <a:ext cx="2743200" cy="5522976"/>
          </a:xfrm>
          <a:prstGeom prst="rect">
            <a:avLst/>
          </a:prstGeom>
          <a:solidFill>
            <a:srgbClr val="8B8EC8">
              <a:alpha val="9000"/>
            </a:srgbClr>
          </a:solidFill>
          <a:ln w="6350">
            <a:solidFill>
              <a:srgbClr val="8B8EC8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1115568"/>
            <a:ext cx="2743200" cy="91440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531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531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53144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des parcours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53144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MDPH · CDAPH · SESSAD pro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53144" y="2596896"/>
            <a:ext cx="2523744" cy="18288"/>
          </a:xfrm>
          <a:prstGeom prst="rect">
            <a:avLst/>
          </a:prstGeom>
          <a:solidFill>
            <a:srgbClr val="8B8EC8">
              <a:alpha val="50000"/>
            </a:srgbClr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3144" y="2724912"/>
            <a:ext cx="45720" cy="530352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2872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CDAPH : droits, orientation et prestations TDI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53144" y="3401568"/>
            <a:ext cx="45720" cy="530352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62872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SESSAD pro 16-25 ans : transition vers l'emploi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53144" y="4078224"/>
            <a:ext cx="45720" cy="530352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62872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Eviter les ruptures a chaque etape de vie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cles de la recommandation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RBPP HAS preconise pour les adultes TDI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7B61FF">
              <a:alpha val="9000"/>
            </a:srgbClr>
          </a:solidFill>
          <a:ln w="6350">
            <a:solidFill>
              <a:srgbClr val="7B61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L'education, socle de tout le parcours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scolarisation inclusive la plus precoce possible, accompagnee par un SESSAD, conditionne les futures capacites d'insertion professionnelle et sociale. Le PPS est le document cle de la coherence du parcours scolaire.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06D6A0">
              <a:alpha val="9000"/>
            </a:srgbClr>
          </a:solidFill>
          <a:ln w="635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continuum travail : ESAT, EA, milieu ordinaire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preconise une approche graduee : ESAT pour les besoins importants de soutien, EA pour la transition, milieu ordinaire avec RQTH pour les personnes les plus autonomes. Le job coaching securise l'insertion.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Loisirs et vie sociale : droits, pas privileges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L'acces au sport adapte, a la culture, aux GEM et a la vie associative doit etre facilite activement par les ESSMS. L'isolement social est un facteur de regression. La participation a la vie de la cite est un droit fondamental.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Autodetermination : la personne, acteur de son parcours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decisions doivent associer la personne TDI avec des outils adaptes (FALC, pictogrammes). La pair-aidance et le mentorat constituent une ressource puissante et sous-exploitee dans les pratiques actuelles.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2026-04-17T20:51:37Z</dcterms:created>
  <dcterms:modified xsi:type="dcterms:W3CDTF">2026-04-17T20:51:37Z</dcterms:modified>
</cp:coreProperties>
</file>