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Lst>
  <p:notesMasterIdLst>
    <p:notesMasterId r:id="rId10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notesMaster" Target="notesMasters/notesMaster1.xml"/><Relationship Id="rId104" Type="http://schemas.openxmlformats.org/officeDocument/2006/relationships/presProps" Target="presProps.xml"/><Relationship Id="rId105" Type="http://schemas.openxmlformats.org/officeDocument/2006/relationships/viewProps" Target="viewProps.xml"/><Relationship Id="rId106" Type="http://schemas.openxmlformats.org/officeDocument/2006/relationships/theme" Target="theme/theme1.xml"/><Relationship Id="rId10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4F71"/>
        </a:solidFill>
      </p:bgPr>
    </p:bg>
    <p:spTree>
      <p:nvGrpSpPr>
        <p:cNvPr id="1" name=""/>
        <p:cNvGrpSpPr/>
        <p:nvPr/>
      </p:nvGrpSpPr>
      <p:grpSpPr>
        <a:xfrm>
          <a:off x="0" y="0"/>
          <a:ext cx="0" cy="0"/>
          <a:chOff x="0" y="0"/>
          <a:chExt cx="0" cy="0"/>
        </a:xfrm>
      </p:grpSpPr>
      <p:sp>
        <p:nvSpPr>
          <p:cNvPr id="2" name="Shape 0"/>
          <p:cNvSpPr/>
          <p:nvPr/>
        </p:nvSpPr>
        <p:spPr>
          <a:xfrm>
            <a:off x="7498080" y="-1097280"/>
            <a:ext cx="3657600" cy="3657600"/>
          </a:xfrm>
          <a:prstGeom prst="ellipse">
            <a:avLst/>
          </a:prstGeom>
          <a:solidFill>
            <a:srgbClr val="1C7293">
              <a:alpha val="40000"/>
            </a:srgbClr>
          </a:solidFill>
          <a:ln w="12700">
            <a:solidFill>
              <a:srgbClr val="1C7293"/>
            </a:solidFill>
            <a:prstDash val="solid"/>
          </a:ln>
        </p:spPr>
      </p:sp>
      <p:sp>
        <p:nvSpPr>
          <p:cNvPr id="3" name="Shape 1"/>
          <p:cNvSpPr/>
          <p:nvPr/>
        </p:nvSpPr>
        <p:spPr>
          <a:xfrm>
            <a:off x="8046720" y="-548640"/>
            <a:ext cx="2286000" cy="2286000"/>
          </a:xfrm>
          <a:prstGeom prst="ellipse">
            <a:avLst/>
          </a:prstGeom>
          <a:solidFill>
            <a:srgbClr val="02C39A">
              <a:alpha val="45000"/>
            </a:srgbClr>
          </a:solidFill>
          <a:ln w="12700">
            <a:solidFill>
              <a:srgbClr val="02C39A"/>
            </a:solidFill>
            <a:prstDash val="solid"/>
          </a:ln>
        </p:spPr>
      </p:sp>
      <p:sp>
        <p:nvSpPr>
          <p:cNvPr id="4" name="Text 2"/>
          <p:cNvSpPr/>
          <p:nvPr/>
        </p:nvSpPr>
        <p:spPr>
          <a:xfrm>
            <a:off x="548640" y="457200"/>
            <a:ext cx="8046720" cy="640080"/>
          </a:xfrm>
          <a:prstGeom prst="rect">
            <a:avLst/>
          </a:prstGeom>
          <a:noFill/>
          <a:ln/>
        </p:spPr>
        <p:txBody>
          <a:bodyPr wrap="square" rtlCol="0" anchor="ctr"/>
          <a:lstStyle/>
          <a:p>
            <a:pPr indent="0" marL="0">
              <a:buNone/>
            </a:pPr>
            <a:r>
              <a:rPr lang="en-US" sz="1400" b="1" spc="400" kern="0" dirty="0">
                <a:solidFill>
                  <a:srgbClr val="02C39A"/>
                </a:solidFill>
                <a:latin typeface="Calibri" pitchFamily="34" charset="0"/>
                <a:ea typeface="Calibri" pitchFamily="34" charset="-122"/>
                <a:cs typeface="Calibri" pitchFamily="34" charset="-120"/>
              </a:rPr>
              <a:t>QUIZ HAS — ESSMS</a:t>
            </a:r>
            <a:endParaRPr lang="en-US" sz="1400" dirty="0"/>
          </a:p>
        </p:txBody>
      </p:sp>
      <p:sp>
        <p:nvSpPr>
          <p:cNvPr id="5" name="Text 3"/>
          <p:cNvSpPr/>
          <p:nvPr/>
        </p:nvSpPr>
        <p:spPr>
          <a:xfrm>
            <a:off x="548640" y="1097280"/>
            <a:ext cx="8046720" cy="548640"/>
          </a:xfrm>
          <a:prstGeom prst="rect">
            <a:avLst/>
          </a:prstGeom>
          <a:noFill/>
          <a:ln/>
        </p:spPr>
        <p:txBody>
          <a:bodyPr wrap="square" rtlCol="0" anchor="ctr"/>
          <a:lstStyle/>
          <a:p>
            <a:pPr indent="0" marL="0">
              <a:buNone/>
            </a:pPr>
            <a:r>
              <a:rPr lang="en-US" sz="1600" dirty="0">
                <a:solidFill>
                  <a:srgbClr val="AACCEE"/>
                </a:solidFill>
                <a:latin typeface="Calibri" pitchFamily="34" charset="0"/>
                <a:ea typeface="Calibri" pitchFamily="34" charset="-122"/>
                <a:cs typeface="Calibri" pitchFamily="34" charset="-120"/>
              </a:rPr>
              <a:t>Chapitre 1</a:t>
            </a:r>
            <a:endParaRPr lang="en-US" sz="1600" dirty="0"/>
          </a:p>
        </p:txBody>
      </p:sp>
      <p:sp>
        <p:nvSpPr>
          <p:cNvPr id="6" name="Text 4"/>
          <p:cNvSpPr/>
          <p:nvPr/>
        </p:nvSpPr>
        <p:spPr>
          <a:xfrm>
            <a:off x="548640" y="1691640"/>
            <a:ext cx="8046720" cy="1188720"/>
          </a:xfrm>
          <a:prstGeom prst="rect">
            <a:avLst/>
          </a:prstGeom>
          <a:noFill/>
          <a:ln/>
        </p:spPr>
        <p:txBody>
          <a:bodyPr wrap="square" rtlCol="0" anchor="ctr"/>
          <a:lstStyle/>
          <a:p>
            <a:pPr indent="0" marL="0">
              <a:lnSpc>
                <a:spcPct val="110000"/>
              </a:lnSpc>
              <a:buNone/>
            </a:pPr>
            <a:r>
              <a:rPr lang="en-US" sz="3800" b="1" dirty="0">
                <a:solidFill>
                  <a:srgbClr val="FFFFFF"/>
                </a:solidFill>
                <a:latin typeface="Calibri" pitchFamily="34" charset="0"/>
                <a:ea typeface="Calibri" pitchFamily="34" charset="-122"/>
                <a:cs typeface="Calibri" pitchFamily="34" charset="-120"/>
              </a:rPr>
              <a:t>La Personne Accompagnée</a:t>
            </a:r>
            <a:endParaRPr lang="en-US" sz="3800" dirty="0"/>
          </a:p>
        </p:txBody>
      </p:sp>
      <p:sp>
        <p:nvSpPr>
          <p:cNvPr id="7" name="Text 5"/>
          <p:cNvSpPr/>
          <p:nvPr/>
        </p:nvSpPr>
        <p:spPr>
          <a:xfrm>
            <a:off x="548640" y="2926080"/>
            <a:ext cx="6400800" cy="457200"/>
          </a:xfrm>
          <a:prstGeom prst="rect">
            <a:avLst/>
          </a:prstGeom>
          <a:noFill/>
          <a:ln/>
        </p:spPr>
        <p:txBody>
          <a:bodyPr wrap="square" rtlCol="0" anchor="ctr"/>
          <a:lstStyle/>
          <a:p>
            <a:pPr indent="0" marL="0">
              <a:buNone/>
            </a:pPr>
            <a:r>
              <a:rPr lang="en-US" sz="1600" i="1" dirty="0">
                <a:solidFill>
                  <a:srgbClr val="02C39A"/>
                </a:solidFill>
                <a:latin typeface="Calibri" pitchFamily="34" charset="0"/>
                <a:ea typeface="Calibri" pitchFamily="34" charset="-122"/>
                <a:cs typeface="Calibri" pitchFamily="34" charset="-120"/>
              </a:rPr>
              <a:t>Méthode : Accompagné Traceur</a:t>
            </a:r>
            <a:endParaRPr lang="en-US" sz="1600" dirty="0"/>
          </a:p>
        </p:txBody>
      </p:sp>
      <p:sp>
        <p:nvSpPr>
          <p:cNvPr id="8" name="Shape 6"/>
          <p:cNvSpPr/>
          <p:nvPr/>
        </p:nvSpPr>
        <p:spPr>
          <a:xfrm>
            <a:off x="548640" y="3566160"/>
            <a:ext cx="1463040" cy="73152"/>
          </a:xfrm>
          <a:prstGeom prst="rect">
            <a:avLst/>
          </a:prstGeom>
          <a:solidFill>
            <a:srgbClr val="02C39A"/>
          </a:solidFill>
          <a:ln w="12700">
            <a:solidFill>
              <a:srgbClr val="02C39A"/>
            </a:solidFill>
            <a:prstDash val="solid"/>
          </a:ln>
        </p:spPr>
      </p:sp>
      <p:sp>
        <p:nvSpPr>
          <p:cNvPr id="9" name="Text 7"/>
          <p:cNvSpPr/>
          <p:nvPr/>
        </p:nvSpPr>
        <p:spPr>
          <a:xfrm>
            <a:off x="548640" y="3794760"/>
            <a:ext cx="8046720" cy="411480"/>
          </a:xfrm>
          <a:prstGeom prst="rect">
            <a:avLst/>
          </a:prstGeom>
          <a:noFill/>
          <a:ln/>
        </p:spPr>
        <p:txBody>
          <a:bodyPr wrap="square" rtlCol="0" anchor="ctr"/>
          <a:lstStyle/>
          <a:p>
            <a:pPr indent="0" marL="0">
              <a:buNone/>
            </a:pPr>
            <a:r>
              <a:rPr lang="en-US" sz="1300" dirty="0">
                <a:solidFill>
                  <a:srgbClr val="AACCEE"/>
                </a:solidFill>
                <a:latin typeface="Calibri" pitchFamily="34" charset="0"/>
                <a:ea typeface="Calibri" pitchFamily="34" charset="-122"/>
                <a:cs typeface="Calibri" pitchFamily="34" charset="-120"/>
              </a:rPr>
              <a:t>50 questions — Alternance question / réponse</a:t>
            </a:r>
            <a:endParaRPr lang="en-US" sz="1300" dirty="0"/>
          </a:p>
        </p:txBody>
      </p:sp>
      <p:sp>
        <p:nvSpPr>
          <p:cNvPr id="10" name="Text 8"/>
          <p:cNvSpPr/>
          <p:nvPr/>
        </p:nvSpPr>
        <p:spPr>
          <a:xfrm>
            <a:off x="548640" y="4297680"/>
            <a:ext cx="8046720" cy="320040"/>
          </a:xfrm>
          <a:prstGeom prst="rect">
            <a:avLst/>
          </a:prstGeom>
          <a:noFill/>
          <a:ln/>
        </p:spPr>
        <p:txBody>
          <a:bodyPr wrap="square" rtlCol="0" anchor="ctr"/>
          <a:lstStyle/>
          <a:p>
            <a:pPr indent="0" marL="0">
              <a:buNone/>
            </a:pPr>
            <a:r>
              <a:rPr lang="en-US" sz="1100" dirty="0">
                <a:solidFill>
                  <a:srgbClr val="7799BB"/>
                </a:solidFill>
                <a:latin typeface="Calibri" pitchFamily="34" charset="0"/>
                <a:ea typeface="Calibri" pitchFamily="34" charset="-122"/>
                <a:cs typeface="Calibri" pitchFamily="34" charset="-120"/>
              </a:rPr>
              <a:t>Référentiel HAS mars 2022 — Manuel V1.1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4F71"/>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28600"/>
            <a:ext cx="1188720" cy="411480"/>
          </a:xfrm>
          <a:prstGeom prst="roundRect">
            <a:avLst>
              <a:gd name="adj" fmla="val 17778"/>
            </a:avLst>
          </a:prstGeom>
          <a:solidFill>
            <a:srgbClr val="02C39A"/>
          </a:solidFill>
          <a:ln w="12700">
            <a:solidFill>
              <a:srgbClr val="02C39A"/>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0B4F71"/>
                </a:solidFill>
                <a:latin typeface="Calibri" pitchFamily="34" charset="0"/>
                <a:ea typeface="Calibri" pitchFamily="34" charset="-122"/>
                <a:cs typeface="Calibri" pitchFamily="34" charset="-120"/>
              </a:rPr>
              <a:t>Q1/50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1</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Quelle méthode d'évaluation est utilisée pour le Chapitre 1 du référentiel HAS ESSMS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02C39A">
                <a:alpha val="60000"/>
              </a:srgbClr>
            </a:solidFill>
            <a:prstDash val="solid"/>
          </a:ln>
        </p:spPr>
      </p:sp>
      <p:sp>
        <p:nvSpPr>
          <p:cNvPr id="9" name="Shape 7"/>
          <p:cNvSpPr/>
          <p:nvPr/>
        </p:nvSpPr>
        <p:spPr>
          <a:xfrm>
            <a:off x="457200" y="2514600"/>
            <a:ext cx="502920" cy="566928"/>
          </a:xfrm>
          <a:prstGeom prst="rect">
            <a:avLst/>
          </a:prstGeom>
          <a:solidFill>
            <a:srgbClr val="1C7293"/>
          </a:solidFill>
          <a:ln w="12700">
            <a:solidFill>
              <a:srgbClr val="1C7293"/>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L'audit système</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02C39A">
                <a:alpha val="60000"/>
              </a:srgbClr>
            </a:solidFill>
            <a:prstDash val="solid"/>
          </a:ln>
        </p:spPr>
      </p:sp>
      <p:sp>
        <p:nvSpPr>
          <p:cNvPr id="13" name="Shape 11"/>
          <p:cNvSpPr/>
          <p:nvPr/>
        </p:nvSpPr>
        <p:spPr>
          <a:xfrm>
            <a:off x="457200" y="3154680"/>
            <a:ext cx="502920" cy="566928"/>
          </a:xfrm>
          <a:prstGeom prst="rect">
            <a:avLst/>
          </a:prstGeom>
          <a:solidFill>
            <a:srgbClr val="1C7293"/>
          </a:solidFill>
          <a:ln w="12700">
            <a:solidFill>
              <a:srgbClr val="1C7293"/>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Le traceur ciblé</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02C39A">
                <a:alpha val="60000"/>
              </a:srgbClr>
            </a:solidFill>
            <a:prstDash val="solid"/>
          </a:ln>
        </p:spPr>
      </p:sp>
      <p:sp>
        <p:nvSpPr>
          <p:cNvPr id="17" name="Shape 15"/>
          <p:cNvSpPr/>
          <p:nvPr/>
        </p:nvSpPr>
        <p:spPr>
          <a:xfrm>
            <a:off x="457200" y="3794760"/>
            <a:ext cx="502920" cy="566928"/>
          </a:xfrm>
          <a:prstGeom prst="rect">
            <a:avLst/>
          </a:prstGeom>
          <a:solidFill>
            <a:srgbClr val="1C7293"/>
          </a:solidFill>
          <a:ln w="12700">
            <a:solidFill>
              <a:srgbClr val="1C7293"/>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L'accompagné traceur</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Q1/50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Quelle méthode d'évaluation est utilisée pour le Chapitre 1 du référentiel HAS ESSMS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L'audit système</a:t>
            </a:r>
            <a:endParaRPr lang="en-US" sz="1300" dirty="0"/>
          </a:p>
        </p:txBody>
      </p:sp>
      <p:sp>
        <p:nvSpPr>
          <p:cNvPr id="10" name="Shape 8"/>
          <p:cNvSpPr/>
          <p:nvPr/>
        </p:nvSpPr>
        <p:spPr>
          <a:xfrm>
            <a:off x="457200" y="2130552"/>
            <a:ext cx="8229600" cy="530352"/>
          </a:xfrm>
          <a:prstGeom prst="rect">
            <a:avLst/>
          </a:prstGeom>
          <a:solidFill>
            <a:srgbClr val="F0F4F8"/>
          </a:solidFill>
          <a:ln w="6350">
            <a:solidFill>
              <a:srgbClr val="CCCCCC"/>
            </a:solidFill>
            <a:prstDash val="solid"/>
          </a:ln>
        </p:spPr>
      </p:sp>
      <p:sp>
        <p:nvSpPr>
          <p:cNvPr id="11" name="Shape 9"/>
          <p:cNvSpPr/>
          <p:nvPr/>
        </p:nvSpPr>
        <p:spPr>
          <a:xfrm>
            <a:off x="457200" y="2130552"/>
            <a:ext cx="502920" cy="530352"/>
          </a:xfrm>
          <a:prstGeom prst="rect">
            <a:avLst/>
          </a:prstGeom>
          <a:solidFill>
            <a:srgbClr val="CCCCCC"/>
          </a:solidFill>
          <a:ln w="12700">
            <a:solidFill>
              <a:srgbClr val="CCCCCC"/>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Le traceur ciblé</a:t>
            </a:r>
            <a:endParaRPr lang="en-US" sz="1300" dirty="0"/>
          </a:p>
        </p:txBody>
      </p:sp>
      <p:sp>
        <p:nvSpPr>
          <p:cNvPr id="14" name="Shape 12"/>
          <p:cNvSpPr/>
          <p:nvPr/>
        </p:nvSpPr>
        <p:spPr>
          <a:xfrm>
            <a:off x="457200" y="2724912"/>
            <a:ext cx="8229600" cy="530352"/>
          </a:xfrm>
          <a:prstGeom prst="rect">
            <a:avLst/>
          </a:prstGeom>
          <a:solidFill>
            <a:srgbClr val="D4EDDA"/>
          </a:solidFill>
          <a:ln w="19050">
            <a:solidFill>
              <a:srgbClr val="22A06B"/>
            </a:solidFill>
            <a:prstDash val="solid"/>
          </a:ln>
        </p:spPr>
      </p:sp>
      <p:sp>
        <p:nvSpPr>
          <p:cNvPr id="15" name="Shape 13"/>
          <p:cNvSpPr/>
          <p:nvPr/>
        </p:nvSpPr>
        <p:spPr>
          <a:xfrm>
            <a:off x="457200" y="2724912"/>
            <a:ext cx="502920" cy="530352"/>
          </a:xfrm>
          <a:prstGeom prst="rect">
            <a:avLst/>
          </a:prstGeom>
          <a:solidFill>
            <a:srgbClr val="22A06B"/>
          </a:solidFill>
          <a:ln w="12700">
            <a:solidFill>
              <a:srgbClr val="22A06B"/>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L'accompagné traceur</a:t>
            </a:r>
            <a:endParaRPr lang="en-US" sz="1400" dirty="0"/>
          </a:p>
        </p:txBody>
      </p:sp>
      <p:sp>
        <p:nvSpPr>
          <p:cNvPr id="18" name="Shape 16"/>
          <p:cNvSpPr/>
          <p:nvPr/>
        </p:nvSpPr>
        <p:spPr>
          <a:xfrm>
            <a:off x="457200" y="3364992"/>
            <a:ext cx="8229600" cy="1417320"/>
          </a:xfrm>
          <a:prstGeom prst="rect">
            <a:avLst/>
          </a:prstGeom>
          <a:solidFill>
            <a:srgbClr val="EEF4FF"/>
          </a:solidFill>
          <a:ln w="10160">
            <a:solidFill>
              <a:srgbClr val="1C7293">
                <a:alpha val="70000"/>
              </a:srgbClr>
            </a:solidFill>
            <a:prstDash val="solid"/>
          </a:ln>
        </p:spPr>
      </p:sp>
      <p:sp>
        <p:nvSpPr>
          <p:cNvPr id="19" name="Shape 17"/>
          <p:cNvSpPr/>
          <p:nvPr/>
        </p:nvSpPr>
        <p:spPr>
          <a:xfrm>
            <a:off x="457200" y="3364992"/>
            <a:ext cx="73152" cy="1417320"/>
          </a:xfrm>
          <a:prstGeom prst="rect">
            <a:avLst/>
          </a:prstGeom>
          <a:solidFill>
            <a:srgbClr val="1C7293"/>
          </a:solidFill>
          <a:ln w="12700">
            <a:solidFill>
              <a:srgbClr val="1C7293"/>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1C7293"/>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Chapitre 1 (la personne accompagnée) est évalué via la méthode de l'accompagné traceur, qui consiste à suivre le parcours d'une personne et à recueillir son point de vue croisé avec celui des professionnels.</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4F71"/>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28600"/>
            <a:ext cx="1188720" cy="411480"/>
          </a:xfrm>
          <a:prstGeom prst="roundRect">
            <a:avLst>
              <a:gd name="adj" fmla="val 17778"/>
            </a:avLst>
          </a:prstGeom>
          <a:solidFill>
            <a:srgbClr val="02C39A"/>
          </a:solidFill>
          <a:ln w="12700">
            <a:solidFill>
              <a:srgbClr val="02C39A"/>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0B4F71"/>
                </a:solidFill>
                <a:latin typeface="Calibri" pitchFamily="34" charset="0"/>
                <a:ea typeface="Calibri" pitchFamily="34" charset="-122"/>
                <a:cs typeface="Calibri" pitchFamily="34" charset="-120"/>
              </a:rPr>
              <a:t>Q2/50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1</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Combien de critères impératifs comprend l'ensemble du référentiel HAS pour les ESSMS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02C39A">
                <a:alpha val="60000"/>
              </a:srgbClr>
            </a:solidFill>
            <a:prstDash val="solid"/>
          </a:ln>
        </p:spPr>
      </p:sp>
      <p:sp>
        <p:nvSpPr>
          <p:cNvPr id="9" name="Shape 7"/>
          <p:cNvSpPr/>
          <p:nvPr/>
        </p:nvSpPr>
        <p:spPr>
          <a:xfrm>
            <a:off x="457200" y="2514600"/>
            <a:ext cx="502920" cy="566928"/>
          </a:xfrm>
          <a:prstGeom prst="rect">
            <a:avLst/>
          </a:prstGeom>
          <a:solidFill>
            <a:srgbClr val="1C7293"/>
          </a:solidFill>
          <a:ln w="12700">
            <a:solidFill>
              <a:srgbClr val="1C7293"/>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10 critères</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02C39A">
                <a:alpha val="60000"/>
              </a:srgbClr>
            </a:solidFill>
            <a:prstDash val="solid"/>
          </a:ln>
        </p:spPr>
      </p:sp>
      <p:sp>
        <p:nvSpPr>
          <p:cNvPr id="13" name="Shape 11"/>
          <p:cNvSpPr/>
          <p:nvPr/>
        </p:nvSpPr>
        <p:spPr>
          <a:xfrm>
            <a:off x="457200" y="3154680"/>
            <a:ext cx="502920" cy="566928"/>
          </a:xfrm>
          <a:prstGeom prst="rect">
            <a:avLst/>
          </a:prstGeom>
          <a:solidFill>
            <a:srgbClr val="1C7293"/>
          </a:solidFill>
          <a:ln w="12700">
            <a:solidFill>
              <a:srgbClr val="1C7293"/>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18 critères</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02C39A">
                <a:alpha val="60000"/>
              </a:srgbClr>
            </a:solidFill>
            <a:prstDash val="solid"/>
          </a:ln>
        </p:spPr>
      </p:sp>
      <p:sp>
        <p:nvSpPr>
          <p:cNvPr id="17" name="Shape 15"/>
          <p:cNvSpPr/>
          <p:nvPr/>
        </p:nvSpPr>
        <p:spPr>
          <a:xfrm>
            <a:off x="457200" y="3794760"/>
            <a:ext cx="502920" cy="566928"/>
          </a:xfrm>
          <a:prstGeom prst="rect">
            <a:avLst/>
          </a:prstGeom>
          <a:solidFill>
            <a:srgbClr val="1C7293"/>
          </a:solidFill>
          <a:ln w="12700">
            <a:solidFill>
              <a:srgbClr val="1C7293"/>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28 critères</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Q2/50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Combien de critères impératifs comprend l'ensemble du référentiel HAS pour les ESSMS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10 critères</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18 critères</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28 critères</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1C7293">
                <a:alpha val="70000"/>
              </a:srgbClr>
            </a:solidFill>
            <a:prstDash val="solid"/>
          </a:ln>
        </p:spPr>
      </p:sp>
      <p:sp>
        <p:nvSpPr>
          <p:cNvPr id="19" name="Shape 17"/>
          <p:cNvSpPr/>
          <p:nvPr/>
        </p:nvSpPr>
        <p:spPr>
          <a:xfrm>
            <a:off x="457200" y="3364992"/>
            <a:ext cx="73152" cy="1417320"/>
          </a:xfrm>
          <a:prstGeom prst="rect">
            <a:avLst/>
          </a:prstGeom>
          <a:solidFill>
            <a:srgbClr val="1C7293"/>
          </a:solidFill>
          <a:ln w="12700">
            <a:solidFill>
              <a:srgbClr val="1C7293"/>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1C7293"/>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référentiel HAS comporte 18 critères impératifs sur 157 au total. Ces critères exigent un score de 4/4 ; tout score inférieur oblige l'ESSMS à élaborer un plan d'action immédiat.</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4F71"/>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28600"/>
            <a:ext cx="1188720" cy="411480"/>
          </a:xfrm>
          <a:prstGeom prst="roundRect">
            <a:avLst>
              <a:gd name="adj" fmla="val 17778"/>
            </a:avLst>
          </a:prstGeom>
          <a:solidFill>
            <a:srgbClr val="02C39A"/>
          </a:solidFill>
          <a:ln w="12700">
            <a:solidFill>
              <a:srgbClr val="02C39A"/>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0B4F71"/>
                </a:solidFill>
                <a:latin typeface="Calibri" pitchFamily="34" charset="0"/>
                <a:ea typeface="Calibri" pitchFamily="34" charset="-122"/>
                <a:cs typeface="Calibri" pitchFamily="34" charset="-120"/>
              </a:rPr>
              <a:t>Q3/50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1</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Qu'implique un critère « impératif » non maîtrisé lors d'une évaluation HAS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02C39A">
                <a:alpha val="60000"/>
              </a:srgbClr>
            </a:solidFill>
            <a:prstDash val="solid"/>
          </a:ln>
        </p:spPr>
      </p:sp>
      <p:sp>
        <p:nvSpPr>
          <p:cNvPr id="9" name="Shape 7"/>
          <p:cNvSpPr/>
          <p:nvPr/>
        </p:nvSpPr>
        <p:spPr>
          <a:xfrm>
            <a:off x="457200" y="2514600"/>
            <a:ext cx="502920" cy="566928"/>
          </a:xfrm>
          <a:prstGeom prst="rect">
            <a:avLst/>
          </a:prstGeom>
          <a:solidFill>
            <a:srgbClr val="1C7293"/>
          </a:solidFill>
          <a:ln w="12700">
            <a:solidFill>
              <a:srgbClr val="1C7293"/>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Une fermeture immédiate de l'établissement</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02C39A">
                <a:alpha val="60000"/>
              </a:srgbClr>
            </a:solidFill>
            <a:prstDash val="solid"/>
          </a:ln>
        </p:spPr>
      </p:sp>
      <p:sp>
        <p:nvSpPr>
          <p:cNvPr id="13" name="Shape 11"/>
          <p:cNvSpPr/>
          <p:nvPr/>
        </p:nvSpPr>
        <p:spPr>
          <a:xfrm>
            <a:off x="457200" y="3154680"/>
            <a:ext cx="502920" cy="566928"/>
          </a:xfrm>
          <a:prstGeom prst="rect">
            <a:avLst/>
          </a:prstGeom>
          <a:solidFill>
            <a:srgbClr val="1C7293"/>
          </a:solidFill>
          <a:ln w="12700">
            <a:solidFill>
              <a:srgbClr val="1C7293"/>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 plan d'action correctif transmis sans délai à l'autorité de contrôle</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02C39A">
                <a:alpha val="60000"/>
              </a:srgbClr>
            </a:solidFill>
            <a:prstDash val="solid"/>
          </a:ln>
        </p:spPr>
      </p:sp>
      <p:sp>
        <p:nvSpPr>
          <p:cNvPr id="17" name="Shape 15"/>
          <p:cNvSpPr/>
          <p:nvPr/>
        </p:nvSpPr>
        <p:spPr>
          <a:xfrm>
            <a:off x="457200" y="3794760"/>
            <a:ext cx="502920" cy="566928"/>
          </a:xfrm>
          <a:prstGeom prst="rect">
            <a:avLst/>
          </a:prstGeom>
          <a:solidFill>
            <a:srgbClr val="1C7293"/>
          </a:solidFill>
          <a:ln w="12700">
            <a:solidFill>
              <a:srgbClr val="1C7293"/>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Une simple recommandation dans le rapport</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Q3/50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Qu'implique un critère « impératif » non maîtrisé lors d'une évaluation HAS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Une fermeture immédiate de l'établissement</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Un plan d'action correctif transmis sans délai à l'autorité de contrôle</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Une simple recommandation dans le rapport</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1C7293">
                <a:alpha val="70000"/>
              </a:srgbClr>
            </a:solidFill>
            <a:prstDash val="solid"/>
          </a:ln>
        </p:spPr>
      </p:sp>
      <p:sp>
        <p:nvSpPr>
          <p:cNvPr id="19" name="Shape 17"/>
          <p:cNvSpPr/>
          <p:nvPr/>
        </p:nvSpPr>
        <p:spPr>
          <a:xfrm>
            <a:off x="457200" y="3364992"/>
            <a:ext cx="73152" cy="1417320"/>
          </a:xfrm>
          <a:prstGeom prst="rect">
            <a:avLst/>
          </a:prstGeom>
          <a:solidFill>
            <a:srgbClr val="1C7293"/>
          </a:solidFill>
          <a:ln w="12700">
            <a:solidFill>
              <a:srgbClr val="1C7293"/>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1C7293"/>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Un critère impératif non maîtrisé (score &lt; 4/4) oblige l'ESSMS à élaborer un plan d'action spécifique transmis à l'autorité de tarification et de contrôle en même temps que le rapport d'évaluation.</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4F71"/>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28600"/>
            <a:ext cx="1188720" cy="411480"/>
          </a:xfrm>
          <a:prstGeom prst="roundRect">
            <a:avLst>
              <a:gd name="adj" fmla="val 17778"/>
            </a:avLst>
          </a:prstGeom>
          <a:solidFill>
            <a:srgbClr val="02C39A"/>
          </a:solidFill>
          <a:ln w="12700">
            <a:solidFill>
              <a:srgbClr val="02C39A"/>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0B4F71"/>
                </a:solidFill>
                <a:latin typeface="Calibri" pitchFamily="34" charset="0"/>
                <a:ea typeface="Calibri" pitchFamily="34" charset="-122"/>
                <a:cs typeface="Calibri" pitchFamily="34" charset="-120"/>
              </a:rPr>
              <a:t>Q4/50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1</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Quelle valeur fondamentale est au centre du référentiel d'évaluation HAS pour les ESSMS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02C39A">
                <a:alpha val="60000"/>
              </a:srgbClr>
            </a:solidFill>
            <a:prstDash val="solid"/>
          </a:ln>
        </p:spPr>
      </p:sp>
      <p:sp>
        <p:nvSpPr>
          <p:cNvPr id="9" name="Shape 7"/>
          <p:cNvSpPr/>
          <p:nvPr/>
        </p:nvSpPr>
        <p:spPr>
          <a:xfrm>
            <a:off x="457200" y="2514600"/>
            <a:ext cx="502920" cy="566928"/>
          </a:xfrm>
          <a:prstGeom prst="rect">
            <a:avLst/>
          </a:prstGeom>
          <a:solidFill>
            <a:srgbClr val="1C7293"/>
          </a:solidFill>
          <a:ln w="12700">
            <a:solidFill>
              <a:srgbClr val="1C7293"/>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La rentabilité économique</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02C39A">
                <a:alpha val="60000"/>
              </a:srgbClr>
            </a:solidFill>
            <a:prstDash val="solid"/>
          </a:ln>
        </p:spPr>
      </p:sp>
      <p:sp>
        <p:nvSpPr>
          <p:cNvPr id="13" name="Shape 11"/>
          <p:cNvSpPr/>
          <p:nvPr/>
        </p:nvSpPr>
        <p:spPr>
          <a:xfrm>
            <a:off x="457200" y="3154680"/>
            <a:ext cx="502920" cy="566928"/>
          </a:xfrm>
          <a:prstGeom prst="rect">
            <a:avLst/>
          </a:prstGeom>
          <a:solidFill>
            <a:srgbClr val="1C7293"/>
          </a:solidFill>
          <a:ln w="12700">
            <a:solidFill>
              <a:srgbClr val="1C7293"/>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La bientraitance et le respect de la personne</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02C39A">
                <a:alpha val="60000"/>
              </a:srgbClr>
            </a:solidFill>
            <a:prstDash val="solid"/>
          </a:ln>
        </p:spPr>
      </p:sp>
      <p:sp>
        <p:nvSpPr>
          <p:cNvPr id="17" name="Shape 15"/>
          <p:cNvSpPr/>
          <p:nvPr/>
        </p:nvSpPr>
        <p:spPr>
          <a:xfrm>
            <a:off x="457200" y="3794760"/>
            <a:ext cx="502920" cy="566928"/>
          </a:xfrm>
          <a:prstGeom prst="rect">
            <a:avLst/>
          </a:prstGeom>
          <a:solidFill>
            <a:srgbClr val="1C7293"/>
          </a:solidFill>
          <a:ln w="12700">
            <a:solidFill>
              <a:srgbClr val="1C7293"/>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La conformité administrative</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Q4/50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Quelle valeur fondamentale est au centre du référentiel d'évaluation HAS pour les ESSMS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La rentabilité économique</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La bientraitance et le respect de la personne</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La conformité administrative</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1C7293">
                <a:alpha val="70000"/>
              </a:srgbClr>
            </a:solidFill>
            <a:prstDash val="solid"/>
          </a:ln>
        </p:spPr>
      </p:sp>
      <p:sp>
        <p:nvSpPr>
          <p:cNvPr id="19" name="Shape 17"/>
          <p:cNvSpPr/>
          <p:nvPr/>
        </p:nvSpPr>
        <p:spPr>
          <a:xfrm>
            <a:off x="457200" y="3364992"/>
            <a:ext cx="73152" cy="1417320"/>
          </a:xfrm>
          <a:prstGeom prst="rect">
            <a:avLst/>
          </a:prstGeom>
          <a:solidFill>
            <a:srgbClr val="1C7293"/>
          </a:solidFill>
          <a:ln w="12700">
            <a:solidFill>
              <a:srgbClr val="1C7293"/>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1C7293"/>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référentiel HAS est fondé sur une approche centrée sur la personne accompagnée, avec la bientraitance, l'éthique et le respect des droits fondamentaux comme valeurs cardinales.</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4F71"/>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28600"/>
            <a:ext cx="1188720" cy="411480"/>
          </a:xfrm>
          <a:prstGeom prst="roundRect">
            <a:avLst>
              <a:gd name="adj" fmla="val 17778"/>
            </a:avLst>
          </a:prstGeom>
          <a:solidFill>
            <a:srgbClr val="02C39A"/>
          </a:solidFill>
          <a:ln w="12700">
            <a:solidFill>
              <a:srgbClr val="02C39A"/>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0B4F71"/>
                </a:solidFill>
                <a:latin typeface="Calibri" pitchFamily="34" charset="0"/>
                <a:ea typeface="Calibri" pitchFamily="34" charset="-122"/>
                <a:cs typeface="Calibri" pitchFamily="34" charset="-120"/>
              </a:rPr>
              <a:t>Q5/50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1</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Quelle est la structure complète du référentiel HAS pour les ESSMS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02C39A">
                <a:alpha val="60000"/>
              </a:srgbClr>
            </a:solidFill>
            <a:prstDash val="solid"/>
          </a:ln>
        </p:spPr>
      </p:sp>
      <p:sp>
        <p:nvSpPr>
          <p:cNvPr id="9" name="Shape 7"/>
          <p:cNvSpPr/>
          <p:nvPr/>
        </p:nvSpPr>
        <p:spPr>
          <a:xfrm>
            <a:off x="457200" y="2514600"/>
            <a:ext cx="502920" cy="566928"/>
          </a:xfrm>
          <a:prstGeom prst="rect">
            <a:avLst/>
          </a:prstGeom>
          <a:solidFill>
            <a:srgbClr val="1C7293"/>
          </a:solidFill>
          <a:ln w="12700">
            <a:solidFill>
              <a:srgbClr val="1C7293"/>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2 chapitres, 6 thématiques, 30 objectifs, 100 critères</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02C39A">
                <a:alpha val="60000"/>
              </a:srgbClr>
            </a:solidFill>
            <a:prstDash val="solid"/>
          </a:ln>
        </p:spPr>
      </p:sp>
      <p:sp>
        <p:nvSpPr>
          <p:cNvPr id="13" name="Shape 11"/>
          <p:cNvSpPr/>
          <p:nvPr/>
        </p:nvSpPr>
        <p:spPr>
          <a:xfrm>
            <a:off x="457200" y="3154680"/>
            <a:ext cx="502920" cy="566928"/>
          </a:xfrm>
          <a:prstGeom prst="rect">
            <a:avLst/>
          </a:prstGeom>
          <a:solidFill>
            <a:srgbClr val="1C7293"/>
          </a:solidFill>
          <a:ln w="12700">
            <a:solidFill>
              <a:srgbClr val="1C7293"/>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3 chapitres, 9 thématiques, 42 objectifs, 157 critères</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02C39A">
                <a:alpha val="60000"/>
              </a:srgbClr>
            </a:solidFill>
            <a:prstDash val="solid"/>
          </a:ln>
        </p:spPr>
      </p:sp>
      <p:sp>
        <p:nvSpPr>
          <p:cNvPr id="17" name="Shape 15"/>
          <p:cNvSpPr/>
          <p:nvPr/>
        </p:nvSpPr>
        <p:spPr>
          <a:xfrm>
            <a:off x="457200" y="3794760"/>
            <a:ext cx="502920" cy="566928"/>
          </a:xfrm>
          <a:prstGeom prst="rect">
            <a:avLst/>
          </a:prstGeom>
          <a:solidFill>
            <a:srgbClr val="1C7293"/>
          </a:solidFill>
          <a:ln w="12700">
            <a:solidFill>
              <a:srgbClr val="1C7293"/>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4 chapitres, 12 thématiques, 50 objectifs, 200 critères</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Q5/50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Quelle est la structure complète du référentiel HAS pour les ESSMS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2 chapitres, 6 thématiques, 30 objectifs, 100 critères</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3 chapitres, 9 thématiques, 42 objectifs, 157 critères</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4 chapitres, 12 thématiques, 50 objectifs, 200 critères</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1C7293">
                <a:alpha val="70000"/>
              </a:srgbClr>
            </a:solidFill>
            <a:prstDash val="solid"/>
          </a:ln>
        </p:spPr>
      </p:sp>
      <p:sp>
        <p:nvSpPr>
          <p:cNvPr id="19" name="Shape 17"/>
          <p:cNvSpPr/>
          <p:nvPr/>
        </p:nvSpPr>
        <p:spPr>
          <a:xfrm>
            <a:off x="457200" y="3364992"/>
            <a:ext cx="73152" cy="1417320"/>
          </a:xfrm>
          <a:prstGeom prst="rect">
            <a:avLst/>
          </a:prstGeom>
          <a:solidFill>
            <a:srgbClr val="1C7293"/>
          </a:solidFill>
          <a:ln w="12700">
            <a:solidFill>
              <a:srgbClr val="1C7293"/>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1C7293"/>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référentiel est organisé en 3 chapitres (la personne, les professionnels, l'ESSMS), 9 thématiques, 42 objectifs et 157 critères dont 18 impératifs.</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4F71"/>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28600"/>
            <a:ext cx="1188720" cy="411480"/>
          </a:xfrm>
          <a:prstGeom prst="roundRect">
            <a:avLst>
              <a:gd name="adj" fmla="val 17778"/>
            </a:avLst>
          </a:prstGeom>
          <a:solidFill>
            <a:srgbClr val="02C39A"/>
          </a:solidFill>
          <a:ln w="12700">
            <a:solidFill>
              <a:srgbClr val="02C39A"/>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0B4F71"/>
                </a:solidFill>
                <a:latin typeface="Calibri" pitchFamily="34" charset="0"/>
                <a:ea typeface="Calibri" pitchFamily="34" charset="-122"/>
                <a:cs typeface="Calibri" pitchFamily="34" charset="-120"/>
              </a:rPr>
              <a:t>Q6/50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1</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Comment la bientraitance est-elle perçue dans le cadre de l'évaluation HAS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02C39A">
                <a:alpha val="60000"/>
              </a:srgbClr>
            </a:solidFill>
            <a:prstDash val="solid"/>
          </a:ln>
        </p:spPr>
      </p:sp>
      <p:sp>
        <p:nvSpPr>
          <p:cNvPr id="9" name="Shape 7"/>
          <p:cNvSpPr/>
          <p:nvPr/>
        </p:nvSpPr>
        <p:spPr>
          <a:xfrm>
            <a:off x="457200" y="2514600"/>
            <a:ext cx="502920" cy="566928"/>
          </a:xfrm>
          <a:prstGeom prst="rect">
            <a:avLst/>
          </a:prstGeom>
          <a:solidFill>
            <a:srgbClr val="1C7293"/>
          </a:solidFill>
          <a:ln w="12700">
            <a:solidFill>
              <a:srgbClr val="1C7293"/>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Comme l'absence totale d'incident signalé</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02C39A">
                <a:alpha val="60000"/>
              </a:srgbClr>
            </a:solidFill>
            <a:prstDash val="solid"/>
          </a:ln>
        </p:spPr>
      </p:sp>
      <p:sp>
        <p:nvSpPr>
          <p:cNvPr id="13" name="Shape 11"/>
          <p:cNvSpPr/>
          <p:nvPr/>
        </p:nvSpPr>
        <p:spPr>
          <a:xfrm>
            <a:off x="457200" y="3154680"/>
            <a:ext cx="502920" cy="566928"/>
          </a:xfrm>
          <a:prstGeom prst="rect">
            <a:avLst/>
          </a:prstGeom>
          <a:solidFill>
            <a:srgbClr val="1C7293"/>
          </a:solidFill>
          <a:ln w="12700">
            <a:solidFill>
              <a:srgbClr val="1C7293"/>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Comme un accompagnement respectueux de la personne dans toutes les situations du quotidien</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02C39A">
                <a:alpha val="60000"/>
              </a:srgbClr>
            </a:solidFill>
            <a:prstDash val="solid"/>
          </a:ln>
        </p:spPr>
      </p:sp>
      <p:sp>
        <p:nvSpPr>
          <p:cNvPr id="17" name="Shape 15"/>
          <p:cNvSpPr/>
          <p:nvPr/>
        </p:nvSpPr>
        <p:spPr>
          <a:xfrm>
            <a:off x="457200" y="3794760"/>
            <a:ext cx="502920" cy="566928"/>
          </a:xfrm>
          <a:prstGeom prst="rect">
            <a:avLst/>
          </a:prstGeom>
          <a:solidFill>
            <a:srgbClr val="1C7293"/>
          </a:solidFill>
          <a:ln w="12700">
            <a:solidFill>
              <a:srgbClr val="1C7293"/>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Comme une formalité documentaire</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Q6/50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Comment la bientraitance est-elle perçue dans le cadre de l'évaluation HAS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Comme l'absence totale d'incident signalé</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Comme un accompagnement respectueux de la personne dans toutes les situations du quotidien</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Comme une formalité documentaire</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1C7293">
                <a:alpha val="70000"/>
              </a:srgbClr>
            </a:solidFill>
            <a:prstDash val="solid"/>
          </a:ln>
        </p:spPr>
      </p:sp>
      <p:sp>
        <p:nvSpPr>
          <p:cNvPr id="19" name="Shape 17"/>
          <p:cNvSpPr/>
          <p:nvPr/>
        </p:nvSpPr>
        <p:spPr>
          <a:xfrm>
            <a:off x="457200" y="3364992"/>
            <a:ext cx="73152" cy="1417320"/>
          </a:xfrm>
          <a:prstGeom prst="rect">
            <a:avLst/>
          </a:prstGeom>
          <a:solidFill>
            <a:srgbClr val="1C7293"/>
          </a:solidFill>
          <a:ln w="12700">
            <a:solidFill>
              <a:srgbClr val="1C7293"/>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1C7293"/>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La bientraitance, au sens HAS, désigne un accompagnement respectueux, attentif aux besoins et à la dignité de la personne, au quotidien et dans toutes les situations, et non une simple absence d'incident.</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4F71"/>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28600"/>
            <a:ext cx="1188720" cy="411480"/>
          </a:xfrm>
          <a:prstGeom prst="roundRect">
            <a:avLst>
              <a:gd name="adj" fmla="val 17778"/>
            </a:avLst>
          </a:prstGeom>
          <a:solidFill>
            <a:srgbClr val="02C39A"/>
          </a:solidFill>
          <a:ln w="12700">
            <a:solidFill>
              <a:srgbClr val="02C39A"/>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0B4F71"/>
                </a:solidFill>
                <a:latin typeface="Calibri" pitchFamily="34" charset="0"/>
                <a:ea typeface="Calibri" pitchFamily="34" charset="-122"/>
                <a:cs typeface="Calibri" pitchFamily="34" charset="-120"/>
              </a:rPr>
              <a:t>Q7/50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1</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Qu'est-ce que le critère 1.1.1 du référentiel HAS exige concernant la bientraitance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02C39A">
                <a:alpha val="60000"/>
              </a:srgbClr>
            </a:solidFill>
            <a:prstDash val="solid"/>
          </a:ln>
        </p:spPr>
      </p:sp>
      <p:sp>
        <p:nvSpPr>
          <p:cNvPr id="9" name="Shape 7"/>
          <p:cNvSpPr/>
          <p:nvPr/>
        </p:nvSpPr>
        <p:spPr>
          <a:xfrm>
            <a:off x="457200" y="2514600"/>
            <a:ext cx="502920" cy="566928"/>
          </a:xfrm>
          <a:prstGeom prst="rect">
            <a:avLst/>
          </a:prstGeom>
          <a:solidFill>
            <a:srgbClr val="1C7293"/>
          </a:solidFill>
          <a:ln w="12700">
            <a:solidFill>
              <a:srgbClr val="1C7293"/>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Que l'ESSMS ait un registre des maltraitances</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02C39A">
                <a:alpha val="60000"/>
              </a:srgbClr>
            </a:solidFill>
            <a:prstDash val="solid"/>
          </a:ln>
        </p:spPr>
      </p:sp>
      <p:sp>
        <p:nvSpPr>
          <p:cNvPr id="13" name="Shape 11"/>
          <p:cNvSpPr/>
          <p:nvPr/>
        </p:nvSpPr>
        <p:spPr>
          <a:xfrm>
            <a:off x="457200" y="3154680"/>
            <a:ext cx="502920" cy="566928"/>
          </a:xfrm>
          <a:prstGeom prst="rect">
            <a:avLst/>
          </a:prstGeom>
          <a:solidFill>
            <a:srgbClr val="1C7293"/>
          </a:solidFill>
          <a:ln w="12700">
            <a:solidFill>
              <a:srgbClr val="1C7293"/>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Que la personne accompagnée perçoive un accompagnement respectueux de sa personne</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02C39A">
                <a:alpha val="60000"/>
              </a:srgbClr>
            </a:solidFill>
            <a:prstDash val="solid"/>
          </a:ln>
        </p:spPr>
      </p:sp>
      <p:sp>
        <p:nvSpPr>
          <p:cNvPr id="17" name="Shape 15"/>
          <p:cNvSpPr/>
          <p:nvPr/>
        </p:nvSpPr>
        <p:spPr>
          <a:xfrm>
            <a:off x="457200" y="3794760"/>
            <a:ext cx="502920" cy="566928"/>
          </a:xfrm>
          <a:prstGeom prst="rect">
            <a:avLst/>
          </a:prstGeom>
          <a:solidFill>
            <a:srgbClr val="1C7293"/>
          </a:solidFill>
          <a:ln w="12700">
            <a:solidFill>
              <a:srgbClr val="1C7293"/>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Que la direction signe une charte éthique</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Q7/50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Qu'est-ce que le critère 1.1.1 du référentiel HAS exige concernant la bientraitance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Que l'ESSMS ait un registre des maltraitances</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Que la personne accompagnée perçoive un accompagnement respectueux de sa personne</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Que la direction signe une charte éthique</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1C7293">
                <a:alpha val="70000"/>
              </a:srgbClr>
            </a:solidFill>
            <a:prstDash val="solid"/>
          </a:ln>
        </p:spPr>
      </p:sp>
      <p:sp>
        <p:nvSpPr>
          <p:cNvPr id="19" name="Shape 17"/>
          <p:cNvSpPr/>
          <p:nvPr/>
        </p:nvSpPr>
        <p:spPr>
          <a:xfrm>
            <a:off x="457200" y="3364992"/>
            <a:ext cx="73152" cy="1417320"/>
          </a:xfrm>
          <a:prstGeom prst="rect">
            <a:avLst/>
          </a:prstGeom>
          <a:solidFill>
            <a:srgbClr val="1C7293"/>
          </a:solidFill>
          <a:ln w="12700">
            <a:solidFill>
              <a:srgbClr val="1C7293"/>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1C7293"/>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critère 1.1.1 (impératif) porte sur la perception de la personne accompagnée : elle doit ressentir que l'accompagnement qui lui est apporté est respectueux de sa personne.</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4F71"/>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28600"/>
            <a:ext cx="1188720" cy="411480"/>
          </a:xfrm>
          <a:prstGeom prst="roundRect">
            <a:avLst>
              <a:gd name="adj" fmla="val 17778"/>
            </a:avLst>
          </a:prstGeom>
          <a:solidFill>
            <a:srgbClr val="02C39A"/>
          </a:solidFill>
          <a:ln w="12700">
            <a:solidFill>
              <a:srgbClr val="02C39A"/>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0B4F71"/>
                </a:solidFill>
                <a:latin typeface="Calibri" pitchFamily="34" charset="0"/>
                <a:ea typeface="Calibri" pitchFamily="34" charset="-122"/>
                <a:cs typeface="Calibri" pitchFamily="34" charset="-120"/>
              </a:rPr>
              <a:t>Q8/50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1</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La prévention de la maltraitance est un critère impératif dans le chapitre 1. Quelle en est la conséquence pratique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02C39A">
                <a:alpha val="60000"/>
              </a:srgbClr>
            </a:solidFill>
            <a:prstDash val="solid"/>
          </a:ln>
        </p:spPr>
      </p:sp>
      <p:sp>
        <p:nvSpPr>
          <p:cNvPr id="9" name="Shape 7"/>
          <p:cNvSpPr/>
          <p:nvPr/>
        </p:nvSpPr>
        <p:spPr>
          <a:xfrm>
            <a:off x="457200" y="2514600"/>
            <a:ext cx="502920" cy="566928"/>
          </a:xfrm>
          <a:prstGeom prst="rect">
            <a:avLst/>
          </a:prstGeom>
          <a:solidFill>
            <a:srgbClr val="1C7293"/>
          </a:solidFill>
          <a:ln w="12700">
            <a:solidFill>
              <a:srgbClr val="1C7293"/>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Elle peut être remplacée par une simple sensibilisation annuelle</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02C39A">
                <a:alpha val="60000"/>
              </a:srgbClr>
            </a:solidFill>
            <a:prstDash val="solid"/>
          </a:ln>
        </p:spPr>
      </p:sp>
      <p:sp>
        <p:nvSpPr>
          <p:cNvPr id="13" name="Shape 11"/>
          <p:cNvSpPr/>
          <p:nvPr/>
        </p:nvSpPr>
        <p:spPr>
          <a:xfrm>
            <a:off x="457200" y="3154680"/>
            <a:ext cx="502920" cy="566928"/>
          </a:xfrm>
          <a:prstGeom prst="rect">
            <a:avLst/>
          </a:prstGeom>
          <a:solidFill>
            <a:srgbClr val="1C7293"/>
          </a:solidFill>
          <a:ln w="12700">
            <a:solidFill>
              <a:srgbClr val="1C7293"/>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Elle doit faire l'objet d'actions concrètes et son absence déclenche un plan correctif immédiat</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02C39A">
                <a:alpha val="60000"/>
              </a:srgbClr>
            </a:solidFill>
            <a:prstDash val="solid"/>
          </a:ln>
        </p:spPr>
      </p:sp>
      <p:sp>
        <p:nvSpPr>
          <p:cNvPr id="17" name="Shape 15"/>
          <p:cNvSpPr/>
          <p:nvPr/>
        </p:nvSpPr>
        <p:spPr>
          <a:xfrm>
            <a:off x="457200" y="3794760"/>
            <a:ext cx="502920" cy="566928"/>
          </a:xfrm>
          <a:prstGeom prst="rect">
            <a:avLst/>
          </a:prstGeom>
          <a:solidFill>
            <a:srgbClr val="1C7293"/>
          </a:solidFill>
          <a:ln w="12700">
            <a:solidFill>
              <a:srgbClr val="1C7293"/>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Elle ne concerne que les EHPAD</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Q8/50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La prévention de la maltraitance est un critère impératif dans le chapitre 1. Quelle en est la conséquence pratique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Elle peut être remplacée par une simple sensibilisation annuelle</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Elle doit faire l'objet d'actions concrètes et son absence déclenche un plan correctif immédiat</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Elle ne concerne que les EHPAD</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1C7293">
                <a:alpha val="70000"/>
              </a:srgbClr>
            </a:solidFill>
            <a:prstDash val="solid"/>
          </a:ln>
        </p:spPr>
      </p:sp>
      <p:sp>
        <p:nvSpPr>
          <p:cNvPr id="19" name="Shape 17"/>
          <p:cNvSpPr/>
          <p:nvPr/>
        </p:nvSpPr>
        <p:spPr>
          <a:xfrm>
            <a:off x="457200" y="3364992"/>
            <a:ext cx="73152" cy="1417320"/>
          </a:xfrm>
          <a:prstGeom prst="rect">
            <a:avLst/>
          </a:prstGeom>
          <a:solidFill>
            <a:srgbClr val="1C7293"/>
          </a:solidFill>
          <a:ln w="12700">
            <a:solidFill>
              <a:srgbClr val="1C7293"/>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1C7293"/>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La prévention de la maltraitance est un critère impératif (1.1.3) : des actions concrètes de prévention et de sensibilisation doivent être mises en œuvre, et tout manquement entraîne un plan d'action immédiat.</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4F71"/>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28600"/>
            <a:ext cx="1188720" cy="411480"/>
          </a:xfrm>
          <a:prstGeom prst="roundRect">
            <a:avLst>
              <a:gd name="adj" fmla="val 17778"/>
            </a:avLst>
          </a:prstGeom>
          <a:solidFill>
            <a:srgbClr val="02C39A"/>
          </a:solidFill>
          <a:ln w="12700">
            <a:solidFill>
              <a:srgbClr val="02C39A"/>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0B4F71"/>
                </a:solidFill>
                <a:latin typeface="Calibri" pitchFamily="34" charset="0"/>
                <a:ea typeface="Calibri" pitchFamily="34" charset="-122"/>
                <a:cs typeface="Calibri" pitchFamily="34" charset="-120"/>
              </a:rPr>
              <a:t>Q9/50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1</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 garantit le critère relatif au respect des droits fondamentaux (critère 1.3.1) pour les ESSMS avec hébergement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02C39A">
                <a:alpha val="60000"/>
              </a:srgbClr>
            </a:solidFill>
            <a:prstDash val="solid"/>
          </a:ln>
        </p:spPr>
      </p:sp>
      <p:sp>
        <p:nvSpPr>
          <p:cNvPr id="9" name="Shape 7"/>
          <p:cNvSpPr/>
          <p:nvPr/>
        </p:nvSpPr>
        <p:spPr>
          <a:xfrm>
            <a:off x="457200" y="2514600"/>
            <a:ext cx="502920" cy="566928"/>
          </a:xfrm>
          <a:prstGeom prst="rect">
            <a:avLst/>
          </a:prstGeom>
          <a:solidFill>
            <a:srgbClr val="1C7293"/>
          </a:solidFill>
          <a:ln w="12700">
            <a:solidFill>
              <a:srgbClr val="1C7293"/>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 logement réservé à chaque résident</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02C39A">
                <a:alpha val="60000"/>
              </a:srgbClr>
            </a:solidFill>
            <a:prstDash val="solid"/>
          </a:ln>
        </p:spPr>
      </p:sp>
      <p:sp>
        <p:nvSpPr>
          <p:cNvPr id="13" name="Shape 11"/>
          <p:cNvSpPr/>
          <p:nvPr/>
        </p:nvSpPr>
        <p:spPr>
          <a:xfrm>
            <a:off x="457200" y="3154680"/>
            <a:ext cx="502920" cy="566928"/>
          </a:xfrm>
          <a:prstGeom prst="rect">
            <a:avLst/>
          </a:prstGeom>
          <a:solidFill>
            <a:srgbClr val="1C7293"/>
          </a:solidFill>
          <a:ln w="12700">
            <a:solidFill>
              <a:srgbClr val="1C7293"/>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 hébergement respectant les droits fondamentaux de la personne (intimité, vie privée, dignité)</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02C39A">
                <a:alpha val="60000"/>
              </a:srgbClr>
            </a:solidFill>
            <a:prstDash val="solid"/>
          </a:ln>
        </p:spPr>
      </p:sp>
      <p:sp>
        <p:nvSpPr>
          <p:cNvPr id="17" name="Shape 15"/>
          <p:cNvSpPr/>
          <p:nvPr/>
        </p:nvSpPr>
        <p:spPr>
          <a:xfrm>
            <a:off x="457200" y="3794760"/>
            <a:ext cx="502920" cy="566928"/>
          </a:xfrm>
          <a:prstGeom prst="rect">
            <a:avLst/>
          </a:prstGeom>
          <a:solidFill>
            <a:srgbClr val="1C7293"/>
          </a:solidFill>
          <a:ln w="12700">
            <a:solidFill>
              <a:srgbClr val="1C7293"/>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Une chambre individuelle systématique</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Q9/50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 garantit le critère relatif au respect des droits fondamentaux (critère 1.3.1) pour les ESSMS avec hébergement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 logement réservé à chaque résident</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Un hébergement respectant les droits fondamentaux de la personne (intimité, vie privée, dignité)</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Une chambre individuelle systématique</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1C7293">
                <a:alpha val="70000"/>
              </a:srgbClr>
            </a:solidFill>
            <a:prstDash val="solid"/>
          </a:ln>
        </p:spPr>
      </p:sp>
      <p:sp>
        <p:nvSpPr>
          <p:cNvPr id="19" name="Shape 17"/>
          <p:cNvSpPr/>
          <p:nvPr/>
        </p:nvSpPr>
        <p:spPr>
          <a:xfrm>
            <a:off x="457200" y="3364992"/>
            <a:ext cx="73152" cy="1417320"/>
          </a:xfrm>
          <a:prstGeom prst="rect">
            <a:avLst/>
          </a:prstGeom>
          <a:solidFill>
            <a:srgbClr val="1C7293"/>
          </a:solidFill>
          <a:ln w="12700">
            <a:solidFill>
              <a:srgbClr val="1C7293"/>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1C7293"/>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critère 1.3.1 (impératif pour les structures avec hébergement) exige que le cadre de vie et d'hébergement respecte les droits fondamentaux : dignité, intimité, vie privée et liberté de la personne accompagnée.</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4F71"/>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28600"/>
            <a:ext cx="1188720" cy="411480"/>
          </a:xfrm>
          <a:prstGeom prst="roundRect">
            <a:avLst>
              <a:gd name="adj" fmla="val 17778"/>
            </a:avLst>
          </a:prstGeom>
          <a:solidFill>
            <a:srgbClr val="02C39A"/>
          </a:solidFill>
          <a:ln w="12700">
            <a:solidFill>
              <a:srgbClr val="02C39A"/>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0B4F71"/>
                </a:solidFill>
                <a:latin typeface="Calibri" pitchFamily="34" charset="0"/>
                <a:ea typeface="Calibri" pitchFamily="34" charset="-122"/>
                <a:cs typeface="Calibri" pitchFamily="34" charset="-120"/>
              </a:rPr>
              <a:t>Q10/50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1</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Le consentement éclairé de la personne accompagnée est-il un critère impératif dans le référentiel HAS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02C39A">
                <a:alpha val="60000"/>
              </a:srgbClr>
            </a:solidFill>
            <a:prstDash val="solid"/>
          </a:ln>
        </p:spPr>
      </p:sp>
      <p:sp>
        <p:nvSpPr>
          <p:cNvPr id="9" name="Shape 7"/>
          <p:cNvSpPr/>
          <p:nvPr/>
        </p:nvSpPr>
        <p:spPr>
          <a:xfrm>
            <a:off x="457200" y="2514600"/>
            <a:ext cx="502920" cy="566928"/>
          </a:xfrm>
          <a:prstGeom prst="rect">
            <a:avLst/>
          </a:prstGeom>
          <a:solidFill>
            <a:srgbClr val="1C7293"/>
          </a:solidFill>
          <a:ln w="12700">
            <a:solidFill>
              <a:srgbClr val="1C7293"/>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Non, c'est un critère standard</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02C39A">
                <a:alpha val="60000"/>
              </a:srgbClr>
            </a:solidFill>
            <a:prstDash val="solid"/>
          </a:ln>
        </p:spPr>
      </p:sp>
      <p:sp>
        <p:nvSpPr>
          <p:cNvPr id="13" name="Shape 11"/>
          <p:cNvSpPr/>
          <p:nvPr/>
        </p:nvSpPr>
        <p:spPr>
          <a:xfrm>
            <a:off x="457200" y="3154680"/>
            <a:ext cx="502920" cy="566928"/>
          </a:xfrm>
          <a:prstGeom prst="rect">
            <a:avLst/>
          </a:prstGeom>
          <a:solidFill>
            <a:srgbClr val="1C7293"/>
          </a:solidFill>
          <a:ln w="12700">
            <a:solidFill>
              <a:srgbClr val="1C7293"/>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Oui, il doit être recueilli pour toute décision concernant la personne</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02C39A">
                <a:alpha val="60000"/>
              </a:srgbClr>
            </a:solidFill>
            <a:prstDash val="solid"/>
          </a:ln>
        </p:spPr>
      </p:sp>
      <p:sp>
        <p:nvSpPr>
          <p:cNvPr id="17" name="Shape 15"/>
          <p:cNvSpPr/>
          <p:nvPr/>
        </p:nvSpPr>
        <p:spPr>
          <a:xfrm>
            <a:off x="457200" y="3794760"/>
            <a:ext cx="502920" cy="566928"/>
          </a:xfrm>
          <a:prstGeom prst="rect">
            <a:avLst/>
          </a:prstGeom>
          <a:solidFill>
            <a:srgbClr val="1C7293"/>
          </a:solidFill>
          <a:ln w="12700">
            <a:solidFill>
              <a:srgbClr val="1C7293"/>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Oui, mais uniquement pour les actes médicaux</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Q10/50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Le consentement éclairé de la personne accompagnée est-il un critère impératif dans le référentiel HAS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Non, c'est un critère standard</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Oui, il doit être recueilli pour toute décision concernant la personne</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Oui, mais uniquement pour les actes médicaux</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1C7293">
                <a:alpha val="70000"/>
              </a:srgbClr>
            </a:solidFill>
            <a:prstDash val="solid"/>
          </a:ln>
        </p:spPr>
      </p:sp>
      <p:sp>
        <p:nvSpPr>
          <p:cNvPr id="19" name="Shape 17"/>
          <p:cNvSpPr/>
          <p:nvPr/>
        </p:nvSpPr>
        <p:spPr>
          <a:xfrm>
            <a:off x="457200" y="3364992"/>
            <a:ext cx="73152" cy="1417320"/>
          </a:xfrm>
          <a:prstGeom prst="rect">
            <a:avLst/>
          </a:prstGeom>
          <a:solidFill>
            <a:srgbClr val="1C7293"/>
          </a:solidFill>
          <a:ln w="12700">
            <a:solidFill>
              <a:srgbClr val="1C7293"/>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1C7293"/>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critère 1.4.2 est impératif : le consentement éclairé de la personne accompagnée doit être recueilli dans TOUTES les décisions la concernant, pas uniquement pour les actes médicaux.</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4F71"/>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28600"/>
            <a:ext cx="1188720" cy="411480"/>
          </a:xfrm>
          <a:prstGeom prst="roundRect">
            <a:avLst>
              <a:gd name="adj" fmla="val 17778"/>
            </a:avLst>
          </a:prstGeom>
          <a:solidFill>
            <a:srgbClr val="02C39A"/>
          </a:solidFill>
          <a:ln w="12700">
            <a:solidFill>
              <a:srgbClr val="02C39A"/>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0B4F71"/>
                </a:solidFill>
                <a:latin typeface="Calibri" pitchFamily="34" charset="0"/>
                <a:ea typeface="Calibri" pitchFamily="34" charset="-122"/>
                <a:cs typeface="Calibri" pitchFamily="34" charset="-120"/>
              </a:rPr>
              <a:t>Q11/50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1</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Quel droit la personne accompagnée doit-elle avoir concernant les voies de recours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02C39A">
                <a:alpha val="60000"/>
              </a:srgbClr>
            </a:solidFill>
            <a:prstDash val="solid"/>
          </a:ln>
        </p:spPr>
      </p:sp>
      <p:sp>
        <p:nvSpPr>
          <p:cNvPr id="9" name="Shape 7"/>
          <p:cNvSpPr/>
          <p:nvPr/>
        </p:nvSpPr>
        <p:spPr>
          <a:xfrm>
            <a:off x="457200" y="2514600"/>
            <a:ext cx="502920" cy="566928"/>
          </a:xfrm>
          <a:prstGeom prst="rect">
            <a:avLst/>
          </a:prstGeom>
          <a:solidFill>
            <a:srgbClr val="1C7293"/>
          </a:solidFill>
          <a:ln w="12700">
            <a:solidFill>
              <a:srgbClr val="1C7293"/>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Uniquement un droit de saisine du tribunal</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02C39A">
                <a:alpha val="60000"/>
              </a:srgbClr>
            </a:solidFill>
            <a:prstDash val="solid"/>
          </a:ln>
        </p:spPr>
      </p:sp>
      <p:sp>
        <p:nvSpPr>
          <p:cNvPr id="13" name="Shape 11"/>
          <p:cNvSpPr/>
          <p:nvPr/>
        </p:nvSpPr>
        <p:spPr>
          <a:xfrm>
            <a:off x="457200" y="3154680"/>
            <a:ext cx="502920" cy="566928"/>
          </a:xfrm>
          <a:prstGeom prst="rect">
            <a:avLst/>
          </a:prstGeom>
          <a:solidFill>
            <a:srgbClr val="1C7293"/>
          </a:solidFill>
          <a:ln w="12700">
            <a:solidFill>
              <a:srgbClr val="1C7293"/>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La connaissance des modalités de dépôt d'une plainte ou réclamation au sein de l'ESSMS</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02C39A">
                <a:alpha val="60000"/>
              </a:srgbClr>
            </a:solidFill>
            <a:prstDash val="solid"/>
          </a:ln>
        </p:spPr>
      </p:sp>
      <p:sp>
        <p:nvSpPr>
          <p:cNvPr id="17" name="Shape 15"/>
          <p:cNvSpPr/>
          <p:nvPr/>
        </p:nvSpPr>
        <p:spPr>
          <a:xfrm>
            <a:off x="457200" y="3794760"/>
            <a:ext cx="502920" cy="566928"/>
          </a:xfrm>
          <a:prstGeom prst="rect">
            <a:avLst/>
          </a:prstGeom>
          <a:solidFill>
            <a:srgbClr val="1C7293"/>
          </a:solidFill>
          <a:ln w="12700">
            <a:solidFill>
              <a:srgbClr val="1C7293"/>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Le droit d'accès à l'inspection uniquement</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Q11/50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Quel droit la personne accompagnée doit-elle avoir concernant les voies de recours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Uniquement un droit de saisine du tribunal</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La connaissance des modalités de dépôt d'une plainte ou réclamation au sein de l'ESSMS</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Le droit d'accès à l'inspection uniquement</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1C7293">
                <a:alpha val="70000"/>
              </a:srgbClr>
            </a:solidFill>
            <a:prstDash val="solid"/>
          </a:ln>
        </p:spPr>
      </p:sp>
      <p:sp>
        <p:nvSpPr>
          <p:cNvPr id="19" name="Shape 17"/>
          <p:cNvSpPr/>
          <p:nvPr/>
        </p:nvSpPr>
        <p:spPr>
          <a:xfrm>
            <a:off x="457200" y="3364992"/>
            <a:ext cx="73152" cy="1417320"/>
          </a:xfrm>
          <a:prstGeom prst="rect">
            <a:avLst/>
          </a:prstGeom>
          <a:solidFill>
            <a:srgbClr val="1C7293"/>
          </a:solidFill>
          <a:ln w="12700">
            <a:solidFill>
              <a:srgbClr val="1C7293"/>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1C7293"/>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critère 1.5.1 précise que la personne accompagnée doit connaître les modalités de dépôt d'une plainte ou réclamation. Ce droit à l'expression d'un mécontentement est fondamental.</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B4F71"/>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28600"/>
            <a:ext cx="1188720" cy="411480"/>
          </a:xfrm>
          <a:prstGeom prst="roundRect">
            <a:avLst>
              <a:gd name="adj" fmla="val 17778"/>
            </a:avLst>
          </a:prstGeom>
          <a:solidFill>
            <a:srgbClr val="02C39A"/>
          </a:solidFill>
          <a:ln w="12700">
            <a:solidFill>
              <a:srgbClr val="02C39A"/>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0B4F71"/>
                </a:solidFill>
                <a:latin typeface="Calibri" pitchFamily="34" charset="0"/>
                <a:ea typeface="Calibri" pitchFamily="34" charset="-122"/>
                <a:cs typeface="Calibri" pitchFamily="34" charset="-120"/>
              </a:rPr>
              <a:t>Q12/50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1</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Quel outil garantit l'expression et la participation collective des personnes accompagnées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02C39A">
                <a:alpha val="60000"/>
              </a:srgbClr>
            </a:solidFill>
            <a:prstDash val="solid"/>
          </a:ln>
        </p:spPr>
      </p:sp>
      <p:sp>
        <p:nvSpPr>
          <p:cNvPr id="9" name="Shape 7"/>
          <p:cNvSpPr/>
          <p:nvPr/>
        </p:nvSpPr>
        <p:spPr>
          <a:xfrm>
            <a:off x="457200" y="2514600"/>
            <a:ext cx="502920" cy="566928"/>
          </a:xfrm>
          <a:prstGeom prst="rect">
            <a:avLst/>
          </a:prstGeom>
          <a:solidFill>
            <a:srgbClr val="1C7293"/>
          </a:solidFill>
          <a:ln w="12700">
            <a:solidFill>
              <a:srgbClr val="1C7293"/>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Le projet personnalisé d'accompagnement</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02C39A">
                <a:alpha val="60000"/>
              </a:srgbClr>
            </a:solidFill>
            <a:prstDash val="solid"/>
          </a:ln>
        </p:spPr>
      </p:sp>
      <p:sp>
        <p:nvSpPr>
          <p:cNvPr id="13" name="Shape 11"/>
          <p:cNvSpPr/>
          <p:nvPr/>
        </p:nvSpPr>
        <p:spPr>
          <a:xfrm>
            <a:off x="457200" y="3154680"/>
            <a:ext cx="502920" cy="566928"/>
          </a:xfrm>
          <a:prstGeom prst="rect">
            <a:avLst/>
          </a:prstGeom>
          <a:solidFill>
            <a:srgbClr val="1C7293"/>
          </a:solidFill>
          <a:ln w="12700">
            <a:solidFill>
              <a:srgbClr val="1C7293"/>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Le Conseil de la Vie Sociale (CVS) ou toute autre instance de participation</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02C39A">
                <a:alpha val="60000"/>
              </a:srgbClr>
            </a:solidFill>
            <a:prstDash val="solid"/>
          </a:ln>
        </p:spPr>
      </p:sp>
      <p:sp>
        <p:nvSpPr>
          <p:cNvPr id="17" name="Shape 15"/>
          <p:cNvSpPr/>
          <p:nvPr/>
        </p:nvSpPr>
        <p:spPr>
          <a:xfrm>
            <a:off x="457200" y="3794760"/>
            <a:ext cx="502920" cy="566928"/>
          </a:xfrm>
          <a:prstGeom prst="rect">
            <a:avLst/>
          </a:prstGeom>
          <a:solidFill>
            <a:srgbClr val="1C7293"/>
          </a:solidFill>
          <a:ln w="12700">
            <a:solidFill>
              <a:srgbClr val="1C7293"/>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Le règlement intérieur</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Q12/50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Quel outil garantit l'expression et la participation collective des personnes accompagnées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Le projet personnalisé d'accompagnement</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Le Conseil de la Vie Sociale (CVS) ou toute autre instance de participation</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Le règlement intérieur</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1C7293">
                <a:alpha val="70000"/>
              </a:srgbClr>
            </a:solidFill>
            <a:prstDash val="solid"/>
          </a:ln>
        </p:spPr>
      </p:sp>
      <p:sp>
        <p:nvSpPr>
          <p:cNvPr id="19" name="Shape 17"/>
          <p:cNvSpPr/>
          <p:nvPr/>
        </p:nvSpPr>
        <p:spPr>
          <a:xfrm>
            <a:off x="457200" y="3364992"/>
            <a:ext cx="73152" cy="1417320"/>
          </a:xfrm>
          <a:prstGeom prst="rect">
            <a:avLst/>
          </a:prstGeom>
          <a:solidFill>
            <a:srgbClr val="1C7293"/>
          </a:solidFill>
          <a:ln w="12700">
            <a:solidFill>
              <a:srgbClr val="1C7293"/>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1C7293"/>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CVS (critère 1.7.2, impératif) est l'instance principale de participation collective. La personne accompagnée doit être informée de son existence et pouvoir y participer.</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B4F71"/>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28600"/>
            <a:ext cx="1188720" cy="411480"/>
          </a:xfrm>
          <a:prstGeom prst="roundRect">
            <a:avLst>
              <a:gd name="adj" fmla="val 17778"/>
            </a:avLst>
          </a:prstGeom>
          <a:solidFill>
            <a:srgbClr val="02C39A"/>
          </a:solidFill>
          <a:ln w="12700">
            <a:solidFill>
              <a:srgbClr val="02C39A"/>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0B4F71"/>
                </a:solidFill>
                <a:latin typeface="Calibri" pitchFamily="34" charset="0"/>
                <a:ea typeface="Calibri" pitchFamily="34" charset="-122"/>
                <a:cs typeface="Calibri" pitchFamily="34" charset="-120"/>
              </a:rPr>
              <a:t>Q13/50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1</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 prévoit le référentiel HAS concernant la vie affective, intime et sexuelle des personnes accompagnées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02C39A">
                <a:alpha val="60000"/>
              </a:srgbClr>
            </a:solidFill>
            <a:prstDash val="solid"/>
          </a:ln>
        </p:spPr>
      </p:sp>
      <p:sp>
        <p:nvSpPr>
          <p:cNvPr id="9" name="Shape 7"/>
          <p:cNvSpPr/>
          <p:nvPr/>
        </p:nvSpPr>
        <p:spPr>
          <a:xfrm>
            <a:off x="457200" y="2514600"/>
            <a:ext cx="502920" cy="566928"/>
          </a:xfrm>
          <a:prstGeom prst="rect">
            <a:avLst/>
          </a:prstGeom>
          <a:solidFill>
            <a:srgbClr val="1C7293"/>
          </a:solidFill>
          <a:ln w="12700">
            <a:solidFill>
              <a:srgbClr val="1C7293"/>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Elle est laissée à l'appréciation de chaque établissement</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02C39A">
                <a:alpha val="60000"/>
              </a:srgbClr>
            </a:solidFill>
            <a:prstDash val="solid"/>
          </a:ln>
        </p:spPr>
      </p:sp>
      <p:sp>
        <p:nvSpPr>
          <p:cNvPr id="13" name="Shape 11"/>
          <p:cNvSpPr/>
          <p:nvPr/>
        </p:nvSpPr>
        <p:spPr>
          <a:xfrm>
            <a:off x="457200" y="3154680"/>
            <a:ext cx="502920" cy="566928"/>
          </a:xfrm>
          <a:prstGeom prst="rect">
            <a:avLst/>
          </a:prstGeom>
          <a:solidFill>
            <a:srgbClr val="1C7293"/>
          </a:solidFill>
          <a:ln w="12700">
            <a:solidFill>
              <a:srgbClr val="1C7293"/>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L'ESSMS accompagne ce maintien dans le respect des souhaits et droits de la personne</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02C39A">
                <a:alpha val="60000"/>
              </a:srgbClr>
            </a:solidFill>
            <a:prstDash val="solid"/>
          </a:ln>
        </p:spPr>
      </p:sp>
      <p:sp>
        <p:nvSpPr>
          <p:cNvPr id="17" name="Shape 15"/>
          <p:cNvSpPr/>
          <p:nvPr/>
        </p:nvSpPr>
        <p:spPr>
          <a:xfrm>
            <a:off x="457200" y="3794760"/>
            <a:ext cx="502920" cy="566928"/>
          </a:xfrm>
          <a:prstGeom prst="rect">
            <a:avLst/>
          </a:prstGeom>
          <a:solidFill>
            <a:srgbClr val="1C7293"/>
          </a:solidFill>
          <a:ln w="12700">
            <a:solidFill>
              <a:srgbClr val="1C7293"/>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Elle est encadrée par des règles restrictives pour des raisons de sécurité</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Q13/50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 prévoit le référentiel HAS concernant la vie affective, intime et sexuelle des personnes accompagnées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Elle est laissée à l'appréciation de chaque établissement</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L'ESSMS accompagne ce maintien dans le respect des souhaits et droits de la personne</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Elle est encadrée par des règles restrictives pour des raisons de sécurité</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1C7293">
                <a:alpha val="70000"/>
              </a:srgbClr>
            </a:solidFill>
            <a:prstDash val="solid"/>
          </a:ln>
        </p:spPr>
      </p:sp>
      <p:sp>
        <p:nvSpPr>
          <p:cNvPr id="19" name="Shape 17"/>
          <p:cNvSpPr/>
          <p:nvPr/>
        </p:nvSpPr>
        <p:spPr>
          <a:xfrm>
            <a:off x="457200" y="3364992"/>
            <a:ext cx="73152" cy="1417320"/>
          </a:xfrm>
          <a:prstGeom prst="rect">
            <a:avLst/>
          </a:prstGeom>
          <a:solidFill>
            <a:srgbClr val="1C7293"/>
          </a:solidFill>
          <a:ln w="12700">
            <a:solidFill>
              <a:srgbClr val="1C7293"/>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1C7293"/>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critère 1.8.2 prévoit que l'ESSMS accompagne le maintien de la vie affective, intime et sexuelle dans le respect des souhaits et droits de la personne. Il s'agit d'un droit fondamental reconnu.</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B4F71"/>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28600"/>
            <a:ext cx="1188720" cy="411480"/>
          </a:xfrm>
          <a:prstGeom prst="roundRect">
            <a:avLst>
              <a:gd name="adj" fmla="val 17778"/>
            </a:avLst>
          </a:prstGeom>
          <a:solidFill>
            <a:srgbClr val="02C39A"/>
          </a:solidFill>
          <a:ln w="12700">
            <a:solidFill>
              <a:srgbClr val="02C39A"/>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0B4F71"/>
                </a:solidFill>
                <a:latin typeface="Calibri" pitchFamily="34" charset="0"/>
                <a:ea typeface="Calibri" pitchFamily="34" charset="-122"/>
                <a:cs typeface="Calibri" pitchFamily="34" charset="-120"/>
              </a:rPr>
              <a:t>Q14/50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1</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Dans quel chapitre et thématique retrouve-t-on le projet d'accompagnement personnalisé (PAP)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02C39A">
                <a:alpha val="60000"/>
              </a:srgbClr>
            </a:solidFill>
            <a:prstDash val="solid"/>
          </a:ln>
        </p:spPr>
      </p:sp>
      <p:sp>
        <p:nvSpPr>
          <p:cNvPr id="9" name="Shape 7"/>
          <p:cNvSpPr/>
          <p:nvPr/>
        </p:nvSpPr>
        <p:spPr>
          <a:xfrm>
            <a:off x="457200" y="2514600"/>
            <a:ext cx="502920" cy="566928"/>
          </a:xfrm>
          <a:prstGeom prst="rect">
            <a:avLst/>
          </a:prstGeom>
          <a:solidFill>
            <a:srgbClr val="1C7293"/>
          </a:solidFill>
          <a:ln w="12700">
            <a:solidFill>
              <a:srgbClr val="1C7293"/>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Chapitre 1 — Co-construction et personnalisation du projet</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02C39A">
                <a:alpha val="60000"/>
              </a:srgbClr>
            </a:solidFill>
            <a:prstDash val="solid"/>
          </a:ln>
        </p:spPr>
      </p:sp>
      <p:sp>
        <p:nvSpPr>
          <p:cNvPr id="13" name="Shape 11"/>
          <p:cNvSpPr/>
          <p:nvPr/>
        </p:nvSpPr>
        <p:spPr>
          <a:xfrm>
            <a:off x="457200" y="3154680"/>
            <a:ext cx="502920" cy="566928"/>
          </a:xfrm>
          <a:prstGeom prst="rect">
            <a:avLst/>
          </a:prstGeom>
          <a:solidFill>
            <a:srgbClr val="1C7293"/>
          </a:solidFill>
          <a:ln w="12700">
            <a:solidFill>
              <a:srgbClr val="1C7293"/>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Chapitre 2 — Compétences des professionnels</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02C39A">
                <a:alpha val="60000"/>
              </a:srgbClr>
            </a:solidFill>
            <a:prstDash val="solid"/>
          </a:ln>
        </p:spPr>
      </p:sp>
      <p:sp>
        <p:nvSpPr>
          <p:cNvPr id="17" name="Shape 15"/>
          <p:cNvSpPr/>
          <p:nvPr/>
        </p:nvSpPr>
        <p:spPr>
          <a:xfrm>
            <a:off x="457200" y="3794760"/>
            <a:ext cx="502920" cy="566928"/>
          </a:xfrm>
          <a:prstGeom prst="rect">
            <a:avLst/>
          </a:prstGeom>
          <a:solidFill>
            <a:srgbClr val="1C7293"/>
          </a:solidFill>
          <a:ln w="12700">
            <a:solidFill>
              <a:srgbClr val="1C7293"/>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Chapitre 3 — Gouvernance</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Q14/50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Dans quel chapitre et thématique retrouve-t-on le projet d'accompagnement personnalisé (PAP) ?</a:t>
            </a:r>
            <a:endParaRPr lang="en-US" sz="1300" dirty="0"/>
          </a:p>
        </p:txBody>
      </p:sp>
      <p:sp>
        <p:nvSpPr>
          <p:cNvPr id="6" name="Shape 4"/>
          <p:cNvSpPr/>
          <p:nvPr/>
        </p:nvSpPr>
        <p:spPr>
          <a:xfrm>
            <a:off x="457200" y="1536192"/>
            <a:ext cx="8229600" cy="530352"/>
          </a:xfrm>
          <a:prstGeom prst="rect">
            <a:avLst/>
          </a:prstGeom>
          <a:solidFill>
            <a:srgbClr val="D4EDDA"/>
          </a:solidFill>
          <a:ln w="19050">
            <a:solidFill>
              <a:srgbClr val="22A06B"/>
            </a:solidFill>
            <a:prstDash val="solid"/>
          </a:ln>
        </p:spPr>
      </p:sp>
      <p:sp>
        <p:nvSpPr>
          <p:cNvPr id="7" name="Shape 5"/>
          <p:cNvSpPr/>
          <p:nvPr/>
        </p:nvSpPr>
        <p:spPr>
          <a:xfrm>
            <a:off x="457200" y="1536192"/>
            <a:ext cx="502920" cy="530352"/>
          </a:xfrm>
          <a:prstGeom prst="rect">
            <a:avLst/>
          </a:prstGeom>
          <a:solidFill>
            <a:srgbClr val="22A06B"/>
          </a:solidFill>
          <a:ln w="12700">
            <a:solidFill>
              <a:srgbClr val="22A06B"/>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Chapitre 1 — Co-construction et personnalisation du projet</a:t>
            </a:r>
            <a:endParaRPr lang="en-US" sz="1400" dirty="0"/>
          </a:p>
        </p:txBody>
      </p:sp>
      <p:sp>
        <p:nvSpPr>
          <p:cNvPr id="10" name="Shape 8"/>
          <p:cNvSpPr/>
          <p:nvPr/>
        </p:nvSpPr>
        <p:spPr>
          <a:xfrm>
            <a:off x="457200" y="2130552"/>
            <a:ext cx="8229600" cy="530352"/>
          </a:xfrm>
          <a:prstGeom prst="rect">
            <a:avLst/>
          </a:prstGeom>
          <a:solidFill>
            <a:srgbClr val="F0F4F8"/>
          </a:solidFill>
          <a:ln w="6350">
            <a:solidFill>
              <a:srgbClr val="CCCCCC"/>
            </a:solidFill>
            <a:prstDash val="solid"/>
          </a:ln>
        </p:spPr>
      </p:sp>
      <p:sp>
        <p:nvSpPr>
          <p:cNvPr id="11" name="Shape 9"/>
          <p:cNvSpPr/>
          <p:nvPr/>
        </p:nvSpPr>
        <p:spPr>
          <a:xfrm>
            <a:off x="457200" y="2130552"/>
            <a:ext cx="502920" cy="530352"/>
          </a:xfrm>
          <a:prstGeom prst="rect">
            <a:avLst/>
          </a:prstGeom>
          <a:solidFill>
            <a:srgbClr val="CCCCCC"/>
          </a:solidFill>
          <a:ln w="12700">
            <a:solidFill>
              <a:srgbClr val="CCCCCC"/>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Chapitre 2 — Compétences des professionnels</a:t>
            </a:r>
            <a:endParaRPr lang="en-US" sz="13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Chapitre 3 — Gouvernance</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1C7293">
                <a:alpha val="70000"/>
              </a:srgbClr>
            </a:solidFill>
            <a:prstDash val="solid"/>
          </a:ln>
        </p:spPr>
      </p:sp>
      <p:sp>
        <p:nvSpPr>
          <p:cNvPr id="19" name="Shape 17"/>
          <p:cNvSpPr/>
          <p:nvPr/>
        </p:nvSpPr>
        <p:spPr>
          <a:xfrm>
            <a:off x="457200" y="3364992"/>
            <a:ext cx="73152" cy="1417320"/>
          </a:xfrm>
          <a:prstGeom prst="rect">
            <a:avLst/>
          </a:prstGeom>
          <a:solidFill>
            <a:srgbClr val="1C7293"/>
          </a:solidFill>
          <a:ln w="12700">
            <a:solidFill>
              <a:srgbClr val="1C7293"/>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1C7293"/>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PAP est au cœur de la thématique 'Co-construction et personnalisation du projet' du Chapitre 1. L'objectif 1.10 porte spécifiquement sur son élaboration avec la personne accompagnée.</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B4F71"/>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28600"/>
            <a:ext cx="1188720" cy="411480"/>
          </a:xfrm>
          <a:prstGeom prst="roundRect">
            <a:avLst>
              <a:gd name="adj" fmla="val 17778"/>
            </a:avLst>
          </a:prstGeom>
          <a:solidFill>
            <a:srgbClr val="02C39A"/>
          </a:solidFill>
          <a:ln w="12700">
            <a:solidFill>
              <a:srgbClr val="02C39A"/>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0B4F71"/>
                </a:solidFill>
                <a:latin typeface="Calibri" pitchFamily="34" charset="0"/>
                <a:ea typeface="Calibri" pitchFamily="34" charset="-122"/>
                <a:cs typeface="Calibri" pitchFamily="34" charset="-120"/>
              </a:rPr>
              <a:t>Q15/50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1</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Qu'est-ce qui rend le Projet d'Accompagnement Personnalisé (PAP) véritablement co-construit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02C39A">
                <a:alpha val="60000"/>
              </a:srgbClr>
            </a:solidFill>
            <a:prstDash val="solid"/>
          </a:ln>
        </p:spPr>
      </p:sp>
      <p:sp>
        <p:nvSpPr>
          <p:cNvPr id="9" name="Shape 7"/>
          <p:cNvSpPr/>
          <p:nvPr/>
        </p:nvSpPr>
        <p:spPr>
          <a:xfrm>
            <a:off x="457200" y="2514600"/>
            <a:ext cx="502920" cy="566928"/>
          </a:xfrm>
          <a:prstGeom prst="rect">
            <a:avLst/>
          </a:prstGeom>
          <a:solidFill>
            <a:srgbClr val="1C7293"/>
          </a:solidFill>
          <a:ln w="12700">
            <a:solidFill>
              <a:srgbClr val="1C7293"/>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Il est rédigé par le chef de service et présenté à la personne</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02C39A">
                <a:alpha val="60000"/>
              </a:srgbClr>
            </a:solidFill>
            <a:prstDash val="solid"/>
          </a:ln>
        </p:spPr>
      </p:sp>
      <p:sp>
        <p:nvSpPr>
          <p:cNvPr id="13" name="Shape 11"/>
          <p:cNvSpPr/>
          <p:nvPr/>
        </p:nvSpPr>
        <p:spPr>
          <a:xfrm>
            <a:off x="457200" y="3154680"/>
            <a:ext cx="502920" cy="566928"/>
          </a:xfrm>
          <a:prstGeom prst="rect">
            <a:avLst/>
          </a:prstGeom>
          <a:solidFill>
            <a:srgbClr val="1C7293"/>
          </a:solidFill>
          <a:ln w="12700">
            <a:solidFill>
              <a:srgbClr val="1C7293"/>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Il est élaboré avec et par la personne accompagnée, tenant compte de ses souhaits et besoins</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02C39A">
                <a:alpha val="60000"/>
              </a:srgbClr>
            </a:solidFill>
            <a:prstDash val="solid"/>
          </a:ln>
        </p:spPr>
      </p:sp>
      <p:sp>
        <p:nvSpPr>
          <p:cNvPr id="17" name="Shape 15"/>
          <p:cNvSpPr/>
          <p:nvPr/>
        </p:nvSpPr>
        <p:spPr>
          <a:xfrm>
            <a:off x="457200" y="3794760"/>
            <a:ext cx="502920" cy="566928"/>
          </a:xfrm>
          <a:prstGeom prst="rect">
            <a:avLst/>
          </a:prstGeom>
          <a:solidFill>
            <a:srgbClr val="1C7293"/>
          </a:solidFill>
          <a:ln w="12700">
            <a:solidFill>
              <a:srgbClr val="1C7293"/>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Il est standardisé à partir d'un modèle national</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Q15/50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Qu'est-ce qui rend le Projet d'Accompagnement Personnalisé (PAP) véritablement co-construit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Il est rédigé par le chef de service et présenté à la personne</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Il est élaboré avec et par la personne accompagnée, tenant compte de ses souhaits et besoins</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Il est standardisé à partir d'un modèle national</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1C7293">
                <a:alpha val="70000"/>
              </a:srgbClr>
            </a:solidFill>
            <a:prstDash val="solid"/>
          </a:ln>
        </p:spPr>
      </p:sp>
      <p:sp>
        <p:nvSpPr>
          <p:cNvPr id="19" name="Shape 17"/>
          <p:cNvSpPr/>
          <p:nvPr/>
        </p:nvSpPr>
        <p:spPr>
          <a:xfrm>
            <a:off x="457200" y="3364992"/>
            <a:ext cx="73152" cy="1417320"/>
          </a:xfrm>
          <a:prstGeom prst="rect">
            <a:avLst/>
          </a:prstGeom>
          <a:solidFill>
            <a:srgbClr val="1C7293"/>
          </a:solidFill>
          <a:ln w="12700">
            <a:solidFill>
              <a:srgbClr val="1C7293"/>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1C7293"/>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critère 1.10.1 (impératif) exige que le PAP soit élaboré AVEC la personne accompagnée. La co-construction implique sa participation active, pas seulement sa signature ou validation a posteriori.</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B4F71"/>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28600"/>
            <a:ext cx="1188720" cy="411480"/>
          </a:xfrm>
          <a:prstGeom prst="roundRect">
            <a:avLst>
              <a:gd name="adj" fmla="val 17778"/>
            </a:avLst>
          </a:prstGeom>
          <a:solidFill>
            <a:srgbClr val="02C39A"/>
          </a:solidFill>
          <a:ln w="12700">
            <a:solidFill>
              <a:srgbClr val="02C39A"/>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0B4F71"/>
                </a:solidFill>
                <a:latin typeface="Calibri" pitchFamily="34" charset="0"/>
                <a:ea typeface="Calibri" pitchFamily="34" charset="-122"/>
                <a:cs typeface="Calibri" pitchFamily="34" charset="-120"/>
              </a:rPr>
              <a:t>Q16/50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1</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À quelle fréquence le Projet d'Accompagnement Personnalisé doit-il être actualisé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02C39A">
                <a:alpha val="60000"/>
              </a:srgbClr>
            </a:solidFill>
            <a:prstDash val="solid"/>
          </a:ln>
        </p:spPr>
      </p:sp>
      <p:sp>
        <p:nvSpPr>
          <p:cNvPr id="9" name="Shape 7"/>
          <p:cNvSpPr/>
          <p:nvPr/>
        </p:nvSpPr>
        <p:spPr>
          <a:xfrm>
            <a:off x="457200" y="2514600"/>
            <a:ext cx="502920" cy="566928"/>
          </a:xfrm>
          <a:prstGeom prst="rect">
            <a:avLst/>
          </a:prstGeom>
          <a:solidFill>
            <a:srgbClr val="1C7293"/>
          </a:solidFill>
          <a:ln w="12700">
            <a:solidFill>
              <a:srgbClr val="1C7293"/>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Une seule fois à l'entrée dans la structure</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02C39A">
                <a:alpha val="60000"/>
              </a:srgbClr>
            </a:solidFill>
            <a:prstDash val="solid"/>
          </a:ln>
        </p:spPr>
      </p:sp>
      <p:sp>
        <p:nvSpPr>
          <p:cNvPr id="13" name="Shape 11"/>
          <p:cNvSpPr/>
          <p:nvPr/>
        </p:nvSpPr>
        <p:spPr>
          <a:xfrm>
            <a:off x="457200" y="3154680"/>
            <a:ext cx="502920" cy="566928"/>
          </a:xfrm>
          <a:prstGeom prst="rect">
            <a:avLst/>
          </a:prstGeom>
          <a:solidFill>
            <a:srgbClr val="1C7293"/>
          </a:solidFill>
          <a:ln w="12700">
            <a:solidFill>
              <a:srgbClr val="1C7293"/>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Régulièrement, selon l'évolution des besoins et souhaits de la personne</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02C39A">
                <a:alpha val="60000"/>
              </a:srgbClr>
            </a:solidFill>
            <a:prstDash val="solid"/>
          </a:ln>
        </p:spPr>
      </p:sp>
      <p:sp>
        <p:nvSpPr>
          <p:cNvPr id="17" name="Shape 15"/>
          <p:cNvSpPr/>
          <p:nvPr/>
        </p:nvSpPr>
        <p:spPr>
          <a:xfrm>
            <a:off x="457200" y="3794760"/>
            <a:ext cx="502920" cy="566928"/>
          </a:xfrm>
          <a:prstGeom prst="rect">
            <a:avLst/>
          </a:prstGeom>
          <a:solidFill>
            <a:srgbClr val="1C7293"/>
          </a:solidFill>
          <a:ln w="12700">
            <a:solidFill>
              <a:srgbClr val="1C7293"/>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Tous les 5 ans, au rythme des évaluations HAS</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Q16/50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À quelle fréquence le Projet d'Accompagnement Personnalisé doit-il être actualisé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Une seule fois à l'entrée dans la structure</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Régulièrement, selon l'évolution des besoins et souhaits de la personne</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Tous les 5 ans, au rythme des évaluations HAS</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1C7293">
                <a:alpha val="70000"/>
              </a:srgbClr>
            </a:solidFill>
            <a:prstDash val="solid"/>
          </a:ln>
        </p:spPr>
      </p:sp>
      <p:sp>
        <p:nvSpPr>
          <p:cNvPr id="19" name="Shape 17"/>
          <p:cNvSpPr/>
          <p:nvPr/>
        </p:nvSpPr>
        <p:spPr>
          <a:xfrm>
            <a:off x="457200" y="3364992"/>
            <a:ext cx="73152" cy="1417320"/>
          </a:xfrm>
          <a:prstGeom prst="rect">
            <a:avLst/>
          </a:prstGeom>
          <a:solidFill>
            <a:srgbClr val="1C7293"/>
          </a:solidFill>
          <a:ln w="12700">
            <a:solidFill>
              <a:srgbClr val="1C7293"/>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1C7293"/>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critère 1.10.2 précise que le PAP doit être régulièrement actualisé pour tenir compte de l'évolution des besoins, capacités et souhaits de la personne accompagnée.</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B4F71"/>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28600"/>
            <a:ext cx="1188720" cy="411480"/>
          </a:xfrm>
          <a:prstGeom prst="roundRect">
            <a:avLst>
              <a:gd name="adj" fmla="val 17778"/>
            </a:avLst>
          </a:prstGeom>
          <a:solidFill>
            <a:srgbClr val="02C39A"/>
          </a:solidFill>
          <a:ln w="12700">
            <a:solidFill>
              <a:srgbClr val="02C39A"/>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0B4F71"/>
                </a:solidFill>
                <a:latin typeface="Calibri" pitchFamily="34" charset="0"/>
                <a:ea typeface="Calibri" pitchFamily="34" charset="-122"/>
                <a:cs typeface="Calibri" pitchFamily="34" charset="-120"/>
              </a:rPr>
              <a:t>Q17/50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1</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Quelle place occupe l'autonomie dans le référentiel HAS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02C39A">
                <a:alpha val="60000"/>
              </a:srgbClr>
            </a:solidFill>
            <a:prstDash val="solid"/>
          </a:ln>
        </p:spPr>
      </p:sp>
      <p:sp>
        <p:nvSpPr>
          <p:cNvPr id="9" name="Shape 7"/>
          <p:cNvSpPr/>
          <p:nvPr/>
        </p:nvSpPr>
        <p:spPr>
          <a:xfrm>
            <a:off x="457200" y="2514600"/>
            <a:ext cx="502920" cy="566928"/>
          </a:xfrm>
          <a:prstGeom prst="rect">
            <a:avLst/>
          </a:prstGeom>
          <a:solidFill>
            <a:srgbClr val="1C7293"/>
          </a:solidFill>
          <a:ln w="12700">
            <a:solidFill>
              <a:srgbClr val="1C7293"/>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Elle est uniquement abordée pour les personnes âgées</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02C39A">
                <a:alpha val="60000"/>
              </a:srgbClr>
            </a:solidFill>
            <a:prstDash val="solid"/>
          </a:ln>
        </p:spPr>
      </p:sp>
      <p:sp>
        <p:nvSpPr>
          <p:cNvPr id="13" name="Shape 11"/>
          <p:cNvSpPr/>
          <p:nvPr/>
        </p:nvSpPr>
        <p:spPr>
          <a:xfrm>
            <a:off x="457200" y="3154680"/>
            <a:ext cx="502920" cy="566928"/>
          </a:xfrm>
          <a:prstGeom prst="rect">
            <a:avLst/>
          </a:prstGeom>
          <a:solidFill>
            <a:srgbClr val="1C7293"/>
          </a:solidFill>
          <a:ln w="12700">
            <a:solidFill>
              <a:srgbClr val="1C7293"/>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Elle constitue une thématique à part entière, présente dans les 3 chapitres du référentiel</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02C39A">
                <a:alpha val="60000"/>
              </a:srgbClr>
            </a:solidFill>
            <a:prstDash val="solid"/>
          </a:ln>
        </p:spPr>
      </p:sp>
      <p:sp>
        <p:nvSpPr>
          <p:cNvPr id="17" name="Shape 15"/>
          <p:cNvSpPr/>
          <p:nvPr/>
        </p:nvSpPr>
        <p:spPr>
          <a:xfrm>
            <a:off x="457200" y="3794760"/>
            <a:ext cx="502920" cy="566928"/>
          </a:xfrm>
          <a:prstGeom prst="rect">
            <a:avLst/>
          </a:prstGeom>
          <a:solidFill>
            <a:srgbClr val="1C7293"/>
          </a:solidFill>
          <a:ln w="12700">
            <a:solidFill>
              <a:srgbClr val="1C7293"/>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Elle est traitée uniquement dans la thématique santé</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Q17/50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Quelle place occupe l'autonomie dans le référentiel HAS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Elle est uniquement abordée pour les personnes âgées</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Elle constitue une thématique à part entière, présente dans les 3 chapitres du référentiel</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Elle est traitée uniquement dans la thématique santé</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1C7293">
                <a:alpha val="70000"/>
              </a:srgbClr>
            </a:solidFill>
            <a:prstDash val="solid"/>
          </a:ln>
        </p:spPr>
      </p:sp>
      <p:sp>
        <p:nvSpPr>
          <p:cNvPr id="19" name="Shape 17"/>
          <p:cNvSpPr/>
          <p:nvPr/>
        </p:nvSpPr>
        <p:spPr>
          <a:xfrm>
            <a:off x="457200" y="3364992"/>
            <a:ext cx="73152" cy="1417320"/>
          </a:xfrm>
          <a:prstGeom prst="rect">
            <a:avLst/>
          </a:prstGeom>
          <a:solidFill>
            <a:srgbClr val="1C7293"/>
          </a:solidFill>
          <a:ln w="12700">
            <a:solidFill>
              <a:srgbClr val="1C7293"/>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1C7293"/>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L'autonomie est centrale dans le référentiel HAS : elle fait l'objet d'une thématique dédiée 'Accompagnement à l'autonomie' et est déclinée en trois objectifs et plusieurs critères, traversant les 3 chapitres.</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B4F71"/>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28600"/>
            <a:ext cx="1188720" cy="411480"/>
          </a:xfrm>
          <a:prstGeom prst="roundRect">
            <a:avLst>
              <a:gd name="adj" fmla="val 17778"/>
            </a:avLst>
          </a:prstGeom>
          <a:solidFill>
            <a:srgbClr val="02C39A"/>
          </a:solidFill>
          <a:ln w="12700">
            <a:solidFill>
              <a:srgbClr val="02C39A"/>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0B4F71"/>
                </a:solidFill>
                <a:latin typeface="Calibri" pitchFamily="34" charset="0"/>
                <a:ea typeface="Calibri" pitchFamily="34" charset="-122"/>
                <a:cs typeface="Calibri" pitchFamily="34" charset="-120"/>
              </a:rPr>
              <a:t>Q18/50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1</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Comment l'accompagnement à la santé est-il caractérisé dans le référentiel HAS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02C39A">
                <a:alpha val="60000"/>
              </a:srgbClr>
            </a:solidFill>
            <a:prstDash val="solid"/>
          </a:ln>
        </p:spPr>
      </p:sp>
      <p:sp>
        <p:nvSpPr>
          <p:cNvPr id="9" name="Shape 7"/>
          <p:cNvSpPr/>
          <p:nvPr/>
        </p:nvSpPr>
        <p:spPr>
          <a:xfrm>
            <a:off x="457200" y="2514600"/>
            <a:ext cx="502920" cy="566928"/>
          </a:xfrm>
          <a:prstGeom prst="rect">
            <a:avLst/>
          </a:prstGeom>
          <a:solidFill>
            <a:srgbClr val="1C7293"/>
          </a:solidFill>
          <a:ln w="12700">
            <a:solidFill>
              <a:srgbClr val="1C7293"/>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Comme un simple accès aux soins médicaux</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02C39A">
                <a:alpha val="60000"/>
              </a:srgbClr>
            </a:solidFill>
            <a:prstDash val="solid"/>
          </a:ln>
        </p:spPr>
      </p:sp>
      <p:sp>
        <p:nvSpPr>
          <p:cNvPr id="13" name="Shape 11"/>
          <p:cNvSpPr/>
          <p:nvPr/>
        </p:nvSpPr>
        <p:spPr>
          <a:xfrm>
            <a:off x="457200" y="3154680"/>
            <a:ext cx="502920" cy="566928"/>
          </a:xfrm>
          <a:prstGeom prst="rect">
            <a:avLst/>
          </a:prstGeom>
          <a:solidFill>
            <a:srgbClr val="1C7293"/>
          </a:solidFill>
          <a:ln w="12700">
            <a:solidFill>
              <a:srgbClr val="1C7293"/>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Comme un accompagnement global intégrant prévention, dépistage, soins et éducation à la santé</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02C39A">
                <a:alpha val="60000"/>
              </a:srgbClr>
            </a:solidFill>
            <a:prstDash val="solid"/>
          </a:ln>
        </p:spPr>
      </p:sp>
      <p:sp>
        <p:nvSpPr>
          <p:cNvPr id="17" name="Shape 15"/>
          <p:cNvSpPr/>
          <p:nvPr/>
        </p:nvSpPr>
        <p:spPr>
          <a:xfrm>
            <a:off x="457200" y="3794760"/>
            <a:ext cx="502920" cy="566928"/>
          </a:xfrm>
          <a:prstGeom prst="rect">
            <a:avLst/>
          </a:prstGeom>
          <a:solidFill>
            <a:srgbClr val="1C7293"/>
          </a:solidFill>
          <a:ln w="12700">
            <a:solidFill>
              <a:srgbClr val="1C7293"/>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Comme relevant uniquement des établissements médicalisés</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Q18/50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Comment l'accompagnement à la santé est-il caractérisé dans le référentiel HAS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Comme un simple accès aux soins médicaux</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Comme un accompagnement global intégrant prévention, dépistage, soins et éducation à la santé</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Comme relevant uniquement des établissements médicalisés</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1C7293">
                <a:alpha val="70000"/>
              </a:srgbClr>
            </a:solidFill>
            <a:prstDash val="solid"/>
          </a:ln>
        </p:spPr>
      </p:sp>
      <p:sp>
        <p:nvSpPr>
          <p:cNvPr id="19" name="Shape 17"/>
          <p:cNvSpPr/>
          <p:nvPr/>
        </p:nvSpPr>
        <p:spPr>
          <a:xfrm>
            <a:off x="457200" y="3364992"/>
            <a:ext cx="73152" cy="1417320"/>
          </a:xfrm>
          <a:prstGeom prst="rect">
            <a:avLst/>
          </a:prstGeom>
          <a:solidFill>
            <a:srgbClr val="1C7293"/>
          </a:solidFill>
          <a:ln w="12700">
            <a:solidFill>
              <a:srgbClr val="1C7293"/>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1C7293"/>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L'accompagnement à la santé (critère 1.12.1) est appréhendé de façon globale : prévention, dépistage, éducation à la santé, soins, et gestion de la douleur sont tous inclus.</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B4F71"/>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28600"/>
            <a:ext cx="1188720" cy="411480"/>
          </a:xfrm>
          <a:prstGeom prst="roundRect">
            <a:avLst>
              <a:gd name="adj" fmla="val 17778"/>
            </a:avLst>
          </a:prstGeom>
          <a:solidFill>
            <a:srgbClr val="02C39A"/>
          </a:solidFill>
          <a:ln w="12700">
            <a:solidFill>
              <a:srgbClr val="02C39A"/>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0B4F71"/>
                </a:solidFill>
                <a:latin typeface="Calibri" pitchFamily="34" charset="0"/>
                <a:ea typeface="Calibri" pitchFamily="34" charset="-122"/>
                <a:cs typeface="Calibri" pitchFamily="34" charset="-120"/>
              </a:rPr>
              <a:t>Q19/50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1</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La prise en charge de la douleur est-elle un critère impératif dans le référentiel HAS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02C39A">
                <a:alpha val="60000"/>
              </a:srgbClr>
            </a:solidFill>
            <a:prstDash val="solid"/>
          </a:ln>
        </p:spPr>
      </p:sp>
      <p:sp>
        <p:nvSpPr>
          <p:cNvPr id="9" name="Shape 7"/>
          <p:cNvSpPr/>
          <p:nvPr/>
        </p:nvSpPr>
        <p:spPr>
          <a:xfrm>
            <a:off x="457200" y="2514600"/>
            <a:ext cx="502920" cy="566928"/>
          </a:xfrm>
          <a:prstGeom prst="rect">
            <a:avLst/>
          </a:prstGeom>
          <a:solidFill>
            <a:srgbClr val="1C7293"/>
          </a:solidFill>
          <a:ln w="12700">
            <a:solidFill>
              <a:srgbClr val="1C7293"/>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Non, c'est un critère standard applicable uniquement aux EHPAD</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02C39A">
                <a:alpha val="60000"/>
              </a:srgbClr>
            </a:solidFill>
            <a:prstDash val="solid"/>
          </a:ln>
        </p:spPr>
      </p:sp>
      <p:sp>
        <p:nvSpPr>
          <p:cNvPr id="13" name="Shape 11"/>
          <p:cNvSpPr/>
          <p:nvPr/>
        </p:nvSpPr>
        <p:spPr>
          <a:xfrm>
            <a:off x="457200" y="3154680"/>
            <a:ext cx="502920" cy="566928"/>
          </a:xfrm>
          <a:prstGeom prst="rect">
            <a:avLst/>
          </a:prstGeom>
          <a:solidFill>
            <a:srgbClr val="1C7293"/>
          </a:solidFill>
          <a:ln w="12700">
            <a:solidFill>
              <a:srgbClr val="1C7293"/>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Oui, la prise en charge de la douleur et de la souffrance doit être intégrée dans l'accompagnement</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02C39A">
                <a:alpha val="60000"/>
              </a:srgbClr>
            </a:solidFill>
            <a:prstDash val="solid"/>
          </a:ln>
        </p:spPr>
      </p:sp>
      <p:sp>
        <p:nvSpPr>
          <p:cNvPr id="17" name="Shape 15"/>
          <p:cNvSpPr/>
          <p:nvPr/>
        </p:nvSpPr>
        <p:spPr>
          <a:xfrm>
            <a:off x="457200" y="3794760"/>
            <a:ext cx="502920" cy="566928"/>
          </a:xfrm>
          <a:prstGeom prst="rect">
            <a:avLst/>
          </a:prstGeom>
          <a:solidFill>
            <a:srgbClr val="1C7293"/>
          </a:solidFill>
          <a:ln w="12700">
            <a:solidFill>
              <a:srgbClr val="1C7293"/>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Oui, mais uniquement pour les structures médicalisées</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Q19/50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La prise en charge de la douleur est-elle un critère impératif dans le référentiel HAS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Non, c'est un critère standard applicable uniquement aux EHPAD</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Oui, la prise en charge de la douleur et de la souffrance doit être intégrée dans l'accompagnement</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Oui, mais uniquement pour les structures médicalisées</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1C7293">
                <a:alpha val="70000"/>
              </a:srgbClr>
            </a:solidFill>
            <a:prstDash val="solid"/>
          </a:ln>
        </p:spPr>
      </p:sp>
      <p:sp>
        <p:nvSpPr>
          <p:cNvPr id="19" name="Shape 17"/>
          <p:cNvSpPr/>
          <p:nvPr/>
        </p:nvSpPr>
        <p:spPr>
          <a:xfrm>
            <a:off x="457200" y="3364992"/>
            <a:ext cx="73152" cy="1417320"/>
          </a:xfrm>
          <a:prstGeom prst="rect">
            <a:avLst/>
          </a:prstGeom>
          <a:solidFill>
            <a:srgbClr val="1C7293"/>
          </a:solidFill>
          <a:ln w="12700">
            <a:solidFill>
              <a:srgbClr val="1C7293"/>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1C7293"/>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critère 1.12.2 est impératif : la prise en charge de la douleur et de la souffrance doit être intégrée dans l'accompagnement de toute personne, dans tout type d'ESSMS.</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B4F71"/>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28600"/>
            <a:ext cx="1188720" cy="411480"/>
          </a:xfrm>
          <a:prstGeom prst="roundRect">
            <a:avLst>
              <a:gd name="adj" fmla="val 17778"/>
            </a:avLst>
          </a:prstGeom>
          <a:solidFill>
            <a:srgbClr val="02C39A"/>
          </a:solidFill>
          <a:ln w="12700">
            <a:solidFill>
              <a:srgbClr val="02C39A"/>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0B4F71"/>
                </a:solidFill>
                <a:latin typeface="Calibri" pitchFamily="34" charset="0"/>
                <a:ea typeface="Calibri" pitchFamily="34" charset="-122"/>
                <a:cs typeface="Calibri" pitchFamily="34" charset="-120"/>
              </a:rPr>
              <a:t>Q20/50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1</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 prévoit le référentiel concernant les personnes en fin de vie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02C39A">
                <a:alpha val="60000"/>
              </a:srgbClr>
            </a:solidFill>
            <a:prstDash val="solid"/>
          </a:ln>
        </p:spPr>
      </p:sp>
      <p:sp>
        <p:nvSpPr>
          <p:cNvPr id="9" name="Shape 7"/>
          <p:cNvSpPr/>
          <p:nvPr/>
        </p:nvSpPr>
        <p:spPr>
          <a:xfrm>
            <a:off x="457200" y="2514600"/>
            <a:ext cx="502920" cy="566928"/>
          </a:xfrm>
          <a:prstGeom prst="rect">
            <a:avLst/>
          </a:prstGeom>
          <a:solidFill>
            <a:srgbClr val="1C7293"/>
          </a:solidFill>
          <a:ln w="12700">
            <a:solidFill>
              <a:srgbClr val="1C7293"/>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 transfert systématique vers un établissement de soins</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02C39A">
                <a:alpha val="60000"/>
              </a:srgbClr>
            </a:solidFill>
            <a:prstDash val="solid"/>
          </a:ln>
        </p:spPr>
      </p:sp>
      <p:sp>
        <p:nvSpPr>
          <p:cNvPr id="13" name="Shape 11"/>
          <p:cNvSpPr/>
          <p:nvPr/>
        </p:nvSpPr>
        <p:spPr>
          <a:xfrm>
            <a:off x="457200" y="3154680"/>
            <a:ext cx="502920" cy="566928"/>
          </a:xfrm>
          <a:prstGeom prst="rect">
            <a:avLst/>
          </a:prstGeom>
          <a:solidFill>
            <a:srgbClr val="1C7293"/>
          </a:solidFill>
          <a:ln w="12700">
            <a:solidFill>
              <a:srgbClr val="1C7293"/>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 recueil des souhaits et des directives anticipées, et un accompagnement adapté de la personne et de ses proches</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02C39A">
                <a:alpha val="60000"/>
              </a:srgbClr>
            </a:solidFill>
            <a:prstDash val="solid"/>
          </a:ln>
        </p:spPr>
      </p:sp>
      <p:sp>
        <p:nvSpPr>
          <p:cNvPr id="17" name="Shape 15"/>
          <p:cNvSpPr/>
          <p:nvPr/>
        </p:nvSpPr>
        <p:spPr>
          <a:xfrm>
            <a:off x="457200" y="3794760"/>
            <a:ext cx="502920" cy="566928"/>
          </a:xfrm>
          <a:prstGeom prst="rect">
            <a:avLst/>
          </a:prstGeom>
          <a:solidFill>
            <a:srgbClr val="1C7293"/>
          </a:solidFill>
          <a:ln w="12700">
            <a:solidFill>
              <a:srgbClr val="1C7293"/>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La mise en place d'une sédation profonde</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Q20/50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 prévoit le référentiel concernant les personnes en fin de vie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 transfert systématique vers un établissement de soins</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Un recueil des souhaits et des directives anticipées, et un accompagnement adapté de la personne et de ses proches</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La mise en place d'une sédation profonde</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1C7293">
                <a:alpha val="70000"/>
              </a:srgbClr>
            </a:solidFill>
            <a:prstDash val="solid"/>
          </a:ln>
        </p:spPr>
      </p:sp>
      <p:sp>
        <p:nvSpPr>
          <p:cNvPr id="19" name="Shape 17"/>
          <p:cNvSpPr/>
          <p:nvPr/>
        </p:nvSpPr>
        <p:spPr>
          <a:xfrm>
            <a:off x="457200" y="3364992"/>
            <a:ext cx="73152" cy="1417320"/>
          </a:xfrm>
          <a:prstGeom prst="rect">
            <a:avLst/>
          </a:prstGeom>
          <a:solidFill>
            <a:srgbClr val="1C7293"/>
          </a:solidFill>
          <a:ln w="12700">
            <a:solidFill>
              <a:srgbClr val="1C7293"/>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1C7293"/>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critère 1.13.1 (impératif) exige que les souhaits et directives anticipées de la personne en fin de vie soient recueillis et respectés. Le critère 1.13.2 prévoit un accompagnement adapté pour la personne et ses proches.</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B4F71"/>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28600"/>
            <a:ext cx="1188720" cy="411480"/>
          </a:xfrm>
          <a:prstGeom prst="roundRect">
            <a:avLst>
              <a:gd name="adj" fmla="val 17778"/>
            </a:avLst>
          </a:prstGeom>
          <a:solidFill>
            <a:srgbClr val="02C39A"/>
          </a:solidFill>
          <a:ln w="12700">
            <a:solidFill>
              <a:srgbClr val="02C39A"/>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0B4F71"/>
                </a:solidFill>
                <a:latin typeface="Calibri" pitchFamily="34" charset="0"/>
                <a:ea typeface="Calibri" pitchFamily="34" charset="-122"/>
                <a:cs typeface="Calibri" pitchFamily="34" charset="-120"/>
              </a:rPr>
              <a:t>Q21/50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1</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Qu'est-ce que la continuité de l'accompagnement signifie au sens du référentiel HAS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02C39A">
                <a:alpha val="60000"/>
              </a:srgbClr>
            </a:solidFill>
            <a:prstDash val="solid"/>
          </a:ln>
        </p:spPr>
      </p:sp>
      <p:sp>
        <p:nvSpPr>
          <p:cNvPr id="9" name="Shape 7"/>
          <p:cNvSpPr/>
          <p:nvPr/>
        </p:nvSpPr>
        <p:spPr>
          <a:xfrm>
            <a:off x="457200" y="2514600"/>
            <a:ext cx="502920" cy="566928"/>
          </a:xfrm>
          <a:prstGeom prst="rect">
            <a:avLst/>
          </a:prstGeom>
          <a:solidFill>
            <a:srgbClr val="1C7293"/>
          </a:solidFill>
          <a:ln w="12700">
            <a:solidFill>
              <a:srgbClr val="1C7293"/>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 accompagnement uniquement en semaine</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02C39A">
                <a:alpha val="60000"/>
              </a:srgbClr>
            </a:solidFill>
            <a:prstDash val="solid"/>
          </a:ln>
        </p:spPr>
      </p:sp>
      <p:sp>
        <p:nvSpPr>
          <p:cNvPr id="13" name="Shape 11"/>
          <p:cNvSpPr/>
          <p:nvPr/>
        </p:nvSpPr>
        <p:spPr>
          <a:xfrm>
            <a:off x="457200" y="3154680"/>
            <a:ext cx="502920" cy="566928"/>
          </a:xfrm>
          <a:prstGeom prst="rect">
            <a:avLst/>
          </a:prstGeom>
          <a:solidFill>
            <a:srgbClr val="1C7293"/>
          </a:solidFill>
          <a:ln w="12700">
            <a:solidFill>
              <a:srgbClr val="1C7293"/>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Une garantie 24h/24 et 7j/7 de la présence et du soutien à la personne</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02C39A">
                <a:alpha val="60000"/>
              </a:srgbClr>
            </a:solidFill>
            <a:prstDash val="solid"/>
          </a:ln>
        </p:spPr>
      </p:sp>
      <p:sp>
        <p:nvSpPr>
          <p:cNvPr id="17" name="Shape 15"/>
          <p:cNvSpPr/>
          <p:nvPr/>
        </p:nvSpPr>
        <p:spPr>
          <a:xfrm>
            <a:off x="457200" y="3794760"/>
            <a:ext cx="502920" cy="566928"/>
          </a:xfrm>
          <a:prstGeom prst="rect">
            <a:avLst/>
          </a:prstGeom>
          <a:solidFill>
            <a:srgbClr val="1C7293"/>
          </a:solidFill>
          <a:ln w="12700">
            <a:solidFill>
              <a:srgbClr val="1C7293"/>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La présence du même professionnel référent en permanence</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Q21/50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Qu'est-ce que la continuité de l'accompagnement signifie au sens du référentiel HAS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 accompagnement uniquement en semaine</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Une garantie 24h/24 et 7j/7 de la présence et du soutien à la personne</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La présence du même professionnel référent en permanence</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1C7293">
                <a:alpha val="70000"/>
              </a:srgbClr>
            </a:solidFill>
            <a:prstDash val="solid"/>
          </a:ln>
        </p:spPr>
      </p:sp>
      <p:sp>
        <p:nvSpPr>
          <p:cNvPr id="19" name="Shape 17"/>
          <p:cNvSpPr/>
          <p:nvPr/>
        </p:nvSpPr>
        <p:spPr>
          <a:xfrm>
            <a:off x="457200" y="3364992"/>
            <a:ext cx="73152" cy="1417320"/>
          </a:xfrm>
          <a:prstGeom prst="rect">
            <a:avLst/>
          </a:prstGeom>
          <a:solidFill>
            <a:srgbClr val="1C7293"/>
          </a:solidFill>
          <a:ln w="12700">
            <a:solidFill>
              <a:srgbClr val="1C7293"/>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1C7293"/>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critère 1.14.1 (impératif) garantit la continuité de l'accompagnement 24h/24, 7j/7, y compris les week-ends, nuits et jours fériés, par des procédures claires d'organisation.</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B4F71"/>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28600"/>
            <a:ext cx="1188720" cy="411480"/>
          </a:xfrm>
          <a:prstGeom prst="roundRect">
            <a:avLst>
              <a:gd name="adj" fmla="val 17778"/>
            </a:avLst>
          </a:prstGeom>
          <a:solidFill>
            <a:srgbClr val="02C39A"/>
          </a:solidFill>
          <a:ln w="12700">
            <a:solidFill>
              <a:srgbClr val="02C39A"/>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0B4F71"/>
                </a:solidFill>
                <a:latin typeface="Calibri" pitchFamily="34" charset="0"/>
                <a:ea typeface="Calibri" pitchFamily="34" charset="-122"/>
                <a:cs typeface="Calibri" pitchFamily="34" charset="-120"/>
              </a:rPr>
              <a:t>Q22/50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1</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Comment les transitions de la personne accompagnée sont-elles appréhendées dans le référentiel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02C39A">
                <a:alpha val="60000"/>
              </a:srgbClr>
            </a:solidFill>
            <a:prstDash val="solid"/>
          </a:ln>
        </p:spPr>
      </p:sp>
      <p:sp>
        <p:nvSpPr>
          <p:cNvPr id="9" name="Shape 7"/>
          <p:cNvSpPr/>
          <p:nvPr/>
        </p:nvSpPr>
        <p:spPr>
          <a:xfrm>
            <a:off x="457200" y="2514600"/>
            <a:ext cx="502920" cy="566928"/>
          </a:xfrm>
          <a:prstGeom prst="rect">
            <a:avLst/>
          </a:prstGeom>
          <a:solidFill>
            <a:srgbClr val="1C7293"/>
          </a:solidFill>
          <a:ln w="12700">
            <a:solidFill>
              <a:srgbClr val="1C7293"/>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Elles sont gérées uniquement par l'autorité de tarification</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02C39A">
                <a:alpha val="60000"/>
              </a:srgbClr>
            </a:solidFill>
            <a:prstDash val="solid"/>
          </a:ln>
        </p:spPr>
      </p:sp>
      <p:sp>
        <p:nvSpPr>
          <p:cNvPr id="13" name="Shape 11"/>
          <p:cNvSpPr/>
          <p:nvPr/>
        </p:nvSpPr>
        <p:spPr>
          <a:xfrm>
            <a:off x="457200" y="3154680"/>
            <a:ext cx="502920" cy="566928"/>
          </a:xfrm>
          <a:prstGeom prst="rect">
            <a:avLst/>
          </a:prstGeom>
          <a:solidFill>
            <a:srgbClr val="1C7293"/>
          </a:solidFill>
          <a:ln w="12700">
            <a:solidFill>
              <a:srgbClr val="1C7293"/>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Elles doivent être préparées et accompagnées avec la personne pour assurer la fluidité du parcours</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02C39A">
                <a:alpha val="60000"/>
              </a:srgbClr>
            </a:solidFill>
            <a:prstDash val="solid"/>
          </a:ln>
        </p:spPr>
      </p:sp>
      <p:sp>
        <p:nvSpPr>
          <p:cNvPr id="17" name="Shape 15"/>
          <p:cNvSpPr/>
          <p:nvPr/>
        </p:nvSpPr>
        <p:spPr>
          <a:xfrm>
            <a:off x="457200" y="3794760"/>
            <a:ext cx="502920" cy="566928"/>
          </a:xfrm>
          <a:prstGeom prst="rect">
            <a:avLst/>
          </a:prstGeom>
          <a:solidFill>
            <a:srgbClr val="1C7293"/>
          </a:solidFill>
          <a:ln w="12700">
            <a:solidFill>
              <a:srgbClr val="1C7293"/>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Elles relèvent de la responsabilité exclusive de la famille</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Q22/50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Comment les transitions de la personne accompagnée sont-elles appréhendées dans le référentiel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Elles sont gérées uniquement par l'autorité de tarification</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Elles doivent être préparées et accompagnées avec la personne pour assurer la fluidité du parcours</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Elles relèvent de la responsabilité exclusive de la famille</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1C7293">
                <a:alpha val="70000"/>
              </a:srgbClr>
            </a:solidFill>
            <a:prstDash val="solid"/>
          </a:ln>
        </p:spPr>
      </p:sp>
      <p:sp>
        <p:nvSpPr>
          <p:cNvPr id="19" name="Shape 17"/>
          <p:cNvSpPr/>
          <p:nvPr/>
        </p:nvSpPr>
        <p:spPr>
          <a:xfrm>
            <a:off x="457200" y="3364992"/>
            <a:ext cx="73152" cy="1417320"/>
          </a:xfrm>
          <a:prstGeom prst="rect">
            <a:avLst/>
          </a:prstGeom>
          <a:solidFill>
            <a:srgbClr val="1C7293"/>
          </a:solidFill>
          <a:ln w="12700">
            <a:solidFill>
              <a:srgbClr val="1C7293"/>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1C7293"/>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critère 1.15.1 prévoit que les transitions (entrée, changement de structure, sortie) doivent être préparées avec la personne accompagnée pour garantir la fluidité et la qualité du parcours.</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B4F71"/>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28600"/>
            <a:ext cx="1188720" cy="411480"/>
          </a:xfrm>
          <a:prstGeom prst="roundRect">
            <a:avLst>
              <a:gd name="adj" fmla="val 17778"/>
            </a:avLst>
          </a:prstGeom>
          <a:solidFill>
            <a:srgbClr val="02C39A"/>
          </a:solidFill>
          <a:ln w="12700">
            <a:solidFill>
              <a:srgbClr val="02C39A"/>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0B4F71"/>
                </a:solidFill>
                <a:latin typeface="Calibri" pitchFamily="34" charset="0"/>
                <a:ea typeface="Calibri" pitchFamily="34" charset="-122"/>
                <a:cs typeface="Calibri" pitchFamily="34" charset="-120"/>
              </a:rPr>
              <a:t>Q23/50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1</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Quel est le rythme légal des évaluations pour les ESSMS depuis 2022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02C39A">
                <a:alpha val="60000"/>
              </a:srgbClr>
            </a:solidFill>
            <a:prstDash val="solid"/>
          </a:ln>
        </p:spPr>
      </p:sp>
      <p:sp>
        <p:nvSpPr>
          <p:cNvPr id="9" name="Shape 7"/>
          <p:cNvSpPr/>
          <p:nvPr/>
        </p:nvSpPr>
        <p:spPr>
          <a:xfrm>
            <a:off x="457200" y="2514600"/>
            <a:ext cx="502920" cy="566928"/>
          </a:xfrm>
          <a:prstGeom prst="rect">
            <a:avLst/>
          </a:prstGeom>
          <a:solidFill>
            <a:srgbClr val="1C7293"/>
          </a:solidFill>
          <a:ln w="12700">
            <a:solidFill>
              <a:srgbClr val="1C7293"/>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Tous les 3 ans</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02C39A">
                <a:alpha val="60000"/>
              </a:srgbClr>
            </a:solidFill>
            <a:prstDash val="solid"/>
          </a:ln>
        </p:spPr>
      </p:sp>
      <p:sp>
        <p:nvSpPr>
          <p:cNvPr id="13" name="Shape 11"/>
          <p:cNvSpPr/>
          <p:nvPr/>
        </p:nvSpPr>
        <p:spPr>
          <a:xfrm>
            <a:off x="457200" y="3154680"/>
            <a:ext cx="502920" cy="566928"/>
          </a:xfrm>
          <a:prstGeom prst="rect">
            <a:avLst/>
          </a:prstGeom>
          <a:solidFill>
            <a:srgbClr val="1C7293"/>
          </a:solidFill>
          <a:ln w="12700">
            <a:solidFill>
              <a:srgbClr val="1C7293"/>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Tous les 5 ans</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02C39A">
                <a:alpha val="60000"/>
              </a:srgbClr>
            </a:solidFill>
            <a:prstDash val="solid"/>
          </a:ln>
        </p:spPr>
      </p:sp>
      <p:sp>
        <p:nvSpPr>
          <p:cNvPr id="17" name="Shape 15"/>
          <p:cNvSpPr/>
          <p:nvPr/>
        </p:nvSpPr>
        <p:spPr>
          <a:xfrm>
            <a:off x="457200" y="3794760"/>
            <a:ext cx="502920" cy="566928"/>
          </a:xfrm>
          <a:prstGeom prst="rect">
            <a:avLst/>
          </a:prstGeom>
          <a:solidFill>
            <a:srgbClr val="1C7293"/>
          </a:solidFill>
          <a:ln w="12700">
            <a:solidFill>
              <a:srgbClr val="1C7293"/>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Tous les 7 ans</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Q23/50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Quel est le rythme légal des évaluations pour les ESSMS depuis 2022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Tous les 3 ans</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Tous les 5 ans</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Tous les 7 ans</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1C7293">
                <a:alpha val="70000"/>
              </a:srgbClr>
            </a:solidFill>
            <a:prstDash val="solid"/>
          </a:ln>
        </p:spPr>
      </p:sp>
      <p:sp>
        <p:nvSpPr>
          <p:cNvPr id="19" name="Shape 17"/>
          <p:cNvSpPr/>
          <p:nvPr/>
        </p:nvSpPr>
        <p:spPr>
          <a:xfrm>
            <a:off x="457200" y="3364992"/>
            <a:ext cx="73152" cy="1417320"/>
          </a:xfrm>
          <a:prstGeom prst="rect">
            <a:avLst/>
          </a:prstGeom>
          <a:solidFill>
            <a:srgbClr val="1C7293"/>
          </a:solidFill>
          <a:ln w="12700">
            <a:solidFill>
              <a:srgbClr val="1C7293"/>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1C7293"/>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décret du 26 avril 2022 fixe le rythme des évaluations à une évaluation tous les 5 ans, correspondant au cycle du projet d'établissement et permettant une réévaluation régulière des pratiques.</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B4F71"/>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28600"/>
            <a:ext cx="1188720" cy="411480"/>
          </a:xfrm>
          <a:prstGeom prst="roundRect">
            <a:avLst>
              <a:gd name="adj" fmla="val 17778"/>
            </a:avLst>
          </a:prstGeom>
          <a:solidFill>
            <a:srgbClr val="02C39A"/>
          </a:solidFill>
          <a:ln w="12700">
            <a:solidFill>
              <a:srgbClr val="02C39A"/>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0B4F71"/>
                </a:solidFill>
                <a:latin typeface="Calibri" pitchFamily="34" charset="0"/>
                <a:ea typeface="Calibri" pitchFamily="34" charset="-122"/>
                <a:cs typeface="Calibri" pitchFamily="34" charset="-120"/>
              </a:rPr>
              <a:t>Q24/50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1</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Qui peut réaliser les évaluations des ESSMS dans le cadre du nouveau dispositif HAS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02C39A">
                <a:alpha val="60000"/>
              </a:srgbClr>
            </a:solidFill>
            <a:prstDash val="solid"/>
          </a:ln>
        </p:spPr>
      </p:sp>
      <p:sp>
        <p:nvSpPr>
          <p:cNvPr id="9" name="Shape 7"/>
          <p:cNvSpPr/>
          <p:nvPr/>
        </p:nvSpPr>
        <p:spPr>
          <a:xfrm>
            <a:off x="457200" y="2514600"/>
            <a:ext cx="502920" cy="566928"/>
          </a:xfrm>
          <a:prstGeom prst="rect">
            <a:avLst/>
          </a:prstGeom>
          <a:solidFill>
            <a:srgbClr val="1C7293"/>
          </a:solidFill>
          <a:ln w="12700">
            <a:solidFill>
              <a:srgbClr val="1C7293"/>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N'importe quel cabinet de conseil</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02C39A">
                <a:alpha val="60000"/>
              </a:srgbClr>
            </a:solidFill>
            <a:prstDash val="solid"/>
          </a:ln>
        </p:spPr>
      </p:sp>
      <p:sp>
        <p:nvSpPr>
          <p:cNvPr id="13" name="Shape 11"/>
          <p:cNvSpPr/>
          <p:nvPr/>
        </p:nvSpPr>
        <p:spPr>
          <a:xfrm>
            <a:off x="457200" y="3154680"/>
            <a:ext cx="502920" cy="566928"/>
          </a:xfrm>
          <a:prstGeom prst="rect">
            <a:avLst/>
          </a:prstGeom>
          <a:solidFill>
            <a:srgbClr val="1C7293"/>
          </a:solidFill>
          <a:ln w="12700">
            <a:solidFill>
              <a:srgbClr val="1C7293"/>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Uniquement les services de l'État</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02C39A">
                <a:alpha val="60000"/>
              </a:srgbClr>
            </a:solidFill>
            <a:prstDash val="solid"/>
          </a:ln>
        </p:spPr>
      </p:sp>
      <p:sp>
        <p:nvSpPr>
          <p:cNvPr id="17" name="Shape 15"/>
          <p:cNvSpPr/>
          <p:nvPr/>
        </p:nvSpPr>
        <p:spPr>
          <a:xfrm>
            <a:off x="457200" y="3794760"/>
            <a:ext cx="502920" cy="566928"/>
          </a:xfrm>
          <a:prstGeom prst="rect">
            <a:avLst/>
          </a:prstGeom>
          <a:solidFill>
            <a:srgbClr val="1C7293"/>
          </a:solidFill>
          <a:ln w="12700">
            <a:solidFill>
              <a:srgbClr val="1C7293"/>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Des organismes évaluateurs accrédités par le COFRAC</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Q24/50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Qui peut réaliser les évaluations des ESSMS dans le cadre du nouveau dispositif HAS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N'importe quel cabinet de conseil</a:t>
            </a:r>
            <a:endParaRPr lang="en-US" sz="1300" dirty="0"/>
          </a:p>
        </p:txBody>
      </p:sp>
      <p:sp>
        <p:nvSpPr>
          <p:cNvPr id="10" name="Shape 8"/>
          <p:cNvSpPr/>
          <p:nvPr/>
        </p:nvSpPr>
        <p:spPr>
          <a:xfrm>
            <a:off x="457200" y="2130552"/>
            <a:ext cx="8229600" cy="530352"/>
          </a:xfrm>
          <a:prstGeom prst="rect">
            <a:avLst/>
          </a:prstGeom>
          <a:solidFill>
            <a:srgbClr val="F0F4F8"/>
          </a:solidFill>
          <a:ln w="6350">
            <a:solidFill>
              <a:srgbClr val="CCCCCC"/>
            </a:solidFill>
            <a:prstDash val="solid"/>
          </a:ln>
        </p:spPr>
      </p:sp>
      <p:sp>
        <p:nvSpPr>
          <p:cNvPr id="11" name="Shape 9"/>
          <p:cNvSpPr/>
          <p:nvPr/>
        </p:nvSpPr>
        <p:spPr>
          <a:xfrm>
            <a:off x="457200" y="2130552"/>
            <a:ext cx="502920" cy="530352"/>
          </a:xfrm>
          <a:prstGeom prst="rect">
            <a:avLst/>
          </a:prstGeom>
          <a:solidFill>
            <a:srgbClr val="CCCCCC"/>
          </a:solidFill>
          <a:ln w="12700">
            <a:solidFill>
              <a:srgbClr val="CCCCCC"/>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Uniquement les services de l'État</a:t>
            </a:r>
            <a:endParaRPr lang="en-US" sz="1300" dirty="0"/>
          </a:p>
        </p:txBody>
      </p:sp>
      <p:sp>
        <p:nvSpPr>
          <p:cNvPr id="14" name="Shape 12"/>
          <p:cNvSpPr/>
          <p:nvPr/>
        </p:nvSpPr>
        <p:spPr>
          <a:xfrm>
            <a:off x="457200" y="2724912"/>
            <a:ext cx="8229600" cy="530352"/>
          </a:xfrm>
          <a:prstGeom prst="rect">
            <a:avLst/>
          </a:prstGeom>
          <a:solidFill>
            <a:srgbClr val="D4EDDA"/>
          </a:solidFill>
          <a:ln w="19050">
            <a:solidFill>
              <a:srgbClr val="22A06B"/>
            </a:solidFill>
            <a:prstDash val="solid"/>
          </a:ln>
        </p:spPr>
      </p:sp>
      <p:sp>
        <p:nvSpPr>
          <p:cNvPr id="15" name="Shape 13"/>
          <p:cNvSpPr/>
          <p:nvPr/>
        </p:nvSpPr>
        <p:spPr>
          <a:xfrm>
            <a:off x="457200" y="2724912"/>
            <a:ext cx="502920" cy="530352"/>
          </a:xfrm>
          <a:prstGeom prst="rect">
            <a:avLst/>
          </a:prstGeom>
          <a:solidFill>
            <a:srgbClr val="22A06B"/>
          </a:solidFill>
          <a:ln w="12700">
            <a:solidFill>
              <a:srgbClr val="22A06B"/>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Des organismes évaluateurs accrédités par le COFRAC</a:t>
            </a:r>
            <a:endParaRPr lang="en-US" sz="1400" dirty="0"/>
          </a:p>
        </p:txBody>
      </p:sp>
      <p:sp>
        <p:nvSpPr>
          <p:cNvPr id="18" name="Shape 16"/>
          <p:cNvSpPr/>
          <p:nvPr/>
        </p:nvSpPr>
        <p:spPr>
          <a:xfrm>
            <a:off x="457200" y="3364992"/>
            <a:ext cx="8229600" cy="1417320"/>
          </a:xfrm>
          <a:prstGeom prst="rect">
            <a:avLst/>
          </a:prstGeom>
          <a:solidFill>
            <a:srgbClr val="EEF4FF"/>
          </a:solidFill>
          <a:ln w="10160">
            <a:solidFill>
              <a:srgbClr val="1C7293">
                <a:alpha val="70000"/>
              </a:srgbClr>
            </a:solidFill>
            <a:prstDash val="solid"/>
          </a:ln>
        </p:spPr>
      </p:sp>
      <p:sp>
        <p:nvSpPr>
          <p:cNvPr id="19" name="Shape 17"/>
          <p:cNvSpPr/>
          <p:nvPr/>
        </p:nvSpPr>
        <p:spPr>
          <a:xfrm>
            <a:off x="457200" y="3364992"/>
            <a:ext cx="73152" cy="1417320"/>
          </a:xfrm>
          <a:prstGeom prst="rect">
            <a:avLst/>
          </a:prstGeom>
          <a:solidFill>
            <a:srgbClr val="1C7293"/>
          </a:solidFill>
          <a:ln w="12700">
            <a:solidFill>
              <a:srgbClr val="1C7293"/>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1C7293"/>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Depuis 2022, seuls les organismes accrédités par le COFRAC selon la norme ISO/CEI 17020 peuvent réaliser les évaluations des ESSMS. Cette accréditation garantit leur impartialité et compétence.</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B4F71"/>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28600"/>
            <a:ext cx="1188720" cy="411480"/>
          </a:xfrm>
          <a:prstGeom prst="roundRect">
            <a:avLst>
              <a:gd name="adj" fmla="val 17778"/>
            </a:avLst>
          </a:prstGeom>
          <a:solidFill>
            <a:srgbClr val="02C39A"/>
          </a:solidFill>
          <a:ln w="12700">
            <a:solidFill>
              <a:srgbClr val="02C39A"/>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0B4F71"/>
                </a:solidFill>
                <a:latin typeface="Calibri" pitchFamily="34" charset="0"/>
                <a:ea typeface="Calibri" pitchFamily="34" charset="-122"/>
                <a:cs typeface="Calibri" pitchFamily="34" charset="-120"/>
              </a:rPr>
              <a:t>Q25/50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1</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 signifie une cotation de 4/4 pour un critère lors d'une évaluation HAS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02C39A">
                <a:alpha val="60000"/>
              </a:srgbClr>
            </a:solidFill>
            <a:prstDash val="solid"/>
          </a:ln>
        </p:spPr>
      </p:sp>
      <p:sp>
        <p:nvSpPr>
          <p:cNvPr id="9" name="Shape 7"/>
          <p:cNvSpPr/>
          <p:nvPr/>
        </p:nvSpPr>
        <p:spPr>
          <a:xfrm>
            <a:off x="457200" y="2514600"/>
            <a:ext cx="502920" cy="566928"/>
          </a:xfrm>
          <a:prstGeom prst="rect">
            <a:avLst/>
          </a:prstGeom>
          <a:solidFill>
            <a:srgbClr val="1C7293"/>
          </a:solidFill>
          <a:ln w="12700">
            <a:solidFill>
              <a:srgbClr val="1C7293"/>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Le critère est partiellement maîtrisé</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02C39A">
                <a:alpha val="60000"/>
              </a:srgbClr>
            </a:solidFill>
            <a:prstDash val="solid"/>
          </a:ln>
        </p:spPr>
      </p:sp>
      <p:sp>
        <p:nvSpPr>
          <p:cNvPr id="13" name="Shape 11"/>
          <p:cNvSpPr/>
          <p:nvPr/>
        </p:nvSpPr>
        <p:spPr>
          <a:xfrm>
            <a:off x="457200" y="3154680"/>
            <a:ext cx="502920" cy="566928"/>
          </a:xfrm>
          <a:prstGeom prst="rect">
            <a:avLst/>
          </a:prstGeom>
          <a:solidFill>
            <a:srgbClr val="1C7293"/>
          </a:solidFill>
          <a:ln w="12700">
            <a:solidFill>
              <a:srgbClr val="1C7293"/>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Le critère est pleinement maîtrisé avec des preuves tangibles et des constats conformes</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02C39A">
                <a:alpha val="60000"/>
              </a:srgbClr>
            </a:solidFill>
            <a:prstDash val="solid"/>
          </a:ln>
        </p:spPr>
      </p:sp>
      <p:sp>
        <p:nvSpPr>
          <p:cNvPr id="17" name="Shape 15"/>
          <p:cNvSpPr/>
          <p:nvPr/>
        </p:nvSpPr>
        <p:spPr>
          <a:xfrm>
            <a:off x="457200" y="3794760"/>
            <a:ext cx="502920" cy="566928"/>
          </a:xfrm>
          <a:prstGeom prst="rect">
            <a:avLst/>
          </a:prstGeom>
          <a:solidFill>
            <a:srgbClr val="1C7293"/>
          </a:solidFill>
          <a:ln w="12700">
            <a:solidFill>
              <a:srgbClr val="1C7293"/>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Le critère n'est pas applicable à cet ESSMS</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Q25/50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 signifie une cotation de 4/4 pour un critère lors d'une évaluation HAS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Le critère est partiellement maîtrisé</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Le critère est pleinement maîtrisé avec des preuves tangibles et des constats conformes</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Le critère n'est pas applicable à cet ESSMS</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1C7293">
                <a:alpha val="70000"/>
              </a:srgbClr>
            </a:solidFill>
            <a:prstDash val="solid"/>
          </a:ln>
        </p:spPr>
      </p:sp>
      <p:sp>
        <p:nvSpPr>
          <p:cNvPr id="19" name="Shape 17"/>
          <p:cNvSpPr/>
          <p:nvPr/>
        </p:nvSpPr>
        <p:spPr>
          <a:xfrm>
            <a:off x="457200" y="3364992"/>
            <a:ext cx="73152" cy="1417320"/>
          </a:xfrm>
          <a:prstGeom prst="rect">
            <a:avLst/>
          </a:prstGeom>
          <a:solidFill>
            <a:srgbClr val="1C7293"/>
          </a:solidFill>
          <a:ln w="12700">
            <a:solidFill>
              <a:srgbClr val="1C7293"/>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1C7293"/>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Une cotation de 4/4 signifie que le critère est maîtrisé : les constats sont conformes et des preuves tangibles attestent de la mise en œuvre effective des exigences du critère.</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B4F71"/>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28600"/>
            <a:ext cx="1188720" cy="411480"/>
          </a:xfrm>
          <a:prstGeom prst="roundRect">
            <a:avLst>
              <a:gd name="adj" fmla="val 17778"/>
            </a:avLst>
          </a:prstGeom>
          <a:solidFill>
            <a:srgbClr val="02C39A"/>
          </a:solidFill>
          <a:ln w="12700">
            <a:solidFill>
              <a:srgbClr val="02C39A"/>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0B4F71"/>
                </a:solidFill>
                <a:latin typeface="Calibri" pitchFamily="34" charset="0"/>
                <a:ea typeface="Calibri" pitchFamily="34" charset="-122"/>
                <a:cs typeface="Calibri" pitchFamily="34" charset="-120"/>
              </a:rPr>
              <a:t>Q26/50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1</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 représente la plateforme Synaé dans le dispositif HAS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02C39A">
                <a:alpha val="60000"/>
              </a:srgbClr>
            </a:solidFill>
            <a:prstDash val="solid"/>
          </a:ln>
        </p:spPr>
      </p:sp>
      <p:sp>
        <p:nvSpPr>
          <p:cNvPr id="9" name="Shape 7"/>
          <p:cNvSpPr/>
          <p:nvPr/>
        </p:nvSpPr>
        <p:spPr>
          <a:xfrm>
            <a:off x="457200" y="2514600"/>
            <a:ext cx="502920" cy="566928"/>
          </a:xfrm>
          <a:prstGeom prst="rect">
            <a:avLst/>
          </a:prstGeom>
          <a:solidFill>
            <a:srgbClr val="1C7293"/>
          </a:solidFill>
          <a:ln w="12700">
            <a:solidFill>
              <a:srgbClr val="1C7293"/>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 réseau social professionnel pour les travailleurs sociaux</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02C39A">
                <a:alpha val="60000"/>
              </a:srgbClr>
            </a:solidFill>
            <a:prstDash val="solid"/>
          </a:ln>
        </p:spPr>
      </p:sp>
      <p:sp>
        <p:nvSpPr>
          <p:cNvPr id="13" name="Shape 11"/>
          <p:cNvSpPr/>
          <p:nvPr/>
        </p:nvSpPr>
        <p:spPr>
          <a:xfrm>
            <a:off x="457200" y="3154680"/>
            <a:ext cx="502920" cy="566928"/>
          </a:xfrm>
          <a:prstGeom prst="rect">
            <a:avLst/>
          </a:prstGeom>
          <a:solidFill>
            <a:srgbClr val="1C7293"/>
          </a:solidFill>
          <a:ln w="12700">
            <a:solidFill>
              <a:srgbClr val="1C7293"/>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La plateforme numérique sécurisée dédiée à la gestion du processus d'évaluation des ESSMS</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02C39A">
                <a:alpha val="60000"/>
              </a:srgbClr>
            </a:solidFill>
            <a:prstDash val="solid"/>
          </a:ln>
        </p:spPr>
      </p:sp>
      <p:sp>
        <p:nvSpPr>
          <p:cNvPr id="17" name="Shape 15"/>
          <p:cNvSpPr/>
          <p:nvPr/>
        </p:nvSpPr>
        <p:spPr>
          <a:xfrm>
            <a:off x="457200" y="3794760"/>
            <a:ext cx="502920" cy="566928"/>
          </a:xfrm>
          <a:prstGeom prst="rect">
            <a:avLst/>
          </a:prstGeom>
          <a:solidFill>
            <a:srgbClr val="1C7293"/>
          </a:solidFill>
          <a:ln w="12700">
            <a:solidFill>
              <a:srgbClr val="1C7293"/>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 système de financement des établissements</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Q26/50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 représente la plateforme Synaé dans le dispositif HAS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 réseau social professionnel pour les travailleurs sociaux</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La plateforme numérique sécurisée dédiée à la gestion du processus d'évaluation des ESSMS</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 système de financement des établissements</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1C7293">
                <a:alpha val="70000"/>
              </a:srgbClr>
            </a:solidFill>
            <a:prstDash val="solid"/>
          </a:ln>
        </p:spPr>
      </p:sp>
      <p:sp>
        <p:nvSpPr>
          <p:cNvPr id="19" name="Shape 17"/>
          <p:cNvSpPr/>
          <p:nvPr/>
        </p:nvSpPr>
        <p:spPr>
          <a:xfrm>
            <a:off x="457200" y="3364992"/>
            <a:ext cx="73152" cy="1417320"/>
          </a:xfrm>
          <a:prstGeom prst="rect">
            <a:avLst/>
          </a:prstGeom>
          <a:solidFill>
            <a:srgbClr val="1C7293"/>
          </a:solidFill>
          <a:ln w="12700">
            <a:solidFill>
              <a:srgbClr val="1C7293"/>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1C7293"/>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Synaé est la plateforme numérique officielle de la HAS qui permet aux ESSMS de réaliser leurs auto-évaluations, de générer les grilles d'évaluation et de gérer l'ensemble du processus d'évaluation.</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0B4F71"/>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28600"/>
            <a:ext cx="1188720" cy="411480"/>
          </a:xfrm>
          <a:prstGeom prst="roundRect">
            <a:avLst>
              <a:gd name="adj" fmla="val 17778"/>
            </a:avLst>
          </a:prstGeom>
          <a:solidFill>
            <a:srgbClr val="02C39A"/>
          </a:solidFill>
          <a:ln w="12700">
            <a:solidFill>
              <a:srgbClr val="02C39A"/>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0B4F71"/>
                </a:solidFill>
                <a:latin typeface="Calibri" pitchFamily="34" charset="0"/>
                <a:ea typeface="Calibri" pitchFamily="34" charset="-122"/>
                <a:cs typeface="Calibri" pitchFamily="34" charset="-120"/>
              </a:rPr>
              <a:t>Q27/50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1</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Qu'est-ce que Qualiscope dans le dispositif HAS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02C39A">
                <a:alpha val="60000"/>
              </a:srgbClr>
            </a:solidFill>
            <a:prstDash val="solid"/>
          </a:ln>
        </p:spPr>
      </p:sp>
      <p:sp>
        <p:nvSpPr>
          <p:cNvPr id="9" name="Shape 7"/>
          <p:cNvSpPr/>
          <p:nvPr/>
        </p:nvSpPr>
        <p:spPr>
          <a:xfrm>
            <a:off x="457200" y="2514600"/>
            <a:ext cx="502920" cy="566928"/>
          </a:xfrm>
          <a:prstGeom prst="rect">
            <a:avLst/>
          </a:prstGeom>
          <a:solidFill>
            <a:srgbClr val="1C7293"/>
          </a:solidFill>
          <a:ln w="12700">
            <a:solidFill>
              <a:srgbClr val="1C7293"/>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 outil interne réservé aux autorités de contrôle</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02C39A">
                <a:alpha val="60000"/>
              </a:srgbClr>
            </a:solidFill>
            <a:prstDash val="solid"/>
          </a:ln>
        </p:spPr>
      </p:sp>
      <p:sp>
        <p:nvSpPr>
          <p:cNvPr id="13" name="Shape 11"/>
          <p:cNvSpPr/>
          <p:nvPr/>
        </p:nvSpPr>
        <p:spPr>
          <a:xfrm>
            <a:off x="457200" y="3154680"/>
            <a:ext cx="502920" cy="566928"/>
          </a:xfrm>
          <a:prstGeom prst="rect">
            <a:avLst/>
          </a:prstGeom>
          <a:solidFill>
            <a:srgbClr val="1C7293"/>
          </a:solidFill>
          <a:ln w="12700">
            <a:solidFill>
              <a:srgbClr val="1C7293"/>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La plateforme publique permettant d'accéder aux résultats et rapports d'évaluation des ESSMS</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02C39A">
                <a:alpha val="60000"/>
              </a:srgbClr>
            </a:solidFill>
            <a:prstDash val="solid"/>
          </a:ln>
        </p:spPr>
      </p:sp>
      <p:sp>
        <p:nvSpPr>
          <p:cNvPr id="17" name="Shape 15"/>
          <p:cNvSpPr/>
          <p:nvPr/>
        </p:nvSpPr>
        <p:spPr>
          <a:xfrm>
            <a:off x="457200" y="3794760"/>
            <a:ext cx="502920" cy="566928"/>
          </a:xfrm>
          <a:prstGeom prst="rect">
            <a:avLst/>
          </a:prstGeom>
          <a:solidFill>
            <a:srgbClr val="1C7293"/>
          </a:solidFill>
          <a:ln w="12700">
            <a:solidFill>
              <a:srgbClr val="1C7293"/>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 label de qualité optionnel pour les établissements</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Q27/50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Qu'est-ce que Qualiscope dans le dispositif HAS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 outil interne réservé aux autorités de contrôle</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La plateforme publique permettant d'accéder aux résultats et rapports d'évaluation des ESSMS</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 label de qualité optionnel pour les établissements</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1C7293">
                <a:alpha val="70000"/>
              </a:srgbClr>
            </a:solidFill>
            <a:prstDash val="solid"/>
          </a:ln>
        </p:spPr>
      </p:sp>
      <p:sp>
        <p:nvSpPr>
          <p:cNvPr id="19" name="Shape 17"/>
          <p:cNvSpPr/>
          <p:nvPr/>
        </p:nvSpPr>
        <p:spPr>
          <a:xfrm>
            <a:off x="457200" y="3364992"/>
            <a:ext cx="73152" cy="1417320"/>
          </a:xfrm>
          <a:prstGeom prst="rect">
            <a:avLst/>
          </a:prstGeom>
          <a:solidFill>
            <a:srgbClr val="1C7293"/>
          </a:solidFill>
          <a:ln w="12700">
            <a:solidFill>
              <a:srgbClr val="1C7293"/>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1C7293"/>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Depuis septembre 2025, Qualiscope a étendu son périmètre aux ESSMS. C'est la plateforme publique où les résultats et rapports d'évaluation sont publiés, renforçant la transparence envers les usagers et leurs familles.</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0B4F71"/>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28600"/>
            <a:ext cx="1188720" cy="411480"/>
          </a:xfrm>
          <a:prstGeom prst="roundRect">
            <a:avLst>
              <a:gd name="adj" fmla="val 17778"/>
            </a:avLst>
          </a:prstGeom>
          <a:solidFill>
            <a:srgbClr val="02C39A"/>
          </a:solidFill>
          <a:ln w="12700">
            <a:solidFill>
              <a:srgbClr val="02C39A"/>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0B4F71"/>
                </a:solidFill>
                <a:latin typeface="Calibri" pitchFamily="34" charset="0"/>
                <a:ea typeface="Calibri" pitchFamily="34" charset="-122"/>
                <a:cs typeface="Calibri" pitchFamily="34" charset="-120"/>
              </a:rPr>
              <a:t>Q28/50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1</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Quelle est la différence entre un critère générique et un critère spécifique dans le référentiel HAS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02C39A">
                <a:alpha val="60000"/>
              </a:srgbClr>
            </a:solidFill>
            <a:prstDash val="solid"/>
          </a:ln>
        </p:spPr>
      </p:sp>
      <p:sp>
        <p:nvSpPr>
          <p:cNvPr id="9" name="Shape 7"/>
          <p:cNvSpPr/>
          <p:nvPr/>
        </p:nvSpPr>
        <p:spPr>
          <a:xfrm>
            <a:off x="457200" y="2514600"/>
            <a:ext cx="502920" cy="566928"/>
          </a:xfrm>
          <a:prstGeom prst="rect">
            <a:avLst/>
          </a:prstGeom>
          <a:solidFill>
            <a:srgbClr val="1C7293"/>
          </a:solidFill>
          <a:ln w="12700">
            <a:solidFill>
              <a:srgbClr val="1C7293"/>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Les critères génériques sont obligatoires, les spécifiques sont optionnels</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02C39A">
                <a:alpha val="60000"/>
              </a:srgbClr>
            </a:solidFill>
            <a:prstDash val="solid"/>
          </a:ln>
        </p:spPr>
      </p:sp>
      <p:sp>
        <p:nvSpPr>
          <p:cNvPr id="13" name="Shape 11"/>
          <p:cNvSpPr/>
          <p:nvPr/>
        </p:nvSpPr>
        <p:spPr>
          <a:xfrm>
            <a:off x="457200" y="3154680"/>
            <a:ext cx="502920" cy="566928"/>
          </a:xfrm>
          <a:prstGeom prst="rect">
            <a:avLst/>
          </a:prstGeom>
          <a:solidFill>
            <a:srgbClr val="1C7293"/>
          </a:solidFill>
          <a:ln w="12700">
            <a:solidFill>
              <a:srgbClr val="1C7293"/>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Les critères génériques s'appliquent à tous les ESSMS, les spécifiques selon le type de structure ou de public</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02C39A">
                <a:alpha val="60000"/>
              </a:srgbClr>
            </a:solidFill>
            <a:prstDash val="solid"/>
          </a:ln>
        </p:spPr>
      </p:sp>
      <p:sp>
        <p:nvSpPr>
          <p:cNvPr id="17" name="Shape 15"/>
          <p:cNvSpPr/>
          <p:nvPr/>
        </p:nvSpPr>
        <p:spPr>
          <a:xfrm>
            <a:off x="457200" y="3794760"/>
            <a:ext cx="502920" cy="566928"/>
          </a:xfrm>
          <a:prstGeom prst="rect">
            <a:avLst/>
          </a:prstGeom>
          <a:solidFill>
            <a:srgbClr val="1C7293"/>
          </a:solidFill>
          <a:ln w="12700">
            <a:solidFill>
              <a:srgbClr val="1C7293"/>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Il n'existe que des critères génériques</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Q28/50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Quelle est la différence entre un critère générique et un critère spécifique dans le référentiel HAS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Les critères génériques sont obligatoires, les spécifiques sont optionnels</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Les critères génériques s'appliquent à tous les ESSMS, les spécifiques selon le type de structure ou de public</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Il n'existe que des critères génériques</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1C7293">
                <a:alpha val="70000"/>
              </a:srgbClr>
            </a:solidFill>
            <a:prstDash val="solid"/>
          </a:ln>
        </p:spPr>
      </p:sp>
      <p:sp>
        <p:nvSpPr>
          <p:cNvPr id="19" name="Shape 17"/>
          <p:cNvSpPr/>
          <p:nvPr/>
        </p:nvSpPr>
        <p:spPr>
          <a:xfrm>
            <a:off x="457200" y="3364992"/>
            <a:ext cx="73152" cy="1417320"/>
          </a:xfrm>
          <a:prstGeom prst="rect">
            <a:avLst/>
          </a:prstGeom>
          <a:solidFill>
            <a:srgbClr val="1C7293"/>
          </a:solidFill>
          <a:ln w="12700">
            <a:solidFill>
              <a:srgbClr val="1C7293"/>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1C7293"/>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référentiel comporte 129 critères génériques communs à tous les ESSMS et 28 critères spécifiques qui s'appliquent selon le secteur (social/médico-social), le type de structure (hébergement/service) ou le public accompagné.</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0B4F71"/>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28600"/>
            <a:ext cx="1188720" cy="411480"/>
          </a:xfrm>
          <a:prstGeom prst="roundRect">
            <a:avLst>
              <a:gd name="adj" fmla="val 17778"/>
            </a:avLst>
          </a:prstGeom>
          <a:solidFill>
            <a:srgbClr val="02C39A"/>
          </a:solidFill>
          <a:ln w="12700">
            <a:solidFill>
              <a:srgbClr val="02C39A"/>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0B4F71"/>
                </a:solidFill>
                <a:latin typeface="Calibri" pitchFamily="34" charset="0"/>
                <a:ea typeface="Calibri" pitchFamily="34" charset="-122"/>
                <a:cs typeface="Calibri" pitchFamily="34" charset="-120"/>
              </a:rPr>
              <a:t>Q29/50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1</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 garantit le référentiel HAS concernant l'information délivrée à la personne accompagnée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02C39A">
                <a:alpha val="60000"/>
              </a:srgbClr>
            </a:solidFill>
            <a:prstDash val="solid"/>
          </a:ln>
        </p:spPr>
      </p:sp>
      <p:sp>
        <p:nvSpPr>
          <p:cNvPr id="9" name="Shape 7"/>
          <p:cNvSpPr/>
          <p:nvPr/>
        </p:nvSpPr>
        <p:spPr>
          <a:xfrm>
            <a:off x="457200" y="2514600"/>
            <a:ext cx="502920" cy="566928"/>
          </a:xfrm>
          <a:prstGeom prst="rect">
            <a:avLst/>
          </a:prstGeom>
          <a:solidFill>
            <a:srgbClr val="1C7293"/>
          </a:solidFill>
          <a:ln w="12700">
            <a:solidFill>
              <a:srgbClr val="1C7293"/>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Une information uniquement écrite sous forme de contrat</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02C39A">
                <a:alpha val="60000"/>
              </a:srgbClr>
            </a:solidFill>
            <a:prstDash val="solid"/>
          </a:ln>
        </p:spPr>
      </p:sp>
      <p:sp>
        <p:nvSpPr>
          <p:cNvPr id="13" name="Shape 11"/>
          <p:cNvSpPr/>
          <p:nvPr/>
        </p:nvSpPr>
        <p:spPr>
          <a:xfrm>
            <a:off x="457200" y="3154680"/>
            <a:ext cx="502920" cy="566928"/>
          </a:xfrm>
          <a:prstGeom prst="rect">
            <a:avLst/>
          </a:prstGeom>
          <a:solidFill>
            <a:srgbClr val="1C7293"/>
          </a:solidFill>
          <a:ln w="12700">
            <a:solidFill>
              <a:srgbClr val="1C7293"/>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Une information adaptée, accessible et compréhensible par la personne sur ses droits et les dispositions contractuelles</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02C39A">
                <a:alpha val="60000"/>
              </a:srgbClr>
            </a:solidFill>
            <a:prstDash val="solid"/>
          </a:ln>
        </p:spPr>
      </p:sp>
      <p:sp>
        <p:nvSpPr>
          <p:cNvPr id="17" name="Shape 15"/>
          <p:cNvSpPr/>
          <p:nvPr/>
        </p:nvSpPr>
        <p:spPr>
          <a:xfrm>
            <a:off x="457200" y="3794760"/>
            <a:ext cx="502920" cy="566928"/>
          </a:xfrm>
          <a:prstGeom prst="rect">
            <a:avLst/>
          </a:prstGeom>
          <a:solidFill>
            <a:srgbClr val="1C7293"/>
          </a:solidFill>
          <a:ln w="12700">
            <a:solidFill>
              <a:srgbClr val="1C7293"/>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Une information réservée à la famille ou au représentant légal</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Q29/50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 garantit le référentiel HAS concernant l'information délivrée à la personne accompagnée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Une information uniquement écrite sous forme de contrat</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Une information adaptée, accessible et compréhensible par la personne sur ses droits et les dispositions contractuelles</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Une information réservée à la famille ou au représentant légal</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1C7293">
                <a:alpha val="70000"/>
              </a:srgbClr>
            </a:solidFill>
            <a:prstDash val="solid"/>
          </a:ln>
        </p:spPr>
      </p:sp>
      <p:sp>
        <p:nvSpPr>
          <p:cNvPr id="19" name="Shape 17"/>
          <p:cNvSpPr/>
          <p:nvPr/>
        </p:nvSpPr>
        <p:spPr>
          <a:xfrm>
            <a:off x="457200" y="3364992"/>
            <a:ext cx="73152" cy="1417320"/>
          </a:xfrm>
          <a:prstGeom prst="rect">
            <a:avLst/>
          </a:prstGeom>
          <a:solidFill>
            <a:srgbClr val="1C7293"/>
          </a:solidFill>
          <a:ln w="12700">
            <a:solidFill>
              <a:srgbClr val="1C7293"/>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1C7293"/>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Les critères 1.4.1 et 1.4.3 exigent que la personne accompagnée soit informée de ses droits et des dispositions contractuelles, et que cette information soit adaptée à ses capacités de compréhension.</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0B4F71"/>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28600"/>
            <a:ext cx="1188720" cy="411480"/>
          </a:xfrm>
          <a:prstGeom prst="roundRect">
            <a:avLst>
              <a:gd name="adj" fmla="val 17778"/>
            </a:avLst>
          </a:prstGeom>
          <a:solidFill>
            <a:srgbClr val="02C39A"/>
          </a:solidFill>
          <a:ln w="12700">
            <a:solidFill>
              <a:srgbClr val="02C39A"/>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0B4F71"/>
                </a:solidFill>
                <a:latin typeface="Calibri" pitchFamily="34" charset="0"/>
                <a:ea typeface="Calibri" pitchFamily="34" charset="-122"/>
                <a:cs typeface="Calibri" pitchFamily="34" charset="-120"/>
              </a:rPr>
              <a:t>Q30/50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1</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Comment le référentiel HAS aborde-t-il la liberté d'aller et venir de la personne accompagnée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02C39A">
                <a:alpha val="60000"/>
              </a:srgbClr>
            </a:solidFill>
            <a:prstDash val="solid"/>
          </a:ln>
        </p:spPr>
      </p:sp>
      <p:sp>
        <p:nvSpPr>
          <p:cNvPr id="9" name="Shape 7"/>
          <p:cNvSpPr/>
          <p:nvPr/>
        </p:nvSpPr>
        <p:spPr>
          <a:xfrm>
            <a:off x="457200" y="2514600"/>
            <a:ext cx="502920" cy="566928"/>
          </a:xfrm>
          <a:prstGeom prst="rect">
            <a:avLst/>
          </a:prstGeom>
          <a:solidFill>
            <a:srgbClr val="1C7293"/>
          </a:solidFill>
          <a:ln w="12700">
            <a:solidFill>
              <a:srgbClr val="1C7293"/>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Comme une liberté pouvant être restreinte sans justification particulière</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02C39A">
                <a:alpha val="60000"/>
              </a:srgbClr>
            </a:solidFill>
            <a:prstDash val="solid"/>
          </a:ln>
        </p:spPr>
      </p:sp>
      <p:sp>
        <p:nvSpPr>
          <p:cNvPr id="13" name="Shape 11"/>
          <p:cNvSpPr/>
          <p:nvPr/>
        </p:nvSpPr>
        <p:spPr>
          <a:xfrm>
            <a:off x="457200" y="3154680"/>
            <a:ext cx="502920" cy="566928"/>
          </a:xfrm>
          <a:prstGeom prst="rect">
            <a:avLst/>
          </a:prstGeom>
          <a:solidFill>
            <a:srgbClr val="1C7293"/>
          </a:solidFill>
          <a:ln w="12700">
            <a:solidFill>
              <a:srgbClr val="1C7293"/>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Comme un droit fondamental devant être respecté et toute restriction devant être justifiée et encadrée</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02C39A">
                <a:alpha val="60000"/>
              </a:srgbClr>
            </a:solidFill>
            <a:prstDash val="solid"/>
          </a:ln>
        </p:spPr>
      </p:sp>
      <p:sp>
        <p:nvSpPr>
          <p:cNvPr id="17" name="Shape 15"/>
          <p:cNvSpPr/>
          <p:nvPr/>
        </p:nvSpPr>
        <p:spPr>
          <a:xfrm>
            <a:off x="457200" y="3794760"/>
            <a:ext cx="502920" cy="566928"/>
          </a:xfrm>
          <a:prstGeom prst="rect">
            <a:avLst/>
          </a:prstGeom>
          <a:solidFill>
            <a:srgbClr val="1C7293"/>
          </a:solidFill>
          <a:ln w="12700">
            <a:solidFill>
              <a:srgbClr val="1C7293"/>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Comme une question relevant uniquement du règlement intérieur</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Q30/50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Comment le référentiel HAS aborde-t-il la liberté d'aller et venir de la personne accompagnée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Comme une liberté pouvant être restreinte sans justification particulière</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Comme un droit fondamental devant être respecté et toute restriction devant être justifiée et encadrée</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Comme une question relevant uniquement du règlement intérieur</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1C7293">
                <a:alpha val="70000"/>
              </a:srgbClr>
            </a:solidFill>
            <a:prstDash val="solid"/>
          </a:ln>
        </p:spPr>
      </p:sp>
      <p:sp>
        <p:nvSpPr>
          <p:cNvPr id="19" name="Shape 17"/>
          <p:cNvSpPr/>
          <p:nvPr/>
        </p:nvSpPr>
        <p:spPr>
          <a:xfrm>
            <a:off x="457200" y="3364992"/>
            <a:ext cx="73152" cy="1417320"/>
          </a:xfrm>
          <a:prstGeom prst="rect">
            <a:avLst/>
          </a:prstGeom>
          <a:solidFill>
            <a:srgbClr val="1C7293"/>
          </a:solidFill>
          <a:ln w="12700">
            <a:solidFill>
              <a:srgbClr val="1C7293"/>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1C7293"/>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La liberté d'aller et venir est un droit fondamental. Le référentiel prévoit que les restrictions éventuelles doivent être justifiées, proportionnées et encadrées, et font l'objet d'une attention particulière des évaluateurs.</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0B4F71"/>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28600"/>
            <a:ext cx="1188720" cy="411480"/>
          </a:xfrm>
          <a:prstGeom prst="roundRect">
            <a:avLst>
              <a:gd name="adj" fmla="val 17778"/>
            </a:avLst>
          </a:prstGeom>
          <a:solidFill>
            <a:srgbClr val="02C39A"/>
          </a:solidFill>
          <a:ln w="12700">
            <a:solidFill>
              <a:srgbClr val="02C39A"/>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0B4F71"/>
                </a:solidFill>
                <a:latin typeface="Calibri" pitchFamily="34" charset="0"/>
                <a:ea typeface="Calibri" pitchFamily="34" charset="-122"/>
                <a:cs typeface="Calibri" pitchFamily="34" charset="-120"/>
              </a:rPr>
              <a:t>Q31/50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1</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Quel rôle jouent les proches aidants dans l'accompagnement selon le référentiel HAS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02C39A">
                <a:alpha val="60000"/>
              </a:srgbClr>
            </a:solidFill>
            <a:prstDash val="solid"/>
          </a:ln>
        </p:spPr>
      </p:sp>
      <p:sp>
        <p:nvSpPr>
          <p:cNvPr id="9" name="Shape 7"/>
          <p:cNvSpPr/>
          <p:nvPr/>
        </p:nvSpPr>
        <p:spPr>
          <a:xfrm>
            <a:off x="457200" y="2514600"/>
            <a:ext cx="502920" cy="566928"/>
          </a:xfrm>
          <a:prstGeom prst="rect">
            <a:avLst/>
          </a:prstGeom>
          <a:solidFill>
            <a:srgbClr val="1C7293"/>
          </a:solidFill>
          <a:ln w="12700">
            <a:solidFill>
              <a:srgbClr val="1C7293"/>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Ils peuvent se substituer à la volonté de la personne accompagnée</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02C39A">
                <a:alpha val="60000"/>
              </a:srgbClr>
            </a:solidFill>
            <a:prstDash val="solid"/>
          </a:ln>
        </p:spPr>
      </p:sp>
      <p:sp>
        <p:nvSpPr>
          <p:cNvPr id="13" name="Shape 11"/>
          <p:cNvSpPr/>
          <p:nvPr/>
        </p:nvSpPr>
        <p:spPr>
          <a:xfrm>
            <a:off x="457200" y="3154680"/>
            <a:ext cx="502920" cy="566928"/>
          </a:xfrm>
          <a:prstGeom prst="rect">
            <a:avLst/>
          </a:prstGeom>
          <a:solidFill>
            <a:srgbClr val="1C7293"/>
          </a:solidFill>
          <a:ln w="12700">
            <a:solidFill>
              <a:srgbClr val="1C7293"/>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Ils doivent être associés à l'expression et à la participation dans le respect de la volonté de la personne</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02C39A">
                <a:alpha val="60000"/>
              </a:srgbClr>
            </a:solidFill>
            <a:prstDash val="solid"/>
          </a:ln>
        </p:spPr>
      </p:sp>
      <p:sp>
        <p:nvSpPr>
          <p:cNvPr id="17" name="Shape 15"/>
          <p:cNvSpPr/>
          <p:nvPr/>
        </p:nvSpPr>
        <p:spPr>
          <a:xfrm>
            <a:off x="457200" y="3794760"/>
            <a:ext cx="502920" cy="566928"/>
          </a:xfrm>
          <a:prstGeom prst="rect">
            <a:avLst/>
          </a:prstGeom>
          <a:solidFill>
            <a:srgbClr val="1C7293"/>
          </a:solidFill>
          <a:ln w="12700">
            <a:solidFill>
              <a:srgbClr val="1C7293"/>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Ils n'ont aucun rôle reconnu dans le référentiel</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Q31/50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Quel rôle jouent les proches aidants dans l'accompagnement selon le référentiel HAS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Ils peuvent se substituer à la volonté de la personne accompagnée</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Ils doivent être associés à l'expression et à la participation dans le respect de la volonté de la personne</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Ils n'ont aucun rôle reconnu dans le référentiel</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1C7293">
                <a:alpha val="70000"/>
              </a:srgbClr>
            </a:solidFill>
            <a:prstDash val="solid"/>
          </a:ln>
        </p:spPr>
      </p:sp>
      <p:sp>
        <p:nvSpPr>
          <p:cNvPr id="19" name="Shape 17"/>
          <p:cNvSpPr/>
          <p:nvPr/>
        </p:nvSpPr>
        <p:spPr>
          <a:xfrm>
            <a:off x="457200" y="3364992"/>
            <a:ext cx="73152" cy="1417320"/>
          </a:xfrm>
          <a:prstGeom prst="rect">
            <a:avLst/>
          </a:prstGeom>
          <a:solidFill>
            <a:srgbClr val="1C7293"/>
          </a:solidFill>
          <a:ln w="12700">
            <a:solidFill>
              <a:srgbClr val="1C7293"/>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1C7293"/>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critère 1.6.3 (impératif) précise que les proches aidants sont associés à l'expression et à la participation de la personne, mais toujours dans le respect de la volonté de celle-ci. La personne reste actrice principale.</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0B4F71"/>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28600"/>
            <a:ext cx="1188720" cy="411480"/>
          </a:xfrm>
          <a:prstGeom prst="roundRect">
            <a:avLst>
              <a:gd name="adj" fmla="val 17778"/>
            </a:avLst>
          </a:prstGeom>
          <a:solidFill>
            <a:srgbClr val="02C39A"/>
          </a:solidFill>
          <a:ln w="12700">
            <a:solidFill>
              <a:srgbClr val="02C39A"/>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0B4F71"/>
                </a:solidFill>
                <a:latin typeface="Calibri" pitchFamily="34" charset="0"/>
                <a:ea typeface="Calibri" pitchFamily="34" charset="-122"/>
                <a:cs typeface="Calibri" pitchFamily="34" charset="-120"/>
              </a:rPr>
              <a:t>Q32/50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1</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Quelle approche le référentiel HAS préconise-t-il pour l'évaluation des besoins en autonomie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02C39A">
                <a:alpha val="60000"/>
              </a:srgbClr>
            </a:solidFill>
            <a:prstDash val="solid"/>
          </a:ln>
        </p:spPr>
      </p:sp>
      <p:sp>
        <p:nvSpPr>
          <p:cNvPr id="9" name="Shape 7"/>
          <p:cNvSpPr/>
          <p:nvPr/>
        </p:nvSpPr>
        <p:spPr>
          <a:xfrm>
            <a:off x="457200" y="2514600"/>
            <a:ext cx="502920" cy="566928"/>
          </a:xfrm>
          <a:prstGeom prst="rect">
            <a:avLst/>
          </a:prstGeom>
          <a:solidFill>
            <a:srgbClr val="1C7293"/>
          </a:solidFill>
          <a:ln w="12700">
            <a:solidFill>
              <a:srgbClr val="1C7293"/>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Une évaluation ponctuelle à l'entrée uniquement</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02C39A">
                <a:alpha val="60000"/>
              </a:srgbClr>
            </a:solidFill>
            <a:prstDash val="solid"/>
          </a:ln>
        </p:spPr>
      </p:sp>
      <p:sp>
        <p:nvSpPr>
          <p:cNvPr id="13" name="Shape 11"/>
          <p:cNvSpPr/>
          <p:nvPr/>
        </p:nvSpPr>
        <p:spPr>
          <a:xfrm>
            <a:off x="457200" y="3154680"/>
            <a:ext cx="502920" cy="566928"/>
          </a:xfrm>
          <a:prstGeom prst="rect">
            <a:avLst/>
          </a:prstGeom>
          <a:solidFill>
            <a:srgbClr val="1C7293"/>
          </a:solidFill>
          <a:ln w="12700">
            <a:solidFill>
              <a:srgbClr val="1C7293"/>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Une évaluation régulière et rigoureuse en collaboration étroite avec la personne et les professionnels</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02C39A">
                <a:alpha val="60000"/>
              </a:srgbClr>
            </a:solidFill>
            <a:prstDash val="solid"/>
          </a:ln>
        </p:spPr>
      </p:sp>
      <p:sp>
        <p:nvSpPr>
          <p:cNvPr id="17" name="Shape 15"/>
          <p:cNvSpPr/>
          <p:nvPr/>
        </p:nvSpPr>
        <p:spPr>
          <a:xfrm>
            <a:off x="457200" y="3794760"/>
            <a:ext cx="502920" cy="566928"/>
          </a:xfrm>
          <a:prstGeom prst="rect">
            <a:avLst/>
          </a:prstGeom>
          <a:solidFill>
            <a:srgbClr val="1C7293"/>
          </a:solidFill>
          <a:ln w="12700">
            <a:solidFill>
              <a:srgbClr val="1C7293"/>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Une évaluation déléguée exclusivement à la MDPH</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Q32/50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Quelle approche le référentiel HAS préconise-t-il pour l'évaluation des besoins en autonomie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Une évaluation ponctuelle à l'entrée uniquement</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Une évaluation régulière et rigoureuse en collaboration étroite avec la personne et les professionnels</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Une évaluation déléguée exclusivement à la MDPH</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1C7293">
                <a:alpha val="70000"/>
              </a:srgbClr>
            </a:solidFill>
            <a:prstDash val="solid"/>
          </a:ln>
        </p:spPr>
      </p:sp>
      <p:sp>
        <p:nvSpPr>
          <p:cNvPr id="19" name="Shape 17"/>
          <p:cNvSpPr/>
          <p:nvPr/>
        </p:nvSpPr>
        <p:spPr>
          <a:xfrm>
            <a:off x="457200" y="3364992"/>
            <a:ext cx="73152" cy="1417320"/>
          </a:xfrm>
          <a:prstGeom prst="rect">
            <a:avLst/>
          </a:prstGeom>
          <a:solidFill>
            <a:srgbClr val="1C7293"/>
          </a:solidFill>
          <a:ln w="12700">
            <a:solidFill>
              <a:srgbClr val="1C7293"/>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1C7293"/>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L'approche HAS pour l'autonomie repose sur une évaluation régulière des besoins, une collaboration étroite entre professionnels et personnes accompagnées, et une adaptation permanente de l'accompagnement.</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0B4F71"/>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28600"/>
            <a:ext cx="1188720" cy="411480"/>
          </a:xfrm>
          <a:prstGeom prst="roundRect">
            <a:avLst>
              <a:gd name="adj" fmla="val 17778"/>
            </a:avLst>
          </a:prstGeom>
          <a:solidFill>
            <a:srgbClr val="02C39A"/>
          </a:solidFill>
          <a:ln w="12700">
            <a:solidFill>
              <a:srgbClr val="02C39A"/>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0B4F71"/>
                </a:solidFill>
                <a:latin typeface="Calibri" pitchFamily="34" charset="0"/>
                <a:ea typeface="Calibri" pitchFamily="34" charset="-122"/>
                <a:cs typeface="Calibri" pitchFamily="34" charset="-120"/>
              </a:rPr>
              <a:t>Q33/50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1</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 prévoit le référentiel concernant les situations de crise ou d'urgence pour la personne accompagnée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02C39A">
                <a:alpha val="60000"/>
              </a:srgbClr>
            </a:solidFill>
            <a:prstDash val="solid"/>
          </a:ln>
        </p:spPr>
      </p:sp>
      <p:sp>
        <p:nvSpPr>
          <p:cNvPr id="9" name="Shape 7"/>
          <p:cNvSpPr/>
          <p:nvPr/>
        </p:nvSpPr>
        <p:spPr>
          <a:xfrm>
            <a:off x="457200" y="2514600"/>
            <a:ext cx="502920" cy="566928"/>
          </a:xfrm>
          <a:prstGeom prst="rect">
            <a:avLst/>
          </a:prstGeom>
          <a:solidFill>
            <a:srgbClr val="1C7293"/>
          </a:solidFill>
          <a:ln w="12700">
            <a:solidFill>
              <a:srgbClr val="1C7293"/>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 transfert systématique aux urgences hospitalières</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02C39A">
                <a:alpha val="60000"/>
              </a:srgbClr>
            </a:solidFill>
            <a:prstDash val="solid"/>
          </a:ln>
        </p:spPr>
      </p:sp>
      <p:sp>
        <p:nvSpPr>
          <p:cNvPr id="13" name="Shape 11"/>
          <p:cNvSpPr/>
          <p:nvPr/>
        </p:nvSpPr>
        <p:spPr>
          <a:xfrm>
            <a:off x="457200" y="3154680"/>
            <a:ext cx="502920" cy="566928"/>
          </a:xfrm>
          <a:prstGeom prst="rect">
            <a:avLst/>
          </a:prstGeom>
          <a:solidFill>
            <a:srgbClr val="1C7293"/>
          </a:solidFill>
          <a:ln w="12700">
            <a:solidFill>
              <a:srgbClr val="1C7293"/>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 accompagnement adapté prévu et organisé en amont pour ces situations</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02C39A">
                <a:alpha val="60000"/>
              </a:srgbClr>
            </a:solidFill>
            <a:prstDash val="solid"/>
          </a:ln>
        </p:spPr>
      </p:sp>
      <p:sp>
        <p:nvSpPr>
          <p:cNvPr id="17" name="Shape 15"/>
          <p:cNvSpPr/>
          <p:nvPr/>
        </p:nvSpPr>
        <p:spPr>
          <a:xfrm>
            <a:off x="457200" y="3794760"/>
            <a:ext cx="502920" cy="566928"/>
          </a:xfrm>
          <a:prstGeom prst="rect">
            <a:avLst/>
          </a:prstGeom>
          <a:solidFill>
            <a:srgbClr val="1C7293"/>
          </a:solidFill>
          <a:ln w="12700">
            <a:solidFill>
              <a:srgbClr val="1C7293"/>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L'arrêt temporaire de l'accompagnement jusqu'à résolution de la crise</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Q33/50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 prévoit le référentiel concernant les situations de crise ou d'urgence pour la personne accompagnée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 transfert systématique aux urgences hospitalières</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Un accompagnement adapté prévu et organisé en amont pour ces situations</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L'arrêt temporaire de l'accompagnement jusqu'à résolution de la crise</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1C7293">
                <a:alpha val="70000"/>
              </a:srgbClr>
            </a:solidFill>
            <a:prstDash val="solid"/>
          </a:ln>
        </p:spPr>
      </p:sp>
      <p:sp>
        <p:nvSpPr>
          <p:cNvPr id="19" name="Shape 17"/>
          <p:cNvSpPr/>
          <p:nvPr/>
        </p:nvSpPr>
        <p:spPr>
          <a:xfrm>
            <a:off x="457200" y="3364992"/>
            <a:ext cx="73152" cy="1417320"/>
          </a:xfrm>
          <a:prstGeom prst="rect">
            <a:avLst/>
          </a:prstGeom>
          <a:solidFill>
            <a:srgbClr val="1C7293"/>
          </a:solidFill>
          <a:ln w="12700">
            <a:solidFill>
              <a:srgbClr val="1C7293"/>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1C7293"/>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critère 1.15.3 prévoit que la personne bénéficie d'un accompagnement structuré lors des situations de crise ou d'urgence. Ces situations doivent être anticipées dans le plan d'accompagnement.</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0B4F71"/>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28600"/>
            <a:ext cx="1188720" cy="411480"/>
          </a:xfrm>
          <a:prstGeom prst="roundRect">
            <a:avLst>
              <a:gd name="adj" fmla="val 17778"/>
            </a:avLst>
          </a:prstGeom>
          <a:solidFill>
            <a:srgbClr val="02C39A"/>
          </a:solidFill>
          <a:ln w="12700">
            <a:solidFill>
              <a:srgbClr val="02C39A"/>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0B4F71"/>
                </a:solidFill>
                <a:latin typeface="Calibri" pitchFamily="34" charset="0"/>
                <a:ea typeface="Calibri" pitchFamily="34" charset="-122"/>
                <a:cs typeface="Calibri" pitchFamily="34" charset="-120"/>
              </a:rPr>
              <a:t>Q34/50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1</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Comment le dossier de la personne accompagnée est-il considéré lors des transitions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02C39A">
                <a:alpha val="60000"/>
              </a:srgbClr>
            </a:solidFill>
            <a:prstDash val="solid"/>
          </a:ln>
        </p:spPr>
      </p:sp>
      <p:sp>
        <p:nvSpPr>
          <p:cNvPr id="9" name="Shape 7"/>
          <p:cNvSpPr/>
          <p:nvPr/>
        </p:nvSpPr>
        <p:spPr>
          <a:xfrm>
            <a:off x="457200" y="2514600"/>
            <a:ext cx="502920" cy="566928"/>
          </a:xfrm>
          <a:prstGeom prst="rect">
            <a:avLst/>
          </a:prstGeom>
          <a:solidFill>
            <a:srgbClr val="1C7293"/>
          </a:solidFill>
          <a:ln w="12700">
            <a:solidFill>
              <a:srgbClr val="1C7293"/>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Il reste dans l'établissement d'origine et n'est pas transmis</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02C39A">
                <a:alpha val="60000"/>
              </a:srgbClr>
            </a:solidFill>
            <a:prstDash val="solid"/>
          </a:ln>
        </p:spPr>
      </p:sp>
      <p:sp>
        <p:nvSpPr>
          <p:cNvPr id="13" name="Shape 11"/>
          <p:cNvSpPr/>
          <p:nvPr/>
        </p:nvSpPr>
        <p:spPr>
          <a:xfrm>
            <a:off x="457200" y="3154680"/>
            <a:ext cx="502920" cy="566928"/>
          </a:xfrm>
          <a:prstGeom prst="rect">
            <a:avLst/>
          </a:prstGeom>
          <a:solidFill>
            <a:srgbClr val="1C7293"/>
          </a:solidFill>
          <a:ln w="12700">
            <a:solidFill>
              <a:srgbClr val="1C7293"/>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Il accompagne la personne lors des transitions de manière adaptée et dans le respect de la confidentialité</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02C39A">
                <a:alpha val="60000"/>
              </a:srgbClr>
            </a:solidFill>
            <a:prstDash val="solid"/>
          </a:ln>
        </p:spPr>
      </p:sp>
      <p:sp>
        <p:nvSpPr>
          <p:cNvPr id="17" name="Shape 15"/>
          <p:cNvSpPr/>
          <p:nvPr/>
        </p:nvSpPr>
        <p:spPr>
          <a:xfrm>
            <a:off x="457200" y="3794760"/>
            <a:ext cx="502920" cy="566928"/>
          </a:xfrm>
          <a:prstGeom prst="rect">
            <a:avLst/>
          </a:prstGeom>
          <a:solidFill>
            <a:srgbClr val="1C7293"/>
          </a:solidFill>
          <a:ln w="12700">
            <a:solidFill>
              <a:srgbClr val="1C7293"/>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Il est détruit à la sortie de la personne</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Q34/50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Comment le dossier de la personne accompagnée est-il considéré lors des transitions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Il reste dans l'établissement d'origine et n'est pas transmis</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Il accompagne la personne lors des transitions de manière adaptée et dans le respect de la confidentialité</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Il est détruit à la sortie de la personne</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1C7293">
                <a:alpha val="70000"/>
              </a:srgbClr>
            </a:solidFill>
            <a:prstDash val="solid"/>
          </a:ln>
        </p:spPr>
      </p:sp>
      <p:sp>
        <p:nvSpPr>
          <p:cNvPr id="19" name="Shape 17"/>
          <p:cNvSpPr/>
          <p:nvPr/>
        </p:nvSpPr>
        <p:spPr>
          <a:xfrm>
            <a:off x="457200" y="3364992"/>
            <a:ext cx="73152" cy="1417320"/>
          </a:xfrm>
          <a:prstGeom prst="rect">
            <a:avLst/>
          </a:prstGeom>
          <a:solidFill>
            <a:srgbClr val="1C7293"/>
          </a:solidFill>
          <a:ln w="12700">
            <a:solidFill>
              <a:srgbClr val="1C7293"/>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1C7293"/>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critère 1.15.2 précise que le dossier de la personne doit accompagner les transitions pour assurer la continuité de l'accompagnement, dans le respect des règles de confidentialité et de protection des données.</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0B4F71"/>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28600"/>
            <a:ext cx="1188720" cy="411480"/>
          </a:xfrm>
          <a:prstGeom prst="roundRect">
            <a:avLst>
              <a:gd name="adj" fmla="val 17778"/>
            </a:avLst>
          </a:prstGeom>
          <a:solidFill>
            <a:srgbClr val="02C39A"/>
          </a:solidFill>
          <a:ln w="12700">
            <a:solidFill>
              <a:srgbClr val="02C39A"/>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0B4F71"/>
                </a:solidFill>
                <a:latin typeface="Calibri" pitchFamily="34" charset="0"/>
                <a:ea typeface="Calibri" pitchFamily="34" charset="-122"/>
                <a:cs typeface="Calibri" pitchFamily="34" charset="-120"/>
              </a:rPr>
              <a:t>Q35/50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1</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Quel lien est établi entre le rythme des évaluations et le projet d'établissement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02C39A">
                <a:alpha val="60000"/>
              </a:srgbClr>
            </a:solidFill>
            <a:prstDash val="solid"/>
          </a:ln>
        </p:spPr>
      </p:sp>
      <p:sp>
        <p:nvSpPr>
          <p:cNvPr id="9" name="Shape 7"/>
          <p:cNvSpPr/>
          <p:nvPr/>
        </p:nvSpPr>
        <p:spPr>
          <a:xfrm>
            <a:off x="457200" y="2514600"/>
            <a:ext cx="502920" cy="566928"/>
          </a:xfrm>
          <a:prstGeom prst="rect">
            <a:avLst/>
          </a:prstGeom>
          <a:solidFill>
            <a:srgbClr val="1C7293"/>
          </a:solidFill>
          <a:ln w="12700">
            <a:solidFill>
              <a:srgbClr val="1C7293"/>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Aucun lien particulier n'est établi</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02C39A">
                <a:alpha val="60000"/>
              </a:srgbClr>
            </a:solidFill>
            <a:prstDash val="solid"/>
          </a:ln>
        </p:spPr>
      </p:sp>
      <p:sp>
        <p:nvSpPr>
          <p:cNvPr id="13" name="Shape 11"/>
          <p:cNvSpPr/>
          <p:nvPr/>
        </p:nvSpPr>
        <p:spPr>
          <a:xfrm>
            <a:off x="457200" y="3154680"/>
            <a:ext cx="502920" cy="566928"/>
          </a:xfrm>
          <a:prstGeom prst="rect">
            <a:avLst/>
          </a:prstGeom>
          <a:solidFill>
            <a:srgbClr val="1C7293"/>
          </a:solidFill>
          <a:ln w="12700">
            <a:solidFill>
              <a:srgbClr val="1C7293"/>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Le rythme quinquennal correspond au cycle du projet d'établissement, permettant une réinterrogation régulière des pratiques</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02C39A">
                <a:alpha val="60000"/>
              </a:srgbClr>
            </a:solidFill>
            <a:prstDash val="solid"/>
          </a:ln>
        </p:spPr>
      </p:sp>
      <p:sp>
        <p:nvSpPr>
          <p:cNvPr id="17" name="Shape 15"/>
          <p:cNvSpPr/>
          <p:nvPr/>
        </p:nvSpPr>
        <p:spPr>
          <a:xfrm>
            <a:off x="457200" y="3794760"/>
            <a:ext cx="502920" cy="566928"/>
          </a:xfrm>
          <a:prstGeom prst="rect">
            <a:avLst/>
          </a:prstGeom>
          <a:solidFill>
            <a:srgbClr val="1C7293"/>
          </a:solidFill>
          <a:ln w="12700">
            <a:solidFill>
              <a:srgbClr val="1C7293"/>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L'évaluation remplace le projet d'établissement</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Q35/50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Quel lien est établi entre le rythme des évaluations et le projet d'établissement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Aucun lien particulier n'est établi</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Le rythme quinquennal correspond au cycle du projet d'établissement, permettant une réinterrogation régulière des pratiques</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L'évaluation remplace le projet d'établissement</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1C7293">
                <a:alpha val="70000"/>
              </a:srgbClr>
            </a:solidFill>
            <a:prstDash val="solid"/>
          </a:ln>
        </p:spPr>
      </p:sp>
      <p:sp>
        <p:nvSpPr>
          <p:cNvPr id="19" name="Shape 17"/>
          <p:cNvSpPr/>
          <p:nvPr/>
        </p:nvSpPr>
        <p:spPr>
          <a:xfrm>
            <a:off x="457200" y="3364992"/>
            <a:ext cx="73152" cy="1417320"/>
          </a:xfrm>
          <a:prstGeom prst="rect">
            <a:avLst/>
          </a:prstGeom>
          <a:solidFill>
            <a:srgbClr val="1C7293"/>
          </a:solidFill>
          <a:ln w="12700">
            <a:solidFill>
              <a:srgbClr val="1C7293"/>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1C7293"/>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rythme d'une évaluation tous les 5 ans correspond à celui du projet d'établissement. Cela permet de réinterroger les pratiques et les organisations à l'issue de chaque cycle projet, au bénéfice des personnes accueillies.</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0B4F71"/>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28600"/>
            <a:ext cx="1188720" cy="411480"/>
          </a:xfrm>
          <a:prstGeom prst="roundRect">
            <a:avLst>
              <a:gd name="adj" fmla="val 17778"/>
            </a:avLst>
          </a:prstGeom>
          <a:solidFill>
            <a:srgbClr val="02C39A"/>
          </a:solidFill>
          <a:ln w="12700">
            <a:solidFill>
              <a:srgbClr val="02C39A"/>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0B4F71"/>
                </a:solidFill>
                <a:latin typeface="Calibri" pitchFamily="34" charset="0"/>
                <a:ea typeface="Calibri" pitchFamily="34" charset="-122"/>
                <a:cs typeface="Calibri" pitchFamily="34" charset="-120"/>
              </a:rPr>
              <a:t>Q36/50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1</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Qu'est-ce que la méthode de l'accompagné traceur cherche à appréhender en premier lieu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02C39A">
                <a:alpha val="60000"/>
              </a:srgbClr>
            </a:solidFill>
            <a:prstDash val="solid"/>
          </a:ln>
        </p:spPr>
      </p:sp>
      <p:sp>
        <p:nvSpPr>
          <p:cNvPr id="9" name="Shape 7"/>
          <p:cNvSpPr/>
          <p:nvPr/>
        </p:nvSpPr>
        <p:spPr>
          <a:xfrm>
            <a:off x="457200" y="2514600"/>
            <a:ext cx="502920" cy="566928"/>
          </a:xfrm>
          <a:prstGeom prst="rect">
            <a:avLst/>
          </a:prstGeom>
          <a:solidFill>
            <a:srgbClr val="1C7293"/>
          </a:solidFill>
          <a:ln w="12700">
            <a:solidFill>
              <a:srgbClr val="1C7293"/>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La conformité documentaire des dossiers de la personne</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02C39A">
                <a:alpha val="60000"/>
              </a:srgbClr>
            </a:solidFill>
            <a:prstDash val="solid"/>
          </a:ln>
        </p:spPr>
      </p:sp>
      <p:sp>
        <p:nvSpPr>
          <p:cNvPr id="13" name="Shape 11"/>
          <p:cNvSpPr/>
          <p:nvPr/>
        </p:nvSpPr>
        <p:spPr>
          <a:xfrm>
            <a:off x="457200" y="3154680"/>
            <a:ext cx="502920" cy="566928"/>
          </a:xfrm>
          <a:prstGeom prst="rect">
            <a:avLst/>
          </a:prstGeom>
          <a:solidFill>
            <a:srgbClr val="1C7293"/>
          </a:solidFill>
          <a:ln w="12700">
            <a:solidFill>
              <a:srgbClr val="1C7293"/>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La perception de la bientraitance, le respect des droits et la qualité de vie ressentis par la personne accompagnée</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02C39A">
                <a:alpha val="60000"/>
              </a:srgbClr>
            </a:solidFill>
            <a:prstDash val="solid"/>
          </a:ln>
        </p:spPr>
      </p:sp>
      <p:sp>
        <p:nvSpPr>
          <p:cNvPr id="17" name="Shape 15"/>
          <p:cNvSpPr/>
          <p:nvPr/>
        </p:nvSpPr>
        <p:spPr>
          <a:xfrm>
            <a:off x="457200" y="3794760"/>
            <a:ext cx="502920" cy="566928"/>
          </a:xfrm>
          <a:prstGeom prst="rect">
            <a:avLst/>
          </a:prstGeom>
          <a:solidFill>
            <a:srgbClr val="1C7293"/>
          </a:solidFill>
          <a:ln w="12700">
            <a:solidFill>
              <a:srgbClr val="1C7293"/>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Le niveau de formation des professionnels référents</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Q36/50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Qu'est-ce que la méthode de l'accompagné traceur cherche à appréhender en premier lieu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La conformité documentaire des dossiers de la personne</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La perception de la bientraitance, le respect des droits et la qualité de vie ressentis par la personne accompagnée</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Le niveau de formation des professionnels référents</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1C7293">
                <a:alpha val="70000"/>
              </a:srgbClr>
            </a:solidFill>
            <a:prstDash val="solid"/>
          </a:ln>
        </p:spPr>
      </p:sp>
      <p:sp>
        <p:nvSpPr>
          <p:cNvPr id="19" name="Shape 17"/>
          <p:cNvSpPr/>
          <p:nvPr/>
        </p:nvSpPr>
        <p:spPr>
          <a:xfrm>
            <a:off x="457200" y="3364992"/>
            <a:ext cx="73152" cy="1417320"/>
          </a:xfrm>
          <a:prstGeom prst="rect">
            <a:avLst/>
          </a:prstGeom>
          <a:solidFill>
            <a:srgbClr val="1C7293"/>
          </a:solidFill>
          <a:ln w="12700">
            <a:solidFill>
              <a:srgbClr val="1C7293"/>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1C7293"/>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L'accompagné traceur vise d'abord à recueillir la perception de la personne : son ressenti sur la bientraitance, le respect de ses droits, sa participation à son projet et la qualité de son accompagnement au quotidien.</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0B4F71"/>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28600"/>
            <a:ext cx="1188720" cy="411480"/>
          </a:xfrm>
          <a:prstGeom prst="roundRect">
            <a:avLst>
              <a:gd name="adj" fmla="val 17778"/>
            </a:avLst>
          </a:prstGeom>
          <a:solidFill>
            <a:srgbClr val="02C39A"/>
          </a:solidFill>
          <a:ln w="12700">
            <a:solidFill>
              <a:srgbClr val="02C39A"/>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0B4F71"/>
                </a:solidFill>
                <a:latin typeface="Calibri" pitchFamily="34" charset="0"/>
                <a:ea typeface="Calibri" pitchFamily="34" charset="-122"/>
                <a:cs typeface="Calibri" pitchFamily="34" charset="-120"/>
              </a:rPr>
              <a:t>Q37/50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1</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Quelle est la durée minimale d'une visite d'évaluation sur site pour un ESSMS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02C39A">
                <a:alpha val="60000"/>
              </a:srgbClr>
            </a:solidFill>
            <a:prstDash val="solid"/>
          </a:ln>
        </p:spPr>
      </p:sp>
      <p:sp>
        <p:nvSpPr>
          <p:cNvPr id="9" name="Shape 7"/>
          <p:cNvSpPr/>
          <p:nvPr/>
        </p:nvSpPr>
        <p:spPr>
          <a:xfrm>
            <a:off x="457200" y="2514600"/>
            <a:ext cx="502920" cy="566928"/>
          </a:xfrm>
          <a:prstGeom prst="rect">
            <a:avLst/>
          </a:prstGeom>
          <a:solidFill>
            <a:srgbClr val="1C7293"/>
          </a:solidFill>
          <a:ln w="12700">
            <a:solidFill>
              <a:srgbClr val="1C7293"/>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Une demi-journée</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02C39A">
                <a:alpha val="60000"/>
              </a:srgbClr>
            </a:solidFill>
            <a:prstDash val="solid"/>
          </a:ln>
        </p:spPr>
      </p:sp>
      <p:sp>
        <p:nvSpPr>
          <p:cNvPr id="13" name="Shape 11"/>
          <p:cNvSpPr/>
          <p:nvPr/>
        </p:nvSpPr>
        <p:spPr>
          <a:xfrm>
            <a:off x="457200" y="3154680"/>
            <a:ext cx="502920" cy="566928"/>
          </a:xfrm>
          <a:prstGeom prst="rect">
            <a:avLst/>
          </a:prstGeom>
          <a:solidFill>
            <a:srgbClr val="1C7293"/>
          </a:solidFill>
          <a:ln w="12700">
            <a:solidFill>
              <a:srgbClr val="1C7293"/>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2 jours</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02C39A">
                <a:alpha val="60000"/>
              </a:srgbClr>
            </a:solidFill>
            <a:prstDash val="solid"/>
          </a:ln>
        </p:spPr>
      </p:sp>
      <p:sp>
        <p:nvSpPr>
          <p:cNvPr id="17" name="Shape 15"/>
          <p:cNvSpPr/>
          <p:nvPr/>
        </p:nvSpPr>
        <p:spPr>
          <a:xfrm>
            <a:off x="457200" y="3794760"/>
            <a:ext cx="502920" cy="566928"/>
          </a:xfrm>
          <a:prstGeom prst="rect">
            <a:avLst/>
          </a:prstGeom>
          <a:solidFill>
            <a:srgbClr val="1C7293"/>
          </a:solidFill>
          <a:ln w="12700">
            <a:solidFill>
              <a:srgbClr val="1C7293"/>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5 jours</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Q37/50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Quelle est la durée minimale d'une visite d'évaluation sur site pour un ESSMS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Une demi-journée</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2 jours</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5 jours</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1C7293">
                <a:alpha val="70000"/>
              </a:srgbClr>
            </a:solidFill>
            <a:prstDash val="solid"/>
          </a:ln>
        </p:spPr>
      </p:sp>
      <p:sp>
        <p:nvSpPr>
          <p:cNvPr id="19" name="Shape 17"/>
          <p:cNvSpPr/>
          <p:nvPr/>
        </p:nvSpPr>
        <p:spPr>
          <a:xfrm>
            <a:off x="457200" y="3364992"/>
            <a:ext cx="73152" cy="1417320"/>
          </a:xfrm>
          <a:prstGeom prst="rect">
            <a:avLst/>
          </a:prstGeom>
          <a:solidFill>
            <a:srgbClr val="1C7293"/>
          </a:solidFill>
          <a:ln w="12700">
            <a:solidFill>
              <a:srgbClr val="1C7293"/>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1C7293"/>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Selon les fiches pratiques actualisées du manuel HAS (V1.1), la durée minimale de la visite d'évaluation sur site est fixée à 2 jours pour permettre de déployer les 3 méthodes d'évaluation de manière satisfaisante.</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0B4F71"/>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28600"/>
            <a:ext cx="1188720" cy="411480"/>
          </a:xfrm>
          <a:prstGeom prst="roundRect">
            <a:avLst>
              <a:gd name="adj" fmla="val 17778"/>
            </a:avLst>
          </a:prstGeom>
          <a:solidFill>
            <a:srgbClr val="02C39A"/>
          </a:solidFill>
          <a:ln w="12700">
            <a:solidFill>
              <a:srgbClr val="02C39A"/>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0B4F71"/>
                </a:solidFill>
                <a:latin typeface="Calibri" pitchFamily="34" charset="0"/>
                <a:ea typeface="Calibri" pitchFamily="34" charset="-122"/>
                <a:cs typeface="Calibri" pitchFamily="34" charset="-120"/>
              </a:rPr>
              <a:t>Q38/50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1</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Quel aspect de la citoyenneté le référentiel HAS prend-il en compte pour les personnes accompagnées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02C39A">
                <a:alpha val="60000"/>
              </a:srgbClr>
            </a:solidFill>
            <a:prstDash val="solid"/>
          </a:ln>
        </p:spPr>
      </p:sp>
      <p:sp>
        <p:nvSpPr>
          <p:cNvPr id="9" name="Shape 7"/>
          <p:cNvSpPr/>
          <p:nvPr/>
        </p:nvSpPr>
        <p:spPr>
          <a:xfrm>
            <a:off x="457200" y="2514600"/>
            <a:ext cx="502920" cy="566928"/>
          </a:xfrm>
          <a:prstGeom prst="rect">
            <a:avLst/>
          </a:prstGeom>
          <a:solidFill>
            <a:srgbClr val="1C7293"/>
          </a:solidFill>
          <a:ln w="12700">
            <a:solidFill>
              <a:srgbClr val="1C7293"/>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Uniquement le droit de vote</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02C39A">
                <a:alpha val="60000"/>
              </a:srgbClr>
            </a:solidFill>
            <a:prstDash val="solid"/>
          </a:ln>
        </p:spPr>
      </p:sp>
      <p:sp>
        <p:nvSpPr>
          <p:cNvPr id="13" name="Shape 11"/>
          <p:cNvSpPr/>
          <p:nvPr/>
        </p:nvSpPr>
        <p:spPr>
          <a:xfrm>
            <a:off x="457200" y="3154680"/>
            <a:ext cx="502920" cy="566928"/>
          </a:xfrm>
          <a:prstGeom prst="rect">
            <a:avLst/>
          </a:prstGeom>
          <a:solidFill>
            <a:srgbClr val="1C7293"/>
          </a:solidFill>
          <a:ln w="12700">
            <a:solidFill>
              <a:srgbClr val="1C7293"/>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La participation à la vie citoyenne au sens large et l'éducation à la citoyenneté selon les besoins</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02C39A">
                <a:alpha val="60000"/>
              </a:srgbClr>
            </a:solidFill>
            <a:prstDash val="solid"/>
          </a:ln>
        </p:spPr>
      </p:sp>
      <p:sp>
        <p:nvSpPr>
          <p:cNvPr id="17" name="Shape 15"/>
          <p:cNvSpPr/>
          <p:nvPr/>
        </p:nvSpPr>
        <p:spPr>
          <a:xfrm>
            <a:off x="457200" y="3794760"/>
            <a:ext cx="502920" cy="566928"/>
          </a:xfrm>
          <a:prstGeom prst="rect">
            <a:avLst/>
          </a:prstGeom>
          <a:solidFill>
            <a:srgbClr val="1C7293"/>
          </a:solidFill>
          <a:ln w="12700">
            <a:solidFill>
              <a:srgbClr val="1C7293"/>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La citoyenneté n'est pas abordée dans le référentiel</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Q38/50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Quel aspect de la citoyenneté le référentiel HAS prend-il en compte pour les personnes accompagnées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Uniquement le droit de vote</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La participation à la vie citoyenne au sens large et l'éducation à la citoyenneté selon les besoins</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La citoyenneté n'est pas abordée dans le référentiel</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1C7293">
                <a:alpha val="70000"/>
              </a:srgbClr>
            </a:solidFill>
            <a:prstDash val="solid"/>
          </a:ln>
        </p:spPr>
      </p:sp>
      <p:sp>
        <p:nvSpPr>
          <p:cNvPr id="19" name="Shape 17"/>
          <p:cNvSpPr/>
          <p:nvPr/>
        </p:nvSpPr>
        <p:spPr>
          <a:xfrm>
            <a:off x="457200" y="3364992"/>
            <a:ext cx="73152" cy="1417320"/>
          </a:xfrm>
          <a:prstGeom prst="rect">
            <a:avLst/>
          </a:prstGeom>
          <a:solidFill>
            <a:srgbClr val="1C7293"/>
          </a:solidFill>
          <a:ln w="12700">
            <a:solidFill>
              <a:srgbClr val="1C7293"/>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1C7293"/>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Les critères 1.9.1 et 1.9.2 prévoient que la personne est accompagnée dans sa participation à la vie citoyenne et que des outils adaptés facilitent l'exercice de sa citoyenneté, incluant mais non limité au droit de vote.</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0B4F71"/>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28600"/>
            <a:ext cx="1188720" cy="411480"/>
          </a:xfrm>
          <a:prstGeom prst="roundRect">
            <a:avLst>
              <a:gd name="adj" fmla="val 17778"/>
            </a:avLst>
          </a:prstGeom>
          <a:solidFill>
            <a:srgbClr val="02C39A"/>
          </a:solidFill>
          <a:ln w="12700">
            <a:solidFill>
              <a:srgbClr val="02C39A"/>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0B4F71"/>
                </a:solidFill>
                <a:latin typeface="Calibri" pitchFamily="34" charset="0"/>
                <a:ea typeface="Calibri" pitchFamily="34" charset="-122"/>
                <a:cs typeface="Calibri" pitchFamily="34" charset="-120"/>
              </a:rPr>
              <a:t>Q39/50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1</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Selon le bilan HAS de la 2e année de déploiement, quelle proportion d'ESSMS maîtrise l'ensemble des 18 critères impératifs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02C39A">
                <a:alpha val="60000"/>
              </a:srgbClr>
            </a:solidFill>
            <a:prstDash val="solid"/>
          </a:ln>
        </p:spPr>
      </p:sp>
      <p:sp>
        <p:nvSpPr>
          <p:cNvPr id="9" name="Shape 7"/>
          <p:cNvSpPr/>
          <p:nvPr/>
        </p:nvSpPr>
        <p:spPr>
          <a:xfrm>
            <a:off x="457200" y="2514600"/>
            <a:ext cx="502920" cy="566928"/>
          </a:xfrm>
          <a:prstGeom prst="rect">
            <a:avLst/>
          </a:prstGeom>
          <a:solidFill>
            <a:srgbClr val="1C7293"/>
          </a:solidFill>
          <a:ln w="12700">
            <a:solidFill>
              <a:srgbClr val="1C7293"/>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3 ESSMS sur 4</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02C39A">
                <a:alpha val="60000"/>
              </a:srgbClr>
            </a:solidFill>
            <a:prstDash val="solid"/>
          </a:ln>
        </p:spPr>
      </p:sp>
      <p:sp>
        <p:nvSpPr>
          <p:cNvPr id="13" name="Shape 11"/>
          <p:cNvSpPr/>
          <p:nvPr/>
        </p:nvSpPr>
        <p:spPr>
          <a:xfrm>
            <a:off x="457200" y="3154680"/>
            <a:ext cx="502920" cy="566928"/>
          </a:xfrm>
          <a:prstGeom prst="rect">
            <a:avLst/>
          </a:prstGeom>
          <a:solidFill>
            <a:srgbClr val="1C7293"/>
          </a:solidFill>
          <a:ln w="12700">
            <a:solidFill>
              <a:srgbClr val="1C7293"/>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1 ESSMS sur 2</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02C39A">
                <a:alpha val="60000"/>
              </a:srgbClr>
            </a:solidFill>
            <a:prstDash val="solid"/>
          </a:ln>
        </p:spPr>
      </p:sp>
      <p:sp>
        <p:nvSpPr>
          <p:cNvPr id="17" name="Shape 15"/>
          <p:cNvSpPr/>
          <p:nvPr/>
        </p:nvSpPr>
        <p:spPr>
          <a:xfrm>
            <a:off x="457200" y="3794760"/>
            <a:ext cx="502920" cy="566928"/>
          </a:xfrm>
          <a:prstGeom prst="rect">
            <a:avLst/>
          </a:prstGeom>
          <a:solidFill>
            <a:srgbClr val="1C7293"/>
          </a:solidFill>
          <a:ln w="12700">
            <a:solidFill>
              <a:srgbClr val="1C7293"/>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1 ESSMS sur 4</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Q39/50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Selon le bilan HAS de la 2e année de déploiement, quelle proportion d'ESSMS maîtrise l'ensemble des 18 critères impératifs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3 ESSMS sur 4</a:t>
            </a:r>
            <a:endParaRPr lang="en-US" sz="1300" dirty="0"/>
          </a:p>
        </p:txBody>
      </p:sp>
      <p:sp>
        <p:nvSpPr>
          <p:cNvPr id="10" name="Shape 8"/>
          <p:cNvSpPr/>
          <p:nvPr/>
        </p:nvSpPr>
        <p:spPr>
          <a:xfrm>
            <a:off x="457200" y="2130552"/>
            <a:ext cx="8229600" cy="530352"/>
          </a:xfrm>
          <a:prstGeom prst="rect">
            <a:avLst/>
          </a:prstGeom>
          <a:solidFill>
            <a:srgbClr val="F0F4F8"/>
          </a:solidFill>
          <a:ln w="6350">
            <a:solidFill>
              <a:srgbClr val="CCCCCC"/>
            </a:solidFill>
            <a:prstDash val="solid"/>
          </a:ln>
        </p:spPr>
      </p:sp>
      <p:sp>
        <p:nvSpPr>
          <p:cNvPr id="11" name="Shape 9"/>
          <p:cNvSpPr/>
          <p:nvPr/>
        </p:nvSpPr>
        <p:spPr>
          <a:xfrm>
            <a:off x="457200" y="2130552"/>
            <a:ext cx="502920" cy="530352"/>
          </a:xfrm>
          <a:prstGeom prst="rect">
            <a:avLst/>
          </a:prstGeom>
          <a:solidFill>
            <a:srgbClr val="CCCCCC"/>
          </a:solidFill>
          <a:ln w="12700">
            <a:solidFill>
              <a:srgbClr val="CCCCCC"/>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1 ESSMS sur 2</a:t>
            </a:r>
            <a:endParaRPr lang="en-US" sz="1300" dirty="0"/>
          </a:p>
        </p:txBody>
      </p:sp>
      <p:sp>
        <p:nvSpPr>
          <p:cNvPr id="14" name="Shape 12"/>
          <p:cNvSpPr/>
          <p:nvPr/>
        </p:nvSpPr>
        <p:spPr>
          <a:xfrm>
            <a:off x="457200" y="2724912"/>
            <a:ext cx="8229600" cy="530352"/>
          </a:xfrm>
          <a:prstGeom prst="rect">
            <a:avLst/>
          </a:prstGeom>
          <a:solidFill>
            <a:srgbClr val="D4EDDA"/>
          </a:solidFill>
          <a:ln w="19050">
            <a:solidFill>
              <a:srgbClr val="22A06B"/>
            </a:solidFill>
            <a:prstDash val="solid"/>
          </a:ln>
        </p:spPr>
      </p:sp>
      <p:sp>
        <p:nvSpPr>
          <p:cNvPr id="15" name="Shape 13"/>
          <p:cNvSpPr/>
          <p:nvPr/>
        </p:nvSpPr>
        <p:spPr>
          <a:xfrm>
            <a:off x="457200" y="2724912"/>
            <a:ext cx="502920" cy="530352"/>
          </a:xfrm>
          <a:prstGeom prst="rect">
            <a:avLst/>
          </a:prstGeom>
          <a:solidFill>
            <a:srgbClr val="22A06B"/>
          </a:solidFill>
          <a:ln w="12700">
            <a:solidFill>
              <a:srgbClr val="22A06B"/>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1 ESSMS sur 4</a:t>
            </a:r>
            <a:endParaRPr lang="en-US" sz="1400" dirty="0"/>
          </a:p>
        </p:txBody>
      </p:sp>
      <p:sp>
        <p:nvSpPr>
          <p:cNvPr id="18" name="Shape 16"/>
          <p:cNvSpPr/>
          <p:nvPr/>
        </p:nvSpPr>
        <p:spPr>
          <a:xfrm>
            <a:off x="457200" y="3364992"/>
            <a:ext cx="8229600" cy="1417320"/>
          </a:xfrm>
          <a:prstGeom prst="rect">
            <a:avLst/>
          </a:prstGeom>
          <a:solidFill>
            <a:srgbClr val="EEF4FF"/>
          </a:solidFill>
          <a:ln w="10160">
            <a:solidFill>
              <a:srgbClr val="1C7293">
                <a:alpha val="70000"/>
              </a:srgbClr>
            </a:solidFill>
            <a:prstDash val="solid"/>
          </a:ln>
        </p:spPr>
      </p:sp>
      <p:sp>
        <p:nvSpPr>
          <p:cNvPr id="19" name="Shape 17"/>
          <p:cNvSpPr/>
          <p:nvPr/>
        </p:nvSpPr>
        <p:spPr>
          <a:xfrm>
            <a:off x="457200" y="3364992"/>
            <a:ext cx="73152" cy="1417320"/>
          </a:xfrm>
          <a:prstGeom prst="rect">
            <a:avLst/>
          </a:prstGeom>
          <a:solidFill>
            <a:srgbClr val="1C7293"/>
          </a:solidFill>
          <a:ln w="12700">
            <a:solidFill>
              <a:srgbClr val="1C7293"/>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1C7293"/>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bilan HAS de la 2e année révèle que seulement 1 ESSMS sur 4 maîtrise l'ensemble des 18 critères impératifs. Les principales fragilités portent sur la gestion des EI, le traitement des plaintes et la gestion de crise.</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0B4F71"/>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28600"/>
            <a:ext cx="1188720" cy="411480"/>
          </a:xfrm>
          <a:prstGeom prst="roundRect">
            <a:avLst>
              <a:gd name="adj" fmla="val 17778"/>
            </a:avLst>
          </a:prstGeom>
          <a:solidFill>
            <a:srgbClr val="02C39A"/>
          </a:solidFill>
          <a:ln w="12700">
            <a:solidFill>
              <a:srgbClr val="02C39A"/>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0B4F71"/>
                </a:solidFill>
                <a:latin typeface="Calibri" pitchFamily="34" charset="0"/>
                <a:ea typeface="Calibri" pitchFamily="34" charset="-122"/>
                <a:cs typeface="Calibri" pitchFamily="34" charset="-120"/>
              </a:rPr>
              <a:t>Q40/50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1</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 garantit le référentiel HAS sur l'accès aux soins pour les personnes accompagnées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02C39A">
                <a:alpha val="60000"/>
              </a:srgbClr>
            </a:solidFill>
            <a:prstDash val="solid"/>
          </a:ln>
        </p:spPr>
      </p:sp>
      <p:sp>
        <p:nvSpPr>
          <p:cNvPr id="9" name="Shape 7"/>
          <p:cNvSpPr/>
          <p:nvPr/>
        </p:nvSpPr>
        <p:spPr>
          <a:xfrm>
            <a:off x="457200" y="2514600"/>
            <a:ext cx="502920" cy="566928"/>
          </a:xfrm>
          <a:prstGeom prst="rect">
            <a:avLst/>
          </a:prstGeom>
          <a:solidFill>
            <a:srgbClr val="1C7293"/>
          </a:solidFill>
          <a:ln w="12700">
            <a:solidFill>
              <a:srgbClr val="1C7293"/>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Uniquement l'accès aux médecins généralistes</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02C39A">
                <a:alpha val="60000"/>
              </a:srgbClr>
            </a:solidFill>
            <a:prstDash val="solid"/>
          </a:ln>
        </p:spPr>
      </p:sp>
      <p:sp>
        <p:nvSpPr>
          <p:cNvPr id="13" name="Shape 11"/>
          <p:cNvSpPr/>
          <p:nvPr/>
        </p:nvSpPr>
        <p:spPr>
          <a:xfrm>
            <a:off x="457200" y="3154680"/>
            <a:ext cx="502920" cy="566928"/>
          </a:xfrm>
          <a:prstGeom prst="rect">
            <a:avLst/>
          </a:prstGeom>
          <a:solidFill>
            <a:srgbClr val="1C7293"/>
          </a:solidFill>
          <a:ln w="12700">
            <a:solidFill>
              <a:srgbClr val="1C7293"/>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 accompagnement à la santé adapté incluant la prévention, le dépistage et les soins, dans le respect du consentement</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02C39A">
                <a:alpha val="60000"/>
              </a:srgbClr>
            </a:solidFill>
            <a:prstDash val="solid"/>
          </a:ln>
        </p:spPr>
      </p:sp>
      <p:sp>
        <p:nvSpPr>
          <p:cNvPr id="17" name="Shape 15"/>
          <p:cNvSpPr/>
          <p:nvPr/>
        </p:nvSpPr>
        <p:spPr>
          <a:xfrm>
            <a:off x="457200" y="3794760"/>
            <a:ext cx="502920" cy="566928"/>
          </a:xfrm>
          <a:prstGeom prst="rect">
            <a:avLst/>
          </a:prstGeom>
          <a:solidFill>
            <a:srgbClr val="1C7293"/>
          </a:solidFill>
          <a:ln w="12700">
            <a:solidFill>
              <a:srgbClr val="1C7293"/>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 service médical intégré obligatoire dans chaque ESSMS</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Q40/50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 garantit le référentiel HAS sur l'accès aux soins pour les personnes accompagnées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Uniquement l'accès aux médecins généralistes</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Un accompagnement à la santé adapté incluant la prévention, le dépistage et les soins, dans le respect du consentement</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 service médical intégré obligatoire dans chaque ESSMS</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1C7293">
                <a:alpha val="70000"/>
              </a:srgbClr>
            </a:solidFill>
            <a:prstDash val="solid"/>
          </a:ln>
        </p:spPr>
      </p:sp>
      <p:sp>
        <p:nvSpPr>
          <p:cNvPr id="19" name="Shape 17"/>
          <p:cNvSpPr/>
          <p:nvPr/>
        </p:nvSpPr>
        <p:spPr>
          <a:xfrm>
            <a:off x="457200" y="3364992"/>
            <a:ext cx="73152" cy="1417320"/>
          </a:xfrm>
          <a:prstGeom prst="rect">
            <a:avLst/>
          </a:prstGeom>
          <a:solidFill>
            <a:srgbClr val="1C7293"/>
          </a:solidFill>
          <a:ln w="12700">
            <a:solidFill>
              <a:srgbClr val="1C7293"/>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1C7293"/>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critère 1.12.1 (impératif) prévoit un accompagnement à la santé global et adapté, couvrant la prévention, le dépistage, l'éducation à la santé et les soins, en respectant le consentement et la dignité de la personne.</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0B4F71"/>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28600"/>
            <a:ext cx="1188720" cy="411480"/>
          </a:xfrm>
          <a:prstGeom prst="roundRect">
            <a:avLst>
              <a:gd name="adj" fmla="val 17778"/>
            </a:avLst>
          </a:prstGeom>
          <a:solidFill>
            <a:srgbClr val="02C39A"/>
          </a:solidFill>
          <a:ln w="12700">
            <a:solidFill>
              <a:srgbClr val="02C39A"/>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0B4F71"/>
                </a:solidFill>
                <a:latin typeface="Calibri" pitchFamily="34" charset="0"/>
                <a:ea typeface="Calibri" pitchFamily="34" charset="-122"/>
                <a:cs typeface="Calibri" pitchFamily="34" charset="-120"/>
              </a:rPr>
              <a:t>Q41/50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1</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 signifie 'NA' (Non Applicable) comme cotation lors d'une évaluation HAS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02C39A">
                <a:alpha val="60000"/>
              </a:srgbClr>
            </a:solidFill>
            <a:prstDash val="solid"/>
          </a:ln>
        </p:spPr>
      </p:sp>
      <p:sp>
        <p:nvSpPr>
          <p:cNvPr id="9" name="Shape 7"/>
          <p:cNvSpPr/>
          <p:nvPr/>
        </p:nvSpPr>
        <p:spPr>
          <a:xfrm>
            <a:off x="457200" y="2514600"/>
            <a:ext cx="502920" cy="566928"/>
          </a:xfrm>
          <a:prstGeom prst="rect">
            <a:avLst/>
          </a:prstGeom>
          <a:solidFill>
            <a:srgbClr val="1C7293"/>
          </a:solidFill>
          <a:ln w="12700">
            <a:solidFill>
              <a:srgbClr val="1C7293"/>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Le critère n'a pas été évalué par négligence de l'évaluateur</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02C39A">
                <a:alpha val="60000"/>
              </a:srgbClr>
            </a:solidFill>
            <a:prstDash val="solid"/>
          </a:ln>
        </p:spPr>
      </p:sp>
      <p:sp>
        <p:nvSpPr>
          <p:cNvPr id="13" name="Shape 11"/>
          <p:cNvSpPr/>
          <p:nvPr/>
        </p:nvSpPr>
        <p:spPr>
          <a:xfrm>
            <a:off x="457200" y="3154680"/>
            <a:ext cx="502920" cy="566928"/>
          </a:xfrm>
          <a:prstGeom prst="rect">
            <a:avLst/>
          </a:prstGeom>
          <a:solidFill>
            <a:srgbClr val="1C7293"/>
          </a:solidFill>
          <a:ln w="12700">
            <a:solidFill>
              <a:srgbClr val="1C7293"/>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Le critère n'est pas applicable à cette structure selon son champ d'application défini dans le référentiel</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02C39A">
                <a:alpha val="60000"/>
              </a:srgbClr>
            </a:solidFill>
            <a:prstDash val="solid"/>
          </a:ln>
        </p:spPr>
      </p:sp>
      <p:sp>
        <p:nvSpPr>
          <p:cNvPr id="17" name="Shape 15"/>
          <p:cNvSpPr/>
          <p:nvPr/>
        </p:nvSpPr>
        <p:spPr>
          <a:xfrm>
            <a:off x="457200" y="3794760"/>
            <a:ext cx="502920" cy="566928"/>
          </a:xfrm>
          <a:prstGeom prst="rect">
            <a:avLst/>
          </a:prstGeom>
          <a:solidFill>
            <a:srgbClr val="1C7293"/>
          </a:solidFill>
          <a:ln w="12700">
            <a:solidFill>
              <a:srgbClr val="1C7293"/>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L'ESSMS a refusé d'être évalué sur ce critère</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Q41/50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 signifie 'NA' (Non Applicable) comme cotation lors d'une évaluation HAS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Le critère n'a pas été évalué par négligence de l'évaluateur</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Le critère n'est pas applicable à cette structure selon son champ d'application défini dans le référentiel</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L'ESSMS a refusé d'être évalué sur ce critère</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1C7293">
                <a:alpha val="70000"/>
              </a:srgbClr>
            </a:solidFill>
            <a:prstDash val="solid"/>
          </a:ln>
        </p:spPr>
      </p:sp>
      <p:sp>
        <p:nvSpPr>
          <p:cNvPr id="19" name="Shape 17"/>
          <p:cNvSpPr/>
          <p:nvPr/>
        </p:nvSpPr>
        <p:spPr>
          <a:xfrm>
            <a:off x="457200" y="3364992"/>
            <a:ext cx="73152" cy="1417320"/>
          </a:xfrm>
          <a:prstGeom prst="rect">
            <a:avLst/>
          </a:prstGeom>
          <a:solidFill>
            <a:srgbClr val="1C7293"/>
          </a:solidFill>
          <a:ln w="12700">
            <a:solidFill>
              <a:srgbClr val="1C7293"/>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1C7293"/>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La cotation NA est utilisée lorsque le critère ne s'applique pas à la catégorie FINESS de l'ESSMS évalué. Les champs d'application de chaque critère sont définis dans le manuel et les grilles sont générées automatiquement via Synaé.</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0B4F71"/>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28600"/>
            <a:ext cx="1188720" cy="411480"/>
          </a:xfrm>
          <a:prstGeom prst="roundRect">
            <a:avLst>
              <a:gd name="adj" fmla="val 17778"/>
            </a:avLst>
          </a:prstGeom>
          <a:solidFill>
            <a:srgbClr val="02C39A"/>
          </a:solidFill>
          <a:ln w="12700">
            <a:solidFill>
              <a:srgbClr val="02C39A"/>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0B4F71"/>
                </a:solidFill>
                <a:latin typeface="Calibri" pitchFamily="34" charset="0"/>
                <a:ea typeface="Calibri" pitchFamily="34" charset="-122"/>
                <a:cs typeface="Calibri" pitchFamily="34" charset="-120"/>
              </a:rPr>
              <a:t>Q42/50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1</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Quelle loi a introduit l'obligation d'évaluation pour les ESSMS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02C39A">
                <a:alpha val="60000"/>
              </a:srgbClr>
            </a:solidFill>
            <a:prstDash val="solid"/>
          </a:ln>
        </p:spPr>
      </p:sp>
      <p:sp>
        <p:nvSpPr>
          <p:cNvPr id="9" name="Shape 7"/>
          <p:cNvSpPr/>
          <p:nvPr/>
        </p:nvSpPr>
        <p:spPr>
          <a:xfrm>
            <a:off x="457200" y="2514600"/>
            <a:ext cx="502920" cy="566928"/>
          </a:xfrm>
          <a:prstGeom prst="rect">
            <a:avLst/>
          </a:prstGeom>
          <a:solidFill>
            <a:srgbClr val="1C7293"/>
          </a:solidFill>
          <a:ln w="12700">
            <a:solidFill>
              <a:srgbClr val="1C7293"/>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La loi du 24 juillet 2019 (OTSS)</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02C39A">
                <a:alpha val="60000"/>
              </a:srgbClr>
            </a:solidFill>
            <a:prstDash val="solid"/>
          </a:ln>
        </p:spPr>
      </p:sp>
      <p:sp>
        <p:nvSpPr>
          <p:cNvPr id="13" name="Shape 11"/>
          <p:cNvSpPr/>
          <p:nvPr/>
        </p:nvSpPr>
        <p:spPr>
          <a:xfrm>
            <a:off x="457200" y="3154680"/>
            <a:ext cx="502920" cy="566928"/>
          </a:xfrm>
          <a:prstGeom prst="rect">
            <a:avLst/>
          </a:prstGeom>
          <a:solidFill>
            <a:srgbClr val="1C7293"/>
          </a:solidFill>
          <a:ln w="12700">
            <a:solidFill>
              <a:srgbClr val="1C7293"/>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La loi du 2 janvier 2002 rénovant l'action sociale et médico-sociale</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02C39A">
                <a:alpha val="60000"/>
              </a:srgbClr>
            </a:solidFill>
            <a:prstDash val="solid"/>
          </a:ln>
        </p:spPr>
      </p:sp>
      <p:sp>
        <p:nvSpPr>
          <p:cNvPr id="17" name="Shape 15"/>
          <p:cNvSpPr/>
          <p:nvPr/>
        </p:nvSpPr>
        <p:spPr>
          <a:xfrm>
            <a:off x="457200" y="3794760"/>
            <a:ext cx="502920" cy="566928"/>
          </a:xfrm>
          <a:prstGeom prst="rect">
            <a:avLst/>
          </a:prstGeom>
          <a:solidFill>
            <a:srgbClr val="1C7293"/>
          </a:solidFill>
          <a:ln w="12700">
            <a:solidFill>
              <a:srgbClr val="1C7293"/>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La loi du 26 avril 2022</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Q42/50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Quelle loi a introduit l'obligation d'évaluation pour les ESSMS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La loi du 24 juillet 2019 (OTSS)</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La loi du 2 janvier 2002 rénovant l'action sociale et médico-sociale</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La loi du 26 avril 2022</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1C7293">
                <a:alpha val="70000"/>
              </a:srgbClr>
            </a:solidFill>
            <a:prstDash val="solid"/>
          </a:ln>
        </p:spPr>
      </p:sp>
      <p:sp>
        <p:nvSpPr>
          <p:cNvPr id="19" name="Shape 17"/>
          <p:cNvSpPr/>
          <p:nvPr/>
        </p:nvSpPr>
        <p:spPr>
          <a:xfrm>
            <a:off x="457200" y="3364992"/>
            <a:ext cx="73152" cy="1417320"/>
          </a:xfrm>
          <a:prstGeom prst="rect">
            <a:avLst/>
          </a:prstGeom>
          <a:solidFill>
            <a:srgbClr val="1C7293"/>
          </a:solidFill>
          <a:ln w="12700">
            <a:solidFill>
              <a:srgbClr val="1C7293"/>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1C7293"/>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C'est la loi du 2 janvier 2002 rénovant l'action sociale et médico-sociale (loi 2002-2) qui a introduit l'obligation d'évaluation pour les ESSMS. La loi OTSS de 2019 a ensuite confié cette mission à la HAS.</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0B4F71"/>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28600"/>
            <a:ext cx="1188720" cy="411480"/>
          </a:xfrm>
          <a:prstGeom prst="roundRect">
            <a:avLst>
              <a:gd name="adj" fmla="val 17778"/>
            </a:avLst>
          </a:prstGeom>
          <a:solidFill>
            <a:srgbClr val="02C39A"/>
          </a:solidFill>
          <a:ln w="12700">
            <a:solidFill>
              <a:srgbClr val="02C39A"/>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0B4F71"/>
                </a:solidFill>
                <a:latin typeface="Calibri" pitchFamily="34" charset="0"/>
                <a:ea typeface="Calibri" pitchFamily="34" charset="-122"/>
                <a:cs typeface="Calibri" pitchFamily="34" charset="-120"/>
              </a:rPr>
              <a:t>Q43/50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1</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Quel est le rôle de la loi OTSS du 24 juillet 2019 dans l'évolution du dispositif d'évaluation des ESSMS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02C39A">
                <a:alpha val="60000"/>
              </a:srgbClr>
            </a:solidFill>
            <a:prstDash val="solid"/>
          </a:ln>
        </p:spPr>
      </p:sp>
      <p:sp>
        <p:nvSpPr>
          <p:cNvPr id="9" name="Shape 7"/>
          <p:cNvSpPr/>
          <p:nvPr/>
        </p:nvSpPr>
        <p:spPr>
          <a:xfrm>
            <a:off x="457200" y="2514600"/>
            <a:ext cx="502920" cy="566928"/>
          </a:xfrm>
          <a:prstGeom prst="rect">
            <a:avLst/>
          </a:prstGeom>
          <a:solidFill>
            <a:srgbClr val="1C7293"/>
          </a:solidFill>
          <a:ln w="12700">
            <a:solidFill>
              <a:srgbClr val="1C7293"/>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Elle a supprimé l'obligation d'évaluation pour les petites structures</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02C39A">
                <a:alpha val="60000"/>
              </a:srgbClr>
            </a:solidFill>
            <a:prstDash val="solid"/>
          </a:ln>
        </p:spPr>
      </p:sp>
      <p:sp>
        <p:nvSpPr>
          <p:cNvPr id="13" name="Shape 11"/>
          <p:cNvSpPr/>
          <p:nvPr/>
        </p:nvSpPr>
        <p:spPr>
          <a:xfrm>
            <a:off x="457200" y="3154680"/>
            <a:ext cx="502920" cy="566928"/>
          </a:xfrm>
          <a:prstGeom prst="rect">
            <a:avLst/>
          </a:prstGeom>
          <a:solidFill>
            <a:srgbClr val="1C7293"/>
          </a:solidFill>
          <a:ln w="12700">
            <a:solidFill>
              <a:srgbClr val="1C7293"/>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Elle a transféré la compétence d'évaluation de l'ANESM à la HAS et confié à cette dernière l'élaboration d'un référentiel national unique</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02C39A">
                <a:alpha val="60000"/>
              </a:srgbClr>
            </a:solidFill>
            <a:prstDash val="solid"/>
          </a:ln>
        </p:spPr>
      </p:sp>
      <p:sp>
        <p:nvSpPr>
          <p:cNvPr id="17" name="Shape 15"/>
          <p:cNvSpPr/>
          <p:nvPr/>
        </p:nvSpPr>
        <p:spPr>
          <a:xfrm>
            <a:off x="457200" y="3794760"/>
            <a:ext cx="502920" cy="566928"/>
          </a:xfrm>
          <a:prstGeom prst="rect">
            <a:avLst/>
          </a:prstGeom>
          <a:solidFill>
            <a:srgbClr val="1C7293"/>
          </a:solidFill>
          <a:ln w="12700">
            <a:solidFill>
              <a:srgbClr val="1C7293"/>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Elle a créé un nouveau type d'établissement médico-social</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Q43/50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Quel est le rôle de la loi OTSS du 24 juillet 2019 dans l'évolution du dispositif d'évaluation des ESSMS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Elle a supprimé l'obligation d'évaluation pour les petites structures</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Elle a transféré la compétence d'évaluation de l'ANESM à la HAS et confié à cette dernière l'élaboration d'un référentiel national unique</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Elle a créé un nouveau type d'établissement médico-social</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1C7293">
                <a:alpha val="70000"/>
              </a:srgbClr>
            </a:solidFill>
            <a:prstDash val="solid"/>
          </a:ln>
        </p:spPr>
      </p:sp>
      <p:sp>
        <p:nvSpPr>
          <p:cNvPr id="19" name="Shape 17"/>
          <p:cNvSpPr/>
          <p:nvPr/>
        </p:nvSpPr>
        <p:spPr>
          <a:xfrm>
            <a:off x="457200" y="3364992"/>
            <a:ext cx="73152" cy="1417320"/>
          </a:xfrm>
          <a:prstGeom prst="rect">
            <a:avLst/>
          </a:prstGeom>
          <a:solidFill>
            <a:srgbClr val="1C7293"/>
          </a:solidFill>
          <a:ln w="12700">
            <a:solidFill>
              <a:srgbClr val="1C7293"/>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1C7293"/>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La loi OTSS a modifié l'article L.312-8 du CASF en transférant à la HAS la mission d'élaborer le référentiel national d'évaluation, remplaçant l'ancien dispositif dual (évaluations interne et externe) par une évaluation unique.</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0B4F71"/>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28600"/>
            <a:ext cx="1188720" cy="411480"/>
          </a:xfrm>
          <a:prstGeom prst="roundRect">
            <a:avLst>
              <a:gd name="adj" fmla="val 17778"/>
            </a:avLst>
          </a:prstGeom>
          <a:solidFill>
            <a:srgbClr val="02C39A"/>
          </a:solidFill>
          <a:ln w="12700">
            <a:solidFill>
              <a:srgbClr val="02C39A"/>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0B4F71"/>
                </a:solidFill>
                <a:latin typeface="Calibri" pitchFamily="34" charset="0"/>
                <a:ea typeface="Calibri" pitchFamily="34" charset="-122"/>
                <a:cs typeface="Calibri" pitchFamily="34" charset="-120"/>
              </a:rPr>
              <a:t>Q44/50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1</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À quoi servent les 28 critères spécifiques du référentiel HAS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02C39A">
                <a:alpha val="60000"/>
              </a:srgbClr>
            </a:solidFill>
            <a:prstDash val="solid"/>
          </a:ln>
        </p:spPr>
      </p:sp>
      <p:sp>
        <p:nvSpPr>
          <p:cNvPr id="9" name="Shape 7"/>
          <p:cNvSpPr/>
          <p:nvPr/>
        </p:nvSpPr>
        <p:spPr>
          <a:xfrm>
            <a:off x="457200" y="2514600"/>
            <a:ext cx="502920" cy="566928"/>
          </a:xfrm>
          <a:prstGeom prst="rect">
            <a:avLst/>
          </a:prstGeom>
          <a:solidFill>
            <a:srgbClr val="1C7293"/>
          </a:solidFill>
          <a:ln w="12700">
            <a:solidFill>
              <a:srgbClr val="1C7293"/>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À évaluer exclusivement les grandes structures</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02C39A">
                <a:alpha val="60000"/>
              </a:srgbClr>
            </a:solidFill>
            <a:prstDash val="solid"/>
          </a:ln>
        </p:spPr>
      </p:sp>
      <p:sp>
        <p:nvSpPr>
          <p:cNvPr id="13" name="Shape 11"/>
          <p:cNvSpPr/>
          <p:nvPr/>
        </p:nvSpPr>
        <p:spPr>
          <a:xfrm>
            <a:off x="457200" y="3154680"/>
            <a:ext cx="502920" cy="566928"/>
          </a:xfrm>
          <a:prstGeom prst="rect">
            <a:avLst/>
          </a:prstGeom>
          <a:solidFill>
            <a:srgbClr val="1C7293"/>
          </a:solidFill>
          <a:ln w="12700">
            <a:solidFill>
              <a:srgbClr val="1C7293"/>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À tenir compte des spécificités de certains ESSMS (hébergement, secteur d'activité, type de public) et adapter le référentiel</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02C39A">
                <a:alpha val="60000"/>
              </a:srgbClr>
            </a:solidFill>
            <a:prstDash val="solid"/>
          </a:ln>
        </p:spPr>
      </p:sp>
      <p:sp>
        <p:nvSpPr>
          <p:cNvPr id="17" name="Shape 15"/>
          <p:cNvSpPr/>
          <p:nvPr/>
        </p:nvSpPr>
        <p:spPr>
          <a:xfrm>
            <a:off x="457200" y="3794760"/>
            <a:ext cx="502920" cy="566928"/>
          </a:xfrm>
          <a:prstGeom prst="rect">
            <a:avLst/>
          </a:prstGeom>
          <a:solidFill>
            <a:srgbClr val="1C7293"/>
          </a:solidFill>
          <a:ln w="12700">
            <a:solidFill>
              <a:srgbClr val="1C7293"/>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À évaluer uniquement les structures privées</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Q44/50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À quoi servent les 28 critères spécifiques du référentiel HAS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À évaluer exclusivement les grandes structures</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À tenir compte des spécificités de certains ESSMS (hébergement, secteur d'activité, type de public) et adapter le référentiel</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À évaluer uniquement les structures privées</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1C7293">
                <a:alpha val="70000"/>
              </a:srgbClr>
            </a:solidFill>
            <a:prstDash val="solid"/>
          </a:ln>
        </p:spPr>
      </p:sp>
      <p:sp>
        <p:nvSpPr>
          <p:cNvPr id="19" name="Shape 17"/>
          <p:cNvSpPr/>
          <p:nvPr/>
        </p:nvSpPr>
        <p:spPr>
          <a:xfrm>
            <a:off x="457200" y="3364992"/>
            <a:ext cx="73152" cy="1417320"/>
          </a:xfrm>
          <a:prstGeom prst="rect">
            <a:avLst/>
          </a:prstGeom>
          <a:solidFill>
            <a:srgbClr val="1C7293"/>
          </a:solidFill>
          <a:ln w="12700">
            <a:solidFill>
              <a:srgbClr val="1C7293"/>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1C7293"/>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Les 28 critères spécifiques permettent d'adapter le référentiel commun à la diversité du secteur : par exemple, un critère sur le cadre de vie s'applique aux structures avec hébergement mais pas aux services ambulatoires.</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0B4F71"/>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28600"/>
            <a:ext cx="1188720" cy="411480"/>
          </a:xfrm>
          <a:prstGeom prst="roundRect">
            <a:avLst>
              <a:gd name="adj" fmla="val 17778"/>
            </a:avLst>
          </a:prstGeom>
          <a:solidFill>
            <a:srgbClr val="02C39A"/>
          </a:solidFill>
          <a:ln w="12700">
            <a:solidFill>
              <a:srgbClr val="02C39A"/>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0B4F71"/>
                </a:solidFill>
                <a:latin typeface="Calibri" pitchFamily="34" charset="0"/>
                <a:ea typeface="Calibri" pitchFamily="34" charset="-122"/>
                <a:cs typeface="Calibri" pitchFamily="34" charset="-120"/>
              </a:rPr>
              <a:t>Q45/50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1</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Comment la HAS a-t-elle élaboré le référentiel d'évaluation des ESSMS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02C39A">
                <a:alpha val="60000"/>
              </a:srgbClr>
            </a:solidFill>
            <a:prstDash val="solid"/>
          </a:ln>
        </p:spPr>
      </p:sp>
      <p:sp>
        <p:nvSpPr>
          <p:cNvPr id="9" name="Shape 7"/>
          <p:cNvSpPr/>
          <p:nvPr/>
        </p:nvSpPr>
        <p:spPr>
          <a:xfrm>
            <a:off x="457200" y="2514600"/>
            <a:ext cx="502920" cy="566928"/>
          </a:xfrm>
          <a:prstGeom prst="rect">
            <a:avLst/>
          </a:prstGeom>
          <a:solidFill>
            <a:srgbClr val="1C7293"/>
          </a:solidFill>
          <a:ln w="12700">
            <a:solidFill>
              <a:srgbClr val="1C7293"/>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En s'appuyant uniquement sur des experts médicaux</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02C39A">
                <a:alpha val="60000"/>
              </a:srgbClr>
            </a:solidFill>
            <a:prstDash val="solid"/>
          </a:ln>
        </p:spPr>
      </p:sp>
      <p:sp>
        <p:nvSpPr>
          <p:cNvPr id="13" name="Shape 11"/>
          <p:cNvSpPr/>
          <p:nvPr/>
        </p:nvSpPr>
        <p:spPr>
          <a:xfrm>
            <a:off x="457200" y="3154680"/>
            <a:ext cx="502920" cy="566928"/>
          </a:xfrm>
          <a:prstGeom prst="rect">
            <a:avLst/>
          </a:prstGeom>
          <a:solidFill>
            <a:srgbClr val="1C7293"/>
          </a:solidFill>
          <a:ln w="12700">
            <a:solidFill>
              <a:srgbClr val="1C7293"/>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Par co-construction avec les professionnels du secteur et les personnes accompagnées ou leurs représentants</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02C39A">
                <a:alpha val="60000"/>
              </a:srgbClr>
            </a:solidFill>
            <a:prstDash val="solid"/>
          </a:ln>
        </p:spPr>
      </p:sp>
      <p:sp>
        <p:nvSpPr>
          <p:cNvPr id="17" name="Shape 15"/>
          <p:cNvSpPr/>
          <p:nvPr/>
        </p:nvSpPr>
        <p:spPr>
          <a:xfrm>
            <a:off x="457200" y="3794760"/>
            <a:ext cx="502920" cy="566928"/>
          </a:xfrm>
          <a:prstGeom prst="rect">
            <a:avLst/>
          </a:prstGeom>
          <a:solidFill>
            <a:srgbClr val="1C7293"/>
          </a:solidFill>
          <a:ln w="12700">
            <a:solidFill>
              <a:srgbClr val="1C7293"/>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En reprenant intégralement le cahier des charges de l'ANESM</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Q45/50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Comment la HAS a-t-elle élaboré le référentiel d'évaluation des ESSMS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En s'appuyant uniquement sur des experts médicaux</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Par co-construction avec les professionnels du secteur et les personnes accompagnées ou leurs représentants</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En reprenant intégralement le cahier des charges de l'ANESM</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1C7293">
                <a:alpha val="70000"/>
              </a:srgbClr>
            </a:solidFill>
            <a:prstDash val="solid"/>
          </a:ln>
        </p:spPr>
      </p:sp>
      <p:sp>
        <p:nvSpPr>
          <p:cNvPr id="19" name="Shape 17"/>
          <p:cNvSpPr/>
          <p:nvPr/>
        </p:nvSpPr>
        <p:spPr>
          <a:xfrm>
            <a:off x="457200" y="3364992"/>
            <a:ext cx="73152" cy="1417320"/>
          </a:xfrm>
          <a:prstGeom prst="rect">
            <a:avLst/>
          </a:prstGeom>
          <a:solidFill>
            <a:srgbClr val="1C7293"/>
          </a:solidFill>
          <a:ln w="12700">
            <a:solidFill>
              <a:srgbClr val="1C7293"/>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1C7293"/>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référentiel a fait l'objet d'une élaboration concertée entre la HAS, les professionnels du secteur social et médico-social, les personnes accompagnées ou leurs représentants. Il a été expérimenté en conditions réelles avant finalisation.</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0B4F71"/>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28600"/>
            <a:ext cx="1188720" cy="411480"/>
          </a:xfrm>
          <a:prstGeom prst="roundRect">
            <a:avLst>
              <a:gd name="adj" fmla="val 17778"/>
            </a:avLst>
          </a:prstGeom>
          <a:solidFill>
            <a:srgbClr val="02C39A"/>
          </a:solidFill>
          <a:ln w="12700">
            <a:solidFill>
              <a:srgbClr val="02C39A"/>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0B4F71"/>
                </a:solidFill>
                <a:latin typeface="Calibri" pitchFamily="34" charset="0"/>
                <a:ea typeface="Calibri" pitchFamily="34" charset="-122"/>
                <a:cs typeface="Calibri" pitchFamily="34" charset="-120"/>
              </a:rPr>
              <a:t>Q46/50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1</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Combien d'ESSMS sont concernés par le dispositif d'évaluation HAS en France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02C39A">
                <a:alpha val="60000"/>
              </a:srgbClr>
            </a:solidFill>
            <a:prstDash val="solid"/>
          </a:ln>
        </p:spPr>
      </p:sp>
      <p:sp>
        <p:nvSpPr>
          <p:cNvPr id="9" name="Shape 7"/>
          <p:cNvSpPr/>
          <p:nvPr/>
        </p:nvSpPr>
        <p:spPr>
          <a:xfrm>
            <a:off x="457200" y="2514600"/>
            <a:ext cx="502920" cy="566928"/>
          </a:xfrm>
          <a:prstGeom prst="rect">
            <a:avLst/>
          </a:prstGeom>
          <a:solidFill>
            <a:srgbClr val="1C7293"/>
          </a:solidFill>
          <a:ln w="12700">
            <a:solidFill>
              <a:srgbClr val="1C7293"/>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Environ 5 000</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02C39A">
                <a:alpha val="60000"/>
              </a:srgbClr>
            </a:solidFill>
            <a:prstDash val="solid"/>
          </a:ln>
        </p:spPr>
      </p:sp>
      <p:sp>
        <p:nvSpPr>
          <p:cNvPr id="13" name="Shape 11"/>
          <p:cNvSpPr/>
          <p:nvPr/>
        </p:nvSpPr>
        <p:spPr>
          <a:xfrm>
            <a:off x="457200" y="3154680"/>
            <a:ext cx="502920" cy="566928"/>
          </a:xfrm>
          <a:prstGeom prst="rect">
            <a:avLst/>
          </a:prstGeom>
          <a:solidFill>
            <a:srgbClr val="1C7293"/>
          </a:solidFill>
          <a:ln w="12700">
            <a:solidFill>
              <a:srgbClr val="1C7293"/>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Environ 20 000</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02C39A">
                <a:alpha val="60000"/>
              </a:srgbClr>
            </a:solidFill>
            <a:prstDash val="solid"/>
          </a:ln>
        </p:spPr>
      </p:sp>
      <p:sp>
        <p:nvSpPr>
          <p:cNvPr id="17" name="Shape 15"/>
          <p:cNvSpPr/>
          <p:nvPr/>
        </p:nvSpPr>
        <p:spPr>
          <a:xfrm>
            <a:off x="457200" y="3794760"/>
            <a:ext cx="502920" cy="566928"/>
          </a:xfrm>
          <a:prstGeom prst="rect">
            <a:avLst/>
          </a:prstGeom>
          <a:solidFill>
            <a:srgbClr val="1C7293"/>
          </a:solidFill>
          <a:ln w="12700">
            <a:solidFill>
              <a:srgbClr val="1C7293"/>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Environ 45 000</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Q46/50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Combien d'ESSMS sont concernés par le dispositif d'évaluation HAS en France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Environ 5 000</a:t>
            </a:r>
            <a:endParaRPr lang="en-US" sz="1300" dirty="0"/>
          </a:p>
        </p:txBody>
      </p:sp>
      <p:sp>
        <p:nvSpPr>
          <p:cNvPr id="10" name="Shape 8"/>
          <p:cNvSpPr/>
          <p:nvPr/>
        </p:nvSpPr>
        <p:spPr>
          <a:xfrm>
            <a:off x="457200" y="2130552"/>
            <a:ext cx="8229600" cy="530352"/>
          </a:xfrm>
          <a:prstGeom prst="rect">
            <a:avLst/>
          </a:prstGeom>
          <a:solidFill>
            <a:srgbClr val="F0F4F8"/>
          </a:solidFill>
          <a:ln w="6350">
            <a:solidFill>
              <a:srgbClr val="CCCCCC"/>
            </a:solidFill>
            <a:prstDash val="solid"/>
          </a:ln>
        </p:spPr>
      </p:sp>
      <p:sp>
        <p:nvSpPr>
          <p:cNvPr id="11" name="Shape 9"/>
          <p:cNvSpPr/>
          <p:nvPr/>
        </p:nvSpPr>
        <p:spPr>
          <a:xfrm>
            <a:off x="457200" y="2130552"/>
            <a:ext cx="502920" cy="530352"/>
          </a:xfrm>
          <a:prstGeom prst="rect">
            <a:avLst/>
          </a:prstGeom>
          <a:solidFill>
            <a:srgbClr val="CCCCCC"/>
          </a:solidFill>
          <a:ln w="12700">
            <a:solidFill>
              <a:srgbClr val="CCCCCC"/>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Environ 20 000</a:t>
            </a:r>
            <a:endParaRPr lang="en-US" sz="1300" dirty="0"/>
          </a:p>
        </p:txBody>
      </p:sp>
      <p:sp>
        <p:nvSpPr>
          <p:cNvPr id="14" name="Shape 12"/>
          <p:cNvSpPr/>
          <p:nvPr/>
        </p:nvSpPr>
        <p:spPr>
          <a:xfrm>
            <a:off x="457200" y="2724912"/>
            <a:ext cx="8229600" cy="530352"/>
          </a:xfrm>
          <a:prstGeom prst="rect">
            <a:avLst/>
          </a:prstGeom>
          <a:solidFill>
            <a:srgbClr val="D4EDDA"/>
          </a:solidFill>
          <a:ln w="19050">
            <a:solidFill>
              <a:srgbClr val="22A06B"/>
            </a:solidFill>
            <a:prstDash val="solid"/>
          </a:ln>
        </p:spPr>
      </p:sp>
      <p:sp>
        <p:nvSpPr>
          <p:cNvPr id="15" name="Shape 13"/>
          <p:cNvSpPr/>
          <p:nvPr/>
        </p:nvSpPr>
        <p:spPr>
          <a:xfrm>
            <a:off x="457200" y="2724912"/>
            <a:ext cx="502920" cy="530352"/>
          </a:xfrm>
          <a:prstGeom prst="rect">
            <a:avLst/>
          </a:prstGeom>
          <a:solidFill>
            <a:srgbClr val="22A06B"/>
          </a:solidFill>
          <a:ln w="12700">
            <a:solidFill>
              <a:srgbClr val="22A06B"/>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Environ 45 000</a:t>
            </a:r>
            <a:endParaRPr lang="en-US" sz="1400" dirty="0"/>
          </a:p>
        </p:txBody>
      </p:sp>
      <p:sp>
        <p:nvSpPr>
          <p:cNvPr id="18" name="Shape 16"/>
          <p:cNvSpPr/>
          <p:nvPr/>
        </p:nvSpPr>
        <p:spPr>
          <a:xfrm>
            <a:off x="457200" y="3364992"/>
            <a:ext cx="8229600" cy="1417320"/>
          </a:xfrm>
          <a:prstGeom prst="rect">
            <a:avLst/>
          </a:prstGeom>
          <a:solidFill>
            <a:srgbClr val="EEF4FF"/>
          </a:solidFill>
          <a:ln w="10160">
            <a:solidFill>
              <a:srgbClr val="1C7293">
                <a:alpha val="70000"/>
              </a:srgbClr>
            </a:solidFill>
            <a:prstDash val="solid"/>
          </a:ln>
        </p:spPr>
      </p:sp>
      <p:sp>
        <p:nvSpPr>
          <p:cNvPr id="19" name="Shape 17"/>
          <p:cNvSpPr/>
          <p:nvPr/>
        </p:nvSpPr>
        <p:spPr>
          <a:xfrm>
            <a:off x="457200" y="3364992"/>
            <a:ext cx="73152" cy="1417320"/>
          </a:xfrm>
          <a:prstGeom prst="rect">
            <a:avLst/>
          </a:prstGeom>
          <a:solidFill>
            <a:srgbClr val="1C7293"/>
          </a:solidFill>
          <a:ln w="12700">
            <a:solidFill>
              <a:srgbClr val="1C7293"/>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1C7293"/>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En France, environ 45 000 établissements et services sociaux et médico-sociaux accompagnent les personnes âgées, les personnes en situation de handicap, les enfants protégés et les personnes en grande précarité.</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0B4F71"/>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28600"/>
            <a:ext cx="1188720" cy="411480"/>
          </a:xfrm>
          <a:prstGeom prst="roundRect">
            <a:avLst>
              <a:gd name="adj" fmla="val 17778"/>
            </a:avLst>
          </a:prstGeom>
          <a:solidFill>
            <a:srgbClr val="02C39A"/>
          </a:solidFill>
          <a:ln w="12700">
            <a:solidFill>
              <a:srgbClr val="02C39A"/>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0B4F71"/>
                </a:solidFill>
                <a:latin typeface="Calibri" pitchFamily="34" charset="0"/>
                <a:ea typeface="Calibri" pitchFamily="34" charset="-122"/>
                <a:cs typeface="Calibri" pitchFamily="34" charset="-120"/>
              </a:rPr>
              <a:t>Q47/50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1</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 vise l'analyse croisée des trois chapitres lors d'une évaluation HAS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02C39A">
                <a:alpha val="60000"/>
              </a:srgbClr>
            </a:solidFill>
            <a:prstDash val="solid"/>
          </a:ln>
        </p:spPr>
      </p:sp>
      <p:sp>
        <p:nvSpPr>
          <p:cNvPr id="9" name="Shape 7"/>
          <p:cNvSpPr/>
          <p:nvPr/>
        </p:nvSpPr>
        <p:spPr>
          <a:xfrm>
            <a:off x="457200" y="2514600"/>
            <a:ext cx="502920" cy="566928"/>
          </a:xfrm>
          <a:prstGeom prst="rect">
            <a:avLst/>
          </a:prstGeom>
          <a:solidFill>
            <a:srgbClr val="1C7293"/>
          </a:solidFill>
          <a:ln w="12700">
            <a:solidFill>
              <a:srgbClr val="1C7293"/>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Identifier les risques financiers de l'établissement</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02C39A">
                <a:alpha val="60000"/>
              </a:srgbClr>
            </a:solidFill>
            <a:prstDash val="solid"/>
          </a:ln>
        </p:spPr>
      </p:sp>
      <p:sp>
        <p:nvSpPr>
          <p:cNvPr id="13" name="Shape 11"/>
          <p:cNvSpPr/>
          <p:nvPr/>
        </p:nvSpPr>
        <p:spPr>
          <a:xfrm>
            <a:off x="457200" y="3154680"/>
            <a:ext cx="502920" cy="566928"/>
          </a:xfrm>
          <a:prstGeom prst="rect">
            <a:avLst/>
          </a:prstGeom>
          <a:solidFill>
            <a:srgbClr val="1C7293"/>
          </a:solidFill>
          <a:ln w="12700">
            <a:solidFill>
              <a:srgbClr val="1C7293"/>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Croiser l'expérience de la personne accompagnée, les pratiques professionnelles et la dynamique de gouvernance pour une vision intégrée de la qualité</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02C39A">
                <a:alpha val="60000"/>
              </a:srgbClr>
            </a:solidFill>
            <a:prstDash val="solid"/>
          </a:ln>
        </p:spPr>
      </p:sp>
      <p:sp>
        <p:nvSpPr>
          <p:cNvPr id="17" name="Shape 15"/>
          <p:cNvSpPr/>
          <p:nvPr/>
        </p:nvSpPr>
        <p:spPr>
          <a:xfrm>
            <a:off x="457200" y="3794760"/>
            <a:ext cx="502920" cy="566928"/>
          </a:xfrm>
          <a:prstGeom prst="rect">
            <a:avLst/>
          </a:prstGeom>
          <a:solidFill>
            <a:srgbClr val="1C7293"/>
          </a:solidFill>
          <a:ln w="12700">
            <a:solidFill>
              <a:srgbClr val="1C7293"/>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Comparer les établissements entre eux pour les classer</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Q47/50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 vise l'analyse croisée des trois chapitres lors d'une évaluation HAS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Identifier les risques financiers de l'établissement</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Croiser l'expérience de la personne accompagnée, les pratiques professionnelles et la dynamique de gouvernance pour une vision intégrée de la qualité</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Comparer les établissements entre eux pour les classer</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1C7293">
                <a:alpha val="70000"/>
              </a:srgbClr>
            </a:solidFill>
            <a:prstDash val="solid"/>
          </a:ln>
        </p:spPr>
      </p:sp>
      <p:sp>
        <p:nvSpPr>
          <p:cNvPr id="19" name="Shape 17"/>
          <p:cNvSpPr/>
          <p:nvPr/>
        </p:nvSpPr>
        <p:spPr>
          <a:xfrm>
            <a:off x="457200" y="3364992"/>
            <a:ext cx="73152" cy="1417320"/>
          </a:xfrm>
          <a:prstGeom prst="rect">
            <a:avLst/>
          </a:prstGeom>
          <a:solidFill>
            <a:srgbClr val="1C7293"/>
          </a:solidFill>
          <a:ln w="12700">
            <a:solidFill>
              <a:srgbClr val="1C7293"/>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1C7293"/>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La structuration en 3 chapitres vise à permettre une analyse croisée de l'expérience vécue par la personne, des pratiques professionnelles et de la gouvernance, offrant ainsi une vision intégrée et complète du niveau de qualité.</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0B4F71"/>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28600"/>
            <a:ext cx="1188720" cy="411480"/>
          </a:xfrm>
          <a:prstGeom prst="roundRect">
            <a:avLst>
              <a:gd name="adj" fmla="val 17778"/>
            </a:avLst>
          </a:prstGeom>
          <a:solidFill>
            <a:srgbClr val="02C39A"/>
          </a:solidFill>
          <a:ln w="12700">
            <a:solidFill>
              <a:srgbClr val="02C39A"/>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0B4F71"/>
                </a:solidFill>
                <a:latin typeface="Calibri" pitchFamily="34" charset="0"/>
                <a:ea typeface="Calibri" pitchFamily="34" charset="-122"/>
                <a:cs typeface="Calibri" pitchFamily="34" charset="-120"/>
              </a:rPr>
              <a:t>Q48/50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1</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La HAS a-t-elle un pouvoir de sanction suite à une évaluation des ESSMS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02C39A">
                <a:alpha val="60000"/>
              </a:srgbClr>
            </a:solidFill>
            <a:prstDash val="solid"/>
          </a:ln>
        </p:spPr>
      </p:sp>
      <p:sp>
        <p:nvSpPr>
          <p:cNvPr id="9" name="Shape 7"/>
          <p:cNvSpPr/>
          <p:nvPr/>
        </p:nvSpPr>
        <p:spPr>
          <a:xfrm>
            <a:off x="457200" y="2514600"/>
            <a:ext cx="502920" cy="566928"/>
          </a:xfrm>
          <a:prstGeom prst="rect">
            <a:avLst/>
          </a:prstGeom>
          <a:solidFill>
            <a:srgbClr val="1C7293"/>
          </a:solidFill>
          <a:ln w="12700">
            <a:solidFill>
              <a:srgbClr val="1C7293"/>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Oui, elle peut fermer un établissement</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02C39A">
                <a:alpha val="60000"/>
              </a:srgbClr>
            </a:solidFill>
            <a:prstDash val="solid"/>
          </a:ln>
        </p:spPr>
      </p:sp>
      <p:sp>
        <p:nvSpPr>
          <p:cNvPr id="13" name="Shape 11"/>
          <p:cNvSpPr/>
          <p:nvPr/>
        </p:nvSpPr>
        <p:spPr>
          <a:xfrm>
            <a:off x="457200" y="3154680"/>
            <a:ext cx="502920" cy="566928"/>
          </a:xfrm>
          <a:prstGeom prst="rect">
            <a:avLst/>
          </a:prstGeom>
          <a:solidFill>
            <a:srgbClr val="1C7293"/>
          </a:solidFill>
          <a:ln w="12700">
            <a:solidFill>
              <a:srgbClr val="1C7293"/>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Oui, elle peut imposer des amendes</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02C39A">
                <a:alpha val="60000"/>
              </a:srgbClr>
            </a:solidFill>
            <a:prstDash val="solid"/>
          </a:ln>
        </p:spPr>
      </p:sp>
      <p:sp>
        <p:nvSpPr>
          <p:cNvPr id="17" name="Shape 15"/>
          <p:cNvSpPr/>
          <p:nvPr/>
        </p:nvSpPr>
        <p:spPr>
          <a:xfrm>
            <a:off x="457200" y="3794760"/>
            <a:ext cx="502920" cy="566928"/>
          </a:xfrm>
          <a:prstGeom prst="rect">
            <a:avLst/>
          </a:prstGeom>
          <a:solidFill>
            <a:srgbClr val="1C7293"/>
          </a:solidFill>
          <a:ln w="12700">
            <a:solidFill>
              <a:srgbClr val="1C7293"/>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Non, les évaluations ne sont pas des missions d'inspection ou de contrôle</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Q48/50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La HAS a-t-elle un pouvoir de sanction suite à une évaluation des ESSMS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Oui, elle peut fermer un établissement</a:t>
            </a:r>
            <a:endParaRPr lang="en-US" sz="1300" dirty="0"/>
          </a:p>
        </p:txBody>
      </p:sp>
      <p:sp>
        <p:nvSpPr>
          <p:cNvPr id="10" name="Shape 8"/>
          <p:cNvSpPr/>
          <p:nvPr/>
        </p:nvSpPr>
        <p:spPr>
          <a:xfrm>
            <a:off x="457200" y="2130552"/>
            <a:ext cx="8229600" cy="530352"/>
          </a:xfrm>
          <a:prstGeom prst="rect">
            <a:avLst/>
          </a:prstGeom>
          <a:solidFill>
            <a:srgbClr val="F0F4F8"/>
          </a:solidFill>
          <a:ln w="6350">
            <a:solidFill>
              <a:srgbClr val="CCCCCC"/>
            </a:solidFill>
            <a:prstDash val="solid"/>
          </a:ln>
        </p:spPr>
      </p:sp>
      <p:sp>
        <p:nvSpPr>
          <p:cNvPr id="11" name="Shape 9"/>
          <p:cNvSpPr/>
          <p:nvPr/>
        </p:nvSpPr>
        <p:spPr>
          <a:xfrm>
            <a:off x="457200" y="2130552"/>
            <a:ext cx="502920" cy="530352"/>
          </a:xfrm>
          <a:prstGeom prst="rect">
            <a:avLst/>
          </a:prstGeom>
          <a:solidFill>
            <a:srgbClr val="CCCCCC"/>
          </a:solidFill>
          <a:ln w="12700">
            <a:solidFill>
              <a:srgbClr val="CCCCCC"/>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Oui, elle peut imposer des amendes</a:t>
            </a:r>
            <a:endParaRPr lang="en-US" sz="1300" dirty="0"/>
          </a:p>
        </p:txBody>
      </p:sp>
      <p:sp>
        <p:nvSpPr>
          <p:cNvPr id="14" name="Shape 12"/>
          <p:cNvSpPr/>
          <p:nvPr/>
        </p:nvSpPr>
        <p:spPr>
          <a:xfrm>
            <a:off x="457200" y="2724912"/>
            <a:ext cx="8229600" cy="530352"/>
          </a:xfrm>
          <a:prstGeom prst="rect">
            <a:avLst/>
          </a:prstGeom>
          <a:solidFill>
            <a:srgbClr val="D4EDDA"/>
          </a:solidFill>
          <a:ln w="19050">
            <a:solidFill>
              <a:srgbClr val="22A06B"/>
            </a:solidFill>
            <a:prstDash val="solid"/>
          </a:ln>
        </p:spPr>
      </p:sp>
      <p:sp>
        <p:nvSpPr>
          <p:cNvPr id="15" name="Shape 13"/>
          <p:cNvSpPr/>
          <p:nvPr/>
        </p:nvSpPr>
        <p:spPr>
          <a:xfrm>
            <a:off x="457200" y="2724912"/>
            <a:ext cx="502920" cy="530352"/>
          </a:xfrm>
          <a:prstGeom prst="rect">
            <a:avLst/>
          </a:prstGeom>
          <a:solidFill>
            <a:srgbClr val="22A06B"/>
          </a:solidFill>
          <a:ln w="12700">
            <a:solidFill>
              <a:srgbClr val="22A06B"/>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Non, les évaluations ne sont pas des missions d'inspection ou de contrôle</a:t>
            </a:r>
            <a:endParaRPr lang="en-US" sz="1400" dirty="0"/>
          </a:p>
        </p:txBody>
      </p:sp>
      <p:sp>
        <p:nvSpPr>
          <p:cNvPr id="18" name="Shape 16"/>
          <p:cNvSpPr/>
          <p:nvPr/>
        </p:nvSpPr>
        <p:spPr>
          <a:xfrm>
            <a:off x="457200" y="3364992"/>
            <a:ext cx="8229600" cy="1417320"/>
          </a:xfrm>
          <a:prstGeom prst="rect">
            <a:avLst/>
          </a:prstGeom>
          <a:solidFill>
            <a:srgbClr val="EEF4FF"/>
          </a:solidFill>
          <a:ln w="10160">
            <a:solidFill>
              <a:srgbClr val="1C7293">
                <a:alpha val="70000"/>
              </a:srgbClr>
            </a:solidFill>
            <a:prstDash val="solid"/>
          </a:ln>
        </p:spPr>
      </p:sp>
      <p:sp>
        <p:nvSpPr>
          <p:cNvPr id="19" name="Shape 17"/>
          <p:cNvSpPr/>
          <p:nvPr/>
        </p:nvSpPr>
        <p:spPr>
          <a:xfrm>
            <a:off x="457200" y="3364992"/>
            <a:ext cx="73152" cy="1417320"/>
          </a:xfrm>
          <a:prstGeom prst="rect">
            <a:avLst/>
          </a:prstGeom>
          <a:solidFill>
            <a:srgbClr val="1C7293"/>
          </a:solidFill>
          <a:ln w="12700">
            <a:solidFill>
              <a:srgbClr val="1C7293"/>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1C7293"/>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La HAS n'a pas de pouvoir de sanction. L'objectif des évaluations n'est pas de sanctionner ni de classer les structures, mais de stimuler les démarches d'amélioration continue au bénéfice des personnes accompagnées.</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0B4F71"/>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28600"/>
            <a:ext cx="1188720" cy="411480"/>
          </a:xfrm>
          <a:prstGeom prst="roundRect">
            <a:avLst>
              <a:gd name="adj" fmla="val 17778"/>
            </a:avLst>
          </a:prstGeom>
          <a:solidFill>
            <a:srgbClr val="02C39A"/>
          </a:solidFill>
          <a:ln w="12700">
            <a:solidFill>
              <a:srgbClr val="02C39A"/>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0B4F71"/>
                </a:solidFill>
                <a:latin typeface="Calibri" pitchFamily="34" charset="0"/>
                <a:ea typeface="Calibri" pitchFamily="34" charset="-122"/>
                <a:cs typeface="Calibri" pitchFamily="34" charset="-120"/>
              </a:rPr>
              <a:t>Q49/50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1</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Qu'est-ce que le rapport d'évaluation final doit impérativement contenir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02C39A">
                <a:alpha val="60000"/>
              </a:srgbClr>
            </a:solidFill>
            <a:prstDash val="solid"/>
          </a:ln>
        </p:spPr>
      </p:sp>
      <p:sp>
        <p:nvSpPr>
          <p:cNvPr id="9" name="Shape 7"/>
          <p:cNvSpPr/>
          <p:nvPr/>
        </p:nvSpPr>
        <p:spPr>
          <a:xfrm>
            <a:off x="457200" y="2514600"/>
            <a:ext cx="502920" cy="566928"/>
          </a:xfrm>
          <a:prstGeom prst="rect">
            <a:avLst/>
          </a:prstGeom>
          <a:solidFill>
            <a:srgbClr val="1C7293"/>
          </a:solidFill>
          <a:ln w="12700">
            <a:solidFill>
              <a:srgbClr val="1C7293"/>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 classement comparatif avec d'autres ESSMS</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02C39A">
                <a:alpha val="60000"/>
              </a:srgbClr>
            </a:solidFill>
            <a:prstDash val="solid"/>
          </a:ln>
        </p:spPr>
      </p:sp>
      <p:sp>
        <p:nvSpPr>
          <p:cNvPr id="13" name="Shape 11"/>
          <p:cNvSpPr/>
          <p:nvPr/>
        </p:nvSpPr>
        <p:spPr>
          <a:xfrm>
            <a:off x="457200" y="3154680"/>
            <a:ext cx="502920" cy="566928"/>
          </a:xfrm>
          <a:prstGeom prst="rect">
            <a:avLst/>
          </a:prstGeom>
          <a:solidFill>
            <a:srgbClr val="1C7293"/>
          </a:solidFill>
          <a:ln w="12700">
            <a:solidFill>
              <a:srgbClr val="1C7293"/>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La cotation des critères, un focus sur les impératifs, une synthèse par chapitre, le niveau global et les observations de l'ESSMS</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02C39A">
                <a:alpha val="60000"/>
              </a:srgbClr>
            </a:solidFill>
            <a:prstDash val="solid"/>
          </a:ln>
        </p:spPr>
      </p:sp>
      <p:sp>
        <p:nvSpPr>
          <p:cNvPr id="17" name="Shape 15"/>
          <p:cNvSpPr/>
          <p:nvPr/>
        </p:nvSpPr>
        <p:spPr>
          <a:xfrm>
            <a:off x="457200" y="3794760"/>
            <a:ext cx="502920" cy="566928"/>
          </a:xfrm>
          <a:prstGeom prst="rect">
            <a:avLst/>
          </a:prstGeom>
          <a:solidFill>
            <a:srgbClr val="1C7293"/>
          </a:solidFill>
          <a:ln w="12700">
            <a:solidFill>
              <a:srgbClr val="1C7293"/>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Uniquement les critères non conformes</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Q49/50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Qu'est-ce que le rapport d'évaluation final doit impérativement contenir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 classement comparatif avec d'autres ESSMS</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La cotation des critères, un focus sur les impératifs, une synthèse par chapitre, le niveau global et les observations de l'ESSMS</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Uniquement les critères non conformes</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1C7293">
                <a:alpha val="70000"/>
              </a:srgbClr>
            </a:solidFill>
            <a:prstDash val="solid"/>
          </a:ln>
        </p:spPr>
      </p:sp>
      <p:sp>
        <p:nvSpPr>
          <p:cNvPr id="19" name="Shape 17"/>
          <p:cNvSpPr/>
          <p:nvPr/>
        </p:nvSpPr>
        <p:spPr>
          <a:xfrm>
            <a:off x="457200" y="3364992"/>
            <a:ext cx="73152" cy="1417320"/>
          </a:xfrm>
          <a:prstGeom prst="rect">
            <a:avLst/>
          </a:prstGeom>
          <a:solidFill>
            <a:srgbClr val="1C7293"/>
          </a:solidFill>
          <a:ln w="12700">
            <a:solidFill>
              <a:srgbClr val="1C7293"/>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1C7293"/>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rapport d'évaluation, généré via Synaé, contient : la présentation de l'ESSMS, la cotation de tous les critères, un focus sur les 18 critères impératifs, une synthèse graphique par chapitre, le niveau global et les observations de l'ESSMS.</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0B4F71"/>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28600"/>
            <a:ext cx="1188720" cy="411480"/>
          </a:xfrm>
          <a:prstGeom prst="roundRect">
            <a:avLst>
              <a:gd name="adj" fmla="val 17778"/>
            </a:avLst>
          </a:prstGeom>
          <a:solidFill>
            <a:srgbClr val="02C39A"/>
          </a:solidFill>
          <a:ln w="12700">
            <a:solidFill>
              <a:srgbClr val="02C39A"/>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0B4F71"/>
                </a:solidFill>
                <a:latin typeface="Calibri" pitchFamily="34" charset="0"/>
                <a:ea typeface="Calibri" pitchFamily="34" charset="-122"/>
                <a:cs typeface="Calibri" pitchFamily="34" charset="-120"/>
              </a:rPr>
              <a:t>Q50/50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1</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Comment la HAS définit-elle l'objectif global de l'évaluation des ESSMS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02C39A">
                <a:alpha val="60000"/>
              </a:srgbClr>
            </a:solidFill>
            <a:prstDash val="solid"/>
          </a:ln>
        </p:spPr>
      </p:sp>
      <p:sp>
        <p:nvSpPr>
          <p:cNvPr id="9" name="Shape 7"/>
          <p:cNvSpPr/>
          <p:nvPr/>
        </p:nvSpPr>
        <p:spPr>
          <a:xfrm>
            <a:off x="457200" y="2514600"/>
            <a:ext cx="502920" cy="566928"/>
          </a:xfrm>
          <a:prstGeom prst="rect">
            <a:avLst/>
          </a:prstGeom>
          <a:solidFill>
            <a:srgbClr val="1C7293"/>
          </a:solidFill>
          <a:ln w="12700">
            <a:solidFill>
              <a:srgbClr val="1C7293"/>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Réduire les coûts de fonctionnement des établissements</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02C39A">
                <a:alpha val="60000"/>
              </a:srgbClr>
            </a:solidFill>
            <a:prstDash val="solid"/>
          </a:ln>
        </p:spPr>
      </p:sp>
      <p:sp>
        <p:nvSpPr>
          <p:cNvPr id="13" name="Shape 11"/>
          <p:cNvSpPr/>
          <p:nvPr/>
        </p:nvSpPr>
        <p:spPr>
          <a:xfrm>
            <a:off x="457200" y="3154680"/>
            <a:ext cx="502920" cy="566928"/>
          </a:xfrm>
          <a:prstGeom prst="rect">
            <a:avLst/>
          </a:prstGeom>
          <a:solidFill>
            <a:srgbClr val="1C7293"/>
          </a:solidFill>
          <a:ln w="12700">
            <a:solidFill>
              <a:srgbClr val="1C7293"/>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S'assurer qu'un accompagnement de qualité est apporté aux personnes avec une réponse adaptée à leurs souhaits, besoins et projets</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02C39A">
                <a:alpha val="60000"/>
              </a:srgbClr>
            </a:solidFill>
            <a:prstDash val="solid"/>
          </a:ln>
        </p:spPr>
      </p:sp>
      <p:sp>
        <p:nvSpPr>
          <p:cNvPr id="17" name="Shape 15"/>
          <p:cNvSpPr/>
          <p:nvPr/>
        </p:nvSpPr>
        <p:spPr>
          <a:xfrm>
            <a:off x="457200" y="3794760"/>
            <a:ext cx="502920" cy="566928"/>
          </a:xfrm>
          <a:prstGeom prst="rect">
            <a:avLst/>
          </a:prstGeom>
          <a:solidFill>
            <a:srgbClr val="1C7293"/>
          </a:solidFill>
          <a:ln w="12700">
            <a:solidFill>
              <a:srgbClr val="1C7293"/>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Harmoniser les pratiques de tous les ESSMS sur un modèle unique</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Q50/50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Comment la HAS définit-elle l'objectif global de l'évaluation des ESSMS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Réduire les coûts de fonctionnement des établissements</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S'assurer qu'un accompagnement de qualité est apporté aux personnes avec une réponse adaptée à leurs souhaits, besoins et projets</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Harmoniser les pratiques de tous les ESSMS sur un modèle unique</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1C7293">
                <a:alpha val="70000"/>
              </a:srgbClr>
            </a:solidFill>
            <a:prstDash val="solid"/>
          </a:ln>
        </p:spPr>
      </p:sp>
      <p:sp>
        <p:nvSpPr>
          <p:cNvPr id="19" name="Shape 17"/>
          <p:cNvSpPr/>
          <p:nvPr/>
        </p:nvSpPr>
        <p:spPr>
          <a:xfrm>
            <a:off x="457200" y="3364992"/>
            <a:ext cx="73152" cy="1417320"/>
          </a:xfrm>
          <a:prstGeom prst="rect">
            <a:avLst/>
          </a:prstGeom>
          <a:solidFill>
            <a:srgbClr val="1C7293"/>
          </a:solidFill>
          <a:ln w="12700">
            <a:solidFill>
              <a:srgbClr val="1C7293"/>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1C7293"/>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L'évaluation vise à s'assurer que l'accompagnement est de qualité, centré sur la personne et adapté à l'expression de ses souhaits, de ses besoins et de ses projets de vie. C'est une démarche d'amélioration continue, pas un contrôle.</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101</Slides>
  <Notes>101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101</vt:i4>
      </vt:variant>
    </vt:vector>
  </HeadingPairs>
  <TitlesOfParts>
    <vt:vector size="10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Quiz HAS ESSMS — La Personne Accompagnée</dc:title>
  <dc:subject>PptxGenJS Presentation</dc:subject>
  <dc:creator>PptxGenJS</dc:creator>
  <cp:lastModifiedBy>PptxGenJS</cp:lastModifiedBy>
  <cp:revision>1</cp:revision>
  <dcterms:created xsi:type="dcterms:W3CDTF">2026-05-11T19:58:39Z</dcterms:created>
  <dcterms:modified xsi:type="dcterms:W3CDTF">2026-05-11T19:58:39Z</dcterms:modified>
</cp:coreProperties>
</file>