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7498080" y="-1097280"/>
            <a:ext cx="3657600" cy="3657600"/>
          </a:xfrm>
          <a:prstGeom prst="ellipse">
            <a:avLst/>
          </a:prstGeom>
          <a:solidFill>
            <a:srgbClr val="2E6DA4">
              <a:alpha val="40000"/>
            </a:srgbClr>
          </a:solidFill>
          <a:ln w="12700">
            <a:solidFill>
              <a:srgbClr val="2E6DA4"/>
            </a:solidFill>
            <a:prstDash val="solid"/>
          </a:ln>
        </p:spPr>
      </p:sp>
      <p:sp>
        <p:nvSpPr>
          <p:cNvPr id="3" name="Shape 1"/>
          <p:cNvSpPr/>
          <p:nvPr/>
        </p:nvSpPr>
        <p:spPr>
          <a:xfrm>
            <a:off x="8046720" y="-548640"/>
            <a:ext cx="2286000" cy="2286000"/>
          </a:xfrm>
          <a:prstGeom prst="ellipse">
            <a:avLst/>
          </a:prstGeom>
          <a:solidFill>
            <a:srgbClr val="F4A261">
              <a:alpha val="45000"/>
            </a:srgbClr>
          </a:solidFill>
          <a:ln w="12700">
            <a:solidFill>
              <a:srgbClr val="F4A261"/>
            </a:solidFill>
            <a:prstDash val="solid"/>
          </a:ln>
        </p:spPr>
      </p:sp>
      <p:sp>
        <p:nvSpPr>
          <p:cNvPr id="4" name="Text 2"/>
          <p:cNvSpPr/>
          <p:nvPr/>
        </p:nvSpPr>
        <p:spPr>
          <a:xfrm>
            <a:off x="548640" y="457200"/>
            <a:ext cx="8046720" cy="640080"/>
          </a:xfrm>
          <a:prstGeom prst="rect">
            <a:avLst/>
          </a:prstGeom>
          <a:noFill/>
          <a:ln/>
        </p:spPr>
        <p:txBody>
          <a:bodyPr wrap="square" rtlCol="0" anchor="ctr"/>
          <a:lstStyle/>
          <a:p>
            <a:pPr indent="0" marL="0">
              <a:buNone/>
            </a:pPr>
            <a:r>
              <a:rPr lang="en-US" sz="1400" b="1" spc="400" kern="0" dirty="0">
                <a:solidFill>
                  <a:srgbClr val="F4A261"/>
                </a:solidFill>
                <a:latin typeface="Calibri" pitchFamily="34" charset="0"/>
                <a:ea typeface="Calibri" pitchFamily="34" charset="-122"/>
                <a:cs typeface="Calibri" pitchFamily="34" charset="-120"/>
              </a:rPr>
              <a:t>QUIZ HAS — ESSMS</a:t>
            </a:r>
            <a:endParaRPr lang="en-US" sz="1400" dirty="0"/>
          </a:p>
        </p:txBody>
      </p:sp>
      <p:sp>
        <p:nvSpPr>
          <p:cNvPr id="5" name="Text 3"/>
          <p:cNvSpPr/>
          <p:nvPr/>
        </p:nvSpPr>
        <p:spPr>
          <a:xfrm>
            <a:off x="548640" y="1097280"/>
            <a:ext cx="8046720" cy="548640"/>
          </a:xfrm>
          <a:prstGeom prst="rect">
            <a:avLst/>
          </a:prstGeom>
          <a:noFill/>
          <a:ln/>
        </p:spPr>
        <p:txBody>
          <a:bodyPr wrap="square" rtlCol="0" anchor="ctr"/>
          <a:lstStyle/>
          <a:p>
            <a:pPr indent="0" marL="0">
              <a:buNone/>
            </a:pPr>
            <a:r>
              <a:rPr lang="en-US" sz="1600" dirty="0">
                <a:solidFill>
                  <a:srgbClr val="AACCEE"/>
                </a:solidFill>
                <a:latin typeface="Calibri" pitchFamily="34" charset="0"/>
                <a:ea typeface="Calibri" pitchFamily="34" charset="-122"/>
                <a:cs typeface="Calibri" pitchFamily="34" charset="-120"/>
              </a:rPr>
              <a:t>Chapitre 2</a:t>
            </a:r>
            <a:endParaRPr lang="en-US" sz="1600" dirty="0"/>
          </a:p>
        </p:txBody>
      </p:sp>
      <p:sp>
        <p:nvSpPr>
          <p:cNvPr id="6" name="Text 4"/>
          <p:cNvSpPr/>
          <p:nvPr/>
        </p:nvSpPr>
        <p:spPr>
          <a:xfrm>
            <a:off x="548640" y="1691640"/>
            <a:ext cx="8046720" cy="1188720"/>
          </a:xfrm>
          <a:prstGeom prst="rect">
            <a:avLst/>
          </a:prstGeom>
          <a:noFill/>
          <a:ln/>
        </p:spPr>
        <p:txBody>
          <a:bodyPr wrap="square" rtlCol="0" anchor="ctr"/>
          <a:lstStyle/>
          <a:p>
            <a:pPr indent="0" marL="0">
              <a:lnSpc>
                <a:spcPct val="110000"/>
              </a:lnSpc>
              <a:buNone/>
            </a:pPr>
            <a:r>
              <a:rPr lang="en-US" sz="3800" b="1" dirty="0">
                <a:solidFill>
                  <a:srgbClr val="FFFFFF"/>
                </a:solidFill>
                <a:latin typeface="Calibri" pitchFamily="34" charset="0"/>
                <a:ea typeface="Calibri" pitchFamily="34" charset="-122"/>
                <a:cs typeface="Calibri" pitchFamily="34" charset="-120"/>
              </a:rPr>
              <a:t>Les Professionnels</a:t>
            </a:r>
            <a:endParaRPr lang="en-US" sz="3800" dirty="0"/>
          </a:p>
        </p:txBody>
      </p:sp>
      <p:sp>
        <p:nvSpPr>
          <p:cNvPr id="7" name="Text 5"/>
          <p:cNvSpPr/>
          <p:nvPr/>
        </p:nvSpPr>
        <p:spPr>
          <a:xfrm>
            <a:off x="548640" y="2926080"/>
            <a:ext cx="6400800" cy="457200"/>
          </a:xfrm>
          <a:prstGeom prst="rect">
            <a:avLst/>
          </a:prstGeom>
          <a:noFill/>
          <a:ln/>
        </p:spPr>
        <p:txBody>
          <a:bodyPr wrap="square" rtlCol="0" anchor="ctr"/>
          <a:lstStyle/>
          <a:p>
            <a:pPr indent="0" marL="0">
              <a:buNone/>
            </a:pPr>
            <a:r>
              <a:rPr lang="en-US" sz="1600" i="1" dirty="0">
                <a:solidFill>
                  <a:srgbClr val="F4A261"/>
                </a:solidFill>
                <a:latin typeface="Calibri" pitchFamily="34" charset="0"/>
                <a:ea typeface="Calibri" pitchFamily="34" charset="-122"/>
                <a:cs typeface="Calibri" pitchFamily="34" charset="-120"/>
              </a:rPr>
              <a:t>Méthode : Traceur Ciblé</a:t>
            </a:r>
            <a:endParaRPr lang="en-US" sz="1600" dirty="0"/>
          </a:p>
        </p:txBody>
      </p:sp>
      <p:sp>
        <p:nvSpPr>
          <p:cNvPr id="8" name="Shape 6"/>
          <p:cNvSpPr/>
          <p:nvPr/>
        </p:nvSpPr>
        <p:spPr>
          <a:xfrm>
            <a:off x="548640" y="3566160"/>
            <a:ext cx="1463040" cy="73152"/>
          </a:xfrm>
          <a:prstGeom prst="rect">
            <a:avLst/>
          </a:prstGeom>
          <a:solidFill>
            <a:srgbClr val="F4A261"/>
          </a:solidFill>
          <a:ln w="12700">
            <a:solidFill>
              <a:srgbClr val="F4A261"/>
            </a:solidFill>
            <a:prstDash val="solid"/>
          </a:ln>
        </p:spPr>
      </p:sp>
      <p:sp>
        <p:nvSpPr>
          <p:cNvPr id="9" name="Text 7"/>
          <p:cNvSpPr/>
          <p:nvPr/>
        </p:nvSpPr>
        <p:spPr>
          <a:xfrm>
            <a:off x="548640" y="3794760"/>
            <a:ext cx="8046720" cy="411480"/>
          </a:xfrm>
          <a:prstGeom prst="rect">
            <a:avLst/>
          </a:prstGeom>
          <a:noFill/>
          <a:ln/>
        </p:spPr>
        <p:txBody>
          <a:bodyPr wrap="square" rtlCol="0" anchor="ctr"/>
          <a:lstStyle/>
          <a:p>
            <a:pPr indent="0" marL="0">
              <a:buNone/>
            </a:pPr>
            <a:r>
              <a:rPr lang="en-US" sz="1300" dirty="0">
                <a:solidFill>
                  <a:srgbClr val="AACCEE"/>
                </a:solidFill>
                <a:latin typeface="Calibri" pitchFamily="34" charset="0"/>
                <a:ea typeface="Calibri" pitchFamily="34" charset="-122"/>
                <a:cs typeface="Calibri" pitchFamily="34" charset="-120"/>
              </a:rPr>
              <a:t>50 questions — Alternance question / réponse</a:t>
            </a:r>
            <a:endParaRPr lang="en-US" sz="1300" dirty="0"/>
          </a:p>
        </p:txBody>
      </p:sp>
      <p:sp>
        <p:nvSpPr>
          <p:cNvPr id="10" name="Text 8"/>
          <p:cNvSpPr/>
          <p:nvPr/>
        </p:nvSpPr>
        <p:spPr>
          <a:xfrm>
            <a:off x="548640" y="4297680"/>
            <a:ext cx="8046720" cy="320040"/>
          </a:xfrm>
          <a:prstGeom prst="rect">
            <a:avLst/>
          </a:prstGeom>
          <a:noFill/>
          <a:ln/>
        </p:spPr>
        <p:txBody>
          <a:bodyPr wrap="square" rtlCol="0" anchor="ctr"/>
          <a:lstStyle/>
          <a:p>
            <a:pPr indent="0" marL="0">
              <a:buNone/>
            </a:pPr>
            <a:r>
              <a:rPr lang="en-US" sz="1100" dirty="0">
                <a:solidFill>
                  <a:srgbClr val="7799BB"/>
                </a:solidFill>
                <a:latin typeface="Calibri" pitchFamily="34" charset="0"/>
                <a:ea typeface="Calibri" pitchFamily="34" charset="-122"/>
                <a:cs typeface="Calibri" pitchFamily="34" charset="-120"/>
              </a:rPr>
              <a:t>Référentiel HAS mars 2022 — Manuel V1.1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méthode d'évaluation est associée au Chapitre 2 du référentiel HAS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L'accompagné traceur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traceur ciblé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L'audit système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méthode d'évaluation est associée au Chapitre 2 du référentiel HAS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L'accompagné traceur</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traceur ciblé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L'audit système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2 (les professionnels) est évalué via le traceur ciblé : l'évaluateur organise des entretiens avec différents professionnels pour investiguer des thématiques transversales spécifiques (gestion de la douleur, EI, bientraitance…).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Quelles sont les deux grandes thématiques du Chapitre 2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Bientraitance et droits des personnes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Compétences/qualification/formation et qualité de vie au travail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Gouvernance et gestion des risques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Quelles sont les deux grandes thématiques du Chapitre 2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Bientraitance et droits des personnes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Compétences/qualification/formation et qualité de vie au travail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Gouvernance et gestion des risques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2 s'articule autour de deux thématiques : les compétences, qualifications et formations des professionnels, et la qualité de vie au travail (QVT) incluant les pratiques collaboratives et le soutien professionnel.</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La formation des professionnels à la bientraitance est-elle un critère impératif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c'est une simple recommandation</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les professionnels doivent bénéficier de formations spécifiques à la bientraitance et à la prévention de la maltraitance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mais uniquement pour les cadres de direction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La formation des professionnels à la bientraitance est-elle un critère impératif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Non, c'est une simple recommandation</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Oui, les professionnels doivent bénéficier de formations spécifiques à la bientraitance et à la prévention de la maltraitance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Oui, mais uniquement pour les cadres de direction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2.1.4 (impératif) exige que les professionnels bénéficient de formations spécifiques à la bientraitance et à la prévention de la maltraitance. Cette formation est essentielle pour garantir la qualité de l'accompagnement.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doit garantir le dispositif de formation continue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formations obligatoires réglementaires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maintien et le développement des compétences nécessaires à la qualité de l'accompagnement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nombre minimal de jours de formation par an défini nationalement</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doit garantir le dispositif de formation continue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formations obligatoires réglementaires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maintien et le développement des compétences nécessaires à la qualité de l'accompagnement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nombre minimal de jours de formation par an défini nationalement</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2.1.2 (impératif) prévoit qu'un dispositif de formation continue garantit le maintien ET le développement des compétences des professionnels, adapté aux besoins des personnes accompagnées et aux évolutions du secteur.</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repérage et le signalement des situations de maltraitance par les professionnels sont-ils traités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compétence souhaitable mais non obligatoire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 critère impératif : les professionnels doivent savoir repérer et signaler ces situations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mission réservée aux cadres hiérarchiques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repérage et le signalement des situations de maltraitance par les professionnels sont-ils traités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une compétence souhaitable mais non obligatoire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Comme un critère impératif : les professionnels doivent savoir repérer et signaler ces situations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une mission réservée aux cadres hiérarchiques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2.5.1 est impératif : tous les professionnels doivent être en capacité de repérer et signaler les situations de maltraitance. Cette compétence est indissociable de la culture de bientraitance attendue.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Chapitre 2 concernant la participation des professionnels aux événements indésirables (EI)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Seul le responsable qualité gère les EI</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professionnels participent activement au recueil, à l'analyse et à la prise en charge des événements indésirables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EI sont gérés uniquement au niveau de la gouvernance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Chapitre 2 concernant la participation des professionnels aux événements indésirables (EI)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Seul le responsable qualité gère les EI</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professionnels participent activement au recueil, à l'analyse et à la prise en charge des événements indésirables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EI sont gérés uniquement au niveau de la gouvernance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2.5.2 (impératif) stipule que les professionnels participent au recueil, à l'analyse ET à la prise en charge des EI. Cette implication collective est essentielle pour améliorer les pratiques au plus près du terrain.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la philosophie du traceur ciblé comme méthode d'évaluation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Vérifier uniquement la conformité documentaire des protocoles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Explorer une thématique transversale sur le terrain via des entretiens avec différents professionnels, croisant pratiques et documents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Réaliser un audit financier des ressources humaines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la philosophie du traceur ciblé comme méthode d'évaluation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Vérifier uniquement la conformité documentaire des protocoles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Explorer une thématique transversale sur le terrain via des entretiens avec différents professionnels, croisant pratiques et documents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Réaliser un audit financier des ressources humaines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traceur ciblé explore une thématique précise (ex : gestion de la douleur, prévention des chutes) en rencontrant plusieurs professionnels impliqués. Il croise entretiens, observations terrain et analyse documentaire pour évaluer la réalité des pratiques.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recouvre la notion de qualité de vie au travail (QVT)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conditions matérielles de travail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prévention des risques professionnels, l'évaluation des conditions de travail et des actions d'amélioration permettant aux professionnels d'exercer leurs missions dans de bonnes conditions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avantages sociaux et salariaux des professionnels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recouvre la notion de qualité de vie au travail (QVT)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conditions matérielles de travail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prévention des risques professionnels, l'évaluation des conditions de travail et des actions d'amélioration permettant aux professionnels d'exercer leurs missions dans de bonnes conditions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avantages sociaux et salariaux des professionnels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QVT dans le référentiel HAS (critères 2.6.1, 2.6.2 et 2.6.3) englobe la prévention des risques professionnels, l'évaluation des conditions de travail et les actions correctrices. La QVT est liée à la qualité de l'accompagnement.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lien le référentiel HAS établit-il entre la qualité de vie au travail et la qualité de l'accompagnement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Aucun lien direct n'est établi</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 bonnes conditions de travail permettent aux professionnels d'exercer leurs missions dans les meilleures conditions, bénéficiant ainsi aux personnes accompagnées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QVT est uniquement un enjeu RH interne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lien le référentiel HAS établit-il entre la qualité de vie au travail et la qualité de l'accompagnement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Aucun lien direct n'est établi</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De bonnes conditions de travail permettent aux professionnels d'exercer leurs missions dans les meilleures conditions, bénéficiant ainsi aux personnes accompagnées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QVT est uniquement un enjeu RH interne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reconnaît que la QVT et la qualité de l'accompagnement sont interdépendantes : des professionnels qui travaillent dans de bonnes conditions sont plus à même d'offrir un accompagnement de qualité aux personnes.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travail en équipe est-il évalué dans le Chapitre 2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par l'analyse de l'organigramme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 l'évaluation de la coordination interprofessionnelle, des transmissions et des échanges garantissant la continuité de l'accompagnement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 le nombre de réunions d'équipe organisées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travail en équipe est-il évalué dans le Chapitre 2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par l'analyse de l'organigramme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Par l'évaluation de la coordination interprofessionnelle, des transmissions et des échanges garantissant la continuité de l'accompagnement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Par le nombre de réunions d'équipe organisées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L'objectif 2.4 évalue la qualité du travail en équipe à travers la coordination interprofessionnelle (critère 2.4.1) et la qualité des transmissions entre professionnels (critère 2.4.2), garantissant la continuité et la cohérence de l'accompagnement.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référentiel HAS pour les professionnels confrontés à des situations difficiles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remplacement systématique par un collègue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soutien adapté (supervision, analyse des pratiques, soutien psychologique) pour prévenir l'épuisement professionnel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formation supplémentaire obligatoire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référentiel HAS pour les professionnels confrontés à des situations difficiles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remplacement systématique par un collègue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soutien adapté (supervision, analyse des pratiques, soutien psychologique) pour prévenir l'épuisement professionnel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formation supplémentaire obligatoire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2.5.3 prévoit que les professionnels bénéficient d'un soutien adapté face aux situations difficiles (décès, violence, épuisement…). Ce soutien peut prendre la forme d'analyses de pratiques, de supervisions ou d'un accompagnement psychologique.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qu'un 'traceur ciblé' explore concrètement lors d'une visite d'évaluation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parcours complet d'une personne accompagnée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processus transversal spécifique (ex : gestion de la douleur, prévention des chutes, fin de vie) impliquant plusieurs professionnels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comptes financiers de l'établissement</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qu'un 'traceur ciblé' explore concrètement lors d'une visite d'évaluation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parcours complet d'une personne accompagnée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processus transversal spécifique (ex : gestion de la douleur, prévention des chutes, fin de vie) impliquant plusieurs professionnels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comptes financiers de l'établissement</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Un traceur ciblé explore un processus précis en interviewing plusieurs professionnels qui y contribuent (soignants, éducateurs, cadres). Par exemple, 'prévention des escarres' implique infirmiers, aides-soignants et médecin coordinateur.</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doit inclure le processus d'intégration des nouveaux professionnels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signature du contrat de travail et du règlement intérieur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intégration structurée permettant l'acquisition des compétences nécessaires à l'accompagnement de qualité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période d'essai sans encadrement spécifique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doit inclure le processus d'intégration des nouveaux professionnels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signature du contrat de travail et du règlement intérieur</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intégration structurée permettant l'acquisition des compétences nécessaires à l'accompagnement de qualité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période d'essai sans encadrement spécifique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2.1.3 prévoit que les nouveaux professionnels bénéficient d'une intégration structurée. Cela inclut généralement un parcours d'intégration, un tutorat et une transmission des valeurs et pratiques de l'établissement.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l'analyse des pratiques professionnelles apporte aux équipes selon le référentiel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sanction en cas d'erreur identifiée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espace de réflexion permettant d'améliorer les pratiques, de prévenir l'épuisement et de soutenir les professionnels dans leurs missions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formation théorique supplémentaire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l'analyse des pratiques professionnelles apporte aux équipes selon le référentiel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sanction en cas d'erreur identifiée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espace de réflexion permettant d'améliorer les pratiques, de prévenir l'épuisement et de soutenir les professionnels dans leurs missions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formation théorique supplémentaire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2.4.3 valorise l'analyse des pratiques comme outil de développement professionnel. Ces espaces permettent aux équipes de prendre du recul, de partager leurs expériences et d'améliorer collectivement leurs pratiques.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l'objectif du critère 2.2.1 concernant la formation des professionnels aux droits des personnes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Former les professionnels à la gestion administrative des dossiers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S'assurer que les professionnels connaissent et appliquent les droits fondamentaux des personnes accompagnées dans leurs pratiques quotidiennes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Former uniquement les responsables juridiques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l'objectif du critère 2.2.1 concernant la formation des professionnels aux droits des personnes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Former les professionnels à la gestion administrative des dossiers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S'assurer que les professionnels connaissent et appliquent les droits fondamentaux des personnes accompagnées dans leurs pratiques quotidiennes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Former uniquement les responsables juridiques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2.2.1 vise à ce que tous les professionnels soient formés et sensibilisés au respect des droits des personnes : droit à l'information, consentement, dignité, intimité, liberté… Ces droits doivent être intégrés dans les pratiques au quotidien.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respect de la vie privée et de l'intimité par les professionnels est-il traité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 critère standard laissé à l'appréciation de chaque professionnel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 critère impératif : les professionnels doivent systématiquement respecter la vie privée et l'intimité de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via des protocoles de soins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respect de la vie privée et de l'intimité par les professionnels est-il traité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 critère standard laissé à l'appréciation de chaque professionnel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Comme un critère impératif : les professionnels doivent systématiquement respecter la vie privée et l'intimité de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via des protocoles de soins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2.2.3 (impératif) porte sur le respect de la vie privée et de l'intimité par les professionnels dans leurs pratiques : frapper avant d'entrer, ne pas parler en présence d'autres personnes, assurer la confidentialité…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Quels professionnels sont impliqués dans l'évaluation via le traceur ciblé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cadres de direction</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professionnels directement impliqués dans le processus thématique exploré, quelle que soit leur fonction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Exclusivement le personnel médical et paramédical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Quels professionnels sont impliqués dans l'évaluation via le traceur ciblé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cadres de direction</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professionnels directement impliqués dans le processus thématique exploré, quelle que soit leur fonction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Exclusivement le personnel médical et paramédical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traceur ciblé implique tous les professionnels concernés par la thématique explorée : éducateurs, soignants, animateurs, cadres, selon le processus investigué. La pluridisciplinarité est au cœur de cette méthode.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couvre la thématique 'Compétences, qualification et formation'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diplômes détenus par le personnel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L'adéquation des compétences aux besoins, la formation continue, l'intégration des nouveaux professionnels et la formation à la bientraitance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gestion des plannings et des remplacements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couvre la thématique 'Compétences, qualification et formation'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diplômes détenus par le personnel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L'adéquation des compétences aux besoins, la formation continue, l'intégration des nouveaux professionnels et la formation à la bientraitance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gestion des plannings et des remplacements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thématique 'Compétences, qualification et formation' (objectifs 2.1 à 2.3) couvre l'ensemble de la politique de compétences : qualification, formation continue, intégration, bientraitance et accompagnement à la santé.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Q19/50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l'évaluation des pratiques professionnelles s'articule-t-elle avec l'accompagnement à l'autonomie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pratiques d'autonomisation relèvent uniquement du projet thérapeutique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professionnels doivent développer des approches favorisant activement l'autonomie et la participation de la personne au quotidien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L'autonomie n'est abordée que dans le projet personnalisé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l'évaluation des pratiques professionnelles s'articule-t-elle avec l'accompagnement à l'autonomie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pratiques d'autonomisation relèvent uniquement du projet thérapeutique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professionnels doivent développer des approches favorisant activement l'autonomie et la participation de la personne au quotidien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L'autonomie n'est abordée que dans le projet personnalisé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2.3.1 prévoit que les professionnels développent des approches concrètes pour favoriser l'autonomie : faire avec et non à la place, valoriser les capacités, proposer des activités de développement des compétences.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signifie l'expression 'pratiques collaboratives' dans le Chapitre 2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collaboration uniquement entre médecins et infirmiers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travail en équipe pluridisciplinaire, la coordination des interventions et le partage d'informations entre tous les professionnels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signature collective des documents administratifs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signifie l'expression 'pratiques collaboratives' dans le Chapitre 2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collaboration uniquement entre médecins et infirmiers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travail en équipe pluridisciplinaire, la coordination des interventions et le partage d'informations entre tous les professionnels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signature collective des documents administratifs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pratiques collaboratives désignent le travail en équipe pluridisciplinaire : coordination des interventions, réunions d'équipe, transmissions de qualité, projets partagés. Elles sont essentielles à la cohérence et à la continuité de l'accompagnement.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Le développement des compétences en accompagnement à la santé concerne-t-il tous les professionnels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uniquement les professionnels de santé diplômés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tous les professionnels doivent disposer de compétences en accompagnement à la santé adaptées à leurs missions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uniquement les équipes des EHPAD</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Le développement des compétences en accompagnement à la santé concerne-t-il tous les professionnels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Non, uniquement les professionnels de santé diplômés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Oui, tous les professionnels doivent disposer de compétences en accompagnement à la santé adaptées à leurs missions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Non, uniquement les équipes des EHPAD</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2.3.2 prévoit que l'ensemble des professionnels (éducateurs, animateurs, accompagnants…) doivent disposer de compétences en accompagnement à la santé adaptées à leurs fonctions et au public accompagné.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conditions de travail sont-elles évaluées dans le Chapitre 2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par le taux d'absentéisme et le turn-over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vérifiant que les conditions permettent aux professionnels d'exercer leurs missions dans de bonnes conditions, par des actions de prévention et d'évaluation de la QVT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Exclusivement par l'inspection du travail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conditions de travail sont-elles évaluées dans le Chapitre 2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par le taux d'absentéisme et le turn-over</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vérifiant que les conditions permettent aux professionnels d'exercer leurs missions dans de bonnes conditions, par des actions de prévention et d'évaluation de la QVT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Exclusivement par l'inspection du travail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2.6.3 évalue si les conditions de travail (charge de travail, matériel, organisation) permettent aux professionnels d'exercer leurs missions de qualité. Des actions de prévention des risques professionnels (critère 2.6.1) complètent cette évaluation.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recouvre la prévention des risques professionnels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prévention des accidents du travail physiques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risques physiques, psychologiques et organisationnels liés à l'accompagnement, incluant les risques de burn-out et les violences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gestion des congés maladie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recouvre la prévention des risques professionnels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prévention des accidents du travail physiques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risques physiques, psychologiques et organisationnels liés à l'accompagnement, incluant les risques de burn-out et les violences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gestion des congés maladie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prévention des risques professionnels (critère 2.6.1) couvre l'ensemble des risques : physiques (TMS, accidents), psychologiques (burn-out, stress, violences des usagers), et organisationnels. Le Document Unique d'Évaluation des Risques (DUER) en est un outil central.</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Dans le cadre d'un traceur ciblé, comment l'évaluateur explore-t-il la thématique 'gestion de la douleur'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consultant uniquement les ordonnances médicales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interviewant infirmiers, aides-soignants, éducateurs et le médecin sur leurs pratiques concrètes de repérage et de prise en charge de la douleur</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vérifiant la présence d'antalgiques dans la pharmacie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Dans le cadre d'un traceur ciblé, comment l'évaluateur explore-t-il la thématique 'gestion de la douleur'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consultant uniquement les ordonnances médicales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interviewant infirmiers, aides-soignants, éducateurs et le médecin sur leurs pratiques concrètes de repérage et de prise en charge de la douleur</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vérifiant la présence d'antalgiques dans la pharmacie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traceur ciblé 'gestion de la douleur' explore les pratiques de tous les professionnels impliqués : repérage des signes de douleur, utilisation d'échelles d'évaluation, transmission aux soignants, suivi du traitement et réévaluation.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Pourquoi la dimension 'soutien professionnel' est-elle valorisée dans le Chapitre 2 du référentiel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Pour améliorer les performances économiques de l'établissement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Parce que des professionnels soutenus et épanouis sont plus à même d'offrir un accompagnement bientraitant et de qualité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pour réduire le turn-over du personnel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Pourquoi la dimension 'soutien professionnel' est-elle valorisée dans le Chapitre 2 du référentiel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Pour améliorer les performances économiques de l'établissement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Parce que des professionnels soutenus et épanouis sont plus à même d'offrir un accompagnement bientraitant et de qualité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pour réduire le turn-over du personnel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reconnaît le lien direct entre le bien-être des professionnels et la qualité de l'accompagnement. Des professionnels qui bénéficient d'un soutien adapté (supervision, analyse des pratiques) sont moins vulnérables à l'épuisement et plus centrés sur la personne.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critère 2.3.3 concernant la prévention et la gestion de la douleur par les professionnels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douleur est uniquement du ressort des médecins prescripteurs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professionnels doivent intégrer dans leurs pratiques le repérage, l'évaluation et la prise en charge de la douleur</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douleur n'est abordée que dans les protocoles de soins infirmiers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critère 2.3.3 concernant la prévention et la gestion de la douleur par les professionnels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douleur est uniquement du ressort des médecins prescripteurs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professionnels doivent intégrer dans leurs pratiques le repérage, l'évaluation et la prise en charge de la douleur</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douleur n'est abordée que dans les protocoles de soins infirmiers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2.3.3 prévoit que la prévention et la gestion de la douleur sont intégrées dans les pratiques de l'ensemble des professionnels : repérage des signes douloureux, utilisation d'échelles validées, transmission et coordination.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l'objectif du critère 2.2.2 sur l'expression et la participation des personnes accompagnées par les professionnels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Organiser des votes lors des CVS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S'assurer que les professionnels mettent en œuvre des pratiques concrètes favorisant l'expression, les choix et la participation de la personne dans le quotidien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Rédiger des comptes rendus des demandes des usagers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l'objectif du critère 2.2.2 sur l'expression et la participation des personnes accompagnées par les professionnels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Organiser des votes lors des CVS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S'assurer que les professionnels mettent en œuvre des pratiques concrètes favorisant l'expression, les choix et la participation de la personne dans le quotidien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Rédiger des comptes rendus des demandes des usagers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2.2.2 évalue si les professionnels adoptent des pratiques facilitant l'expression (communication adaptée, outils alternatifs) et la participation (consultation sur les choix du quotidien, implication dans le PAP) de la personne accompagnée.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la différence entre le traceur ciblé et l'accompagné traceur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traceur ciblé évalue la gouvernance et l'accompagné traceur évalue les professionnels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L'accompagné traceur suit le parcours d'une personne (point de vue usager), le traceur ciblé explore une thématique transversale (pratiques professionnelles)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n'existe pas de différence significative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la différence entre le traceur ciblé et l'accompagné traceur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traceur ciblé évalue la gouvernance et l'accompagné traceur évalue les professionnels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L'accompagné traceur suit le parcours d'une personne (point de vue usager), le traceur ciblé explore une thématique transversale (pratiques professionnelles)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n'existe pas de différence significative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L'accompagné traceur (Chapitre 1) part de l'expérience d'une personne accompagnée pour évaluer la qualité globale. Le traceur ciblé (Chapitre 2) explore une thématique spécifique à travers les pratiques de plusieurs professionnels.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Q29/50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Combien de traceurs ciblés sont réalisés en moyenne lors d'une visite d'évaluation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 traceur ciblé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 à 3 traceurs ciblés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5 à 6 traceurs ciblés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Combien de traceurs ciblés sont réalisés en moyenne lors d'une visite d'évaluation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1 traceur ciblé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2 à 3 traceurs ciblés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5 à 6 traceurs ciblés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Selon le manuel HAS, 2 à 3 traceurs ciblés sont généralement réalisés lors d'une visite d'évaluation. Chaque traceur dure environ une demi-journée et explore une thématique précise des pratiques professionnelles.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thématique le traceur ciblé permet-il d'investiguer en dehors de la gestion de la douleur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fin de vie et les EIG</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Toute thématique transversale : prévention des chutes, accompagnement de fin de vie, gestion des EI, prévention des escarres, etc.</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thématiques médicales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thématique le traceur ciblé permet-il d'investiguer en dehors de la gestion de la douleur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fin de vie et les EIG</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Toute thématique transversale : prévention des chutes, accompagnement de fin de vie, gestion des EI, prévention des escarres, etc.</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thématiques médicales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traceur ciblé peut explorer de nombreuses thématiques : gestion de la douleur, prévention des chutes, accompagnement de fin de vie, gestion des événements indésirables, prévention des escarres, communication avec les proches… selon les enjeux identifiés.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transmissions entre professionnels sont-elles évaluées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par la vérification du cahier de liaison</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évaluant la qualité et la complétude des informations transmises pour assurer la continuité et la cohérence de l'accompagnement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 le nombre de transmissions écrites par semaine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transmissions entre professionnels sont-elles évaluées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par la vérification du cahier de liaison</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évaluant la qualité et la complétude des informations transmises pour assurer la continuité et la cohérence de l'accompagnement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Par le nombre de transmissions écrites par semaine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2.4.2 évalue la qualité des transmissions entre professionnels : pertinence des informations partagées, utilisation d'outils adaptés (cahier de liaison, logiciel, réunions), et impact réel sur la continuité de l'accompagnement.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le référentiel HAS attend des ESSMS en matière de gestion prévisionnelle des compétences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 respect des ratios réglementaires d'encadrement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adéquation permanente des effectifs et des compétences aux besoins et à l'évolution des situations des personnes accompagnées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gestion déléguée à l'organisme gestionnaire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le référentiel HAS attend des ESSMS en matière de gestion prévisionnelle des compétences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 respect des ratios réglementaires d'encadrement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adéquation permanente des effectifs et des compétences aux besoins et à l'évolution des situations des personnes accompagnées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gestion déléguée à l'organisme gestionnaire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attend que l'ESSMS adapte continuellement ses ressources humaines (recrutement, formation, organisation) aux besoins évolutifs des personnes accompagnées, dans une logique proactive et non simplement réactive.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cherche à évaluer le traceur ciblé sur la thématique 'prévention des chutes' dans un EHPAD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nombre de chutes survenues dans l'année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pratiques de repérage des risques, de mise en place de mesures préventives, de prise en charge post-chute et de traçabilité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L'état des sols et l'aménagement des locaux uniquement</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cherche à évaluer le traceur ciblé sur la thématique 'prévention des chutes' dans un EHPAD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nombre de chutes survenues dans l'année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pratiques de repérage des risques, de mise en place de mesures préventives, de prise en charge post-chute et de traçabilité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L'état des sols et l'aménagement des locaux uniquement</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traceur ciblé 'prévention des chutes' explore toute la chaîne : identification des personnes à risque, mise en place de mesures individualisées (chaussures, éclairage, kinésithérapie…), formation des équipes, et analyse des chutes survenues pour améliorer les pratiques.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Chapitre 2 évalue-t-il la participation des professionnels à la culture qualité de l'établissement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 le nombre de signalements d'EI effectués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 l'implication des professionnels dans le recueil et l'analyse des EI, ainsi que dans les démarches d'amélioration des pratiques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par leur participation aux réunions qualité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Chapitre 2 évalue-t-il la participation des professionnels à la culture qualité de l'établissement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Par le nombre de signalements d'EI effectués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Par l'implication des professionnels dans le recueil et l'analyse des EI, ainsi que dans les démarches d'amélioration des pratiques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par leur participation aux réunions qualité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culture qualité au niveau professionnel (critère 2.5.2) se mesure à travers la participation active au circuit des EI : signalement, analyse, retour d'expérience et intégration des enseignements dans les pratiques quotidiennes.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la valeur ajoutée de l'analyse des pratiques professionnelles (APP) dans le dispositif qualité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remplace les formations réglementaires obligatoires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permet une réflexion collective et régulière sur les pratiques, favorisant l'amélioration continue, la cohésion d'équipe et la prévention de la maltraitance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est uniquement destinée aux professionnels en difficulté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la valeur ajoutée de l'analyse des pratiques professionnelles (APP) dans le dispositif qualité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remplace les formations réglementaires obligatoires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Elle permet une réflexion collective et régulière sur les pratiques, favorisant l'amélioration continue, la cohésion d'équipe et la prévention de la maltraitance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est uniquement destinée aux professionnels en difficulté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L'APP (critère 2.4.3) est un outil puissant : elle favorise la réflexivité professionnelle, renforce la cohésion d'équipe, aide à prévenir l'épuisement professionnel et soutient la bientraitance par la conscientisation des pratiques.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Le Chapitre 2 aborde-t-il les pratiques professionnelles d'accompagnement à l'autonomie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l'autonomie est exclusivement traitée dans le Chapitre 1</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les professionnels doivent développer des approches concrètes favorisant l'autonomie et la participation de la personne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mais uniquement pour les structures d'insertion professionnelle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Le Chapitre 2 aborde-t-il les pratiques professionnelles d'accompagnement à l'autonomie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Non, l'autonomie est exclusivement traitée dans le Chapitre 1</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Oui, les professionnels doivent développer des approches concrètes favorisant l'autonomie et la participation de la personne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Oui, mais uniquement pour les structures d'insertion professionnelle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2 aborde l'autonomie à travers les pratiques professionnelles (critère 2.3.1) : faire avec la personne plutôt qu'à sa place, valoriser ses capacités, proposer des activités de développement. L'autonomie est transversale aux 3 chapitres.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rôle jouent les professionnels dans le repérage des situations de maltraitance selon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rôle limité : seul le cadre peut signaler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rôle central et impératif : tous les professionnels doivent être capables de repérer les signes de maltraitance et les signaler selon les procédures établies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rôle uniquement réactif après un événement déclaré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rôle jouent les professionnels dans le repérage des situations de maltraitance selon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rôle limité : seul le cadre peut signaler</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rôle central et impératif : tous les professionnels doivent être capables de repérer les signes de maltraitance et les signaler selon les procédures établies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rôle uniquement réactif après un événement déclaré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2.5.1 (impératif) place les professionnels comme premiers acteurs de la prévention : leur formation au repérage (signes physiques, comportementaux, de négligence) et leur connaissance des procédures de signalement sont fondamentales.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pratiques professionnelles relatives à la fin de vie sont-elles évaluées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par la présence d'un protocole de soins palliatifs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Via un traceur ciblé explorant les pratiques concrètes des professionnels : recueil des souhaits, accompagnement, soutien à la famille, coordination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Exclusivement lors des évaluations médicales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pratiques professionnelles relatives à la fin de vie sont-elles évaluées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par la présence d'un protocole de soins palliatifs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Via un traceur ciblé explorant les pratiques concrètes des professionnels : recueil des souhaits, accompagnement, soutien à la famille, coordination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Exclusivement lors des évaluations médicales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fin de vie peut faire l'objet d'un traceur ciblé explorant les pratiques des équipes : comment les souhaits sont-ils recueillis ? Qui est formé aux soins palliatifs ? Comment les familles sont-elles soutenues ? La coordination avec les équipes mobiles est-elle effective ?</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Q39/50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l'importance des échanges entre le Chapitre 1 (accompagné traceur) et le Chapitre 2 (traceur ciblé) dans l'évaluation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Ils sont totalement indépendants et évalués séparément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deux méthodes se complètent : l'accompagné traceur révèle l'expérience vécue, le traceur ciblé éclaire les pratiques professionnelles qui la sous-tendent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Chapitre 2 sert uniquement à vérifier les constats du Chapitre 1</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l'importance des échanges entre le Chapitre 1 (accompagné traceur) et le Chapitre 2 (traceur ciblé) dans l'évaluation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Ils sont totalement indépendants et évalués séparément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deux méthodes se complètent : l'accompagné traceur révèle l'expérience vécue, le traceur ciblé éclaire les pratiques professionnelles qui la sous-tendent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Chapitre 2 sert uniquement à vérifier les constats du Chapitre 1</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L'analyse croisée est au cœur du dispositif HAS : si l'accompagné traceur révèle une insatisfaction sur la gestion de la douleur, le traceur ciblé correspondant permettra de comprendre les pratiques professionnelles en cause et d'identifier les leviers d'amélioration.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le référentiel HAS entend par 'coordination interprofessionnelle' dans le Chapitre 2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présence d'un organigramme fonctionnel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fonctionnement d'équipe organisé, avec des temps de concertation, un partage d'informations et une définition claire des rôles de chacun autour de la personne accompagnée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coordination entre le médecin et l'infirmier</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le référentiel HAS entend par 'coordination interprofessionnelle' dans le Chapitre 2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présence d'un organigramme fonctionnel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fonctionnement d'équipe organisé, avec des temps de concertation, un partage d'informations et une définition claire des rôles de chacun autour de la personne accompagnée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coordination entre le médecin et l'infirmier</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coordination interprofessionnelle (critère 2.4.1) dépasse la simple hiérarchie : elle implique une équipe pluridisciplinaire qui travaille ensemble, se concerte régulièrement, partage les informations et adapte ses interventions de manière cohérente autour de la personne.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l'enjeu principal de l'évaluation des pratiques via le traceur ciblé pour l'amélioration continue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Identifier les professionnels sous-performants pour des sanctions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Révéler les écarts entre les pratiques prescrites (protocoles) et les pratiques réelles pour alimenter le plan d'amélioration de la qualité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Vérifier uniquement la mise à jour des fiches de poste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l'enjeu principal de l'évaluation des pratiques via le traceur ciblé pour l'amélioration continue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Identifier les professionnels sous-performants pour des sanctions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Révéler les écarts entre les pratiques prescrites (protocoles) et les pratiques réelles pour alimenter le plan d'amélioration de la qualité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Vérifier uniquement la mise à jour des fiches de poste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traceur ciblé révèle l'écart entre ce qui est écrit (protocoles, procédures) et ce qui est réellement pratiqué sur le terrain. Ces écarts sont précieux : ils alimentent le plan d'amélioration de la qualité (PAQ) et permettent des ajustements ciblés.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signifie pour les professionnels 'intégrer la prévention et la gestion de la douleur dans leurs pratiques'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Administrer des antalgiques sans prescription</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Repérer les signes de douleur (verbaux et non verbaux), utiliser des outils d'évaluation validés, transmettre aux soignants et participer au suivi</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Demander systématiquement au médecin de prescrire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signifie pour les professionnels 'intégrer la prévention et la gestion de la douleur dans leurs pratiques'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Administrer des antalgiques sans prescription</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Repérer les signes de douleur (verbaux et non verbaux), utiliser des outils d'évaluation validés, transmettre aux soignants et participer au suivi</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Demander systématiquement au médecin de prescrire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L'intégration de la gestion de la douleur dans les pratiques (critère 2.3.3) signifie que chaque professionnel, selon son rôle, contribue : l'aide-soignant repère et signale, l'infirmier évalue avec des outils (EVA, Doloplus), le médecin adapte le traitement, le tout de manière coordonnée.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formations des professionnels doivent-elles être organisées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Au gré des demandes individuelles des professionnels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Dans le cadre d'un dispositif structuré garantissant le maintien et le développement des compétences en lien avec les besoins des personnes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sous forme e-learning pour des raisons d'efficience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formations des professionnels doivent-elles être organisées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Au gré des demandes individuelles des professionnels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Dans le cadre d'un dispositif structuré garantissant le maintien et le développement des compétences en lien avec les besoins des personnes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sous forme e-learning pour des raisons d'efficience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2.1.2 (impératif) exige un dispositif de formation continue structuré (plan de formation, entretiens professionnels, analyse des besoins) garantissant que les compétences des équipes restent adaptées aux besoins des personnes accompagnées.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 rôle de la direction et des cadres dans la QVT selon le Chapitre 2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de respecter le code du travail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D'impulser une culture managériale favorable à la QVT, d'identifier les risques professionnels et de mettre en œuvre des actions d'amélioration concertées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QVT est exclusivement du ressort des représentants du personnel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 rôle de la direction et des cadres dans la QVT selon le Chapitre 2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de respecter le code du travail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D'impulser une culture managériale favorable à la QVT, d'identifier les risques professionnels et de mettre en œuvre des actions d'amélioration concertées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QVT est exclusivement du ressort des représentants du personnel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2 et le Chapitre 3 se rejoignent sur la QVT : la gouvernance (Chapitre 3) doit impulser une politique RH favorable, tandis que le Chapitre 2 évalue la réalité terrain : conditions concrètes de travail, soutien des équipes, prévention des risques.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référentiel HAS aborde-t-il la pluridisciplinarité dans les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contrainte organisationnelle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richesse permettant d'aborder les besoins de la personne accompagnée sous différents angles et d'offrir un accompagnement plus complet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dans les établissements médicalisés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référentiel HAS aborde-t-il la pluridisciplinarité dans les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une contrainte organisationnelle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Comme une richesse permettant d'aborder les besoins de la personne accompagnée sous différents angles et d'offrir un accompagnement plus complet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dans les établissements médicalisés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pluridisciplinarité est valorisée dans le référentiel comme un atout : des regards croisés (éducatif, soignant, psychologique, social…) permettent une approche globale de la personne et des réponses plus pertinentes à ses besoins.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Dans quelle situation les évaluateurs peuvent-ils alerter les autorités lors d'une visite d'évaluation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Dès qu'un critère impératif est non maîtrisé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cas de constat d'un dysfonctionnement grave mettant en jeu la sécurité ou la santé des personnes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HAS n'a aucun droit d'alerte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Dans quelle situation les évaluateurs peuvent-ils alerter les autorités lors d'une visite d'évaluation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Dès qu'un critère impératif est non maîtrisé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cas de constat d'un dysfonctionnement grave mettant en jeu la sécurité ou la santé des personnes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HAS n'a aucun droit d'alerte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En cas de constat d'un dysfonctionnement grave lors d'une visite, les évaluateurs doivent alerter le responsable de la structure et peuvent transmettre l'information aux autorités compétentes si la sécurité ou la santé des personnes est en jeu (art. L.331-8-1 du CASF).</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professionnels doivent-ils adapter leur communication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utilisant uniquement le langage technique de leur profession</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adaptant leur mode de communication aux capacités et besoins de chaque personne, y compris via des outils alternatifs (PECS, pictogrammes, LSF…)</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communication est uniquement écrite pour traçabilité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professionnels doivent-ils adapter leur communication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utilisant uniquement le langage technique de leur profession</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adaptant leur mode de communication aux capacités et besoins de chaque personne, y compris via des outils alternatifs (PECS, pictogrammes, LSF…)</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communication est uniquement écrite pour traçabilité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2.2.2 prévoit que les professionnels utilisent des moyens de communication adaptés : certains résidents nécessitent le FALC (Facile à Lire et à Comprendre), la langue des signes, des pictogrammes ou d'autres outils alternatifs et augmentatifs de la communication.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le référentiel HAS attend des professionnels lors de la réalisation des actes de soins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réalisation rapide et efficace sans formalité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soins réalisés dans le respect de la dignité, du consentement et de l'intimité de la personne, avec des explications adaptées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des soins prescrits par le médecin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le référentiel HAS attend des professionnels lors de la réalisation des actes de soins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réalisation rapide et efficace sans formalité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Des soins réalisés dans le respect de la dignité, du consentement et de l'intimité de la personne, avec des explications adaptées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des soins prescrits par le médecin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Chaque acte de soin doit être réalisé avec le consentement de la personne, en respectant sa dignité et son intimité : frapper avant d'entrer, expliquer le soin, tenir compte des réactions, préserver la pudeur. Ces exigences sont transversales à tous les professionnels.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Q49/50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professionnels sont-ils sensibilisés à la prévention de l'isolement social des personnes accompagnées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L'isolement social n'est pas abordé dans le Chapitre 2</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professionnels doivent repérer les signes d'isolement et proposer des actions de maintien du lien social et de participation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prévention de l'isolement est uniquement du ressort des animateurs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professionnels sont-ils sensibilisés à la prévention de l'isolement social des personnes accompagnées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L'isolement social n'est pas abordé dans le Chapitre 2</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professionnels doivent repérer les signes d'isolement et proposer des actions de maintien du lien social et de participation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prévention de l'isolement est uniquement du ressort des animateurs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Dans le cadre des pratiques professionnelles, le repérage de l'isolement social est une compétence attendue : identifier les personnes qui se replient, celles dont les liens familiaux se distendent, et mettre en œuvre des actions de maintien du lien et de participation sociale.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28600"/>
            <a:ext cx="1188720" cy="411480"/>
          </a:xfrm>
          <a:prstGeom prst="roundRect">
            <a:avLst>
              <a:gd name="adj" fmla="val 17778"/>
            </a:avLst>
          </a:prstGeom>
          <a:solidFill>
            <a:srgbClr val="F4A261"/>
          </a:solidFill>
          <a:ln w="12700">
            <a:solidFill>
              <a:srgbClr val="F4A261"/>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Q50/50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2</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enjeu de management est mis en avant dans le Chapitre 2 du référentiel HAS pour les équipes d'encadrement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4A261">
                <a:alpha val="60000"/>
              </a:srgbClr>
            </a:solidFill>
            <a:prstDash val="solid"/>
          </a:ln>
        </p:spPr>
      </p:sp>
      <p:sp>
        <p:nvSpPr>
          <p:cNvPr id="9" name="Shape 7"/>
          <p:cNvSpPr/>
          <p:nvPr/>
        </p:nvSpPr>
        <p:spPr>
          <a:xfrm>
            <a:off x="457200" y="2514600"/>
            <a:ext cx="502920" cy="566928"/>
          </a:xfrm>
          <a:prstGeom prst="rect">
            <a:avLst/>
          </a:prstGeom>
          <a:solidFill>
            <a:srgbClr val="2E6DA4"/>
          </a:solidFill>
          <a:ln w="12700">
            <a:solidFill>
              <a:srgbClr val="2E6DA4"/>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réduction des coûts par optimisation stricte des plannings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4A261">
                <a:alpha val="60000"/>
              </a:srgbClr>
            </a:solidFill>
            <a:prstDash val="solid"/>
          </a:ln>
        </p:spPr>
      </p:sp>
      <p:sp>
        <p:nvSpPr>
          <p:cNvPr id="13" name="Shape 11"/>
          <p:cNvSpPr/>
          <p:nvPr/>
        </p:nvSpPr>
        <p:spPr>
          <a:xfrm>
            <a:off x="457200" y="3154680"/>
            <a:ext cx="502920" cy="566928"/>
          </a:xfrm>
          <a:prstGeom prst="rect">
            <a:avLst/>
          </a:prstGeom>
          <a:solidFill>
            <a:srgbClr val="2E6DA4"/>
          </a:solidFill>
          <a:ln w="12700">
            <a:solidFill>
              <a:srgbClr val="2E6DA4"/>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management de proximité bienveillant, favorisant la confiance, la reconnaissance professionnelle et l'expression des équipes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4A261">
                <a:alpha val="60000"/>
              </a:srgbClr>
            </a:solidFill>
            <a:prstDash val="solid"/>
          </a:ln>
        </p:spPr>
      </p:sp>
      <p:sp>
        <p:nvSpPr>
          <p:cNvPr id="17" name="Shape 15"/>
          <p:cNvSpPr/>
          <p:nvPr/>
        </p:nvSpPr>
        <p:spPr>
          <a:xfrm>
            <a:off x="457200" y="3794760"/>
            <a:ext cx="502920" cy="566928"/>
          </a:xfrm>
          <a:prstGeom prst="rect">
            <a:avLst/>
          </a:prstGeom>
          <a:solidFill>
            <a:srgbClr val="2E6DA4"/>
          </a:solidFill>
          <a:ln w="12700">
            <a:solidFill>
              <a:srgbClr val="2E6DA4"/>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contrôle strict via des évaluations individuelles fréquentes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Q50/50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enjeu de management est mis en avant dans le Chapitre 2 du référentiel HAS pour les équipes d'encadrement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réduction des coûts par optimisation stricte des plannings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management de proximité bienveillant, favorisant la confiance, la reconnaissance professionnelle et l'expression des équipes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contrôle strict via des évaluations individuelles fréquentes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2E6DA4">
                <a:alpha val="70000"/>
              </a:srgbClr>
            </a:solidFill>
            <a:prstDash val="solid"/>
          </a:ln>
        </p:spPr>
      </p:sp>
      <p:sp>
        <p:nvSpPr>
          <p:cNvPr id="19" name="Shape 17"/>
          <p:cNvSpPr/>
          <p:nvPr/>
        </p:nvSpPr>
        <p:spPr>
          <a:xfrm>
            <a:off x="457200" y="3364992"/>
            <a:ext cx="73152" cy="1417320"/>
          </a:xfrm>
          <a:prstGeom prst="rect">
            <a:avLst/>
          </a:prstGeom>
          <a:solidFill>
            <a:srgbClr val="2E6DA4"/>
          </a:solidFill>
          <a:ln w="12700">
            <a:solidFill>
              <a:srgbClr val="2E6DA4"/>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2E6DA4"/>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valorise un management de proximité qui soutient les équipes : écoute, reconnaissance, espaces d'expression, gestion des tensions. Un encadrement bienveillant est un facteur protecteur contre le burn-out et favorise la qualité de l'accompagnement.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HAS ESSMS — Les Professionnels</dc:title>
  <dc:subject>PptxGenJS Presentation</dc:subject>
  <dc:creator>PptxGenJS</dc:creator>
  <cp:lastModifiedBy>PptxGenJS</cp:lastModifiedBy>
  <cp:revision>1</cp:revision>
  <dcterms:created xsi:type="dcterms:W3CDTF">2026-05-11T19:58:39Z</dcterms:created>
  <dcterms:modified xsi:type="dcterms:W3CDTF">2026-05-11T19:58:39Z</dcterms:modified>
</cp:coreProperties>
</file>