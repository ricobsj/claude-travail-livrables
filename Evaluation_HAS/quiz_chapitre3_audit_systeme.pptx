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7498080" y="-1097280"/>
            <a:ext cx="3657600" cy="3657600"/>
          </a:xfrm>
          <a:prstGeom prst="ellipse">
            <a:avLst/>
          </a:prstGeom>
          <a:solidFill>
            <a:srgbClr val="6941A8">
              <a:alpha val="40000"/>
            </a:srgbClr>
          </a:solidFill>
          <a:ln w="12700">
            <a:solidFill>
              <a:srgbClr val="6941A8"/>
            </a:solidFill>
            <a:prstDash val="solid"/>
          </a:ln>
        </p:spPr>
      </p:sp>
      <p:sp>
        <p:nvSpPr>
          <p:cNvPr id="3" name="Shape 1"/>
          <p:cNvSpPr/>
          <p:nvPr/>
        </p:nvSpPr>
        <p:spPr>
          <a:xfrm>
            <a:off x="8046720" y="-548640"/>
            <a:ext cx="2286000" cy="2286000"/>
          </a:xfrm>
          <a:prstGeom prst="ellipse">
            <a:avLst/>
          </a:prstGeom>
          <a:solidFill>
            <a:srgbClr val="F6B926">
              <a:alpha val="45000"/>
            </a:srgbClr>
          </a:solidFill>
          <a:ln w="12700">
            <a:solidFill>
              <a:srgbClr val="F6B926"/>
            </a:solidFill>
            <a:prstDash val="solid"/>
          </a:ln>
        </p:spPr>
      </p:sp>
      <p:sp>
        <p:nvSpPr>
          <p:cNvPr id="4" name="Text 2"/>
          <p:cNvSpPr/>
          <p:nvPr/>
        </p:nvSpPr>
        <p:spPr>
          <a:xfrm>
            <a:off x="548640" y="457200"/>
            <a:ext cx="8046720" cy="640080"/>
          </a:xfrm>
          <a:prstGeom prst="rect">
            <a:avLst/>
          </a:prstGeom>
          <a:noFill/>
          <a:ln/>
        </p:spPr>
        <p:txBody>
          <a:bodyPr wrap="square" rtlCol="0" anchor="ctr"/>
          <a:lstStyle/>
          <a:p>
            <a:pPr indent="0" marL="0">
              <a:buNone/>
            </a:pPr>
            <a:r>
              <a:rPr lang="en-US" sz="1400" b="1" spc="400" kern="0" dirty="0">
                <a:solidFill>
                  <a:srgbClr val="F6B926"/>
                </a:solidFill>
                <a:latin typeface="Calibri" pitchFamily="34" charset="0"/>
                <a:ea typeface="Calibri" pitchFamily="34" charset="-122"/>
                <a:cs typeface="Calibri" pitchFamily="34" charset="-120"/>
              </a:rPr>
              <a:t>QUIZ HAS — ESSMS</a:t>
            </a:r>
            <a:endParaRPr lang="en-US" sz="1400" dirty="0"/>
          </a:p>
        </p:txBody>
      </p:sp>
      <p:sp>
        <p:nvSpPr>
          <p:cNvPr id="5" name="Text 3"/>
          <p:cNvSpPr/>
          <p:nvPr/>
        </p:nvSpPr>
        <p:spPr>
          <a:xfrm>
            <a:off x="548640" y="1097280"/>
            <a:ext cx="8046720" cy="548640"/>
          </a:xfrm>
          <a:prstGeom prst="rect">
            <a:avLst/>
          </a:prstGeom>
          <a:noFill/>
          <a:ln/>
        </p:spPr>
        <p:txBody>
          <a:bodyPr wrap="square" rtlCol="0" anchor="ctr"/>
          <a:lstStyle/>
          <a:p>
            <a:pPr indent="0" marL="0">
              <a:buNone/>
            </a:pPr>
            <a:r>
              <a:rPr lang="en-US" sz="1600" dirty="0">
                <a:solidFill>
                  <a:srgbClr val="AACCEE"/>
                </a:solidFill>
                <a:latin typeface="Calibri" pitchFamily="34" charset="0"/>
                <a:ea typeface="Calibri" pitchFamily="34" charset="-122"/>
                <a:cs typeface="Calibri" pitchFamily="34" charset="-120"/>
              </a:rPr>
              <a:t>Chapitre 3</a:t>
            </a:r>
            <a:endParaRPr lang="en-US" sz="1600" dirty="0"/>
          </a:p>
        </p:txBody>
      </p:sp>
      <p:sp>
        <p:nvSpPr>
          <p:cNvPr id="6" name="Text 4"/>
          <p:cNvSpPr/>
          <p:nvPr/>
        </p:nvSpPr>
        <p:spPr>
          <a:xfrm>
            <a:off x="548640" y="1691640"/>
            <a:ext cx="8046720" cy="1188720"/>
          </a:xfrm>
          <a:prstGeom prst="rect">
            <a:avLst/>
          </a:prstGeom>
          <a:noFill/>
          <a:ln/>
        </p:spPr>
        <p:txBody>
          <a:bodyPr wrap="square" rtlCol="0" anchor="ctr"/>
          <a:lstStyle/>
          <a:p>
            <a:pPr indent="0" marL="0">
              <a:lnSpc>
                <a:spcPct val="110000"/>
              </a:lnSpc>
              <a:buNone/>
            </a:pPr>
            <a:r>
              <a:rPr lang="en-US" sz="3800" b="1" dirty="0">
                <a:solidFill>
                  <a:srgbClr val="FFFFFF"/>
                </a:solidFill>
                <a:latin typeface="Calibri" pitchFamily="34" charset="0"/>
                <a:ea typeface="Calibri" pitchFamily="34" charset="-122"/>
                <a:cs typeface="Calibri" pitchFamily="34" charset="-120"/>
              </a:rPr>
              <a:t>La Gouvernance (ESSMS)</a:t>
            </a:r>
            <a:endParaRPr lang="en-US" sz="3800" dirty="0"/>
          </a:p>
        </p:txBody>
      </p:sp>
      <p:sp>
        <p:nvSpPr>
          <p:cNvPr id="7" name="Text 5"/>
          <p:cNvSpPr/>
          <p:nvPr/>
        </p:nvSpPr>
        <p:spPr>
          <a:xfrm>
            <a:off x="548640" y="2926080"/>
            <a:ext cx="6400800" cy="457200"/>
          </a:xfrm>
          <a:prstGeom prst="rect">
            <a:avLst/>
          </a:prstGeom>
          <a:noFill/>
          <a:ln/>
        </p:spPr>
        <p:txBody>
          <a:bodyPr wrap="square" rtlCol="0" anchor="ctr"/>
          <a:lstStyle/>
          <a:p>
            <a:pPr indent="0" marL="0">
              <a:buNone/>
            </a:pPr>
            <a:r>
              <a:rPr lang="en-US" sz="1600" i="1" dirty="0">
                <a:solidFill>
                  <a:srgbClr val="F6B926"/>
                </a:solidFill>
                <a:latin typeface="Calibri" pitchFamily="34" charset="0"/>
                <a:ea typeface="Calibri" pitchFamily="34" charset="-122"/>
                <a:cs typeface="Calibri" pitchFamily="34" charset="-120"/>
              </a:rPr>
              <a:t>Méthode : Audit Système</a:t>
            </a:r>
            <a:endParaRPr lang="en-US" sz="1600" dirty="0"/>
          </a:p>
        </p:txBody>
      </p:sp>
      <p:sp>
        <p:nvSpPr>
          <p:cNvPr id="8" name="Shape 6"/>
          <p:cNvSpPr/>
          <p:nvPr/>
        </p:nvSpPr>
        <p:spPr>
          <a:xfrm>
            <a:off x="548640" y="3566160"/>
            <a:ext cx="1463040" cy="73152"/>
          </a:xfrm>
          <a:prstGeom prst="rect">
            <a:avLst/>
          </a:prstGeom>
          <a:solidFill>
            <a:srgbClr val="F6B926"/>
          </a:solidFill>
          <a:ln w="12700">
            <a:solidFill>
              <a:srgbClr val="F6B926"/>
            </a:solidFill>
            <a:prstDash val="solid"/>
          </a:ln>
        </p:spPr>
      </p:sp>
      <p:sp>
        <p:nvSpPr>
          <p:cNvPr id="9" name="Text 7"/>
          <p:cNvSpPr/>
          <p:nvPr/>
        </p:nvSpPr>
        <p:spPr>
          <a:xfrm>
            <a:off x="548640" y="3794760"/>
            <a:ext cx="8046720" cy="411480"/>
          </a:xfrm>
          <a:prstGeom prst="rect">
            <a:avLst/>
          </a:prstGeom>
          <a:noFill/>
          <a:ln/>
        </p:spPr>
        <p:txBody>
          <a:bodyPr wrap="square" rtlCol="0" anchor="ctr"/>
          <a:lstStyle/>
          <a:p>
            <a:pPr indent="0" marL="0">
              <a:buNone/>
            </a:pPr>
            <a:r>
              <a:rPr lang="en-US" sz="1300" dirty="0">
                <a:solidFill>
                  <a:srgbClr val="AACCEE"/>
                </a:solidFill>
                <a:latin typeface="Calibri" pitchFamily="34" charset="0"/>
                <a:ea typeface="Calibri" pitchFamily="34" charset="-122"/>
                <a:cs typeface="Calibri" pitchFamily="34" charset="-120"/>
              </a:rPr>
              <a:t>50 questions — Alternance question / réponse</a:t>
            </a:r>
            <a:endParaRPr lang="en-US" sz="1300" dirty="0"/>
          </a:p>
        </p:txBody>
      </p:sp>
      <p:sp>
        <p:nvSpPr>
          <p:cNvPr id="10" name="Text 8"/>
          <p:cNvSpPr/>
          <p:nvPr/>
        </p:nvSpPr>
        <p:spPr>
          <a:xfrm>
            <a:off x="548640" y="4297680"/>
            <a:ext cx="8046720" cy="320040"/>
          </a:xfrm>
          <a:prstGeom prst="rect">
            <a:avLst/>
          </a:prstGeom>
          <a:noFill/>
          <a:ln/>
        </p:spPr>
        <p:txBody>
          <a:bodyPr wrap="square" rtlCol="0" anchor="ctr"/>
          <a:lstStyle/>
          <a:p>
            <a:pPr indent="0" marL="0">
              <a:buNone/>
            </a:pPr>
            <a:r>
              <a:rPr lang="en-US" sz="1100" dirty="0">
                <a:solidFill>
                  <a:srgbClr val="7799BB"/>
                </a:solidFill>
                <a:latin typeface="Calibri" pitchFamily="34" charset="0"/>
                <a:ea typeface="Calibri" pitchFamily="34" charset="-122"/>
                <a:cs typeface="Calibri" pitchFamily="34" charset="-120"/>
              </a:rPr>
              <a:t>Référentiel HAS mars 2022 — Manuel V1.1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méthode d'évaluation est associée au Chapitre 3 du référentiel HAS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L'accompagné traceur</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traceur ciblé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L'audit système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méthode d'évaluation est associée au Chapitre 3 du référentiel HAS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L'accompagné traceur</a:t>
            </a:r>
            <a:endParaRPr lang="en-US" sz="1300" dirty="0"/>
          </a:p>
        </p:txBody>
      </p:sp>
      <p:sp>
        <p:nvSpPr>
          <p:cNvPr id="10" name="Shape 8"/>
          <p:cNvSpPr/>
          <p:nvPr/>
        </p:nvSpPr>
        <p:spPr>
          <a:xfrm>
            <a:off x="457200" y="2130552"/>
            <a:ext cx="8229600" cy="530352"/>
          </a:xfrm>
          <a:prstGeom prst="rect">
            <a:avLst/>
          </a:prstGeom>
          <a:solidFill>
            <a:srgbClr val="F0F4F8"/>
          </a:solidFill>
          <a:ln w="6350">
            <a:solidFill>
              <a:srgbClr val="CCCCCC"/>
            </a:solidFill>
            <a:prstDash val="solid"/>
          </a:ln>
        </p:spPr>
      </p:sp>
      <p:sp>
        <p:nvSpPr>
          <p:cNvPr id="11" name="Shape 9"/>
          <p:cNvSpPr/>
          <p:nvPr/>
        </p:nvSpPr>
        <p:spPr>
          <a:xfrm>
            <a:off x="457200" y="2130552"/>
            <a:ext cx="502920" cy="530352"/>
          </a:xfrm>
          <a:prstGeom prst="rect">
            <a:avLst/>
          </a:prstGeom>
          <a:solidFill>
            <a:srgbClr val="CCCCCC"/>
          </a:solidFill>
          <a:ln w="12700">
            <a:solidFill>
              <a:srgbClr val="CCCCCC"/>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traceur ciblé</a:t>
            </a:r>
            <a:endParaRPr lang="en-US" sz="1300" dirty="0"/>
          </a:p>
        </p:txBody>
      </p:sp>
      <p:sp>
        <p:nvSpPr>
          <p:cNvPr id="14" name="Shape 12"/>
          <p:cNvSpPr/>
          <p:nvPr/>
        </p:nvSpPr>
        <p:spPr>
          <a:xfrm>
            <a:off x="457200" y="2724912"/>
            <a:ext cx="8229600" cy="530352"/>
          </a:xfrm>
          <a:prstGeom prst="rect">
            <a:avLst/>
          </a:prstGeom>
          <a:solidFill>
            <a:srgbClr val="D4EDDA"/>
          </a:solidFill>
          <a:ln w="19050">
            <a:solidFill>
              <a:srgbClr val="22A06B"/>
            </a:solidFill>
            <a:prstDash val="solid"/>
          </a:ln>
        </p:spPr>
      </p:sp>
      <p:sp>
        <p:nvSpPr>
          <p:cNvPr id="15" name="Shape 13"/>
          <p:cNvSpPr/>
          <p:nvPr/>
        </p:nvSpPr>
        <p:spPr>
          <a:xfrm>
            <a:off x="457200" y="2724912"/>
            <a:ext cx="502920" cy="530352"/>
          </a:xfrm>
          <a:prstGeom prst="rect">
            <a:avLst/>
          </a:prstGeom>
          <a:solidFill>
            <a:srgbClr val="22A06B"/>
          </a:solidFill>
          <a:ln w="12700">
            <a:solidFill>
              <a:srgbClr val="22A06B"/>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L'audit système</a:t>
            </a:r>
            <a:endParaRPr lang="en-US" sz="14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Chapitre 3 (l'ESSMS et sa gouvernance) est évalué via l'audit système : l'évaluateur rencontre la direction, les cadres et le référent qualité pour analyser le pilotage stratégique, la gestion des risques et la démarche qualité.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Quelles sont les deux grandes thématiques du Chapitre 3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Compétences et qualité de vie au travail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Gouvernance/pilotage de la démarche qualité et gestion des risques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Bientraitance et droits des personnes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Quelles sont les deux grandes thématiques du Chapitre 3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Compétences et qualité de vie au travail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Gouvernance/pilotage de la démarche qualité et gestion des risques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Bientraitance et droits des personnes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Chapitre 3 s'articule autour de la gouvernance et du pilotage de la démarche qualité (objectifs 3.1 à 3.4) et de la gestion des risques et de la sécurité (objectifs 3.5 à 3.9), soit 9 objectifs au total.</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qu'une politique de gestion des risques formalisée dans un ESSMS,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registre des accidents du travail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document stratégique définissant les axes de prévention des risques, les responsabilités, les outils de recueil et les modalités de traitement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simple affichage des consignes de sécurité</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qu'une politique de gestion des risques formalisée dans un ESSMS,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registre des accidents du travail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document stratégique définissant les axes de prévention des risques, les responsabilités, les outils de recueil et les modalités de traitement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simple affichage des consignes de sécurité</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3.5.1 (impératif) exige une politique de gestion des risques formalisée et pilotée. Elle doit couvrir l'identification des risques, les actions préventives, les responsabilités et les modalités de traitement et de suivi.</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qu'un Plan de Continuité d'Activité (PCA) et pourquoi est-il impératif dans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plan financier de développement de l'établissement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plan organisant la continuité des activités essentielles en cas de crise (pandémie, sinistre, incident grave), testé et opérationnel</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plan de formation en cas d'absence du personnel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qu'un Plan de Continuité d'Activité (PCA) et pourquoi est-il impératif dans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plan financier de développement de l'établissement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plan organisant la continuité des activités essentielles en cas de crise (pandémie, sinistre, incident grave), testé et opérationnel</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plan de formation en cas d'absence du personnel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3.5.2 (impératif) exige un PCA/plan de gestion de crise formalisé et testé. Cela garantit que l'ESSMS peut maintenir ses activités essentielles et la sécurité des personnes accompagnées en toute circonstance.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Le traitement des plaintes et réclamations est-il un critère impératif dans le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Non, c'est recommandé mais non impératif</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un dispositif de recueil, de traitement et d'exploitation des plaintes doit être formalisé et opérationnel</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Oui, mais uniquement pour les établissements de plus de 50 résidents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Le traitement des plaintes et réclamations est-il un critère impératif dans le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Non, c'est recommandé mais non impératif</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Oui, un dispositif de recueil, de traitement et d'exploitation des plaintes doit être formalisé et opérationnel</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Oui, mais uniquement pour les établissements de plus de 50 résidents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3.4.4 (impératif) impose un dispositif structuré de traitement des plaintes et réclamations. Il s'agit non seulement de traiter chaque plainte, mais d'exploiter les données pour l'amélioration continue de la qualité.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la démarche d'amélioration continue de la qualité (DACQ) au sens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certification obtenue une fois pour toutes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processus cyclique formalisé et piloté permettant d'identifier les points forts et les axes d'amélioration et de mettre en œuvre des actions correctrices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respect des seules obligations réglementaires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la démarche d'amélioration continue de la qualité (DACQ) au sens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certification obtenue une fois pour toutes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processus cyclique formalisé et piloté permettant d'identifier les points forts et les axes d'amélioration et de mettre en œuvre des actions correctrices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respect des seules obligations réglementaires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3.4.1 (impératif) exige une DACQ formalisée et pilotée : auto-évaluation, identification des écarts, plan d'amélioration de la qualité (PAQ), mise en œuvre des actions et évaluation de leur efficacité. C'est un processus continu, pas ponctuel.</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signifie l'analyse des Événements Indésirables Graves (EIG) dans le cadre du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Identifier le professionnel responsable pour une sanction disciplinaire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Mener une analyse approfondie (type RCA) pour comprendre les causes racines et mettre en place des actions préventives systémiques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Rédiger uniquement un compte rendu destiné aux autorités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signifie l'analyse des Événements Indésirables Graves (EIG) dans le cadre du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Identifier le professionnel responsable pour une sanction disciplinaire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Mener une analyse approfondie (type RCA) pour comprendre les causes racines et mettre en place des actions préventives systémiques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Rédiger uniquement un compte rendu destiné aux autorités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3.6.2 (impératif) exige une analyse approfondie des EIG par une méthode structurée (ex : revue de mortalité-morbidité, analyse des causes racines). L'objectif est systémique : comprendre pour prévenir, pas sanctionner.</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l'audit système comme méthode d'évaluation examine prioritairement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registres financiers et comptables de l'établissement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pilotage stratégique, la politique qualité, la gestion des risques et la gouvernance globale de l'ESSMS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plannings du personnel et les taux d'occupation</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l'audit système comme méthode d'évaluation examine prioritairement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Les registres financiers et comptables de l'établissement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 pilotage stratégique, la politique qualité, la gestion des risques et la gouvernance globale de l'ESSMS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Les plannings du personnel et les taux d'occupation</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L'audit système (Chapitre 3) examine la gouvernance : comment la direction pilote-t-elle la qualité ? La politique de gestion des risques est-elle effective ? Le projet d'établissement est-il co-construit et décliné en actions ? Les instances participatives fonctionnent-elles ?</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Conseil de la Vie Sociale (CVS) est-il abordé dans le Chapitre 3 (gouvernance)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une instance optionnelle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Comme une instance que la gouvernance doit mettre en place et animer activement, constituant un critère impératif</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comme une obligation légale formelle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Conseil de la Vie Sociale (CVS) est-il abordé dans le Chapitre 3 (gouvernance)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Comme une instance optionnelle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Comme une instance que la gouvernance doit mettre en place et animer activement, constituant un critère impératif</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comme une obligation légale formelle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3.2.1 (impératif) impose à la gouvernance de mettre en place ET d'animer le CVS ou toute autre forme de participation. Il ne s'agit pas d'une formalité mais d'une réelle instance de co-pilotage de l'amélioration continue.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prévoit le référentiel HAS concernant le projet d'établissement ou de service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peut être rédigé unilatéralement par la direction tous les 10 ans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doit être élaboré de manière participative (avec professionnels et personnes accompagnées), régulièrement révisé et décliné en plans d'actions mesurables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n'est plus obligatoire depuis la réforme de 2022</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prévoit le référentiel HAS concernant le projet d'établissement ou de service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peut être rédigé unilatéralement par la direction tous les 10 ans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Il doit être élaboré de manière participative (avec professionnels et personnes accompagnées), régulièrement révisé et décliné en plans d'actions mesurables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n'est plus obligatoire depuis la réforme de 2022</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Les critères 3.3.1, 3.3.2 et 3.3.3 prévoient un projet d'établissement participatif, révisé régulièrement et décliné en actions avec des indicateurs mesurables. La gouvernance doit assurer son suivi et son actualisation.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qu'un Programme d'Amélioration de la Qualité (PAQ) dans un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document figé remis à l'évaluateur lors de la visite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plan d'actions priorisées, planifiées et suivies, découlant de l'auto-évaluation et visant à améliorer la qualité des prestations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programme de formation annuel obligatoire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qu'un Programme d'Amélioration de la Qualité (PAQ) dans un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document figé remis à l'évaluateur lors de la visite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plan d'actions priorisées, planifiées et suivies, découlant de l'auto-évaluation et visant à améliorer la qualité des prestations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programme de formation annuel obligatoire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3.4.2 prévoit qu'un PAQ soit établi et suivi : il traduit les priorités d'amélioration identifiées en actions concrètes avec responsables, échéances et indicateurs de suivi. C'est l'outil opérationnel de la DACQ.</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Pourquoi les indicateurs de qualité sont-ils importants dans le pilotage des ESSMS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Pour justifier les budgets auprès de l'ARS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Pour objectiver le niveau de qualité, identifier les tendances et piloter les actions d'amélioration de manière éclairée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pour alimenter le rapport d'activité annuel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Pourquoi les indicateurs de qualité sont-ils importants dans le pilotage des ESSMS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Pour justifier les budgets auprès de l'ARS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Pour objectiver le niveau de qualité, identifier les tendances et piloter les actions d'amélioration de manière éclairée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pour alimenter le rapport d'activité annuel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3.4.3 prévoit que des indicateurs de qualité soient définis et suivis régulièrement. Ils permettent un pilotage objectif, l'identification des dérives précoces et la mesure de l'impact des actions d'amélioration.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gouvernance doit-elle impulser la culture de bientraitance selon le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signant une charte de bientraitance affichée dans les couloirs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définissant et mettant en œuvre une politique active de prévention de la maltraitance, portée par la direction et intégrée à tous les niveaux de l'organisation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déléguant cette responsabilité à l'équipe soignante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gouvernance doit-elle impulser la culture de bientraitance selon le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signant une charte de bientraitance affichée dans les couloirs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définissant et mettant en œuvre une politique active de prévention de la maltraitance, portée par la direction et intégrée à tous les niveaux de l'organisation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déléguant cette responsabilité à l'équipe soignante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3.1.1 attend de la gouvernance qu'elle soit le moteur de la culture bientraitante : politique formalisée, formation des équipes, procédures de signalement, gestion des situations signalées, et un engagement fort de la direction.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prévoit le référentiel HAS concernant le questionnement éthique dans les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les situations médicales de fin de vie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gouvernance doit favoriser un questionnement éthique structuré touchant l'ensemble des situations d'accompagnement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L'éthique est réservée aux établissements sanitaires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prévoit le référentiel HAS concernant le questionnement éthique dans les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les situations médicales de fin de vie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gouvernance doit favoriser un questionnement éthique structuré touchant l'ensemble des situations d'accompagnement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L'éthique est réservée aux établissements sanitaires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3.1.2 prévoit que la gouvernance favorise un questionnement éthique continu dans l'établissement : espaces de réflexion éthique, référent éthique, accès à des ressources extérieures (comités d'éthique territoriaux).</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gouvernance doit-elle s'appuyer sur les retours d'expérience des personnes accompagnées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lors des évaluations HAS quinquennales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intégrant systématiquement les retours (plaintes, questionnaires, CVS) dans les démarches d'amélioration et dans le pilotage de la qualité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consultant uniquement les familles représentantes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gouvernance doit-elle s'appuyer sur les retours d'expérience des personnes accompagnées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lors des évaluations HAS quinquennales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intégrant systématiquement les retours (plaintes, questionnaires, CVS) dans les démarches d'amélioration et dans le pilotage de la qualité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consultant uniquement les familles représentantes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3.2.2 prévoit que la gouvernance s'appuie sur les retours d'expérience des personnes accompagnées pour améliorer les services. Ces retours (satisfaction, plaintes, observations au CVS) sont des données précieuses pour le pilotage.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garantit le critère 3.5.3 sur les risques liés aux droits et libertés des personnes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L'absence totale de toute mesure restrictive de liberté</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Que les risques liés aux droits et libertés des personnes sont identifiés et que toute restriction est justifiée, proportionnée et révisée régulièrement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Que les restrictions sont décidées unilatéralement par le médecin</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garantit le critère 3.5.3 sur les risques liés aux droits et libertés des personnes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L'absence totale de toute mesure restrictive de liberté</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Que les risques liés aux droits et libertés des personnes sont identifiés et que toute restriction est justifiée, proportionnée et révisée régulièrement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Que les restrictions sont décidées unilatéralement par le médecin</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3.5.3 prévoit que les risques portant sur les droits et libertés (contention, restrictions d'aller et venir…) sont identifiés et gérés : toute mesure restrictive doit être justifiée par une nécessité thérapeutique, validée, tracée et révisée périodiquement.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comprend la gestion documentaire de qualité dans un ESSMS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l'archivage des dossiers des personnes accompagnées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organisation garantissant que les documents qualité (procédures, protocoles, fiches de poste) sont accessibles, à jour et connus des professionnels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L'installation d'un logiciel de gestion électronique des documents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comprend la gestion documentaire de qualité dans un ESSMS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l'archivage des dossiers des personnes accompagnées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organisation garantissant que les documents qualité (procédures, protocoles, fiches de poste) sont accessibles, à jour et connus des professionnels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L'installation d'un logiciel de gestion électronique des documents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3.8.2 prévoit une gestion documentaire organisée : les documents sont identifiés, validés, accessibles aux professionnels qui en ont besoin, régulièrement mis à jour et les versions obsolètes sont retirées.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dossier de la personne accompagnée est-il traité dans la perspective de la gouvernance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est uniquement géré par les équipes soignantes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gouvernance doit s'assurer qu'il est tenu à jour, complet et partagé dans le respect de la confidentialité et des règles de protection des données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Sa gestion relève exclusivement du responsable informatique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dossier de la personne accompagnée est-il traité dans la perspective de la gouvernance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est uniquement géré par les équipes soignantes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gouvernance doit s'assurer qu'il est tenu à jour, complet et partagé dans le respect de la confidentialité et des règles de protection des données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Sa gestion relève exclusivement du responsable informatique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3.8.3 prévoit que la gouvernance organise la tenue à jour du dossier de la personne, son partage sécurisé entre les professionnels habilités, dans le respect de la confidentialité et du RGPD.</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Q19/50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est l'importance des partenariats dans la perspective de la gouvernance d'un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Ils ne concernent que les conventions financières avec les autorités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Des partenariats structurés permettent d'assurer la continuité des parcours, de compléter l'offre d'accompagnement et de favoriser l'inclusion dans le territoire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Ils sont optionnels et dépendent uniquement des initiatives locales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Q19/50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est l'importance des partenariats dans la perspective de la gouvernance d'un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Ils ne concernent que les conventions financières avec les autorités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Des partenariats structurés permettent d'assurer la continuité des parcours, de compléter l'offre d'accompagnement et de favoriser l'inclusion dans le territoire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Ils sont optionnels et dépendent uniquement des initiatives locales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Les critères 3.9.1 et 3.9.2 valorisent les partenariats comme levier de qualité : partenariats sanitaires (hôpitaux, équipes mobiles), sociaux (SAMU social, justice), médico-sociaux (MAIA, réseaux…) permettant des parcours fluides et une inclusion renforcée.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qu'une Revue de Cas Complexes (RCC) ou une Revue des EIG peut apporter à un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Des éléments pour sanctionner les professionnels défaillants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compréhension systémique des dysfonctionnements permettant d'identifier des améliorations organisationnelles et de prévenir les récidives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alibi juridique en cas de plainte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qu'une Revue de Cas Complexes (RCC) ou une Revue des EIG peut apporter à un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Des éléments pour sanctionner les professionnels défaillants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compréhension systémique des dysfonctionnements permettant d'identifier des améliorations organisationnelles et de prévenir les récidives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alibi juridique en cas de plainte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3.6.2 (impératif) valorise l'analyse approfondie des EIG. Une revue des EIG permet de dépasser les causes immédiates pour identifier les facteurs contributifs systémiques (organisation, communication, formation) et mettre en place des actions préventives durables.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sécurité des locaux et des équipements est-elle intégrée dans la gestion des risques selon le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relève uniquement des services techniques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fait partie intégrante de la politique de gestion des risques que la gouvernance doit piloter et s'assurer qu'elle est maintenue en permanence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est évaluée uniquement lors des inspections de la DREETS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sécurité des locaux et des équipements est-elle intégrée dans la gestion des risques selon le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relève uniquement des services techniques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Elle fait partie intégrante de la politique de gestion des risques que la gouvernance doit piloter et s'assurer qu'elle est maintenue en permanence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est évaluée uniquement lors des inspections de la DREETS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3.5.4 intègre la sécurité des locaux et équipements dans la gestion globale des risques pilotée par la gouvernance : conformité réglementaire, maintenance préventive, sécurité incendie, accessibilité et adaptation aux besoins des personnes.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doit inclure le suivi du projet d'établissement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rapport annuel non opposable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Des indicateurs de suivi mesurables, un calendrier de mise en œuvre et des ajustements réguliers basés sur les résultats obtenus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une approbation annuelle du Conseil d'Administration</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doit inclure le suivi du projet d'établissement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rapport annuel non opposable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Des indicateurs de suivi mesurables, un calendrier de mise en œuvre et des ajustements réguliers basés sur les résultats obtenus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une approbation annuelle du Conseil d'Administration</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3.3.3 prévoit que la gouvernance s'assure de la mise en œuvre et du suivi du projet d'établissement à travers des indicateurs, des bilans réguliers et des ajustements en fonction des résultats et de l'évolution des besoins.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le rôle du référent qualité dans un ESSMS dans le cadre du dispositif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est le seul responsable de l'évaluation HAS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coordonne la démarche qualité, anime le PAQ, organise les revues d'EI et accompagne les équipes dans l'appropriation du référentiel</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rédige seul tous les documents qualité</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le rôle du référent qualité dans un ESSMS dans le cadre du dispositif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est le seul responsable de l'évaluation HAS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Il coordonne la démarche qualité, anime le PAQ, organise les revues d'EI et accompagne les équipes dans l'appropriation du référentiel</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rédige seul tous les documents qualité</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 qualité est une cheville ouvrière du dispositif : il coordonne sans pour autant être le seul acteur. Son rôle est d'animer la démarche, de former et soutenir les équipes, de piloter le PAQ et de préparer la visite d'évaluation.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gouvernance peut-elle garantir les droits fondamentaux des personnes accompagnées selon le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Par un affichage de la charte des droits et libertés uniquement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définissant une politique claire, en s'assurant de sa déclinaison dans les pratiques, en évaluant son effectivité et en traitant les signalements de violations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déléguant cette responsabilité à l'équipe éducative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gouvernance peut-elle garantir les droits fondamentaux des personnes accompagnées selon le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Par un affichage de la charte des droits et libertés uniquement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définissant une politique claire, en s'assurant de sa déclinaison dans les pratiques, en évaluant son effectivité et en traitant les signalements de violations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déléguant cette responsabilité à l'équipe éducative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3.1.3 attend une gouvernance proactive sur les droits fondamentaux : politique formalisée, formation des équipes, procédures de signalement des violations, suivi des mesures restrictives et analyse des situations complexes.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Quelle est la responsabilité de la gouvernance vis-à-vis de la politique de ressources humaines (RH) dans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 gestion administrative des contrats de travail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Mettre en œuvre une politique RH cohérente avec la qualité de l'accompagnement : recrutement, formation, QVT, évaluation des compétences et fidélisation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Déléguer entièrement la RH à un prestataire externe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Quelle est la responsabilité de la gouvernance vis-à-vis de la politique de ressources humaines (RH) dans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 gestion administrative des contrats de travail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Mettre en œuvre une politique RH cohérente avec la qualité de l'accompagnement : recrutement, formation, QVT, évaluation des compétences et fidélisation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Déléguer entièrement la RH à un prestataire externe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3.7.1 attend une politique RH au service de la qualité : adéquation des effectifs et compétences, promotion de la QVT (critère 3.7.3), gestion prévisionnelle des emplois et des compétences (GPEC) alignée sur les besoins des personnes.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gouvernance doit-elle s'assurer de l'adéquation des effectifs aux besoins des personnes accompagnées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respectant uniquement les ratios réglementaires minimaux</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évaluant régulièrement l'adéquation entre le profil des personnes accueillies, leurs besoins évolutifs et les compétences et effectifs disponibles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gelant les recrutements pour des raisons budgétaires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gouvernance doit-elle s'assurer de l'adéquation des effectifs aux besoins des personnes accompagnées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respectant uniquement les ratios réglementaires minimaux</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évaluant régulièrement l'adéquation entre le profil des personnes accueillies, leurs besoins évolutifs et les compétences et effectifs disponibles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gelant les recrutements pour des raisons budgétaires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3.7.2 prévoit que la gouvernance évalue et adapte en permanence l'adéquation effectifs/compétences/besoins : si le profil des personnes accueillies évolue (pathologies complexes, multi-handicaps), les ressources doivent évoluer en conséquence.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le développement des partenariats et de l'ouverture sur le territoire apporte selon le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des économies d'échelle sur les achats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meilleure inclusion sociale des personnes accompagnées, une fluidité des parcours et un accès à des ressources et expertises complémentaires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avantage lors des négociations budgétaires avec l'ARS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le développement des partenariats et de l'ouverture sur le territoire apporte selon le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des économies d'échelle sur les achats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meilleure inclusion sociale des personnes accompagnées, une fluidité des parcours et un accès à des ressources et expertises complémentaires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avantage lors des négociations budgétaires avec l'ARS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3.9.2 valorise l'ouverture sur le territoire : conventions avec les acteurs sanitaires et sociaux, participation aux dispositifs de coordination (MAIA, PCPE, CPTS), projets d'inclusion… Tout cela concourt à de meilleurs parcours pour les personnes accompagnées.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doit contenir un système d'information de qualité dans un ESSMS selon le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un logiciel de paie performant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Des garanties de sécurité, de confidentialité et d'accessibilité des données des personnes accompagnées et des documents de gestion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accès internet haut débit pour toute l'équipe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doit contenir un système d'information de qualité dans un ESSMS selon le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un logiciel de paie performant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Des garanties de sécurité, de confidentialité et d'accessibilité des données des personnes accompagnées et des documents de gestion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accès internet haut débit pour toute l'équipe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3.8.1 prévoit que le système d'information garantit la sécurité des données (RGPD), leur confidentialité, leur disponibilité pour les professionnels autorisés et leur traçabilité. La gouvernance est responsable de cette conformité.</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Q29/50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En quoi la gouvernance contribue-t-elle à l'inclusion sociale des personnes accompagnées selon le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maintenant les personnes à l'intérieur de l'établissement pour des raisons de sécurité</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développant des partenariats de territoire, en participant aux politiques d'inclusion et en soutenant les projets citoyens des personnes accompagnées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L'inclusion sociale relève uniquement des équipes éducatives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Q29/50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En quoi la gouvernance contribue-t-elle à l'inclusion sociale des personnes accompagnées selon le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maintenant les personnes à l'intérieur de l'établissement pour des raisons de sécurité</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développant des partenariats de territoire, en participant aux politiques d'inclusion et en soutenant les projets citoyens des personnes accompagnées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L'inclusion sociale relève uniquement des équipes éducatives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3.2.3 valorise le développement de partenariats pour l'inclusion sociale : conventions avec des structures ordinaires (sport, culture, emploi), participation aux réseaux territoriaux d'inclusion, et soutien aux projets citoyens des personnes accompagnées.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l'enjeu de la formalisation du Plan de Continuité d'Activité (PCA) dans un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Satisfaire une exigence purement administrative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Garantir que l'établissement peut assurer la sécurité et la continuité de l'accompagnement des personnes même en cas d'événement exceptionnel (pandémie, canicule, sinistre)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Réduire les coûts d'assurance de l'établissement</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l'enjeu de la formalisation du Plan de Continuité d'Activité (PCA) dans un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Satisfaire une exigence purement administrative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Garantir que l'établissement peut assurer la sécurité et la continuité de l'accompagnement des personnes même en cas d'événement exceptionnel (pandémie, canicule, sinistre)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Réduire les coûts d'assurance de l'établissement</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PCA (critère 3.5.2, impératif) garantit la résilience de l'ESSMS : comment maintenir l'accompagnement des personnes les plus vulnérables en cas de crise ? Il doit être testé (exercices) pour s'assurer de son opérationnalité réelle.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gouvernance doit-elle s'assurer que le circuit des événements indésirables est opérationnel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vérifiant annuellement le registre des EI</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organisant un système complet : sensibilisation des équipes au signalement, analyse des EI, retour d'expérience aux équipes et intégration des enseignements dans le PAQ</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désignant un seul professionnel chargé de recueillir les EI</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gouvernance doit-elle s'assurer que le circuit des événements indésirables est opérationnel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vérifiant annuellement le registre des EI</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organisant un système complet : sensibilisation des équipes au signalement, analyse des EI, retour d'expérience aux équipes et intégration des enseignements dans le PAQ</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désignant un seul professionnel chargé de recueillir les EI</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3.6.1 prévoit un système complet et opérationnel : culture du signalement sans blame, analyse des EI (critique 3.6.2 pour les EIG), retour d'information aux équipes (feedbacks) et utilisation des analyses pour améliorer les pratiques (critère 3.6.3).</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le rôle de la gouvernance lors de la visite d'évaluation HAS (audit système)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Présenter uniquement les documents demandés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Présenter la stratégie de l'ESSMS, les politiques en place, les indicateurs, le PAQ et démontrer la dynamique d'amélioration continue impulsée par la direction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Répondre uniquement aux questions sur les incidents passés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le rôle de la gouvernance lors de la visite d'évaluation HAS (audit système)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Présenter uniquement les documents demandés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Présenter la stratégie de l'ESSMS, les politiques en place, les indicateurs, le PAQ et démontrer la dynamique d'amélioration continue impulsée par la direction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Répondre uniquement aux questions sur les incidents passés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Lors de l'audit système, la gouvernance (direction, cadres, référent qualité) expose le pilotage stratégique : comment les politiques qualité et de gestion des risques sont-elles définies, déployées et évaluées ? La démonstration d'une dynamique d'amélioration continue est centrale.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signifie 'promouvoir la qualité de vie au travail' pour la gouvernance selon le Chapitre 3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Organiser des événements festifs pour les équipes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Mettre en place une politique RH qui intègre la prévention des risques professionnels, le soutien au management et des conditions de travail permettant des accompagnements de qualité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Accorder des augmentations salariales systématiques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signifie 'promouvoir la qualité de vie au travail' pour la gouvernance selon le Chapitre 3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Organiser des événements festifs pour les équipes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Mettre en place une politique RH qui intègre la prévention des risques professionnels, le soutien au management et des conditions de travail permettant des accompagnements de qualité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Accorder des augmentations salariales systématiques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3.7.3 prévoit que la gouvernance promeut la QVT comme enjeu stratégique : conditions de travail adaptées, management bienveillant, prévention du burn-out, espaces d'expression des professionnels et reconnaissance du travail accompli.</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Dans le référentiel HAS, quel est le lien entre la démarche d'amélioration continue et la visite d'évaluation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visite d'évaluation remplace la démarche qualité interne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visite évalue la maturité et l'effectivité de la démarche d'amélioration continue : l'évaluation est un point dans un processus continu, pas une finalité en soi</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n'y a pas de lien : la visite est une obligation externe indépendante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Dans le référentiel HAS, quel est le lien entre la démarche d'amélioration continue et la visite d'évaluation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visite d'évaluation remplace la démarche qualité interne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visite évalue la maturité et l'effectivité de la démarche d'amélioration continue : l'évaluation est un point dans un processus continu, pas une finalité en soi</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n'y a pas de lien : la visite est une obligation externe indépendante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conçoit l'évaluation comme un levier au service de la DACQ : l'ESSMS doit montrer non seulement ses résultats actuels, mais sa capacité à s'améliorer continuellement. L'évaluation HAS est une étape dans un cycle permanent d'amélioration.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les autorités de tarification et de contrôle (ATC) sont-elles impliquées dans le processus d'évaluation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Elles réalisent elles-mêmes les visites d'évaluation</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Elles programment les évaluations, reçoivent les rapports, prennent en compte les résultats pour le renouvellement des autorisations et définissent les plans d'action en cas de critères impératifs non maîtrisés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Elles n'ont aucun rôle dans le processus d'évaluation</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les autorités de tarification et de contrôle (ATC) sont-elles impliquées dans le processus d'évaluation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Elles réalisent elles-mêmes les visites d'évaluation</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Elles programment les évaluations, reçoivent les rapports, prennent en compte les résultats pour le renouvellement des autorisations et définissent les plans d'action en cas de critères impératifs non maîtrisés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Elles n'ont aucun rôle dans le processus d'évaluation</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Les ATC (ARS, Conseils Départementaux) programment les évaluations via arrêté, reçoivent les rapports et les plans d'action (critères impératifs), et intègrent les résultats dans leurs décisions de renouvellement d'autorisation (tous les 15 ans).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la gouvernance doit démontrer concernant sa politique de prévention de la maltraitance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L'absence de signalement de maltraitance dans l'année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L'existence d'une politique formalisée, déployée, connue de tous et incluant des procédures de signalement claires et une gestion rigoureuse des situations signalées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la présence d'une commission de discipline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la gouvernance doit démontrer concernant sa politique de prévention de la maltraitance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L'absence de signalement de maltraitance dans l'année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L'existence d'une politique formalisée, déployée, connue de tous et incluant des procédures de signalement claires et une gestion rigoureuse des situations signalées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la présence d'une commission de discipline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3.1.1 attend une politique de prévention de la maltraitance complète : charte bientraitance, procédures de signalement interne et externe, formation des équipes, comité éthique, gestion des situations et culture du retour d'expérience.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Pourquoi le plan de gestion de crise doit-il être testé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Pour satisfaire les exigences de l'assureur de l'établissement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Pour s'assurer de son opérationnalité réelle en conditions proches du réel et identifier les points d'amélioration avant qu'une crise réelle ne survienne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pour former les nouveaux professionnels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Pourquoi le plan de gestion de crise doit-il être testé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Pour satisfaire les exigences de l'assureur de l'établissement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Pour s'assurer de son opérationnalité réelle en conditions proches du réel et identifier les points d'amélioration avant qu'une crise réelle ne survienne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pour former les nouveaux professionnels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3.5.2 exige que le PCA/plan de gestion de crise soit testé (exercices, simulations). Un plan non testé peut révéler des lacunes lors d'une vraie crise. Les tests permettent d'identifier les failles et d'améliorer le dispositif.</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l'objectif final de la démarche d'évaluation HAS pour les ESSMS selon la gouvernance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Obtenir une certification qui valorise la structure sur le marché</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Stimuler une dynamique d'amélioration continue de la qualité de l'accompagnement, au bénéfice des personnes accompagnées, avec une trajectoire claire d'évolution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Justifier les budgets demandés aux autorités de tarification</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l'objectif final de la démarche d'évaluation HAS pour les ESSMS selon la gouvernance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Obtenir une certification qui valorise la structure sur le marché</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Stimuler une dynamique d'amélioration continue de la qualité de l'accompagnement, au bénéfice des personnes accompagnées, avec une trajectoire claire d'évolution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Justifier les budgets demandés aux autorités de tarification</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L'objectif HAS est explicite : l'évaluation n'est pas une fin en soi ni un classement, mais un levier pour stimuler l'amélioration continue au bénéfice des personnes. La HAS n'a pas de pouvoir de sanction ; elle donne une trajectoire d'amélioration.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Q39/50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sécurité des systèmes d'information est-elle abordée dans le Chapitre 3 du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n'est pas abordée car c'est une question purement technique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gouvernance doit s'assurer que le SI garantit la sécurité et la confidentialité des données des personnes accompagnées (RGPD, cybersécurité)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Elle est uniquement du ressort du prestataire informatique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Q39/50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sécurité des systèmes d'information est-elle abordée dans le Chapitre 3 du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n'est pas abordée car c'est une question purement technique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La gouvernance doit s'assurer que le SI garantit la sécurité et la confidentialité des données des personnes accompagnées (RGPD, cybersécurité)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Elle est uniquement du ressort du prestataire informatique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critère 3.8.1 prévoit que la gouvernance est responsable de la sécurité du SI : conformité RGPD, politique de cybersécurité, habilitations d'accès, traçabilité des accès aux dossiers et plan de reprise en cas d'incident informatique.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doit faire l'ESSMS si un critère impératif n'est pas maîtrisé lors de l'évaluation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Attendre la prochaine évaluation quinquennale pour corriger</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Élaborer un plan d'action immédiat et le transmettre à l'ATC en même temps que le rapport d'évaluation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Contester le résultat auprès de la HAS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doit faire l'ESSMS si un critère impératif n'est pas maîtrisé lors de l'évaluation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Attendre la prochaine évaluation quinquennale pour corriger</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Élaborer un plan d'action immédiat et le transmettre à l'ATC en même temps que le rapport d'évaluation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Contester le résultat auprès de la HAS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Tout critère impératif non maîtrisé (score &lt; 4/4) oblige l'ESSMS à élaborer un plan d'action spécifique transmis SIMULTANÉMENT à l'ATC avec le rapport d'évaluation. Ce plan doit être mis en œuvre dans la continuité immédiate de la visite.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Q41/50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l'enjeu de la transparence des résultats d'évaluation via Qualiscope pour la gouvernance des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risque d'image négative à éviter par tous les moyens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opportunité de valoriser les points forts, de démontrer son engagement dans l'amélioration continue et de renforcer la confiance des personnes accompagnées et de leurs familles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contrainte réglementaire sans intérêt stratégique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Q41/50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l'enjeu de la transparence des résultats d'évaluation via Qualiscope pour la gouvernance des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risque d'image négative à éviter par tous les moyens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opportunité de valoriser les points forts, de démontrer son engagement dans l'amélioration continue et de renforcer la confiance des personnes accompagnées et de leurs familles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contrainte réglementaire sans intérêt stratégique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publication des résultats sur Qualiscope, bien que contraignante, est aussi une opportunité : les ESSMS engagés dans une démarche qualité sincère peuvent valoriser leurs résultats, améliorer leur attractivité et renforcer la confiance de leurs parties prenantes.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Q42/50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le référentiel HAS entend par 'culture de la bientraitance impulsée par la gouvernance'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culture uniquement fondée sur l'absence de plainte</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engagement visible et constant de la direction pour que la bientraitance soit une valeur vécue et partagée à tous les niveaux de l'organisation</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mise en place d'une boîte à suggestions pour les résidents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Q42/50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le référentiel HAS entend par 'culture de la bientraitance impulsée par la gouvernance'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Une culture uniquement fondée sur l'absence de plainte</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 engagement visible et constant de la direction pour que la bientraitance soit une valeur vécue et partagée à tous les niveaux de l'organisation</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mise en place d'une boîte à suggestions pour les résidents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culture bientraitante ne se décrète pas : elle se construit par l'exemple (posture de la direction), la formation, les espaces de dialogue éthique, le traitement sérieux des signalements et la valorisation des bonnes pratiques au quotidien.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Q43/50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gouvernance doit-elle impliquer les personnes accompagnées dans le pilotage de la qualité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leur transmettant uniquement le rapport d'évaluation final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s'appuyant sur le CVS, les enquêtes de satisfaction et les retours d'expérience pour orienter les priorités du PAQ</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participation des usagers au pilotage qualité n'est pas prévue par le référentiel</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Q43/50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gouvernance doit-elle impliquer les personnes accompagnées dans le pilotage de la qualité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leur transmettant uniquement le rapport d'évaluation final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s'appuyant sur le CVS, les enquêtes de satisfaction et les retours d'expérience pour orienter les priorités du PAQ</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participation des usagers au pilotage qualité n'est pas prévue par le référentiel</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référentiel prévoit que les retours des personnes accompagnées (via CVS, enquêtes, plaintes, observations directes) alimentent directement le pilotage qualité. La co-construction des priorités d'amélioration est une exigence du chapitre 3.</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Q44/50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Qu'est-ce que la gouvernance doit vérifier concernant la conformité réglementaire de l'ESSMS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Uniquement les autorisations d'ouverture et les agréments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L'ensemble des exigences réglementaires applicables : sécurité incendie, hygiène, accessibilité, droit du travail, RGPD, réglementations sectorielles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 conformité réglementaire relève uniquement de l'inspection de l'ARS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Q44/50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Qu'est-ce que la gouvernance doit vérifier concernant la conformité réglementaire de l'ESSMS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Uniquement les autorisations d'ouverture et les agréments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L'ensemble des exigences réglementaires applicables : sécurité incendie, hygiène, accessibilité, droit du travail, RGPD, réglementations sectorielles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 conformité réglementaire relève uniquement de l'inspection de l'ARS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gouvernance est responsable du respect de l'ensemble des réglementations applicables à l'ESSMS. Un registre de veille réglementaire, des audits internes et une mise à jour régulière des procédures sont des outils attendus.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Q45/50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le référentiel HAS aborde-t-il la coopération entre le siège de l'organisme gestionnaire et les ESSMS qu'il gère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siège n'est pas concerné par le référentiel</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siège peut participer aux séquences de gouvernance lors de la visite d'évaluation, mais la direction de l'ESSMS évalué doit être impérativement présente</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 siège remplace la direction de l'ESSMS lors de l'évaluation</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Q45/50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le référentiel HAS aborde-t-il la coopération entre le siège de l'organisme gestionnaire et les ESSMS qu'il gère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siège n'est pas concerné par le référentiel</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 siège peut participer aux séquences de gouvernance lors de la visite d'évaluation, mais la direction de l'ESSMS évalué doit être impérativement présente</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 siège remplace la direction de l'ESSMS lors de l'évaluation</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FAQ HAS précise que les membres de l'organisme gestionnaire peuvent participer à certaines séquences de la visite (chapitre 3 — gouvernance), mais la direction de la structure évaluée doit être présente : c'est elle qui répond des pratiques du terrain.</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Q46/50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Dans le cadre de l'audit système, comment l'évaluateur apprécie-t-il la maturité de la démarche qualité d'un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comptant le nombre de documents qualité produits</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évaluant si la démarche est structurée, pilotée, partagée avec les équipes, basée sur des indicateurs et génératrice d'améliorations concrètes</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En comparant l'ESSMS à d'autres établissements du même secteur</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Q46/50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Dans le cadre de l'audit système, comment l'évaluateur apprécie-t-il la maturité de la démarche qualité d'un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comptant le nombre de documents qualité produits</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En évaluant si la démarche est structurée, pilotée, partagée avec les équipes, basée sur des indicateurs et génératrice d'améliorations concrètes</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En comparant l'ESSMS à d'autres établissements du même secteur</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maturité qualité se mesure à la dynamique : une démarche mature est ancrée dans la culture de l'établissement, connue et appropriée par les équipes, pilotée par des indicateurs pertinents et génératrice d'améliorations visibles pour les personnes accompagnées.</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Q47/50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 recouvre la notion de 'gouvernance partagée' dans le référentiel HAS pour les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fonctionnement collégial où toutes les décisions sont prises à la majorité</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Une gouvernance qui associe les différentes parties prenantes (professionnels, personnes accompagnées, familles) à l'élaboration et au suivi du projet d'établissement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partage des responsabilités entre l'ARS et la direction</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Q47/50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 recouvre la notion de 'gouvernance partagée' dans le référentiel HAS pour les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fonctionnement collégial où toutes les décisions sont prises à la majorité</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Une gouvernance qui associe les différentes parties prenantes (professionnels, personnes accompagnées, familles) à l'élaboration et au suivi du projet d'établissement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partage des responsabilités entre l'ARS et la direction</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gouvernance partagée, valorisée dans le chapitre 3, implique que les décisions stratégiques tiennent compte des apports des professionnels (analyse des pratiques, remontées terrain) et des personnes accompagnées (CVS, satisfaction), créant une dynamique co-construite.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Q48/50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Comment la gouvernance doit-elle traiter les résultats de l'auto-évaluation réalisée sur Synaé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résultats sont automatiquement transmis à l'organisme évaluateur</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Les résultats restent internes et servent d'outil de pilotage pour préparer la visite et alimenter le plan d'amélioration de la qualité</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L'auto-évaluation est obligatoirement partagée avec l'ARS avant la visite</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Q48/50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Comment la gouvernance doit-elle traiter les résultats de l'auto-évaluation réalisée sur Synaé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Les résultats sont automatiquement transmis à l'organisme évaluateur</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Les résultats restent internes et servent d'outil de pilotage pour préparer la visite et alimenter le plan d'amélioration de la qualité</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L'auto-évaluation est obligatoirement partagée avec l'ARS avant la visite</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La HAS précise que les résultats de l'auto-évaluation sur Synaé ne sont pas transmis à l'organisme évaluateur : ils restent internes et servent à la préparation, à l'identification des priorités du PAQ et au dialogue interne avant la visite.</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Q49/50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l'apport spécifique du Chapitre 3 (audit système) par rapport aux Chapitres 1 et 2 dans l'évaluation globale d'un ESSMS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évalue des dimensions identiques aux chapitres 1 et 2 sous un angle différent</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évalue la dynamique organisationnelle et stratégique qui sous-tend et rend possible la qualité de l'accompagnement observée dans les chapitres 1 et 2</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Il remplace les chapitres 1 et 2 pour les grandes structures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Q49/50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l'apport spécifique du Chapitre 3 (audit système) par rapport aux Chapitres 1 et 2 dans l'évaluation globale d'un ESSMS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évalue des dimensions identiques aux chapitres 1 et 2 sous un angle différent</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Il évalue la dynamique organisationnelle et stratégique qui sous-tend et rend possible la qualité de l'accompagnement observée dans les chapitres 1 et 2</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Il remplace les chapitres 1 et 2 pour les grandes structures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 Chapitre 3 répond à la question : 'Comment l'organisation se pilote-t-elle pour garantir durablement la qualité ?' Il évalue les fondements structurels (gouvernance, risques, RH, SI) qui rendent possible et pérennisent les bonnes pratiques observées dans les chapitres 1 et 2.</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3B1F6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28600"/>
            <a:ext cx="1188720" cy="411480"/>
          </a:xfrm>
          <a:prstGeom prst="roundRect">
            <a:avLst>
              <a:gd name="adj" fmla="val 17778"/>
            </a:avLst>
          </a:prstGeom>
          <a:solidFill>
            <a:srgbClr val="F6B926"/>
          </a:solidFill>
          <a:ln w="12700">
            <a:solidFill>
              <a:srgbClr val="F6B926"/>
            </a:solidFill>
            <a:prstDash val="solid"/>
          </a:ln>
        </p:spPr>
      </p:sp>
      <p:sp>
        <p:nvSpPr>
          <p:cNvPr id="4" name="Text 2"/>
          <p:cNvSpPr/>
          <p:nvPr/>
        </p:nvSpPr>
        <p:spPr>
          <a:xfrm>
            <a:off x="457200" y="228600"/>
            <a:ext cx="1188720" cy="411480"/>
          </a:xfrm>
          <a:prstGeom prst="rect">
            <a:avLst/>
          </a:prstGeom>
          <a:noFill/>
          <a:ln/>
        </p:spPr>
        <p:txBody>
          <a:bodyPr wrap="square" lIns="0" tIns="0" rIns="0" bIns="0" rtlCol="0" anchor="ctr"/>
          <a:lstStyle/>
          <a:p>
            <a:pPr algn="ctr" indent="0" marL="0">
              <a:buNone/>
            </a:pPr>
            <a:r>
              <a:rPr lang="en-US" sz="1400" b="1" dirty="0">
                <a:solidFill>
                  <a:srgbClr val="3B1F6A"/>
                </a:solidFill>
                <a:latin typeface="Calibri" pitchFamily="34" charset="0"/>
                <a:ea typeface="Calibri" pitchFamily="34" charset="-122"/>
                <a:cs typeface="Calibri" pitchFamily="34" charset="-120"/>
              </a:rPr>
              <a:t>Q50/50</a:t>
            </a:r>
            <a:endParaRPr lang="en-US" sz="1400" dirty="0"/>
          </a:p>
        </p:txBody>
      </p:sp>
      <p:sp>
        <p:nvSpPr>
          <p:cNvPr id="5" name="Text 3"/>
          <p:cNvSpPr/>
          <p:nvPr/>
        </p:nvSpPr>
        <p:spPr>
          <a:xfrm>
            <a:off x="6858000" y="228600"/>
            <a:ext cx="2011680" cy="365760"/>
          </a:xfrm>
          <a:prstGeom prst="rect">
            <a:avLst/>
          </a:prstGeom>
          <a:noFill/>
          <a:ln/>
        </p:spPr>
        <p:txBody>
          <a:bodyPr wrap="square" rtlCol="0" anchor="ctr"/>
          <a:lstStyle/>
          <a:p>
            <a:pPr algn="r" indent="0" marL="0">
              <a:buNone/>
            </a:pPr>
            <a:r>
              <a:rPr lang="en-US" sz="1100" dirty="0">
                <a:solidFill>
                  <a:srgbClr val="7799BB"/>
                </a:solidFill>
                <a:latin typeface="Calibri" pitchFamily="34" charset="0"/>
                <a:ea typeface="Calibri" pitchFamily="34" charset="-122"/>
                <a:cs typeface="Calibri" pitchFamily="34" charset="-120"/>
              </a:rPr>
              <a:t>Chapitre 3</a:t>
            </a:r>
            <a:endParaRPr lang="en-US" sz="1100" dirty="0"/>
          </a:p>
        </p:txBody>
      </p:sp>
      <p:sp>
        <p:nvSpPr>
          <p:cNvPr id="6" name="Shape 4"/>
          <p:cNvSpPr/>
          <p:nvPr/>
        </p:nvSpPr>
        <p:spPr>
          <a:xfrm>
            <a:off x="457200" y="777240"/>
            <a:ext cx="8229600" cy="1554480"/>
          </a:xfrm>
          <a:prstGeom prst="rect">
            <a:avLst/>
          </a:prstGeom>
          <a:solidFill>
            <a:srgbClr val="FFFFFF">
              <a:alpha val="92000"/>
            </a:srgbClr>
          </a:solidFill>
          <a:ln w="6350">
            <a:solidFill>
              <a:srgbClr val="FFFFFF">
                <a:alpha val="50000"/>
              </a:srgbClr>
            </a:solidFill>
            <a:prstDash val="solid"/>
          </a:ln>
        </p:spPr>
      </p:sp>
      <p:sp>
        <p:nvSpPr>
          <p:cNvPr id="7" name="Text 5"/>
          <p:cNvSpPr/>
          <p:nvPr/>
        </p:nvSpPr>
        <p:spPr>
          <a:xfrm>
            <a:off x="457200" y="777240"/>
            <a:ext cx="8229600" cy="1554480"/>
          </a:xfrm>
          <a:prstGeom prst="rect">
            <a:avLst/>
          </a:prstGeom>
          <a:noFill/>
          <a:ln/>
        </p:spPr>
        <p:txBody>
          <a:bodyPr wrap="square" lIns="254000" tIns="254000" rIns="254000" bIns="254000" rtlCol="0" anchor="ctr"/>
          <a:lstStyle/>
          <a:p>
            <a:pPr algn="l" indent="0" marL="0">
              <a:lnSpc>
                <a:spcPct val="120000"/>
              </a:lnSpc>
              <a:buNone/>
            </a:pPr>
            <a:r>
              <a:rPr lang="en-US" sz="1800" dirty="0">
                <a:solidFill>
                  <a:srgbClr val="000000"/>
                </a:solidFill>
                <a:latin typeface="Calibri" pitchFamily="34" charset="0"/>
                <a:ea typeface="Calibri" pitchFamily="34" charset="-122"/>
                <a:cs typeface="Calibri" pitchFamily="34" charset="-120"/>
              </a:rPr>
              <a:t>Quel est le rôle des indicateurs de suivi dans le projet d'établissement selon le référentiel HAS ?</a:t>
            </a:r>
            <a:endParaRPr lang="en-US" sz="1800" dirty="0"/>
          </a:p>
        </p:txBody>
      </p:sp>
      <p:sp>
        <p:nvSpPr>
          <p:cNvPr id="8" name="Shape 6"/>
          <p:cNvSpPr/>
          <p:nvPr/>
        </p:nvSpPr>
        <p:spPr>
          <a:xfrm>
            <a:off x="457200" y="2514600"/>
            <a:ext cx="8229600" cy="566928"/>
          </a:xfrm>
          <a:prstGeom prst="rect">
            <a:avLst/>
          </a:prstGeom>
          <a:solidFill>
            <a:srgbClr val="FFFFFF">
              <a:alpha val="15000"/>
            </a:srgbClr>
          </a:solidFill>
          <a:ln w="6350">
            <a:solidFill>
              <a:srgbClr val="F6B926">
                <a:alpha val="60000"/>
              </a:srgbClr>
            </a:solidFill>
            <a:prstDash val="solid"/>
          </a:ln>
        </p:spPr>
      </p:sp>
      <p:sp>
        <p:nvSpPr>
          <p:cNvPr id="9" name="Shape 7"/>
          <p:cNvSpPr/>
          <p:nvPr/>
        </p:nvSpPr>
        <p:spPr>
          <a:xfrm>
            <a:off x="457200" y="2514600"/>
            <a:ext cx="502920" cy="566928"/>
          </a:xfrm>
          <a:prstGeom prst="rect">
            <a:avLst/>
          </a:prstGeom>
          <a:solidFill>
            <a:srgbClr val="6941A8"/>
          </a:solidFill>
          <a:ln w="12700">
            <a:solidFill>
              <a:srgbClr val="6941A8"/>
            </a:solidFill>
            <a:prstDash val="solid"/>
          </a:ln>
        </p:spPr>
      </p:sp>
      <p:sp>
        <p:nvSpPr>
          <p:cNvPr id="10" name="Text 8"/>
          <p:cNvSpPr/>
          <p:nvPr/>
        </p:nvSpPr>
        <p:spPr>
          <a:xfrm>
            <a:off x="457200" y="251460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1" name="Text 9"/>
          <p:cNvSpPr/>
          <p:nvPr/>
        </p:nvSpPr>
        <p:spPr>
          <a:xfrm>
            <a:off x="1051560" y="251460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Un outil de reporting annuel destiné uniquement à l'ATC</a:t>
            </a:r>
            <a:endParaRPr lang="en-US" sz="1400" dirty="0"/>
          </a:p>
        </p:txBody>
      </p:sp>
      <p:sp>
        <p:nvSpPr>
          <p:cNvPr id="12" name="Shape 10"/>
          <p:cNvSpPr/>
          <p:nvPr/>
        </p:nvSpPr>
        <p:spPr>
          <a:xfrm>
            <a:off x="457200" y="3154680"/>
            <a:ext cx="8229600" cy="566928"/>
          </a:xfrm>
          <a:prstGeom prst="rect">
            <a:avLst/>
          </a:prstGeom>
          <a:solidFill>
            <a:srgbClr val="FFFFFF">
              <a:alpha val="15000"/>
            </a:srgbClr>
          </a:solidFill>
          <a:ln w="6350">
            <a:solidFill>
              <a:srgbClr val="F6B926">
                <a:alpha val="60000"/>
              </a:srgbClr>
            </a:solidFill>
            <a:prstDash val="solid"/>
          </a:ln>
        </p:spPr>
      </p:sp>
      <p:sp>
        <p:nvSpPr>
          <p:cNvPr id="13" name="Shape 11"/>
          <p:cNvSpPr/>
          <p:nvPr/>
        </p:nvSpPr>
        <p:spPr>
          <a:xfrm>
            <a:off x="457200" y="3154680"/>
            <a:ext cx="502920" cy="566928"/>
          </a:xfrm>
          <a:prstGeom prst="rect">
            <a:avLst/>
          </a:prstGeom>
          <a:solidFill>
            <a:srgbClr val="6941A8"/>
          </a:solidFill>
          <a:ln w="12700">
            <a:solidFill>
              <a:srgbClr val="6941A8"/>
            </a:solidFill>
            <a:prstDash val="solid"/>
          </a:ln>
        </p:spPr>
      </p:sp>
      <p:sp>
        <p:nvSpPr>
          <p:cNvPr id="14" name="Text 12"/>
          <p:cNvSpPr/>
          <p:nvPr/>
        </p:nvSpPr>
        <p:spPr>
          <a:xfrm>
            <a:off x="457200" y="315468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p:nvPr/>
        </p:nvSpPr>
        <p:spPr>
          <a:xfrm>
            <a:off x="1051560" y="315468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Des outils de pilotage permettant à la gouvernance de mesurer l'avancement des actions, d'identifier les écarts et d'ajuster la trajectoire du projet d'établissement</a:t>
            </a:r>
            <a:endParaRPr lang="en-US" sz="1400" dirty="0"/>
          </a:p>
        </p:txBody>
      </p:sp>
      <p:sp>
        <p:nvSpPr>
          <p:cNvPr id="16" name="Shape 14"/>
          <p:cNvSpPr/>
          <p:nvPr/>
        </p:nvSpPr>
        <p:spPr>
          <a:xfrm>
            <a:off x="457200" y="3794760"/>
            <a:ext cx="8229600" cy="566928"/>
          </a:xfrm>
          <a:prstGeom prst="rect">
            <a:avLst/>
          </a:prstGeom>
          <a:solidFill>
            <a:srgbClr val="FFFFFF">
              <a:alpha val="15000"/>
            </a:srgbClr>
          </a:solidFill>
          <a:ln w="6350">
            <a:solidFill>
              <a:srgbClr val="F6B926">
                <a:alpha val="60000"/>
              </a:srgbClr>
            </a:solidFill>
            <a:prstDash val="solid"/>
          </a:ln>
        </p:spPr>
      </p:sp>
      <p:sp>
        <p:nvSpPr>
          <p:cNvPr id="17" name="Shape 15"/>
          <p:cNvSpPr/>
          <p:nvPr/>
        </p:nvSpPr>
        <p:spPr>
          <a:xfrm>
            <a:off x="457200" y="3794760"/>
            <a:ext cx="502920" cy="566928"/>
          </a:xfrm>
          <a:prstGeom prst="rect">
            <a:avLst/>
          </a:prstGeom>
          <a:solidFill>
            <a:srgbClr val="6941A8"/>
          </a:solidFill>
          <a:ln w="12700">
            <a:solidFill>
              <a:srgbClr val="6941A8"/>
            </a:solidFill>
            <a:prstDash val="solid"/>
          </a:ln>
        </p:spPr>
      </p:sp>
      <p:sp>
        <p:nvSpPr>
          <p:cNvPr id="18" name="Text 16"/>
          <p:cNvSpPr/>
          <p:nvPr/>
        </p:nvSpPr>
        <p:spPr>
          <a:xfrm>
            <a:off x="457200" y="3794760"/>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051560" y="3794760"/>
            <a:ext cx="7498080" cy="566928"/>
          </a:xfrm>
          <a:prstGeom prst="rect">
            <a:avLst/>
          </a:prstGeom>
          <a:noFill/>
          <a:ln/>
        </p:spPr>
        <p:txBody>
          <a:bodyPr wrap="square" lIns="101600" tIns="101600" rIns="101600" bIns="10160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Des indicateurs imposés nationalement, identiques pour tous les ESSMS</a:t>
            </a:r>
            <a:endParaRPr lang="en-US" sz="14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5577AA"/>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8F4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6B926"/>
          </a:solidFill>
          <a:ln w="12700">
            <a:solidFill>
              <a:srgbClr val="F6B926"/>
            </a:solidFill>
            <a:prstDash val="solid"/>
          </a:ln>
        </p:spPr>
      </p:sp>
      <p:sp>
        <p:nvSpPr>
          <p:cNvPr id="3" name="Shape 1"/>
          <p:cNvSpPr/>
          <p:nvPr/>
        </p:nvSpPr>
        <p:spPr>
          <a:xfrm>
            <a:off x="457200" y="201168"/>
            <a:ext cx="1463040" cy="411480"/>
          </a:xfrm>
          <a:prstGeom prst="roundRect">
            <a:avLst>
              <a:gd name="adj" fmla="val 17778"/>
            </a:avLst>
          </a:prstGeom>
          <a:solidFill>
            <a:srgbClr val="22A06B"/>
          </a:solidFill>
          <a:ln w="12700">
            <a:solidFill>
              <a:srgbClr val="22A06B"/>
            </a:solidFill>
            <a:prstDash val="solid"/>
          </a:ln>
        </p:spPr>
      </p:sp>
      <p:sp>
        <p:nvSpPr>
          <p:cNvPr id="4" name="Text 2"/>
          <p:cNvSpPr/>
          <p:nvPr/>
        </p:nvSpPr>
        <p:spPr>
          <a:xfrm>
            <a:off x="457200" y="201168"/>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Q50/50</a:t>
            </a:r>
            <a:endParaRPr lang="en-US" sz="1300" dirty="0"/>
          </a:p>
        </p:txBody>
      </p:sp>
      <p:sp>
        <p:nvSpPr>
          <p:cNvPr id="5" name="Text 3"/>
          <p:cNvSpPr/>
          <p:nvPr/>
        </p:nvSpPr>
        <p:spPr>
          <a:xfrm>
            <a:off x="457200" y="749808"/>
            <a:ext cx="8229600" cy="685800"/>
          </a:xfrm>
          <a:prstGeom prst="rect">
            <a:avLst/>
          </a:prstGeom>
          <a:noFill/>
          <a:ln/>
        </p:spPr>
        <p:txBody>
          <a:bodyPr wrap="square" lIns="101600" tIns="101600" rIns="101600" bIns="101600" rtlCol="0" anchor="ctr"/>
          <a:lstStyle/>
          <a:p>
            <a:pPr algn="l" indent="0" marL="0">
              <a:buNone/>
            </a:pPr>
            <a:r>
              <a:rPr lang="en-US" sz="1300" i="1" dirty="0">
                <a:solidFill>
                  <a:srgbClr val="334455"/>
                </a:solidFill>
                <a:latin typeface="Calibri" pitchFamily="34" charset="0"/>
                <a:ea typeface="Calibri" pitchFamily="34" charset="-122"/>
                <a:cs typeface="Calibri" pitchFamily="34" charset="-120"/>
              </a:rPr>
              <a:t>Quel est le rôle des indicateurs de suivi dans le projet d'établissement selon le référentiel HAS ?</a:t>
            </a:r>
            <a:endParaRPr lang="en-US" sz="1300" dirty="0"/>
          </a:p>
        </p:txBody>
      </p:sp>
      <p:sp>
        <p:nvSpPr>
          <p:cNvPr id="6" name="Shape 4"/>
          <p:cNvSpPr/>
          <p:nvPr/>
        </p:nvSpPr>
        <p:spPr>
          <a:xfrm>
            <a:off x="457200" y="1536192"/>
            <a:ext cx="8229600" cy="530352"/>
          </a:xfrm>
          <a:prstGeom prst="rect">
            <a:avLst/>
          </a:prstGeom>
          <a:solidFill>
            <a:srgbClr val="F0F4F8"/>
          </a:solidFill>
          <a:ln w="6350">
            <a:solidFill>
              <a:srgbClr val="CCCCCC"/>
            </a:solidFill>
            <a:prstDash val="solid"/>
          </a:ln>
        </p:spPr>
      </p:sp>
      <p:sp>
        <p:nvSpPr>
          <p:cNvPr id="7" name="Shape 5"/>
          <p:cNvSpPr/>
          <p:nvPr/>
        </p:nvSpPr>
        <p:spPr>
          <a:xfrm>
            <a:off x="457200" y="1536192"/>
            <a:ext cx="502920" cy="530352"/>
          </a:xfrm>
          <a:prstGeom prst="rect">
            <a:avLst/>
          </a:prstGeom>
          <a:solidFill>
            <a:srgbClr val="CCCCCC"/>
          </a:solidFill>
          <a:ln w="12700">
            <a:solidFill>
              <a:srgbClr val="CCCCCC"/>
            </a:solidFill>
            <a:prstDash val="solid"/>
          </a:ln>
        </p:spPr>
      </p:sp>
      <p:sp>
        <p:nvSpPr>
          <p:cNvPr id="8" name="Text 6"/>
          <p:cNvSpPr/>
          <p:nvPr/>
        </p:nvSpPr>
        <p:spPr>
          <a:xfrm>
            <a:off x="457200" y="153619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51560" y="153619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Un outil de reporting annuel destiné uniquement à l'ATC</a:t>
            </a:r>
            <a:endParaRPr lang="en-US" sz="1300" dirty="0"/>
          </a:p>
        </p:txBody>
      </p:sp>
      <p:sp>
        <p:nvSpPr>
          <p:cNvPr id="10" name="Shape 8"/>
          <p:cNvSpPr/>
          <p:nvPr/>
        </p:nvSpPr>
        <p:spPr>
          <a:xfrm>
            <a:off x="457200" y="2130552"/>
            <a:ext cx="8229600" cy="530352"/>
          </a:xfrm>
          <a:prstGeom prst="rect">
            <a:avLst/>
          </a:prstGeom>
          <a:solidFill>
            <a:srgbClr val="D4EDDA"/>
          </a:solidFill>
          <a:ln w="19050">
            <a:solidFill>
              <a:srgbClr val="22A06B"/>
            </a:solidFill>
            <a:prstDash val="solid"/>
          </a:ln>
        </p:spPr>
      </p:sp>
      <p:sp>
        <p:nvSpPr>
          <p:cNvPr id="11" name="Shape 9"/>
          <p:cNvSpPr/>
          <p:nvPr/>
        </p:nvSpPr>
        <p:spPr>
          <a:xfrm>
            <a:off x="457200" y="2130552"/>
            <a:ext cx="502920" cy="530352"/>
          </a:xfrm>
          <a:prstGeom prst="rect">
            <a:avLst/>
          </a:prstGeom>
          <a:solidFill>
            <a:srgbClr val="22A06B"/>
          </a:solidFill>
          <a:ln w="12700">
            <a:solidFill>
              <a:srgbClr val="22A06B"/>
            </a:solidFill>
            <a:prstDash val="solid"/>
          </a:ln>
        </p:spPr>
      </p:sp>
      <p:sp>
        <p:nvSpPr>
          <p:cNvPr id="12" name="Text 10"/>
          <p:cNvSpPr/>
          <p:nvPr/>
        </p:nvSpPr>
        <p:spPr>
          <a:xfrm>
            <a:off x="457200" y="2130552"/>
            <a:ext cx="50292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051560" y="2130552"/>
            <a:ext cx="7498080" cy="530352"/>
          </a:xfrm>
          <a:prstGeom prst="rect">
            <a:avLst/>
          </a:prstGeom>
          <a:noFill/>
          <a:ln/>
        </p:spPr>
        <p:txBody>
          <a:bodyPr wrap="square" lIns="101600" tIns="101600" rIns="101600" bIns="101600" rtlCol="0" anchor="ctr"/>
          <a:lstStyle/>
          <a:p>
            <a:pPr algn="l" indent="0" marL="0">
              <a:buNone/>
            </a:pPr>
            <a:r>
              <a:rPr lang="en-US" sz="1400" b="1" dirty="0">
                <a:solidFill>
                  <a:srgbClr val="155724"/>
                </a:solidFill>
                <a:latin typeface="Calibri" pitchFamily="34" charset="0"/>
                <a:ea typeface="Calibri" pitchFamily="34" charset="-122"/>
                <a:cs typeface="Calibri" pitchFamily="34" charset="-120"/>
              </a:rPr>
              <a:t>Des outils de pilotage permettant à la gouvernance de mesurer l'avancement des actions, d'identifier les écarts et d'ajuster la trajectoire du projet d'établissement</a:t>
            </a:r>
            <a:endParaRPr lang="en-US" sz="1400" dirty="0"/>
          </a:p>
        </p:txBody>
      </p:sp>
      <p:sp>
        <p:nvSpPr>
          <p:cNvPr id="14" name="Shape 12"/>
          <p:cNvSpPr/>
          <p:nvPr/>
        </p:nvSpPr>
        <p:spPr>
          <a:xfrm>
            <a:off x="457200" y="2724912"/>
            <a:ext cx="8229600" cy="530352"/>
          </a:xfrm>
          <a:prstGeom prst="rect">
            <a:avLst/>
          </a:prstGeom>
          <a:solidFill>
            <a:srgbClr val="F0F4F8"/>
          </a:solidFill>
          <a:ln w="6350">
            <a:solidFill>
              <a:srgbClr val="CCCCCC"/>
            </a:solidFill>
            <a:prstDash val="solid"/>
          </a:ln>
        </p:spPr>
      </p:sp>
      <p:sp>
        <p:nvSpPr>
          <p:cNvPr id="15" name="Shape 13"/>
          <p:cNvSpPr/>
          <p:nvPr/>
        </p:nvSpPr>
        <p:spPr>
          <a:xfrm>
            <a:off x="457200" y="2724912"/>
            <a:ext cx="502920" cy="530352"/>
          </a:xfrm>
          <a:prstGeom prst="rect">
            <a:avLst/>
          </a:prstGeom>
          <a:solidFill>
            <a:srgbClr val="CCCCCC"/>
          </a:solidFill>
          <a:ln w="12700">
            <a:solidFill>
              <a:srgbClr val="CCCCCC"/>
            </a:solidFill>
            <a:prstDash val="solid"/>
          </a:ln>
        </p:spPr>
      </p:sp>
      <p:sp>
        <p:nvSpPr>
          <p:cNvPr id="16" name="Text 14"/>
          <p:cNvSpPr/>
          <p:nvPr/>
        </p:nvSpPr>
        <p:spPr>
          <a:xfrm>
            <a:off x="457200" y="2724912"/>
            <a:ext cx="502920" cy="530352"/>
          </a:xfrm>
          <a:prstGeom prst="rect">
            <a:avLst/>
          </a:prstGeom>
          <a:noFill/>
          <a:ln/>
        </p:spPr>
        <p:txBody>
          <a:bodyPr wrap="square" lIns="0" tIns="0" rIns="0" bIns="0" rtlCol="0" anchor="ctr"/>
          <a:lstStyle/>
          <a:p>
            <a:pPr algn="ctr" indent="0" marL="0">
              <a:buNone/>
            </a:pPr>
            <a:r>
              <a:rPr lang="en-US" sz="1600" dirty="0">
                <a:solidFill>
                  <a:srgbClr val="666666"/>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051560" y="2724912"/>
            <a:ext cx="7498080" cy="530352"/>
          </a:xfrm>
          <a:prstGeom prst="rect">
            <a:avLst/>
          </a:prstGeom>
          <a:noFill/>
          <a:ln/>
        </p:spPr>
        <p:txBody>
          <a:bodyPr wrap="square" lIns="101600" tIns="101600" rIns="101600" bIns="101600" rtlCol="0" anchor="ctr"/>
          <a:lstStyle/>
          <a:p>
            <a:pPr algn="l" indent="0" marL="0">
              <a:buNone/>
            </a:pPr>
            <a:r>
              <a:rPr lang="en-US" sz="1300" dirty="0">
                <a:solidFill>
                  <a:srgbClr val="AAAAAA"/>
                </a:solidFill>
                <a:latin typeface="Calibri" pitchFamily="34" charset="0"/>
                <a:ea typeface="Calibri" pitchFamily="34" charset="-122"/>
                <a:cs typeface="Calibri" pitchFamily="34" charset="-120"/>
              </a:rPr>
              <a:t>Des indicateurs imposés nationalement, identiques pour tous les ESSMS</a:t>
            </a:r>
            <a:endParaRPr lang="en-US" sz="1300" dirty="0"/>
          </a:p>
        </p:txBody>
      </p:sp>
      <p:sp>
        <p:nvSpPr>
          <p:cNvPr id="18" name="Shape 16"/>
          <p:cNvSpPr/>
          <p:nvPr/>
        </p:nvSpPr>
        <p:spPr>
          <a:xfrm>
            <a:off x="457200" y="3364992"/>
            <a:ext cx="8229600" cy="1417320"/>
          </a:xfrm>
          <a:prstGeom prst="rect">
            <a:avLst/>
          </a:prstGeom>
          <a:solidFill>
            <a:srgbClr val="EEF4FF"/>
          </a:solidFill>
          <a:ln w="10160">
            <a:solidFill>
              <a:srgbClr val="6941A8">
                <a:alpha val="70000"/>
              </a:srgbClr>
            </a:solidFill>
            <a:prstDash val="solid"/>
          </a:ln>
        </p:spPr>
      </p:sp>
      <p:sp>
        <p:nvSpPr>
          <p:cNvPr id="19" name="Shape 17"/>
          <p:cNvSpPr/>
          <p:nvPr/>
        </p:nvSpPr>
        <p:spPr>
          <a:xfrm>
            <a:off x="457200" y="3364992"/>
            <a:ext cx="73152" cy="1417320"/>
          </a:xfrm>
          <a:prstGeom prst="rect">
            <a:avLst/>
          </a:prstGeom>
          <a:solidFill>
            <a:srgbClr val="6941A8"/>
          </a:solidFill>
          <a:ln w="12700">
            <a:solidFill>
              <a:srgbClr val="6941A8"/>
            </a:solidFill>
            <a:prstDash val="solid"/>
          </a:ln>
        </p:spPr>
      </p:sp>
      <p:sp>
        <p:nvSpPr>
          <p:cNvPr id="20" name="Text 18"/>
          <p:cNvSpPr/>
          <p:nvPr/>
        </p:nvSpPr>
        <p:spPr>
          <a:xfrm>
            <a:off x="640080" y="3401568"/>
            <a:ext cx="1828800" cy="292608"/>
          </a:xfrm>
          <a:prstGeom prst="rect">
            <a:avLst/>
          </a:prstGeom>
          <a:noFill/>
          <a:ln/>
        </p:spPr>
        <p:txBody>
          <a:bodyPr wrap="square" rtlCol="0" anchor="ctr"/>
          <a:lstStyle/>
          <a:p>
            <a:pPr indent="0" marL="0">
              <a:buNone/>
            </a:pPr>
            <a:r>
              <a:rPr lang="en-US" sz="1000" b="1" spc="100" kern="0" dirty="0">
                <a:solidFill>
                  <a:srgbClr val="6941A8"/>
                </a:solidFill>
                <a:latin typeface="Calibri" pitchFamily="34" charset="0"/>
                <a:ea typeface="Calibri" pitchFamily="34" charset="-122"/>
                <a:cs typeface="Calibri" pitchFamily="34" charset="-120"/>
              </a:rPr>
              <a:t>Explication</a:t>
            </a:r>
            <a:endParaRPr lang="en-US" sz="1000" dirty="0"/>
          </a:p>
        </p:txBody>
      </p:sp>
      <p:sp>
        <p:nvSpPr>
          <p:cNvPr id="21" name="Text 19"/>
          <p:cNvSpPr/>
          <p:nvPr/>
        </p:nvSpPr>
        <p:spPr>
          <a:xfrm>
            <a:off x="621792" y="3675888"/>
            <a:ext cx="7909560" cy="1060704"/>
          </a:xfrm>
          <a:prstGeom prst="rect">
            <a:avLst/>
          </a:prstGeom>
          <a:noFill/>
          <a:ln/>
        </p:spPr>
        <p:txBody>
          <a:bodyPr wrap="square" lIns="50800" tIns="50800" rIns="50800" bIns="50800" rtlCol="0" anchor="t"/>
          <a:lstStyle/>
          <a:p>
            <a:pPr algn="l" indent="0" marL="0">
              <a:lnSpc>
                <a:spcPct val="125000"/>
              </a:lnSpc>
              <a:buNone/>
            </a:pPr>
            <a:r>
              <a:rPr lang="en-US" sz="1250" dirty="0">
                <a:solidFill>
                  <a:srgbClr val="2C3E50"/>
                </a:solidFill>
                <a:latin typeface="Calibri" pitchFamily="34" charset="0"/>
                <a:ea typeface="Calibri" pitchFamily="34" charset="-122"/>
                <a:cs typeface="Calibri" pitchFamily="34" charset="-120"/>
              </a:rPr>
              <a:t>Les indicateurs de suivi du projet d'établissement (critère 3.3.3) sont des outils de pilotage interne : ils mesurent l'avancement des engagements pris, signalent les retards, permettent des ajustements et constituent la preuve de la mise en œuvre effective du projet.</a:t>
            </a:r>
            <a:endParaRPr lang="en-US" sz="1250" dirty="0"/>
          </a:p>
        </p:txBody>
      </p:sp>
      <p:sp>
        <p:nvSpPr>
          <p:cNvPr id="22" name="Text 20"/>
          <p:cNvSpPr/>
          <p:nvPr/>
        </p:nvSpPr>
        <p:spPr>
          <a:xfrm>
            <a:off x="457200" y="4828032"/>
            <a:ext cx="8229600" cy="228600"/>
          </a:xfrm>
          <a:prstGeom prst="rect">
            <a:avLst/>
          </a:prstGeom>
          <a:noFill/>
          <a:ln/>
        </p:spPr>
        <p:txBody>
          <a:bodyPr wrap="square" rtlCol="0" anchor="ctr"/>
          <a:lstStyle/>
          <a:p>
            <a:pPr algn="ctr" indent="0" marL="0">
              <a:buNone/>
            </a:pPr>
            <a:r>
              <a:rPr lang="en-US" sz="900" dirty="0">
                <a:solidFill>
                  <a:srgbClr val="AABBCC"/>
                </a:solidFill>
                <a:latin typeface="Calibri" pitchFamily="34" charset="0"/>
                <a:ea typeface="Calibri" pitchFamily="34" charset="-122"/>
                <a:cs typeface="Calibri" pitchFamily="34" charset="-120"/>
              </a:rPr>
              <a:t>Évaluation HAS ESSMS — Référentiel mars 2022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 HAS ESSMS — La Gouvernance (ESSMS)</dc:title>
  <dc:subject>PptxGenJS Presentation</dc:subject>
  <dc:creator>PptxGenJS</dc:creator>
  <cp:lastModifiedBy>PptxGenJS</cp:lastModifiedBy>
  <cp:revision>1</cp:revision>
  <dcterms:created xsi:type="dcterms:W3CDTF">2026-05-11T19:58:39Z</dcterms:created>
  <dcterms:modified xsi:type="dcterms:W3CDTF">2026-05-11T19:58:39Z</dcterms:modified>
</cp:coreProperties>
</file>