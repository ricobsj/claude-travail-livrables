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5A8A4F">
              <a:alpha val="40000"/>
            </a:srgbClr>
          </a:solidFill>
          <a:ln w="12700">
            <a:solidFill>
              <a:srgbClr val="5A8A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303520"/>
            <a:ext cx="3657600" cy="3657600"/>
          </a:xfrm>
          <a:prstGeom prst="ellipse">
            <a:avLst/>
          </a:prstGeom>
          <a:solidFill>
            <a:srgbClr val="97BC62">
              <a:alpha val="50000"/>
            </a:srgbClr>
          </a:solidFill>
          <a:ln w="12700">
            <a:solidFill>
              <a:srgbClr val="97BC6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SYNTHÈSE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10058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L'empreinte</a:t>
            </a:r>
            <a:endParaRPr lang="en-US" sz="7200" dirty="0"/>
          </a:p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énergétique</a:t>
            </a:r>
            <a:endParaRPr lang="en-US" sz="7200" dirty="0"/>
          </a:p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l'IA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 des modèles, du plus énergivore au plus frugal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lieux 2025-2026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0" y="6126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pour RicoBSJ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se poser la question 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109728" cy="3200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1000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de consommation entre le modèle le plus gourmand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plus frugal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43400" y="1554480"/>
            <a:ext cx="109728" cy="3200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783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 Wh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709160" y="3154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énergétique d'une requête simple sur GPT-4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une recherche Google)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1554480"/>
            <a:ext cx="109728" cy="3200400"/>
          </a:xfrm>
          <a:prstGeom prst="rect">
            <a:avLst/>
          </a:prstGeom>
          <a:solidFill>
            <a:srgbClr val="1B3D2F"/>
          </a:solidFill>
          <a:ln w="12700">
            <a:solidFill>
              <a:srgbClr val="1B3D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7830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Wh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503920" y="31546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d'une requête complexe avec long document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charger quatre smartphones)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ces écarts </a:t>
            </a:r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faire des choix éclairés</a:t>
            </a:r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pour son budget, sa confidentialité, et son empreinte carbone.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Repères de mesure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L'unité de référence est le wattheure (Wh) par requête. Voici quelques repères familiers 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560320"/>
          </a:xfrm>
          <a:prstGeom prst="rect">
            <a:avLst/>
          </a:prstGeom>
          <a:solidFill>
            <a:srgbClr val="1B3D2F"/>
          </a:solidFill>
          <a:ln w="12700">
            <a:solidFill>
              <a:srgbClr val="1B3D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 Wh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645920" y="3520440"/>
            <a:ext cx="457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recherche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651760" cy="2560320"/>
          </a:xfrm>
          <a:prstGeom prst="rect">
            <a:avLst/>
          </a:prstGeom>
          <a:solidFill>
            <a:srgbClr val="1B3D2F"/>
          </a:solidFill>
          <a:ln w="12700">
            <a:solidFill>
              <a:srgbClr val="1B3D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286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0,17 Wh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480560" y="3520440"/>
            <a:ext cx="457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Ampoule LED 10 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allumée 1 minute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51760" cy="2560320"/>
          </a:xfrm>
          <a:prstGeom prst="rect">
            <a:avLst/>
          </a:prstGeom>
          <a:solidFill>
            <a:srgbClr val="1B3D2F"/>
          </a:solidFill>
          <a:ln w="12700">
            <a:solidFill>
              <a:srgbClr val="1B3D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86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Wh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315200" y="3520440"/>
            <a:ext cx="457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2011680"/>
            <a:ext cx="2651760" cy="2560320"/>
          </a:xfrm>
          <a:prstGeom prst="rect">
            <a:avLst/>
          </a:prstGeom>
          <a:solidFill>
            <a:srgbClr val="1B3D2F"/>
          </a:solidFill>
          <a:ln w="12700">
            <a:solidFill>
              <a:srgbClr val="1B3D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22860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Wh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10149840" y="3520440"/>
            <a:ext cx="45720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heure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HD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Les chiffres pour les modèles propriétaires (GPT, Claude, Gemini) sont des estimations — peu de données officielles disponibles.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5 niveaux d'empreinte énergétique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énergivore au plus frugal — visualisation comparative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— Très énergivore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1783080"/>
            <a:ext cx="594360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0" y="1737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GPT-5, Claude Opus, Gemini Pro, Grok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— Énergivore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651760"/>
            <a:ext cx="457200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405B, DeepSeek V3, Mistral Large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— Intermédiaire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3520440"/>
            <a:ext cx="3200400" cy="3200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7B, Llama 8B, Qwen 7B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4 — Frugal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4389120"/>
            <a:ext cx="18288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4343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 Mini, Llama 3B, Qwen 3B, Gemma 2B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5 — Ultra-frugal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66160" y="5257800"/>
            <a:ext cx="914400" cy="320040"/>
          </a:xfrm>
          <a:prstGeom prst="rect">
            <a:avLst/>
          </a:prstGeom>
          <a:solidFill>
            <a:srgbClr val="16704C"/>
          </a:solidFill>
          <a:ln w="12700">
            <a:solidFill>
              <a:srgbClr val="1670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5212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TinyLlama 1B, Phi-1.5, Qwen 1.5B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longueur de la barre est proportionnelle à la consommation énergétique relative.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1783080" y="320040"/>
            <a:ext cx="36576" cy="7315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1 — Très énergivores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propriétaires de pointe • plusieurs centaines de milliards de paramètres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309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Conso. par requête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/ GPT-5 Pro (OpenAI)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 à 0,42 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jusqu'à 40 Wh (long)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plus utilisé au monde — coût agrégé colossal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 / 4.7 (Anthropic)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0,35 Wh (estimé)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Légèrement supérieur à GPT-4 selon les estimations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Pro (Google)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à GPT-4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DeepMind optimisée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 4 Heavy (xAI)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élevée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de raisonnement intensif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Modèles raisonnement (o1, o3)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à 10× un GPT-4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Génèrent beaucoup de tokens internes (chain-of-thought)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1783080" y="320040"/>
            <a:ext cx="36576" cy="7315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2 — Énergivores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modèles open-weight • 50 à 700 milliards de paramètres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309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Consommation et 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3.1 405B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 Wh par requête (59× un Mistral 7B). Nécessite 800 Go de VRAM.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671 Md (MoE)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 mais optimisé par mixture of experts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Large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0,2 Wh court — jusqu'à 42 Wh pour une réponse d'une 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3.3 70B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Quelques dixièmes de Wh par requête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1783080" y="320040"/>
            <a:ext cx="36576" cy="7315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3 — Intermédiaires — le sweet spot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open-weight 7-13 milliards • exécutables sur PC performant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309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Consommation et 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C0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 Wh court — ≈ 1 Wh sur requête complexe (400 mots)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7B Instruct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0,01 Wh par chat — référence d'efficacité ML.Energy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2.5 7B (Alibaba)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à Mistral 7B, multilingue de qualité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3.3 13B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 2 à 3× plus qu'un 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1783080" y="320040"/>
            <a:ext cx="36576" cy="7315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4 — Frugaux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Language Models • 2 à 4 milliards de paramètres • exécutables en local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309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 Mini (Microsoft)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 ratio raisonnement / énergie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Phi-3.5 Mini (Microsoft)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Haute précision mais le plus énergivore des SLM testés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 3B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Meilleur compromis précision / efficacité (étude Kennesaw)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2.5 3B (Alibaba)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Égale un Phi-3 14B sur tâches structurées avec impact moindre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2 2B (Google)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efficace pour sa taille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Ministral 3B (Mistral)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Optimisé pour edge /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0"/>
          </a:xfrm>
          <a:prstGeom prst="rect">
            <a:avLst/>
          </a:prstGeom>
          <a:solidFill>
            <a:srgbClr val="16704C"/>
          </a:solidFill>
          <a:ln w="12700">
            <a:solidFill>
              <a:srgbClr val="1670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1783080" y="320040"/>
            <a:ext cx="36576" cy="731520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274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 5 — Ultra-frugaux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6596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Language Models • moins de 2 milliards de paramètres • mobile, Raspberry Pi…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6309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0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0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04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Phi-1.5 (Microsoft)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Surpasse des modèles 5× sa taille — ≈ 600 kWh à l'entraînement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TinyLlama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Environnements ultra-basse consommation, précision réduite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2.5 1.5B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bon multilingue compact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 1B (Meta)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Spécifiquement conçu pour mobile et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5A8A4F">
              <a:alpha val="30000"/>
            </a:srgbClr>
          </a:solidFill>
          <a:ln w="12700">
            <a:solidFill>
              <a:srgbClr val="5A8A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record d'efficacité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W</a:t>
            </a:r>
            <a:endParaRPr lang="en-US" sz="16000" dirty="0"/>
          </a:p>
        </p:txBody>
      </p:sp>
      <p:sp>
        <p:nvSpPr>
          <p:cNvPr id="7" name="Text 5"/>
          <p:cNvSpPr/>
          <p:nvPr/>
        </p:nvSpPr>
        <p:spPr>
          <a:xfrm>
            <a:off x="7498080" y="27432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L'équivalent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ampoule LED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0" y="4297680"/>
            <a:ext cx="73152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448056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chercheurs de UC Santa Cruz ont développé une méthode pour faire tourner un modèle d'un milliard de paramètres sur seulement 13 watts.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facteurs qui modulent la consommation réelle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choisi n'est qu'un facteur parmi d'autres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des prompts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courte = 0,3 Wh.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+ un document de 100 000 tokens = 40 Wh.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Privilégier des prompts ciblés.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6596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raisonnement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7432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modèles « thinking » (o1, o3, Claude extended)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génèrent 3 à 10× plus de tokens internes.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À réserver aux problèmes complexes.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8972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du datacenter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(nucléaire) ≈ 27 g CO₂/kWh.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États-Unis ≈ 368 g CO₂/kWh.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Facteur 10 sur les émissions 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416052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443484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2044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vs local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0" y="52120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= optimisé à grande échelle.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= pas de transit réseau, données privées.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Hybride souvent optimal.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16052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37960" y="443484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0" y="4480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37960" y="52120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16 à 4 bits par paramètre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divise la consommation par 3 à 4.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Standard sur les SLM en local.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Recommandations pour un usage professionnel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 choix du modèle à la nature de la tâche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960120"/>
          </a:xfrm>
          <a:prstGeom prst="rect">
            <a:avLst/>
          </a:prstGeom>
          <a:solidFill>
            <a:srgbClr val="1B3D2F"/>
          </a:solidFill>
          <a:ln w="12700">
            <a:solidFill>
              <a:srgbClr val="1B3D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 finales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officiels, formations,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QCM, synthèses RBPP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Modèle cloud premium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Opus, GPT-5, Gemini 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justifie le coût énergétique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611880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intermédiaire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Brouillons, reformulations,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prompts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65176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SLM en local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520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 Mini, Mistral 7B, Qwen 3B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30 à 100 moins d'énergie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611880" cy="960120"/>
          </a:xfrm>
          <a:prstGeom prst="rect">
            <a:avLst/>
          </a:prstGeom>
          <a:solidFill>
            <a:srgbClr val="5A8A4F"/>
          </a:solidFill>
          <a:ln w="12700">
            <a:solidFill>
              <a:srgbClr val="5A8A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783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confidentielles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résidents,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cliniques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651760"/>
            <a:ext cx="36118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2880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8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Local strict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3520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nominative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doit transiter par un cloud externe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gestes éco au quotidien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actions simples qui réduisent significativement l'empreinte de votre usage IA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des prompts courts et ciblés plutôt que joindre de longs documents quand ce n'est pas nécessaire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54480" y="2560320"/>
            <a:ext cx="10058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5176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mode raisonnement uniquement pour des problèmes complexes — pas pour une simple reformulation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54480" y="3429000"/>
            <a:ext cx="10058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52044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modèle adapté à la tâche : SLM/Haiku pour les tâches simples, Opus/GPT-5 pour la complexité réelle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54480" y="4297680"/>
            <a:ext cx="10058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8912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389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et affiner ses prompts plutôt que repartir de zéro à chaque tentative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54480" y="5166360"/>
            <a:ext cx="100584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25780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5257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tâches répétitives massives, automatiser via une API avec un modèle plus petit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D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importantes des données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 en tête pour interpréter ce comparatif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estimées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Google publient peu de chiffres officiels. Beaucoup d'estimations indirectes.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73152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Jevons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plus efficient tend à être utilisé plus souvent — l'impact agrégé peut augmenter malgré tout.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vs inférence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comparatif porte sur l'usage. Entraîner un GPT-4 = 10 000 à 30 000 MWh, amorti sur des milliards de requêtes.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10896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108960"/>
            <a:ext cx="73152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carbone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3611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Microsoft compensent par crédits et énergies vertes — solution imparfaite et controversée.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26280"/>
            <a:ext cx="73152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variables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ML.Energy fournit des benchmarks fiables sur l'open-source. Les modèles fermés restent peu mesurables.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L'empreinte énergétique de l'IA  •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5A8A4F">
              <a:alpha val="30000"/>
            </a:srgbClr>
          </a:solidFill>
          <a:ln w="12700">
            <a:solidFill>
              <a:srgbClr val="5A8A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idées-clés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73736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L'écart est colossal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3017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gourmand au plus frugal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× 1000 sur la consommation par requête.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1737360" y="3749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outil pour la bonne tâche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4160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Claude Opus pour reformuler un email.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SLM local suffit largement.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1737360" y="4892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prompts comptent autant que le modèle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5303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et ciblé &gt; long et exhaustif.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requête peut consommer 130× plus selon la formulation.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926080"/>
            <a:ext cx="548640" cy="0"/>
          </a:xfrm>
          <a:prstGeom prst="line">
            <a:avLst/>
          </a:prstGeom>
          <a:noFill/>
          <a:ln w="1905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01752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ML.Energy Leaderboard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du Michigan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SLM en edge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Kennesaw State University, 2025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Mistral Large 2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× ADEME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EcoLLM, Energy Institute,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F4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Computer.org, OpenReview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 de la présentation 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L'empreinte énergétique de l'IA</dc:title>
  <dc:subject>PptxGenJS Presentation</dc:subject>
  <dc:creator>RicoBSJ</dc:creator>
  <cp:lastModifiedBy>RicoBSJ</cp:lastModifiedBy>
  <cp:revision>1</cp:revision>
  <dcterms:created xsi:type="dcterms:W3CDTF">2026-05-04T05:39:04Z</dcterms:created>
  <dcterms:modified xsi:type="dcterms:W3CDTF">2026-05-04T05:39:04Z</dcterms:modified>
</cp:coreProperties>
</file>