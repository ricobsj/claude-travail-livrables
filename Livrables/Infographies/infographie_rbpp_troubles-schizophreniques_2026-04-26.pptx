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 schizophréniques — Vue d'ensemble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0" y="384048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cadrage HAS — Adoptée le 8 avril 2026 | 26 avril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01184" y="-434340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1B6C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74336" y="-37947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Épidémiologie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38344" y="-32004"/>
            <a:ext cx="210312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4336" y="4572"/>
            <a:ext cx="223113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 personnes dans le monde (0,43 %)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: 235 000 (3,7 ‰)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 moyen : 42,6 semaines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47 % &gt; 2 ans sans diagnostic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85301" y="221823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8453" y="276687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Tableaux cliniques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22461" y="624159"/>
            <a:ext cx="210312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8453" y="660735"/>
            <a:ext cx="223113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positifs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(hallucinations, délires)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négatifs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(aboulie, anhédonie, alogie)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cognitifs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41464" y="1805940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8E44A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14616" y="186080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Facteurs de risque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78624" y="2208276"/>
            <a:ext cx="210312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14616" y="2244852"/>
            <a:ext cx="223113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 OR 2,88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Traumatismes OR 2,81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urbain OR 2,37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OR 2,22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Héritabilité 60-80 %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85301" y="3390057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E67E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8453" y="3444921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Comorbidités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22461" y="3792393"/>
            <a:ext cx="210312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8453" y="3828969"/>
            <a:ext cx="223113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métabolique 41,3 %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Diabète OR 2,15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Espérance de vie −11 à −18 ans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thérap. 30 %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 5-13 %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01184" y="4046220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410108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Outils diagnostiques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38344" y="4448556"/>
            <a:ext cx="210312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4485132"/>
            <a:ext cx="223113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/ CIM-11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/ FLII-11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PANSS · SAPS / SANS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BNSS · CAINS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 · CGI · PSP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7067" y="3390057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16A0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0219" y="3444921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Évaluation fonctionnelle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54227" y="3792393"/>
            <a:ext cx="210312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0219" y="3828969"/>
            <a:ext cx="223113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(4 domaines vie quotidienne)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 (fonctionnement global)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ELADEB (auto-évaluation)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mini-Zarit (aidants)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(résilience familiale)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60904" y="1805940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2C3E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34056" y="186080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Rétablissement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98064" y="2208276"/>
            <a:ext cx="210312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34056" y="2244852"/>
            <a:ext cx="223113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 (5 stades)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(estime de soi)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ISMI (stigma intériorisé)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Espoir · Identité · Sens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Pair-aidance · Autonomie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7067" y="221823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B795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90219" y="276687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Enjeux &amp; Objectifs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54227" y="624159"/>
            <a:ext cx="210312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0219" y="660735"/>
            <a:ext cx="223113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Précocité diagnostique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des outils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PPA / SERAFIN-PH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publique HAS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à paraître fin 2027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29784" y="1554480"/>
            <a:ext cx="1920240" cy="1920240"/>
          </a:xfrm>
          <a:prstGeom prst="ellipse">
            <a:avLst/>
          </a:prstGeom>
          <a:solidFill>
            <a:srgbClr val="1B3A6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21224" y="1965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Schizo-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phrénie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221224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Évaluation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71616" y="256032"/>
            <a:ext cx="36576" cy="2276856"/>
          </a:xfrm>
          <a:prstGeom prst="line">
            <a:avLst/>
          </a:prstGeom>
          <a:noFill/>
          <a:ln w="19050">
            <a:solidFill>
              <a:srgbClr val="1B6CA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071616" y="912195"/>
            <a:ext cx="1620693" cy="1620693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071616" y="2496312"/>
            <a:ext cx="2276856" cy="36576"/>
          </a:xfrm>
          <a:prstGeom prst="line">
            <a:avLst/>
          </a:prstGeom>
          <a:noFill/>
          <a:ln w="19050">
            <a:solidFill>
              <a:srgbClr val="8E44AD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071616" y="2496312"/>
            <a:ext cx="1620693" cy="1620693"/>
          </a:xfrm>
          <a:prstGeom prst="line">
            <a:avLst/>
          </a:prstGeom>
          <a:noFill/>
          <a:ln w="19050">
            <a:solidFill>
              <a:srgbClr val="E67E2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071616" y="2496312"/>
            <a:ext cx="36576" cy="2276856"/>
          </a:xfrm>
          <a:prstGeom prst="line">
            <a:avLst/>
          </a:prstGeom>
          <a:noFill/>
          <a:ln w="19050">
            <a:solidFill>
              <a:srgbClr val="27AE60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487499" y="2496312"/>
            <a:ext cx="1620693" cy="1620693"/>
          </a:xfrm>
          <a:prstGeom prst="line">
            <a:avLst/>
          </a:prstGeom>
          <a:noFill/>
          <a:ln w="19050">
            <a:solidFill>
              <a:srgbClr val="16A085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831336" y="2496312"/>
            <a:ext cx="2276856" cy="36576"/>
          </a:xfrm>
          <a:prstGeom prst="line">
            <a:avLst/>
          </a:prstGeom>
          <a:noFill/>
          <a:ln w="19050">
            <a:solidFill>
              <a:srgbClr val="2C3E5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487499" y="912195"/>
            <a:ext cx="1620693" cy="1620693"/>
          </a:xfrm>
          <a:prstGeom prst="line">
            <a:avLst/>
          </a:prstGeom>
          <a:noFill/>
          <a:ln w="19050">
            <a:solidFill>
              <a:srgbClr val="B7950B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0" y="658368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Note de cadrage HAS, 8 avril 2026 | ESSMS — Foyer d'hébergement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2026-04-26T13:21:22Z</dcterms:created>
  <dcterms:modified xsi:type="dcterms:W3CDTF">2026-04-26T13:21:22Z</dcterms:modified>
</cp:coreProperties>
</file>