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7B61FF">
              <a:alpha val="16000"/>
            </a:srgbClr>
          </a:solidFill>
          <a:ln w="6350">
            <a:solidFill>
              <a:srgbClr val="7B61FF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731520"/>
            <a:ext cx="3657600" cy="3657600"/>
          </a:xfrm>
          <a:prstGeom prst="ellipse">
            <a:avLst/>
          </a:prstGeom>
          <a:solidFill>
            <a:srgbClr val="7B61FF">
              <a:alpha val="30000"/>
            </a:srgbClr>
          </a:solidFill>
          <a:ln w="6350">
            <a:solidFill>
              <a:srgbClr val="7B61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0" y="4754880"/>
            <a:ext cx="2926080" cy="2926080"/>
          </a:xfrm>
          <a:prstGeom prst="ellipse">
            <a:avLst/>
          </a:prstGeom>
          <a:solidFill>
            <a:srgbClr val="F9C846">
              <a:alpha val="25000"/>
            </a:srgbClr>
          </a:solidFill>
          <a:ln w="6350">
            <a:solidFill>
              <a:srgbClr val="F9C846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53035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635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97280"/>
            <a:ext cx="3017520" cy="402336"/>
          </a:xfrm>
          <a:prstGeom prst="roundRect">
            <a:avLst>
              <a:gd name="adj" fmla="val 1818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972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· RBPP · TDI Volet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7040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Scolarite, Travail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Loisirs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8640" y="3145536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HAS · Adultes avec Troubles du Developpement Intellectuel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7040880" cy="18288"/>
          </a:xfrm>
          <a:prstGeom prst="line">
            <a:avLst/>
          </a:prstGeom>
          <a:noFill/>
          <a:ln w="19050">
            <a:solidFill>
              <a:srgbClr val="F9C8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4864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de recommandation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92608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protege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303520" y="3456432"/>
            <a:ext cx="2240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03520" y="4078224"/>
            <a:ext cx="2240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emploi ordinaire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64608"/>
            <a:ext cx="219456" cy="219456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651760" y="4864608"/>
            <a:ext cx="219456" cy="219456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4436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4864608"/>
            <a:ext cx="219456" cy="219456"/>
          </a:xfrm>
          <a:prstGeom prst="ellipse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4748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ESAT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858000" y="4864608"/>
            <a:ext cx="219456" cy="219456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50608" y="48463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Milieu ordinaire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219456" cy="219456"/>
          </a:xfrm>
          <a:prstGeom prst="ellipse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culture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651760" y="5230368"/>
            <a:ext cx="219456" cy="219456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4436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5230368"/>
            <a:ext cx="219456" cy="219456"/>
          </a:xfrm>
          <a:prstGeom prst="ellipse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4748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858000" y="5230368"/>
            <a:ext cx="219456" cy="219456"/>
          </a:xfrm>
          <a:prstGeom prst="ellipse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50608" y="5212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48640" y="6309360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HAS — RBPP TDI Volet 2 · Adolescents et adultes ayant des troubles du developpement intellectuel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Scolarisation, formation et acces au travail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d'education et d'insertion professionnelle — Axes 1 a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Scolarisation inclusive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PPS · ULIS · PIAL · SESSAD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a l'education pour tous les eleves TDI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: soutien en milieu ordinaire scolarise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 ecole vers ESSMS : a preparer tot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06D6A0">
              <a:alpha val="9000"/>
            </a:srgbClr>
          </a:solidFill>
          <a:ln w="6350">
            <a:solidFill>
              <a:srgbClr val="06D6A0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professionnelle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· CFA adapte · VAE · CPF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CFAS : centres de formation specialises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Alternance adaptee : rythme et duree modulables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: valoriser les competences acquises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Travail en ESAT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9C8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 · Droits travailleurs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F9C846">
              <a:alpha val="50000"/>
            </a:srgbClr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Remuneration garantie &gt;= 55 % du SMIC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professionnel formalise et revise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Droits : formation, conges, retraite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FB923C">
              <a:alpha val="9000"/>
            </a:srgbClr>
          </a:solidFill>
          <a:ln w="6350">
            <a:solidFill>
              <a:srgbClr val="FB923C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milieu ordinaire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· EA · Job coaching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FB923C">
              <a:alpha val="5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adaptee (EA) : passerelle vers le droit commun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coaching : tutorat dedie et amenagements de poste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RQTH : reconnaissance et droits associes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vie sociale et coordination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 la vie citoyenne et coordination des parcours — Axes 5 a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5522976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Loisirs, sport et culture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6B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adapte · GEM · Associations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2596896"/>
            <a:ext cx="2523744" cy="18288"/>
          </a:xfrm>
          <a:prstGeom prst="rect">
            <a:avLst/>
          </a:prstGeom>
          <a:solidFill>
            <a:srgbClr val="FF6B9D">
              <a:alpha val="50000"/>
            </a:srgbClr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" y="2724912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Federation sport adapte : competitions, clubs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9768" y="3401568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 : pair-entraide et espace de socialisation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" y="4078224"/>
            <a:ext cx="45720" cy="530352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9496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Accessibilite culturelle et numerique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27832" y="1115568"/>
            <a:ext cx="2743200" cy="5522976"/>
          </a:xfrm>
          <a:prstGeom prst="rect">
            <a:avLst/>
          </a:prstGeom>
          <a:solidFill>
            <a:srgbClr val="7B61FF">
              <a:alpha val="9000"/>
            </a:srgbClr>
          </a:solidFill>
          <a:ln w="6350">
            <a:solidFill>
              <a:srgbClr val="7B61FF">
                <a:alpha val="3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27832" y="1115568"/>
            <a:ext cx="2743200" cy="9144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37560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37560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 sociale et citoyennete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 · Habitat inclusif · Associations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337560" y="2596896"/>
            <a:ext cx="2523744" cy="18288"/>
          </a:xfrm>
          <a:prstGeom prst="rect">
            <a:avLst/>
          </a:prstGeom>
          <a:solidFill>
            <a:srgbClr val="7B61FF">
              <a:alpha val="5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724912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47288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 vote preserve (hors tutelle totale)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37560" y="3401568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47288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Habitat inclusif (art. L281-1 CASF) + AVP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37560" y="4078224"/>
            <a:ext cx="45720" cy="53035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 associative et vie dans la cite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135624" y="1115568"/>
            <a:ext cx="2743200" cy="5522976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3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35624" y="1115568"/>
            <a:ext cx="2743200" cy="9144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45352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5352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08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Empowerment · Choix de vie · FALC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45352" y="2596896"/>
            <a:ext cx="2523744" cy="18288"/>
          </a:xfrm>
          <a:prstGeom prst="rect">
            <a:avLst/>
          </a:prstGeom>
          <a:solidFill>
            <a:srgbClr val="C084FC">
              <a:alpha val="50000"/>
            </a:srgbClr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45352" y="2724912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55080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vie co-construit par la personne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401568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Pair-aidance : soutien par des personnes similaires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4078224"/>
            <a:ext cx="45720" cy="530352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55080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eclairees : FALC et soutien adapte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043416" y="1115568"/>
            <a:ext cx="2743200" cy="5522976"/>
          </a:xfrm>
          <a:prstGeom prst="rect">
            <a:avLst/>
          </a:prstGeom>
          <a:solidFill>
            <a:srgbClr val="8B8EC8">
              <a:alpha val="9000"/>
            </a:srgbClr>
          </a:solidFill>
          <a:ln w="6350">
            <a:solidFill>
              <a:srgbClr val="8B8EC8">
                <a:alpha val="3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043416" y="1115568"/>
            <a:ext cx="2743200" cy="91440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53144" y="1271016"/>
            <a:ext cx="457200" cy="256032"/>
          </a:xfrm>
          <a:prstGeom prst="roundRect">
            <a:avLst>
              <a:gd name="adj" fmla="val 21429"/>
            </a:avLst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53144" y="12710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153144" y="1600200"/>
            <a:ext cx="252374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des parcours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153144" y="228600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MDPH · CDAPH · SESSAD pro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153144" y="2596896"/>
            <a:ext cx="2523744" cy="18288"/>
          </a:xfrm>
          <a:prstGeom prst="rect">
            <a:avLst/>
          </a:prstGeom>
          <a:solidFill>
            <a:srgbClr val="8B8EC8">
              <a:alpha val="50000"/>
            </a:srgbClr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153144" y="2724912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62872" y="2724912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CDAPH : droits, orientation et prestations TDI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9153144" y="3401568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262872" y="3401568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SESSAD pro 16-25 ans : transition vers l'emploi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9153144" y="4078224"/>
            <a:ext cx="45720" cy="530352"/>
          </a:xfrm>
          <a:prstGeom prst="rect">
            <a:avLst/>
          </a:prstGeom>
          <a:solidFill>
            <a:srgbClr val="8B8EC8"/>
          </a:solidFill>
          <a:ln w="12700">
            <a:solidFill>
              <a:srgbClr val="8B8EC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62872" y="4078224"/>
            <a:ext cx="241401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Eviter les ruptures a chaque etape de vie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C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1A1836"/>
          </a:solidFill>
          <a:ln w="12700">
            <a:solidFill>
              <a:srgbClr val="1A18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01168"/>
            <a:ext cx="11430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cles de la recommandation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676656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8E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RBPP HAS preconise pour les adultes TDI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5577840" cy="2487168"/>
          </a:xfrm>
          <a:prstGeom prst="rect">
            <a:avLst/>
          </a:prstGeom>
          <a:solidFill>
            <a:srgbClr val="00B4D8">
              <a:alpha val="9000"/>
            </a:srgbClr>
          </a:solidFill>
          <a:ln w="635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115568"/>
            <a:ext cx="73152" cy="24871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4712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L'education, socle de tout le parcours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scolarisation inclusive la plus precoce possible, accompagnee par un SESSAD, conditionne les futures capacites d'insertion professionnelle et sociale. Le PPS est le document cle de la coherence du parcours scolaire.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62472" y="1115568"/>
            <a:ext cx="5577840" cy="2487168"/>
          </a:xfrm>
          <a:prstGeom prst="rect">
            <a:avLst/>
          </a:prstGeom>
          <a:solidFill>
            <a:srgbClr val="F9C846">
              <a:alpha val="9000"/>
            </a:srgbClr>
          </a:solidFill>
          <a:ln w="6350">
            <a:solidFill>
              <a:srgbClr val="F9C84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62472" y="1115568"/>
            <a:ext cx="73152" cy="2487168"/>
          </a:xfrm>
          <a:prstGeom prst="rect">
            <a:avLst/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45352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9C846"/>
          </a:solidFill>
          <a:ln w="12700">
            <a:solidFill>
              <a:srgbClr val="F9C8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5352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67144" y="1280160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continuum travail : ESAT, EA, milieu ordinaire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45352" y="1883664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RBPP preconise une approche graduee : ESAT pour les besoins importants de soutien, EA pour la transition, milieu ordinaire avec RQTH pour les personnes les plus autonomes. Le job coaching securise l'insertion.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730752"/>
            <a:ext cx="5577840" cy="2487168"/>
          </a:xfrm>
          <a:prstGeom prst="rect">
            <a:avLst/>
          </a:prstGeom>
          <a:solidFill>
            <a:srgbClr val="FF6B9D">
              <a:alpha val="9000"/>
            </a:srgbClr>
          </a:solidFill>
          <a:ln w="6350">
            <a:solidFill>
              <a:srgbClr val="FF6B9D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730752"/>
            <a:ext cx="73152" cy="2487168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4712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Loisirs et vie sociale : droits, pas privileges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L'acces au sport adapte, a la culture, aux GEM et a la vie associative doit etre facilite activement par les ESSMS. L'isolement social est un facteur de regression : la participation a la vie de la cite est un droit fondamental.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62472" y="3730752"/>
            <a:ext cx="5577840" cy="2487168"/>
          </a:xfrm>
          <a:prstGeom prst="rect">
            <a:avLst/>
          </a:prstGeom>
          <a:solidFill>
            <a:srgbClr val="C084FC">
              <a:alpha val="9000"/>
            </a:srgbClr>
          </a:solidFill>
          <a:ln w="6350">
            <a:solidFill>
              <a:srgbClr val="C084F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62472" y="3730752"/>
            <a:ext cx="73152" cy="2487168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89534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8953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C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67144" y="3895344"/>
            <a:ext cx="46085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Autodetermination : la personne, acteur de son parcours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45352" y="4498848"/>
            <a:ext cx="5230368" cy="1572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BC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decisions doivent associer la personne TDI, avec des outils adaptes (FALC, pictogrammes). La pair-aidance et le mentorat constituent une ressource puissante et sous-exploitee dans les pratiques actuelles.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2026-04-17T20:11:02Z</dcterms:created>
  <dcterms:modified xsi:type="dcterms:W3CDTF">2026-04-17T20:11:02Z</dcterms:modified>
</cp:coreProperties>
</file>