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F1E"/>
        </a:solidFill>
      </p:bgPr>
    </p:bg>
    <p:spTree>
      <p:nvGrpSpPr>
        <p:cNvPr id="1" name=""/>
        <p:cNvGrpSpPr/>
        <p:nvPr/>
      </p:nvGrpSpPr>
      <p:grpSpPr>
        <a:xfrm>
          <a:off x="0" y="0"/>
          <a:ext cx="0" cy="0"/>
          <a:chOff x="0" y="0"/>
          <a:chExt cx="0" cy="0"/>
        </a:xfrm>
      </p:grpSpPr>
      <p:sp>
        <p:nvSpPr>
          <p:cNvPr id="2" name="Shape 0"/>
          <p:cNvSpPr/>
          <p:nvPr/>
        </p:nvSpPr>
        <p:spPr>
          <a:xfrm>
            <a:off x="8046720" y="-731520"/>
            <a:ext cx="3657600" cy="3657600"/>
          </a:xfrm>
          <a:prstGeom prst="ellipse">
            <a:avLst/>
          </a:prstGeom>
          <a:solidFill>
            <a:srgbClr val="2563EB">
              <a:alpha val="30000"/>
            </a:srgbClr>
          </a:solidFill>
          <a:ln w="12700">
            <a:solidFill>
              <a:srgbClr val="2563EB">
                <a:alpha val="30000"/>
              </a:srgbClr>
            </a:solidFill>
            <a:prstDash val="solid"/>
          </a:ln>
        </p:spPr>
      </p:sp>
      <p:sp>
        <p:nvSpPr>
          <p:cNvPr id="3" name="Shape 1"/>
          <p:cNvSpPr/>
          <p:nvPr/>
        </p:nvSpPr>
        <p:spPr>
          <a:xfrm>
            <a:off x="9601200" y="4754880"/>
            <a:ext cx="2926080" cy="2926080"/>
          </a:xfrm>
          <a:prstGeom prst="ellipse">
            <a:avLst/>
          </a:prstGeom>
          <a:solidFill>
            <a:srgbClr val="B45309">
              <a:alpha val="25000"/>
            </a:srgbClr>
          </a:solidFill>
          <a:ln w="12700">
            <a:solidFill>
              <a:srgbClr val="B45309">
                <a:alpha val="25000"/>
              </a:srgbClr>
            </a:solidFill>
            <a:prstDash val="solid"/>
          </a:ln>
        </p:spPr>
      </p:sp>
      <p:sp>
        <p:nvSpPr>
          <p:cNvPr id="4" name="Shape 2"/>
          <p:cNvSpPr/>
          <p:nvPr/>
        </p:nvSpPr>
        <p:spPr>
          <a:xfrm>
            <a:off x="-548640" y="5303520"/>
            <a:ext cx="2560320" cy="2560320"/>
          </a:xfrm>
          <a:prstGeom prst="ellipse">
            <a:avLst/>
          </a:prstGeom>
          <a:solidFill>
            <a:srgbClr val="7C3AED">
              <a:alpha val="20000"/>
            </a:srgbClr>
          </a:solidFill>
          <a:ln w="12700">
            <a:solidFill>
              <a:srgbClr val="7C3AED">
                <a:alpha val="20000"/>
              </a:srgbClr>
            </a:solidFill>
            <a:prstDash val="solid"/>
          </a:ln>
        </p:spPr>
      </p:sp>
      <p:sp>
        <p:nvSpPr>
          <p:cNvPr id="5" name="Shape 3"/>
          <p:cNvSpPr/>
          <p:nvPr/>
        </p:nvSpPr>
        <p:spPr>
          <a:xfrm>
            <a:off x="7772400" y="0"/>
            <a:ext cx="4416552" cy="6858000"/>
          </a:xfrm>
          <a:prstGeom prst="rect">
            <a:avLst/>
          </a:prstGeom>
          <a:solidFill>
            <a:srgbClr val="2563EB">
              <a:alpha val="16000"/>
            </a:srgbClr>
          </a:solidFill>
          <a:ln w="12700">
            <a:solidFill>
              <a:srgbClr val="2563EB">
                <a:alpha val="16000"/>
              </a:srgbClr>
            </a:solidFill>
            <a:prstDash val="solid"/>
          </a:ln>
        </p:spPr>
      </p:sp>
      <p:sp>
        <p:nvSpPr>
          <p:cNvPr id="6" name="Shape 4"/>
          <p:cNvSpPr/>
          <p:nvPr/>
        </p:nvSpPr>
        <p:spPr>
          <a:xfrm>
            <a:off x="548640" y="1097280"/>
            <a:ext cx="3017520" cy="402336"/>
          </a:xfrm>
          <a:prstGeom prst="roundRect">
            <a:avLst>
              <a:gd name="adj" fmla="val 11364"/>
            </a:avLst>
          </a:prstGeom>
          <a:solidFill>
            <a:srgbClr val="2563EB"/>
          </a:solidFill>
          <a:ln w="12700">
            <a:solidFill>
              <a:srgbClr val="2563EB"/>
            </a:solidFill>
            <a:prstDash val="solid"/>
          </a:ln>
        </p:spPr>
      </p:sp>
      <p:sp>
        <p:nvSpPr>
          <p:cNvPr id="7" name="Text 5"/>
          <p:cNvSpPr/>
          <p:nvPr/>
        </p:nvSpPr>
        <p:spPr>
          <a:xfrm>
            <a:off x="548640" y="1097280"/>
            <a:ext cx="3017520" cy="402336"/>
          </a:xfrm>
          <a:prstGeom prst="rect">
            <a:avLst/>
          </a:prstGeom>
          <a:noFill/>
          <a:ln/>
        </p:spPr>
        <p:txBody>
          <a:bodyPr wrap="square" rtlCol="0" anchor="ctr"/>
          <a:lstStyle/>
          <a:p>
            <a:pPr algn="ctr" indent="0" marL="0">
              <a:buNone/>
            </a:pPr>
            <a:r>
              <a:rPr lang="en-US" sz="1200" b="1" dirty="0">
                <a:solidFill>
                  <a:srgbClr val="0C0F1E"/>
                </a:solidFill>
                <a:latin typeface="Calibri" pitchFamily="34" charset="0"/>
                <a:ea typeface="Calibri" pitchFamily="34" charset="-122"/>
                <a:cs typeface="Calibri" pitchFamily="34" charset="-120"/>
              </a:rPr>
              <a:t>HAS · RBPP · Troubles schizophréniques</a:t>
            </a:r>
            <a:endParaRPr lang="en-US" sz="1200" dirty="0"/>
          </a:p>
        </p:txBody>
      </p:sp>
      <p:sp>
        <p:nvSpPr>
          <p:cNvPr id="8" name="Text 6"/>
          <p:cNvSpPr/>
          <p:nvPr/>
        </p:nvSpPr>
        <p:spPr>
          <a:xfrm>
            <a:off x="548640" y="1609344"/>
            <a:ext cx="7040880" cy="10058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Diagnostic et évaluation</a:t>
            </a:r>
            <a:endParaRPr lang="en-US" sz="3200" dirty="0"/>
          </a:p>
        </p:txBody>
      </p:sp>
      <p:sp>
        <p:nvSpPr>
          <p:cNvPr id="9" name="Text 7"/>
          <p:cNvSpPr/>
          <p:nvPr/>
        </p:nvSpPr>
        <p:spPr>
          <a:xfrm>
            <a:off x="548640" y="2560320"/>
            <a:ext cx="7040880" cy="14630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des troubles</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schizophréniques</a:t>
            </a:r>
            <a:endParaRPr lang="en-US" sz="3200" dirty="0"/>
          </a:p>
        </p:txBody>
      </p:sp>
      <p:sp>
        <p:nvSpPr>
          <p:cNvPr id="10" name="Text 8"/>
          <p:cNvSpPr/>
          <p:nvPr/>
        </p:nvSpPr>
        <p:spPr>
          <a:xfrm>
            <a:off x="548640" y="4160520"/>
            <a:ext cx="7040880" cy="365760"/>
          </a:xfrm>
          <a:prstGeom prst="rect">
            <a:avLst/>
          </a:prstGeom>
          <a:noFill/>
          <a:ln/>
        </p:spPr>
        <p:txBody>
          <a:bodyPr wrap="square" rtlCol="0" anchor="ctr"/>
          <a:lstStyle/>
          <a:p>
            <a:pPr indent="0" marL="0">
              <a:buNone/>
            </a:pPr>
            <a:r>
              <a:rPr lang="en-US" sz="1600" dirty="0">
                <a:solidFill>
                  <a:srgbClr val="C0D0E8"/>
                </a:solidFill>
                <a:latin typeface="Calibri" pitchFamily="34" charset="0"/>
                <a:ea typeface="Calibri" pitchFamily="34" charset="-122"/>
                <a:cs typeface="Calibri" pitchFamily="34" charset="-120"/>
              </a:rPr>
              <a:t>Note de cadrage HAS — Adoptée le 8 avril 2026</a:t>
            </a:r>
            <a:endParaRPr lang="en-US" sz="1600" dirty="0"/>
          </a:p>
        </p:txBody>
      </p:sp>
      <p:sp>
        <p:nvSpPr>
          <p:cNvPr id="11" name="Text 9"/>
          <p:cNvSpPr/>
          <p:nvPr/>
        </p:nvSpPr>
        <p:spPr>
          <a:xfrm>
            <a:off x="548640" y="4617720"/>
            <a:ext cx="7040880" cy="32004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Palette Cérébral Nocturne · Infographie ESSMS · 26 avril 2026</a:t>
            </a:r>
            <a:endParaRPr lang="en-US" sz="1300" dirty="0"/>
          </a:p>
        </p:txBody>
      </p:sp>
      <p:sp>
        <p:nvSpPr>
          <p:cNvPr id="12" name="Shape 10"/>
          <p:cNvSpPr/>
          <p:nvPr/>
        </p:nvSpPr>
        <p:spPr>
          <a:xfrm>
            <a:off x="548640" y="5394960"/>
            <a:ext cx="1234440" cy="274320"/>
          </a:xfrm>
          <a:prstGeom prst="roundRect">
            <a:avLst>
              <a:gd name="adj" fmla="val 10000"/>
            </a:avLst>
          </a:prstGeom>
          <a:solidFill>
            <a:srgbClr val="2563EB"/>
          </a:solidFill>
          <a:ln w="12700">
            <a:solidFill>
              <a:srgbClr val="2563EB"/>
            </a:solidFill>
            <a:prstDash val="solid"/>
          </a:ln>
        </p:spPr>
      </p:sp>
      <p:sp>
        <p:nvSpPr>
          <p:cNvPr id="13" name="Text 11"/>
          <p:cNvSpPr/>
          <p:nvPr/>
        </p:nvSpPr>
        <p:spPr>
          <a:xfrm>
            <a:off x="548640"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01 Épidémiologie</a:t>
            </a:r>
            <a:endParaRPr lang="en-US" sz="650" dirty="0"/>
          </a:p>
        </p:txBody>
      </p:sp>
      <p:sp>
        <p:nvSpPr>
          <p:cNvPr id="14" name="Shape 12"/>
          <p:cNvSpPr/>
          <p:nvPr/>
        </p:nvSpPr>
        <p:spPr>
          <a:xfrm>
            <a:off x="1938528" y="5394960"/>
            <a:ext cx="1234440" cy="274320"/>
          </a:xfrm>
          <a:prstGeom prst="roundRect">
            <a:avLst>
              <a:gd name="adj" fmla="val 10000"/>
            </a:avLst>
          </a:prstGeom>
          <a:solidFill>
            <a:srgbClr val="C026A0"/>
          </a:solidFill>
          <a:ln w="12700">
            <a:solidFill>
              <a:srgbClr val="C026A0"/>
            </a:solidFill>
            <a:prstDash val="solid"/>
          </a:ln>
        </p:spPr>
      </p:sp>
      <p:sp>
        <p:nvSpPr>
          <p:cNvPr id="15" name="Text 13"/>
          <p:cNvSpPr/>
          <p:nvPr/>
        </p:nvSpPr>
        <p:spPr>
          <a:xfrm>
            <a:off x="1938528"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02 Tableaux cliniques</a:t>
            </a:r>
            <a:endParaRPr lang="en-US" sz="650" dirty="0"/>
          </a:p>
        </p:txBody>
      </p:sp>
      <p:sp>
        <p:nvSpPr>
          <p:cNvPr id="16" name="Shape 14"/>
          <p:cNvSpPr/>
          <p:nvPr/>
        </p:nvSpPr>
        <p:spPr>
          <a:xfrm>
            <a:off x="3328416" y="5394960"/>
            <a:ext cx="1234440" cy="274320"/>
          </a:xfrm>
          <a:prstGeom prst="roundRect">
            <a:avLst>
              <a:gd name="adj" fmla="val 10000"/>
            </a:avLst>
          </a:prstGeom>
          <a:solidFill>
            <a:srgbClr val="EA580C"/>
          </a:solidFill>
          <a:ln w="12700">
            <a:solidFill>
              <a:srgbClr val="EA580C"/>
            </a:solidFill>
            <a:prstDash val="solid"/>
          </a:ln>
        </p:spPr>
      </p:sp>
      <p:sp>
        <p:nvSpPr>
          <p:cNvPr id="17" name="Text 15"/>
          <p:cNvSpPr/>
          <p:nvPr/>
        </p:nvSpPr>
        <p:spPr>
          <a:xfrm>
            <a:off x="3328416"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03 Facteurs de risque</a:t>
            </a:r>
            <a:endParaRPr lang="en-US" sz="650" dirty="0"/>
          </a:p>
        </p:txBody>
      </p:sp>
      <p:sp>
        <p:nvSpPr>
          <p:cNvPr id="18" name="Shape 16"/>
          <p:cNvSpPr/>
          <p:nvPr/>
        </p:nvSpPr>
        <p:spPr>
          <a:xfrm>
            <a:off x="4718304" y="5394960"/>
            <a:ext cx="1234440" cy="274320"/>
          </a:xfrm>
          <a:prstGeom prst="roundRect">
            <a:avLst>
              <a:gd name="adj" fmla="val 10000"/>
            </a:avLst>
          </a:prstGeom>
          <a:solidFill>
            <a:srgbClr val="DC2626"/>
          </a:solidFill>
          <a:ln w="12700">
            <a:solidFill>
              <a:srgbClr val="DC2626"/>
            </a:solidFill>
            <a:prstDash val="solid"/>
          </a:ln>
        </p:spPr>
      </p:sp>
      <p:sp>
        <p:nvSpPr>
          <p:cNvPr id="19" name="Text 17"/>
          <p:cNvSpPr/>
          <p:nvPr/>
        </p:nvSpPr>
        <p:spPr>
          <a:xfrm>
            <a:off x="4718304"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04 Comorbidités</a:t>
            </a:r>
            <a:endParaRPr lang="en-US" sz="650" dirty="0"/>
          </a:p>
        </p:txBody>
      </p:sp>
      <p:sp>
        <p:nvSpPr>
          <p:cNvPr id="20" name="Shape 18"/>
          <p:cNvSpPr/>
          <p:nvPr/>
        </p:nvSpPr>
        <p:spPr>
          <a:xfrm>
            <a:off x="6108192" y="5394960"/>
            <a:ext cx="1234440" cy="274320"/>
          </a:xfrm>
          <a:prstGeom prst="roundRect">
            <a:avLst>
              <a:gd name="adj" fmla="val 10000"/>
            </a:avLst>
          </a:prstGeom>
          <a:solidFill>
            <a:srgbClr val="0891B2"/>
          </a:solidFill>
          <a:ln w="12700">
            <a:solidFill>
              <a:srgbClr val="0891B2"/>
            </a:solidFill>
            <a:prstDash val="solid"/>
          </a:ln>
        </p:spPr>
      </p:sp>
      <p:sp>
        <p:nvSpPr>
          <p:cNvPr id="21" name="Text 19"/>
          <p:cNvSpPr/>
          <p:nvPr/>
        </p:nvSpPr>
        <p:spPr>
          <a:xfrm>
            <a:off x="6108192"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05 Outils diagnostiques</a:t>
            </a:r>
            <a:endParaRPr lang="en-US" sz="650" dirty="0"/>
          </a:p>
        </p:txBody>
      </p:sp>
      <p:sp>
        <p:nvSpPr>
          <p:cNvPr id="22" name="Shape 20"/>
          <p:cNvSpPr/>
          <p:nvPr/>
        </p:nvSpPr>
        <p:spPr>
          <a:xfrm>
            <a:off x="7498080" y="5394960"/>
            <a:ext cx="1234440" cy="274320"/>
          </a:xfrm>
          <a:prstGeom prst="roundRect">
            <a:avLst>
              <a:gd name="adj" fmla="val 10000"/>
            </a:avLst>
          </a:prstGeom>
          <a:solidFill>
            <a:srgbClr val="059669"/>
          </a:solidFill>
          <a:ln w="12700">
            <a:solidFill>
              <a:srgbClr val="059669"/>
            </a:solidFill>
            <a:prstDash val="solid"/>
          </a:ln>
        </p:spPr>
      </p:sp>
      <p:sp>
        <p:nvSpPr>
          <p:cNvPr id="23" name="Text 21"/>
          <p:cNvSpPr/>
          <p:nvPr/>
        </p:nvSpPr>
        <p:spPr>
          <a:xfrm>
            <a:off x="7498080"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06 Évaluation fonctionnelle</a:t>
            </a:r>
            <a:endParaRPr lang="en-US" sz="650" dirty="0"/>
          </a:p>
        </p:txBody>
      </p:sp>
      <p:sp>
        <p:nvSpPr>
          <p:cNvPr id="24" name="Shape 22"/>
          <p:cNvSpPr/>
          <p:nvPr/>
        </p:nvSpPr>
        <p:spPr>
          <a:xfrm>
            <a:off x="8887968" y="5394960"/>
            <a:ext cx="1234440" cy="274320"/>
          </a:xfrm>
          <a:prstGeom prst="roundRect">
            <a:avLst>
              <a:gd name="adj" fmla="val 10000"/>
            </a:avLst>
          </a:prstGeom>
          <a:solidFill>
            <a:srgbClr val="7C3AED"/>
          </a:solidFill>
          <a:ln w="12700">
            <a:solidFill>
              <a:srgbClr val="7C3AED"/>
            </a:solidFill>
            <a:prstDash val="solid"/>
          </a:ln>
        </p:spPr>
      </p:sp>
      <p:sp>
        <p:nvSpPr>
          <p:cNvPr id="25" name="Text 23"/>
          <p:cNvSpPr/>
          <p:nvPr/>
        </p:nvSpPr>
        <p:spPr>
          <a:xfrm>
            <a:off x="8887968"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07 Rétablissement</a:t>
            </a:r>
            <a:endParaRPr lang="en-US" sz="650" dirty="0"/>
          </a:p>
        </p:txBody>
      </p:sp>
      <p:sp>
        <p:nvSpPr>
          <p:cNvPr id="26" name="Shape 24"/>
          <p:cNvSpPr/>
          <p:nvPr/>
        </p:nvSpPr>
        <p:spPr>
          <a:xfrm>
            <a:off x="10277856" y="5394960"/>
            <a:ext cx="1234440" cy="274320"/>
          </a:xfrm>
          <a:prstGeom prst="roundRect">
            <a:avLst>
              <a:gd name="adj" fmla="val 10000"/>
            </a:avLst>
          </a:prstGeom>
          <a:solidFill>
            <a:srgbClr val="B45309"/>
          </a:solidFill>
          <a:ln w="12700">
            <a:solidFill>
              <a:srgbClr val="B45309"/>
            </a:solidFill>
            <a:prstDash val="solid"/>
          </a:ln>
        </p:spPr>
      </p:sp>
      <p:sp>
        <p:nvSpPr>
          <p:cNvPr id="27" name="Text 25"/>
          <p:cNvSpPr/>
          <p:nvPr/>
        </p:nvSpPr>
        <p:spPr>
          <a:xfrm>
            <a:off x="10277856" y="5394960"/>
            <a:ext cx="1234440" cy="274320"/>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08 Enjeux &amp; Objectifs</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F1E"/>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51A2E"/>
          </a:solidFill>
          <a:ln w="12700">
            <a:solidFill>
              <a:srgbClr val="151A2E"/>
            </a:solidFill>
            <a:prstDash val="solid"/>
          </a:ln>
        </p:spPr>
      </p:sp>
      <p:sp>
        <p:nvSpPr>
          <p:cNvPr id="3" name="Shape 1"/>
          <p:cNvSpPr/>
          <p:nvPr/>
        </p:nvSpPr>
        <p:spPr>
          <a:xfrm>
            <a:off x="0" y="6748272"/>
            <a:ext cx="12188952" cy="109728"/>
          </a:xfrm>
          <a:prstGeom prst="rect">
            <a:avLst/>
          </a:prstGeom>
          <a:solidFill>
            <a:srgbClr val="151A2E"/>
          </a:solidFill>
          <a:ln w="12700">
            <a:solidFill>
              <a:srgbClr val="151A2E"/>
            </a:solidFill>
            <a:prstDash val="solid"/>
          </a:ln>
        </p:spPr>
      </p:sp>
      <p:sp>
        <p:nvSpPr>
          <p:cNvPr id="4" name="Text 2"/>
          <p:cNvSpPr/>
          <p:nvPr/>
        </p:nvSpPr>
        <p:spPr>
          <a:xfrm>
            <a:off x="274320" y="201168"/>
            <a:ext cx="11430000" cy="47548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Épidémiologie, clinique, facteurs de risque et comorbidités</a:t>
            </a:r>
            <a:endParaRPr lang="en-US" sz="2200" dirty="0"/>
          </a:p>
        </p:txBody>
      </p:sp>
      <p:sp>
        <p:nvSpPr>
          <p:cNvPr id="5" name="Text 3"/>
          <p:cNvSpPr/>
          <p:nvPr/>
        </p:nvSpPr>
        <p:spPr>
          <a:xfrm>
            <a:off x="274320" y="676656"/>
            <a:ext cx="11430000" cy="310896"/>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Schizophrénie — Note de cadrage HAS, 8 avril 2026 — Axes 1 à 4</a:t>
            </a:r>
            <a:endParaRPr lang="en-US" sz="1100" dirty="0"/>
          </a:p>
        </p:txBody>
      </p:sp>
      <p:sp>
        <p:nvSpPr>
          <p:cNvPr id="6" name="Shape 4"/>
          <p:cNvSpPr/>
          <p:nvPr/>
        </p:nvSpPr>
        <p:spPr>
          <a:xfrm>
            <a:off x="320040" y="1115568"/>
            <a:ext cx="2743200" cy="5522976"/>
          </a:xfrm>
          <a:prstGeom prst="rect">
            <a:avLst/>
          </a:prstGeom>
          <a:solidFill>
            <a:srgbClr val="2563EB">
              <a:alpha val="9000"/>
            </a:srgbClr>
          </a:solidFill>
          <a:ln w="6350">
            <a:solidFill>
              <a:srgbClr val="2563EB">
                <a:alpha val="35000"/>
              </a:srgbClr>
            </a:solidFill>
            <a:prstDash val="solid"/>
          </a:ln>
        </p:spPr>
      </p:sp>
      <p:sp>
        <p:nvSpPr>
          <p:cNvPr id="7" name="Shape 5"/>
          <p:cNvSpPr/>
          <p:nvPr/>
        </p:nvSpPr>
        <p:spPr>
          <a:xfrm>
            <a:off x="320040" y="1115568"/>
            <a:ext cx="2743200" cy="91440"/>
          </a:xfrm>
          <a:prstGeom prst="rect">
            <a:avLst/>
          </a:prstGeom>
          <a:solidFill>
            <a:srgbClr val="2563EB"/>
          </a:solidFill>
          <a:ln w="12700">
            <a:solidFill>
              <a:srgbClr val="2563EB"/>
            </a:solidFill>
            <a:prstDash val="solid"/>
          </a:ln>
        </p:spPr>
      </p:sp>
      <p:sp>
        <p:nvSpPr>
          <p:cNvPr id="8" name="Shape 6"/>
          <p:cNvSpPr/>
          <p:nvPr/>
        </p:nvSpPr>
        <p:spPr>
          <a:xfrm>
            <a:off x="429768" y="1271016"/>
            <a:ext cx="457200" cy="256032"/>
          </a:xfrm>
          <a:prstGeom prst="roundRect">
            <a:avLst>
              <a:gd name="adj" fmla="val 14286"/>
            </a:avLst>
          </a:prstGeom>
          <a:solidFill>
            <a:srgbClr val="2563EB"/>
          </a:solidFill>
          <a:ln w="12700">
            <a:solidFill>
              <a:srgbClr val="2563EB"/>
            </a:solidFill>
            <a:prstDash val="solid"/>
          </a:ln>
        </p:spPr>
      </p:sp>
      <p:sp>
        <p:nvSpPr>
          <p:cNvPr id="9" name="Text 7"/>
          <p:cNvSpPr/>
          <p:nvPr/>
        </p:nvSpPr>
        <p:spPr>
          <a:xfrm>
            <a:off x="429768"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429768"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Épidémiologie</a:t>
            </a:r>
            <a:endParaRPr lang="en-US" sz="1300" dirty="0"/>
          </a:p>
        </p:txBody>
      </p:sp>
      <p:sp>
        <p:nvSpPr>
          <p:cNvPr id="11" name="Text 9"/>
          <p:cNvSpPr/>
          <p:nvPr/>
        </p:nvSpPr>
        <p:spPr>
          <a:xfrm>
            <a:off x="429768" y="2286000"/>
            <a:ext cx="2523744" cy="274320"/>
          </a:xfrm>
          <a:prstGeom prst="rect">
            <a:avLst/>
          </a:prstGeom>
          <a:noFill/>
          <a:ln/>
        </p:spPr>
        <p:txBody>
          <a:bodyPr wrap="square" rtlCol="0" anchor="ctr"/>
          <a:lstStyle/>
          <a:p>
            <a:pPr indent="0" marL="0">
              <a:buNone/>
            </a:pPr>
            <a:r>
              <a:rPr lang="en-US" sz="850" i="1" dirty="0">
                <a:solidFill>
                  <a:srgbClr val="2563EB"/>
                </a:solidFill>
                <a:latin typeface="Calibri" pitchFamily="34" charset="0"/>
                <a:ea typeface="Calibri" pitchFamily="34" charset="-122"/>
                <a:cs typeface="Calibri" pitchFamily="34" charset="-120"/>
              </a:rPr>
              <a:t>Prévalence · DUP · Fardeau</a:t>
            </a:r>
            <a:endParaRPr lang="en-US" sz="850" dirty="0"/>
          </a:p>
        </p:txBody>
      </p:sp>
      <p:sp>
        <p:nvSpPr>
          <p:cNvPr id="12" name="Shape 10"/>
          <p:cNvSpPr/>
          <p:nvPr/>
        </p:nvSpPr>
        <p:spPr>
          <a:xfrm>
            <a:off x="429768" y="2596896"/>
            <a:ext cx="2523744" cy="16459"/>
          </a:xfrm>
          <a:prstGeom prst="rect">
            <a:avLst/>
          </a:prstGeom>
          <a:solidFill>
            <a:srgbClr val="2563EB">
              <a:alpha val="50000"/>
            </a:srgbClr>
          </a:solidFill>
          <a:ln w="6350">
            <a:solidFill>
              <a:srgbClr val="2563EB"/>
            </a:solidFill>
            <a:prstDash val="solid"/>
          </a:ln>
        </p:spPr>
      </p:sp>
      <p:sp>
        <p:nvSpPr>
          <p:cNvPr id="13" name="Shape 11"/>
          <p:cNvSpPr/>
          <p:nvPr/>
        </p:nvSpPr>
        <p:spPr>
          <a:xfrm>
            <a:off x="429768" y="2724912"/>
            <a:ext cx="41148" cy="493776"/>
          </a:xfrm>
          <a:prstGeom prst="rect">
            <a:avLst/>
          </a:prstGeom>
          <a:solidFill>
            <a:srgbClr val="2563EB"/>
          </a:solidFill>
          <a:ln w="6350">
            <a:solidFill>
              <a:srgbClr val="2563EB"/>
            </a:solidFill>
            <a:prstDash val="solid"/>
          </a:ln>
        </p:spPr>
      </p:sp>
      <p:sp>
        <p:nvSpPr>
          <p:cNvPr id="14" name="Text 12"/>
          <p:cNvSpPr/>
          <p:nvPr/>
        </p:nvSpPr>
        <p:spPr>
          <a:xfrm>
            <a:off x="539496"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23 M personnes (0,43 %) ; France 235 000 (3,7 ‰)</a:t>
            </a:r>
            <a:endParaRPr lang="en-US" sz="950" dirty="0"/>
          </a:p>
        </p:txBody>
      </p:sp>
      <p:sp>
        <p:nvSpPr>
          <p:cNvPr id="15" name="Shape 13"/>
          <p:cNvSpPr/>
          <p:nvPr/>
        </p:nvSpPr>
        <p:spPr>
          <a:xfrm>
            <a:off x="429768" y="3419856"/>
            <a:ext cx="41148" cy="493776"/>
          </a:xfrm>
          <a:prstGeom prst="rect">
            <a:avLst/>
          </a:prstGeom>
          <a:solidFill>
            <a:srgbClr val="2563EB"/>
          </a:solidFill>
          <a:ln w="6350">
            <a:solidFill>
              <a:srgbClr val="2563EB"/>
            </a:solidFill>
            <a:prstDash val="solid"/>
          </a:ln>
        </p:spPr>
      </p:sp>
      <p:sp>
        <p:nvSpPr>
          <p:cNvPr id="16" name="Text 14"/>
          <p:cNvSpPr/>
          <p:nvPr/>
        </p:nvSpPr>
        <p:spPr>
          <a:xfrm>
            <a:off x="539496"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DUP moyen 42,6 sem. — 47 % &gt; 2 ans sans diagnostic</a:t>
            </a:r>
            <a:endParaRPr lang="en-US" sz="950" dirty="0"/>
          </a:p>
        </p:txBody>
      </p:sp>
      <p:sp>
        <p:nvSpPr>
          <p:cNvPr id="17" name="Shape 15"/>
          <p:cNvSpPr/>
          <p:nvPr/>
        </p:nvSpPr>
        <p:spPr>
          <a:xfrm>
            <a:off x="429768" y="4114800"/>
            <a:ext cx="41148" cy="493776"/>
          </a:xfrm>
          <a:prstGeom prst="rect">
            <a:avLst/>
          </a:prstGeom>
          <a:solidFill>
            <a:srgbClr val="2563EB"/>
          </a:solidFill>
          <a:ln w="6350">
            <a:solidFill>
              <a:srgbClr val="2563EB"/>
            </a:solidFill>
            <a:prstDash val="solid"/>
          </a:ln>
        </p:spPr>
      </p:sp>
      <p:sp>
        <p:nvSpPr>
          <p:cNvPr id="18" name="Text 16"/>
          <p:cNvSpPr/>
          <p:nvPr/>
        </p:nvSpPr>
        <p:spPr>
          <a:xfrm>
            <a:off x="539496"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Espérance de vie −11 à −18 ans vs population générale</a:t>
            </a:r>
            <a:endParaRPr lang="en-US" sz="950" dirty="0"/>
          </a:p>
        </p:txBody>
      </p:sp>
      <p:sp>
        <p:nvSpPr>
          <p:cNvPr id="19" name="Shape 17"/>
          <p:cNvSpPr/>
          <p:nvPr/>
        </p:nvSpPr>
        <p:spPr>
          <a:xfrm>
            <a:off x="429768" y="4809744"/>
            <a:ext cx="41148" cy="493776"/>
          </a:xfrm>
          <a:prstGeom prst="rect">
            <a:avLst/>
          </a:prstGeom>
          <a:solidFill>
            <a:srgbClr val="2563EB"/>
          </a:solidFill>
          <a:ln w="6350">
            <a:solidFill>
              <a:srgbClr val="2563EB"/>
            </a:solidFill>
            <a:prstDash val="solid"/>
          </a:ln>
        </p:spPr>
      </p:sp>
      <p:sp>
        <p:nvSpPr>
          <p:cNvPr id="20" name="Text 18"/>
          <p:cNvSpPr/>
          <p:nvPr/>
        </p:nvSpPr>
        <p:spPr>
          <a:xfrm>
            <a:off x="539496"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3 % du budget de l'Assurance Maladie</a:t>
            </a:r>
            <a:endParaRPr lang="en-US" sz="950" dirty="0"/>
          </a:p>
        </p:txBody>
      </p:sp>
      <p:sp>
        <p:nvSpPr>
          <p:cNvPr id="21" name="Shape 19"/>
          <p:cNvSpPr/>
          <p:nvPr/>
        </p:nvSpPr>
        <p:spPr>
          <a:xfrm>
            <a:off x="3227832" y="1115568"/>
            <a:ext cx="2743200" cy="5522976"/>
          </a:xfrm>
          <a:prstGeom prst="rect">
            <a:avLst/>
          </a:prstGeom>
          <a:solidFill>
            <a:srgbClr val="C026A0">
              <a:alpha val="9000"/>
            </a:srgbClr>
          </a:solidFill>
          <a:ln w="6350">
            <a:solidFill>
              <a:srgbClr val="C026A0">
                <a:alpha val="35000"/>
              </a:srgbClr>
            </a:solidFill>
            <a:prstDash val="solid"/>
          </a:ln>
        </p:spPr>
      </p:sp>
      <p:sp>
        <p:nvSpPr>
          <p:cNvPr id="22" name="Shape 20"/>
          <p:cNvSpPr/>
          <p:nvPr/>
        </p:nvSpPr>
        <p:spPr>
          <a:xfrm>
            <a:off x="3227832" y="1115568"/>
            <a:ext cx="2743200" cy="91440"/>
          </a:xfrm>
          <a:prstGeom prst="rect">
            <a:avLst/>
          </a:prstGeom>
          <a:solidFill>
            <a:srgbClr val="C026A0"/>
          </a:solidFill>
          <a:ln w="12700">
            <a:solidFill>
              <a:srgbClr val="C026A0"/>
            </a:solidFill>
            <a:prstDash val="solid"/>
          </a:ln>
        </p:spPr>
      </p:sp>
      <p:sp>
        <p:nvSpPr>
          <p:cNvPr id="23" name="Shape 21"/>
          <p:cNvSpPr/>
          <p:nvPr/>
        </p:nvSpPr>
        <p:spPr>
          <a:xfrm>
            <a:off x="3337560" y="1271016"/>
            <a:ext cx="457200" cy="256032"/>
          </a:xfrm>
          <a:prstGeom prst="roundRect">
            <a:avLst>
              <a:gd name="adj" fmla="val 14286"/>
            </a:avLst>
          </a:prstGeom>
          <a:solidFill>
            <a:srgbClr val="C026A0"/>
          </a:solidFill>
          <a:ln w="12700">
            <a:solidFill>
              <a:srgbClr val="C026A0"/>
            </a:solidFill>
            <a:prstDash val="solid"/>
          </a:ln>
        </p:spPr>
      </p:sp>
      <p:sp>
        <p:nvSpPr>
          <p:cNvPr id="24" name="Text 22"/>
          <p:cNvSpPr/>
          <p:nvPr/>
        </p:nvSpPr>
        <p:spPr>
          <a:xfrm>
            <a:off x="3337560"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02</a:t>
            </a:r>
            <a:endParaRPr lang="en-US" sz="1100" dirty="0"/>
          </a:p>
        </p:txBody>
      </p:sp>
      <p:sp>
        <p:nvSpPr>
          <p:cNvPr id="25" name="Text 23"/>
          <p:cNvSpPr/>
          <p:nvPr/>
        </p:nvSpPr>
        <p:spPr>
          <a:xfrm>
            <a:off x="3337560"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Tableaux cliniques</a:t>
            </a:r>
            <a:endParaRPr lang="en-US" sz="1300" dirty="0"/>
          </a:p>
        </p:txBody>
      </p:sp>
      <p:sp>
        <p:nvSpPr>
          <p:cNvPr id="26" name="Text 24"/>
          <p:cNvSpPr/>
          <p:nvPr/>
        </p:nvSpPr>
        <p:spPr>
          <a:xfrm>
            <a:off x="3337560" y="2286000"/>
            <a:ext cx="2523744" cy="274320"/>
          </a:xfrm>
          <a:prstGeom prst="rect">
            <a:avLst/>
          </a:prstGeom>
          <a:noFill/>
          <a:ln/>
        </p:spPr>
        <p:txBody>
          <a:bodyPr wrap="square" rtlCol="0" anchor="ctr"/>
          <a:lstStyle/>
          <a:p>
            <a:pPr indent="0" marL="0">
              <a:buNone/>
            </a:pPr>
            <a:r>
              <a:rPr lang="en-US" sz="850" i="1" dirty="0">
                <a:solidFill>
                  <a:srgbClr val="C026A0"/>
                </a:solidFill>
                <a:latin typeface="Calibri" pitchFamily="34" charset="0"/>
                <a:ea typeface="Calibri" pitchFamily="34" charset="-122"/>
                <a:cs typeface="Calibri" pitchFamily="34" charset="-120"/>
              </a:rPr>
              <a:t>Positifs · Négatifs · Cognitifs</a:t>
            </a:r>
            <a:endParaRPr lang="en-US" sz="850" dirty="0"/>
          </a:p>
        </p:txBody>
      </p:sp>
      <p:sp>
        <p:nvSpPr>
          <p:cNvPr id="27" name="Shape 25"/>
          <p:cNvSpPr/>
          <p:nvPr/>
        </p:nvSpPr>
        <p:spPr>
          <a:xfrm>
            <a:off x="3337560" y="2596896"/>
            <a:ext cx="2523744" cy="16459"/>
          </a:xfrm>
          <a:prstGeom prst="rect">
            <a:avLst/>
          </a:prstGeom>
          <a:solidFill>
            <a:srgbClr val="C026A0">
              <a:alpha val="50000"/>
            </a:srgbClr>
          </a:solidFill>
          <a:ln w="6350">
            <a:solidFill>
              <a:srgbClr val="C026A0"/>
            </a:solidFill>
            <a:prstDash val="solid"/>
          </a:ln>
        </p:spPr>
      </p:sp>
      <p:sp>
        <p:nvSpPr>
          <p:cNvPr id="28" name="Shape 26"/>
          <p:cNvSpPr/>
          <p:nvPr/>
        </p:nvSpPr>
        <p:spPr>
          <a:xfrm>
            <a:off x="3337560" y="2724912"/>
            <a:ext cx="41148" cy="493776"/>
          </a:xfrm>
          <a:prstGeom prst="rect">
            <a:avLst/>
          </a:prstGeom>
          <a:solidFill>
            <a:srgbClr val="C026A0"/>
          </a:solidFill>
          <a:ln w="6350">
            <a:solidFill>
              <a:srgbClr val="C026A0"/>
            </a:solidFill>
            <a:prstDash val="solid"/>
          </a:ln>
        </p:spPr>
      </p:sp>
      <p:sp>
        <p:nvSpPr>
          <p:cNvPr id="29" name="Text 27"/>
          <p:cNvSpPr/>
          <p:nvPr/>
        </p:nvSpPr>
        <p:spPr>
          <a:xfrm>
            <a:off x="3447288"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Positifs : hallucinations auditives, idées délirantes, désorganisation</a:t>
            </a:r>
            <a:endParaRPr lang="en-US" sz="950" dirty="0"/>
          </a:p>
        </p:txBody>
      </p:sp>
      <p:sp>
        <p:nvSpPr>
          <p:cNvPr id="30" name="Shape 28"/>
          <p:cNvSpPr/>
          <p:nvPr/>
        </p:nvSpPr>
        <p:spPr>
          <a:xfrm>
            <a:off x="3337560" y="3419856"/>
            <a:ext cx="41148" cy="493776"/>
          </a:xfrm>
          <a:prstGeom prst="rect">
            <a:avLst/>
          </a:prstGeom>
          <a:solidFill>
            <a:srgbClr val="C026A0"/>
          </a:solidFill>
          <a:ln w="6350">
            <a:solidFill>
              <a:srgbClr val="C026A0"/>
            </a:solidFill>
            <a:prstDash val="solid"/>
          </a:ln>
        </p:spPr>
      </p:sp>
      <p:sp>
        <p:nvSpPr>
          <p:cNvPr id="31" name="Text 29"/>
          <p:cNvSpPr/>
          <p:nvPr/>
        </p:nvSpPr>
        <p:spPr>
          <a:xfrm>
            <a:off x="3447288"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Négatifs : aboulie, anhédonie, alogie, affect émoussé</a:t>
            </a:r>
            <a:endParaRPr lang="en-US" sz="950" dirty="0"/>
          </a:p>
        </p:txBody>
      </p:sp>
      <p:sp>
        <p:nvSpPr>
          <p:cNvPr id="32" name="Shape 30"/>
          <p:cNvSpPr/>
          <p:nvPr/>
        </p:nvSpPr>
        <p:spPr>
          <a:xfrm>
            <a:off x="3337560" y="4114800"/>
            <a:ext cx="41148" cy="493776"/>
          </a:xfrm>
          <a:prstGeom prst="rect">
            <a:avLst/>
          </a:prstGeom>
          <a:solidFill>
            <a:srgbClr val="C026A0"/>
          </a:solidFill>
          <a:ln w="6350">
            <a:solidFill>
              <a:srgbClr val="C026A0"/>
            </a:solidFill>
            <a:prstDash val="solid"/>
          </a:ln>
        </p:spPr>
      </p:sp>
      <p:sp>
        <p:nvSpPr>
          <p:cNvPr id="33" name="Text 31"/>
          <p:cNvSpPr/>
          <p:nvPr/>
        </p:nvSpPr>
        <p:spPr>
          <a:xfrm>
            <a:off x="3447288"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Cognitifs : mémoire de travail, attention, fonctions exécutives</a:t>
            </a:r>
            <a:endParaRPr lang="en-US" sz="950" dirty="0"/>
          </a:p>
        </p:txBody>
      </p:sp>
      <p:sp>
        <p:nvSpPr>
          <p:cNvPr id="34" name="Shape 32"/>
          <p:cNvSpPr/>
          <p:nvPr/>
        </p:nvSpPr>
        <p:spPr>
          <a:xfrm>
            <a:off x="3337560" y="4809744"/>
            <a:ext cx="41148" cy="493776"/>
          </a:xfrm>
          <a:prstGeom prst="rect">
            <a:avLst/>
          </a:prstGeom>
          <a:solidFill>
            <a:srgbClr val="C026A0"/>
          </a:solidFill>
          <a:ln w="6350">
            <a:solidFill>
              <a:srgbClr val="C026A0"/>
            </a:solidFill>
            <a:prstDash val="solid"/>
          </a:ln>
        </p:spPr>
      </p:sp>
      <p:sp>
        <p:nvSpPr>
          <p:cNvPr id="35" name="Text 33"/>
          <p:cNvSpPr/>
          <p:nvPr/>
        </p:nvSpPr>
        <p:spPr>
          <a:xfrm>
            <a:off x="3447288"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70 % d'installation insidieuse — diagnostic difficile</a:t>
            </a:r>
            <a:endParaRPr lang="en-US" sz="950" dirty="0"/>
          </a:p>
        </p:txBody>
      </p:sp>
      <p:sp>
        <p:nvSpPr>
          <p:cNvPr id="36" name="Shape 34"/>
          <p:cNvSpPr/>
          <p:nvPr/>
        </p:nvSpPr>
        <p:spPr>
          <a:xfrm>
            <a:off x="6135624" y="1115568"/>
            <a:ext cx="2743200" cy="5522976"/>
          </a:xfrm>
          <a:prstGeom prst="rect">
            <a:avLst/>
          </a:prstGeom>
          <a:solidFill>
            <a:srgbClr val="EA580C">
              <a:alpha val="9000"/>
            </a:srgbClr>
          </a:solidFill>
          <a:ln w="6350">
            <a:solidFill>
              <a:srgbClr val="EA580C">
                <a:alpha val="35000"/>
              </a:srgbClr>
            </a:solidFill>
            <a:prstDash val="solid"/>
          </a:ln>
        </p:spPr>
      </p:sp>
      <p:sp>
        <p:nvSpPr>
          <p:cNvPr id="37" name="Shape 35"/>
          <p:cNvSpPr/>
          <p:nvPr/>
        </p:nvSpPr>
        <p:spPr>
          <a:xfrm>
            <a:off x="6135624" y="1115568"/>
            <a:ext cx="2743200" cy="91440"/>
          </a:xfrm>
          <a:prstGeom prst="rect">
            <a:avLst/>
          </a:prstGeom>
          <a:solidFill>
            <a:srgbClr val="EA580C"/>
          </a:solidFill>
          <a:ln w="12700">
            <a:solidFill>
              <a:srgbClr val="EA580C"/>
            </a:solidFill>
            <a:prstDash val="solid"/>
          </a:ln>
        </p:spPr>
      </p:sp>
      <p:sp>
        <p:nvSpPr>
          <p:cNvPr id="38" name="Shape 36"/>
          <p:cNvSpPr/>
          <p:nvPr/>
        </p:nvSpPr>
        <p:spPr>
          <a:xfrm>
            <a:off x="6245352" y="1271016"/>
            <a:ext cx="457200" cy="256032"/>
          </a:xfrm>
          <a:prstGeom prst="roundRect">
            <a:avLst>
              <a:gd name="adj" fmla="val 14286"/>
            </a:avLst>
          </a:prstGeom>
          <a:solidFill>
            <a:srgbClr val="EA580C"/>
          </a:solidFill>
          <a:ln w="12700">
            <a:solidFill>
              <a:srgbClr val="EA580C"/>
            </a:solidFill>
            <a:prstDash val="solid"/>
          </a:ln>
        </p:spPr>
      </p:sp>
      <p:sp>
        <p:nvSpPr>
          <p:cNvPr id="39" name="Text 37"/>
          <p:cNvSpPr/>
          <p:nvPr/>
        </p:nvSpPr>
        <p:spPr>
          <a:xfrm>
            <a:off x="6245352"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03</a:t>
            </a:r>
            <a:endParaRPr lang="en-US" sz="1100" dirty="0"/>
          </a:p>
        </p:txBody>
      </p:sp>
      <p:sp>
        <p:nvSpPr>
          <p:cNvPr id="40" name="Text 38"/>
          <p:cNvSpPr/>
          <p:nvPr/>
        </p:nvSpPr>
        <p:spPr>
          <a:xfrm>
            <a:off x="6245352"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Facteurs de risque</a:t>
            </a:r>
            <a:endParaRPr lang="en-US" sz="1300" dirty="0"/>
          </a:p>
        </p:txBody>
      </p:sp>
      <p:sp>
        <p:nvSpPr>
          <p:cNvPr id="41" name="Text 39"/>
          <p:cNvSpPr/>
          <p:nvPr/>
        </p:nvSpPr>
        <p:spPr>
          <a:xfrm>
            <a:off x="6245352" y="2286000"/>
            <a:ext cx="2523744" cy="274320"/>
          </a:xfrm>
          <a:prstGeom prst="rect">
            <a:avLst/>
          </a:prstGeom>
          <a:noFill/>
          <a:ln/>
        </p:spPr>
        <p:txBody>
          <a:bodyPr wrap="square" rtlCol="0" anchor="ctr"/>
          <a:lstStyle/>
          <a:p>
            <a:pPr indent="0" marL="0">
              <a:buNone/>
            </a:pPr>
            <a:r>
              <a:rPr lang="en-US" sz="850" i="1" dirty="0">
                <a:solidFill>
                  <a:srgbClr val="EA580C"/>
                </a:solidFill>
                <a:latin typeface="Calibri" pitchFamily="34" charset="0"/>
                <a:ea typeface="Calibri" pitchFamily="34" charset="-122"/>
                <a:cs typeface="Calibri" pitchFamily="34" charset="-120"/>
              </a:rPr>
              <a:t>Cannabis · Traumatismes · Urbanisme</a:t>
            </a:r>
            <a:endParaRPr lang="en-US" sz="850" dirty="0"/>
          </a:p>
        </p:txBody>
      </p:sp>
      <p:sp>
        <p:nvSpPr>
          <p:cNvPr id="42" name="Shape 40"/>
          <p:cNvSpPr/>
          <p:nvPr/>
        </p:nvSpPr>
        <p:spPr>
          <a:xfrm>
            <a:off x="6245352" y="2596896"/>
            <a:ext cx="2523744" cy="16459"/>
          </a:xfrm>
          <a:prstGeom prst="rect">
            <a:avLst/>
          </a:prstGeom>
          <a:solidFill>
            <a:srgbClr val="EA580C">
              <a:alpha val="50000"/>
            </a:srgbClr>
          </a:solidFill>
          <a:ln w="6350">
            <a:solidFill>
              <a:srgbClr val="EA580C"/>
            </a:solidFill>
            <a:prstDash val="solid"/>
          </a:ln>
        </p:spPr>
      </p:sp>
      <p:sp>
        <p:nvSpPr>
          <p:cNvPr id="43" name="Shape 41"/>
          <p:cNvSpPr/>
          <p:nvPr/>
        </p:nvSpPr>
        <p:spPr>
          <a:xfrm>
            <a:off x="6245352" y="2724912"/>
            <a:ext cx="41148" cy="493776"/>
          </a:xfrm>
          <a:prstGeom prst="rect">
            <a:avLst/>
          </a:prstGeom>
          <a:solidFill>
            <a:srgbClr val="EA580C"/>
          </a:solidFill>
          <a:ln w="6350">
            <a:solidFill>
              <a:srgbClr val="EA580C"/>
            </a:solidFill>
            <a:prstDash val="solid"/>
          </a:ln>
        </p:spPr>
      </p:sp>
      <p:sp>
        <p:nvSpPr>
          <p:cNvPr id="44" name="Text 42"/>
          <p:cNvSpPr/>
          <p:nvPr/>
        </p:nvSpPr>
        <p:spPr>
          <a:xfrm>
            <a:off x="6355080"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Cannabis OR 2,88 — Traumatismes précoces OR 2,81</a:t>
            </a:r>
            <a:endParaRPr lang="en-US" sz="950" dirty="0"/>
          </a:p>
        </p:txBody>
      </p:sp>
      <p:sp>
        <p:nvSpPr>
          <p:cNvPr id="45" name="Shape 43"/>
          <p:cNvSpPr/>
          <p:nvPr/>
        </p:nvSpPr>
        <p:spPr>
          <a:xfrm>
            <a:off x="6245352" y="3419856"/>
            <a:ext cx="41148" cy="493776"/>
          </a:xfrm>
          <a:prstGeom prst="rect">
            <a:avLst/>
          </a:prstGeom>
          <a:solidFill>
            <a:srgbClr val="EA580C"/>
          </a:solidFill>
          <a:ln w="6350">
            <a:solidFill>
              <a:srgbClr val="EA580C"/>
            </a:solidFill>
            <a:prstDash val="solid"/>
          </a:ln>
        </p:spPr>
      </p:sp>
      <p:sp>
        <p:nvSpPr>
          <p:cNvPr id="46" name="Text 44"/>
          <p:cNvSpPr/>
          <p:nvPr/>
        </p:nvSpPr>
        <p:spPr>
          <a:xfrm>
            <a:off x="6355080"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Milieu urbain OR 2,37 — Migration OR 2,22</a:t>
            </a:r>
            <a:endParaRPr lang="en-US" sz="950" dirty="0"/>
          </a:p>
        </p:txBody>
      </p:sp>
      <p:sp>
        <p:nvSpPr>
          <p:cNvPr id="47" name="Shape 45"/>
          <p:cNvSpPr/>
          <p:nvPr/>
        </p:nvSpPr>
        <p:spPr>
          <a:xfrm>
            <a:off x="6245352" y="4114800"/>
            <a:ext cx="41148" cy="493776"/>
          </a:xfrm>
          <a:prstGeom prst="rect">
            <a:avLst/>
          </a:prstGeom>
          <a:solidFill>
            <a:srgbClr val="EA580C"/>
          </a:solidFill>
          <a:ln w="6350">
            <a:solidFill>
              <a:srgbClr val="EA580C"/>
            </a:solidFill>
            <a:prstDash val="solid"/>
          </a:ln>
        </p:spPr>
      </p:sp>
      <p:sp>
        <p:nvSpPr>
          <p:cNvPr id="48" name="Text 46"/>
          <p:cNvSpPr/>
          <p:nvPr/>
        </p:nvSpPr>
        <p:spPr>
          <a:xfrm>
            <a:off x="6355080"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Héritabilité 60-80 % (études de jumeaux)</a:t>
            </a:r>
            <a:endParaRPr lang="en-US" sz="950" dirty="0"/>
          </a:p>
        </p:txBody>
      </p:sp>
      <p:sp>
        <p:nvSpPr>
          <p:cNvPr id="49" name="Shape 47"/>
          <p:cNvSpPr/>
          <p:nvPr/>
        </p:nvSpPr>
        <p:spPr>
          <a:xfrm>
            <a:off x="6245352" y="4809744"/>
            <a:ext cx="41148" cy="493776"/>
          </a:xfrm>
          <a:prstGeom prst="rect">
            <a:avLst/>
          </a:prstGeom>
          <a:solidFill>
            <a:srgbClr val="EA580C"/>
          </a:solidFill>
          <a:ln w="6350">
            <a:solidFill>
              <a:srgbClr val="EA580C"/>
            </a:solidFill>
            <a:prstDash val="solid"/>
          </a:ln>
        </p:spPr>
      </p:sp>
      <p:sp>
        <p:nvSpPr>
          <p:cNvPr id="50" name="Text 48"/>
          <p:cNvSpPr/>
          <p:nvPr/>
        </p:nvSpPr>
        <p:spPr>
          <a:xfrm>
            <a:off x="6355080"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Modèle stress-vulnérabilité : gènes × environnement</a:t>
            </a:r>
            <a:endParaRPr lang="en-US" sz="950" dirty="0"/>
          </a:p>
        </p:txBody>
      </p:sp>
      <p:sp>
        <p:nvSpPr>
          <p:cNvPr id="51" name="Shape 49"/>
          <p:cNvSpPr/>
          <p:nvPr/>
        </p:nvSpPr>
        <p:spPr>
          <a:xfrm>
            <a:off x="9043416" y="1115568"/>
            <a:ext cx="2743200" cy="5522976"/>
          </a:xfrm>
          <a:prstGeom prst="rect">
            <a:avLst/>
          </a:prstGeom>
          <a:solidFill>
            <a:srgbClr val="DC2626">
              <a:alpha val="9000"/>
            </a:srgbClr>
          </a:solidFill>
          <a:ln w="6350">
            <a:solidFill>
              <a:srgbClr val="DC2626">
                <a:alpha val="35000"/>
              </a:srgbClr>
            </a:solidFill>
            <a:prstDash val="solid"/>
          </a:ln>
        </p:spPr>
      </p:sp>
      <p:sp>
        <p:nvSpPr>
          <p:cNvPr id="52" name="Shape 50"/>
          <p:cNvSpPr/>
          <p:nvPr/>
        </p:nvSpPr>
        <p:spPr>
          <a:xfrm>
            <a:off x="9043416" y="1115568"/>
            <a:ext cx="2743200" cy="91440"/>
          </a:xfrm>
          <a:prstGeom prst="rect">
            <a:avLst/>
          </a:prstGeom>
          <a:solidFill>
            <a:srgbClr val="DC2626"/>
          </a:solidFill>
          <a:ln w="12700">
            <a:solidFill>
              <a:srgbClr val="DC2626"/>
            </a:solidFill>
            <a:prstDash val="solid"/>
          </a:ln>
        </p:spPr>
      </p:sp>
      <p:sp>
        <p:nvSpPr>
          <p:cNvPr id="53" name="Shape 51"/>
          <p:cNvSpPr/>
          <p:nvPr/>
        </p:nvSpPr>
        <p:spPr>
          <a:xfrm>
            <a:off x="9153144" y="1271016"/>
            <a:ext cx="457200" cy="256032"/>
          </a:xfrm>
          <a:prstGeom prst="roundRect">
            <a:avLst>
              <a:gd name="adj" fmla="val 14286"/>
            </a:avLst>
          </a:prstGeom>
          <a:solidFill>
            <a:srgbClr val="DC2626"/>
          </a:solidFill>
          <a:ln w="12700">
            <a:solidFill>
              <a:srgbClr val="DC2626"/>
            </a:solidFill>
            <a:prstDash val="solid"/>
          </a:ln>
        </p:spPr>
      </p:sp>
      <p:sp>
        <p:nvSpPr>
          <p:cNvPr id="54" name="Text 52"/>
          <p:cNvSpPr/>
          <p:nvPr/>
        </p:nvSpPr>
        <p:spPr>
          <a:xfrm>
            <a:off x="9153144"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04</a:t>
            </a:r>
            <a:endParaRPr lang="en-US" sz="1100" dirty="0"/>
          </a:p>
        </p:txBody>
      </p:sp>
      <p:sp>
        <p:nvSpPr>
          <p:cNvPr id="55" name="Text 53"/>
          <p:cNvSpPr/>
          <p:nvPr/>
        </p:nvSpPr>
        <p:spPr>
          <a:xfrm>
            <a:off x="9153144"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Comorbidités</a:t>
            </a:r>
            <a:endParaRPr lang="en-US" sz="1300" dirty="0"/>
          </a:p>
        </p:txBody>
      </p:sp>
      <p:sp>
        <p:nvSpPr>
          <p:cNvPr id="56" name="Text 54"/>
          <p:cNvSpPr/>
          <p:nvPr/>
        </p:nvSpPr>
        <p:spPr>
          <a:xfrm>
            <a:off x="9153144" y="2286000"/>
            <a:ext cx="2523744" cy="274320"/>
          </a:xfrm>
          <a:prstGeom prst="rect">
            <a:avLst/>
          </a:prstGeom>
          <a:noFill/>
          <a:ln/>
        </p:spPr>
        <p:txBody>
          <a:bodyPr wrap="square" rtlCol="0" anchor="ctr"/>
          <a:lstStyle/>
          <a:p>
            <a:pPr indent="0" marL="0">
              <a:buNone/>
            </a:pPr>
            <a:r>
              <a:rPr lang="en-US" sz="850" i="1" dirty="0">
                <a:solidFill>
                  <a:srgbClr val="DC2626"/>
                </a:solidFill>
                <a:latin typeface="Calibri" pitchFamily="34" charset="0"/>
                <a:ea typeface="Calibri" pitchFamily="34" charset="-122"/>
                <a:cs typeface="Calibri" pitchFamily="34" charset="-120"/>
              </a:rPr>
              <a:t>Métabolique · Suicide · Résistance</a:t>
            </a:r>
            <a:endParaRPr lang="en-US" sz="850" dirty="0"/>
          </a:p>
        </p:txBody>
      </p:sp>
      <p:sp>
        <p:nvSpPr>
          <p:cNvPr id="57" name="Shape 55"/>
          <p:cNvSpPr/>
          <p:nvPr/>
        </p:nvSpPr>
        <p:spPr>
          <a:xfrm>
            <a:off x="9153144" y="2596896"/>
            <a:ext cx="2523744" cy="16459"/>
          </a:xfrm>
          <a:prstGeom prst="rect">
            <a:avLst/>
          </a:prstGeom>
          <a:solidFill>
            <a:srgbClr val="DC2626">
              <a:alpha val="50000"/>
            </a:srgbClr>
          </a:solidFill>
          <a:ln w="6350">
            <a:solidFill>
              <a:srgbClr val="DC2626"/>
            </a:solidFill>
            <a:prstDash val="solid"/>
          </a:ln>
        </p:spPr>
      </p:sp>
      <p:sp>
        <p:nvSpPr>
          <p:cNvPr id="58" name="Shape 56"/>
          <p:cNvSpPr/>
          <p:nvPr/>
        </p:nvSpPr>
        <p:spPr>
          <a:xfrm>
            <a:off x="9153144" y="2724912"/>
            <a:ext cx="41148" cy="493776"/>
          </a:xfrm>
          <a:prstGeom prst="rect">
            <a:avLst/>
          </a:prstGeom>
          <a:solidFill>
            <a:srgbClr val="DC2626"/>
          </a:solidFill>
          <a:ln w="6350">
            <a:solidFill>
              <a:srgbClr val="DC2626"/>
            </a:solidFill>
            <a:prstDash val="solid"/>
          </a:ln>
        </p:spPr>
      </p:sp>
      <p:sp>
        <p:nvSpPr>
          <p:cNvPr id="59" name="Text 57"/>
          <p:cNvSpPr/>
          <p:nvPr/>
        </p:nvSpPr>
        <p:spPr>
          <a:xfrm>
            <a:off x="9262872"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Syndrome métabolique 41,3 % → bilan somatique régulier</a:t>
            </a:r>
            <a:endParaRPr lang="en-US" sz="950" dirty="0"/>
          </a:p>
        </p:txBody>
      </p:sp>
      <p:sp>
        <p:nvSpPr>
          <p:cNvPr id="60" name="Shape 58"/>
          <p:cNvSpPr/>
          <p:nvPr/>
        </p:nvSpPr>
        <p:spPr>
          <a:xfrm>
            <a:off x="9153144" y="3419856"/>
            <a:ext cx="41148" cy="493776"/>
          </a:xfrm>
          <a:prstGeom prst="rect">
            <a:avLst/>
          </a:prstGeom>
          <a:solidFill>
            <a:srgbClr val="DC2626"/>
          </a:solidFill>
          <a:ln w="6350">
            <a:solidFill>
              <a:srgbClr val="DC2626"/>
            </a:solidFill>
            <a:prstDash val="solid"/>
          </a:ln>
        </p:spPr>
      </p:sp>
      <p:sp>
        <p:nvSpPr>
          <p:cNvPr id="61" name="Text 59"/>
          <p:cNvSpPr/>
          <p:nvPr/>
        </p:nvSpPr>
        <p:spPr>
          <a:xfrm>
            <a:off x="9262872"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Diabète de type 2 OR 2,15 — coordination médecin traitant</a:t>
            </a:r>
            <a:endParaRPr lang="en-US" sz="950" dirty="0"/>
          </a:p>
        </p:txBody>
      </p:sp>
      <p:sp>
        <p:nvSpPr>
          <p:cNvPr id="62" name="Shape 60"/>
          <p:cNvSpPr/>
          <p:nvPr/>
        </p:nvSpPr>
        <p:spPr>
          <a:xfrm>
            <a:off x="9153144" y="4114800"/>
            <a:ext cx="41148" cy="493776"/>
          </a:xfrm>
          <a:prstGeom prst="rect">
            <a:avLst/>
          </a:prstGeom>
          <a:solidFill>
            <a:srgbClr val="DC2626"/>
          </a:solidFill>
          <a:ln w="6350">
            <a:solidFill>
              <a:srgbClr val="DC2626"/>
            </a:solidFill>
            <a:prstDash val="solid"/>
          </a:ln>
        </p:spPr>
      </p:sp>
      <p:sp>
        <p:nvSpPr>
          <p:cNvPr id="63" name="Text 61"/>
          <p:cNvSpPr/>
          <p:nvPr/>
        </p:nvSpPr>
        <p:spPr>
          <a:xfrm>
            <a:off x="9262872"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Suicide : 5-13 % des décès — protocoles de prévention</a:t>
            </a:r>
            <a:endParaRPr lang="en-US" sz="950" dirty="0"/>
          </a:p>
        </p:txBody>
      </p:sp>
      <p:sp>
        <p:nvSpPr>
          <p:cNvPr id="64" name="Shape 62"/>
          <p:cNvSpPr/>
          <p:nvPr/>
        </p:nvSpPr>
        <p:spPr>
          <a:xfrm>
            <a:off x="9153144" y="4809744"/>
            <a:ext cx="41148" cy="493776"/>
          </a:xfrm>
          <a:prstGeom prst="rect">
            <a:avLst/>
          </a:prstGeom>
          <a:solidFill>
            <a:srgbClr val="DC2626"/>
          </a:solidFill>
          <a:ln w="6350">
            <a:solidFill>
              <a:srgbClr val="DC2626"/>
            </a:solidFill>
            <a:prstDash val="solid"/>
          </a:ln>
        </p:spPr>
      </p:sp>
      <p:sp>
        <p:nvSpPr>
          <p:cNvPr id="65" name="Text 63"/>
          <p:cNvSpPr/>
          <p:nvPr/>
        </p:nvSpPr>
        <p:spPr>
          <a:xfrm>
            <a:off x="9262872"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Résistance thérapeutique 30 % → alternatives non médicamenteuses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F1E"/>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51A2E"/>
          </a:solidFill>
          <a:ln w="12700">
            <a:solidFill>
              <a:srgbClr val="151A2E"/>
            </a:solidFill>
            <a:prstDash val="solid"/>
          </a:ln>
        </p:spPr>
      </p:sp>
      <p:sp>
        <p:nvSpPr>
          <p:cNvPr id="3" name="Shape 1"/>
          <p:cNvSpPr/>
          <p:nvPr/>
        </p:nvSpPr>
        <p:spPr>
          <a:xfrm>
            <a:off x="0" y="6748272"/>
            <a:ext cx="12188952" cy="109728"/>
          </a:xfrm>
          <a:prstGeom prst="rect">
            <a:avLst/>
          </a:prstGeom>
          <a:solidFill>
            <a:srgbClr val="151A2E"/>
          </a:solidFill>
          <a:ln w="12700">
            <a:solidFill>
              <a:srgbClr val="151A2E"/>
            </a:solidFill>
            <a:prstDash val="solid"/>
          </a:ln>
        </p:spPr>
      </p:sp>
      <p:sp>
        <p:nvSpPr>
          <p:cNvPr id="4" name="Text 2"/>
          <p:cNvSpPr/>
          <p:nvPr/>
        </p:nvSpPr>
        <p:spPr>
          <a:xfrm>
            <a:off x="274320" y="201168"/>
            <a:ext cx="11430000" cy="47548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Outils, évaluation fonctionnelle, rétablissement et enjeux</a:t>
            </a:r>
            <a:endParaRPr lang="en-US" sz="2200" dirty="0"/>
          </a:p>
        </p:txBody>
      </p:sp>
      <p:sp>
        <p:nvSpPr>
          <p:cNvPr id="5" name="Text 3"/>
          <p:cNvSpPr/>
          <p:nvPr/>
        </p:nvSpPr>
        <p:spPr>
          <a:xfrm>
            <a:off x="274320" y="676656"/>
            <a:ext cx="11430000" cy="310896"/>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Schizophrénie — Note de cadrage HAS, 8 avril 2026 — Axes 5 à 8</a:t>
            </a:r>
            <a:endParaRPr lang="en-US" sz="1100" dirty="0"/>
          </a:p>
        </p:txBody>
      </p:sp>
      <p:sp>
        <p:nvSpPr>
          <p:cNvPr id="6" name="Shape 4"/>
          <p:cNvSpPr/>
          <p:nvPr/>
        </p:nvSpPr>
        <p:spPr>
          <a:xfrm>
            <a:off x="320040" y="1115568"/>
            <a:ext cx="2743200" cy="5522976"/>
          </a:xfrm>
          <a:prstGeom prst="rect">
            <a:avLst/>
          </a:prstGeom>
          <a:solidFill>
            <a:srgbClr val="0891B2">
              <a:alpha val="9000"/>
            </a:srgbClr>
          </a:solidFill>
          <a:ln w="6350">
            <a:solidFill>
              <a:srgbClr val="0891B2">
                <a:alpha val="35000"/>
              </a:srgbClr>
            </a:solidFill>
            <a:prstDash val="solid"/>
          </a:ln>
        </p:spPr>
      </p:sp>
      <p:sp>
        <p:nvSpPr>
          <p:cNvPr id="7" name="Shape 5"/>
          <p:cNvSpPr/>
          <p:nvPr/>
        </p:nvSpPr>
        <p:spPr>
          <a:xfrm>
            <a:off x="320040" y="1115568"/>
            <a:ext cx="2743200" cy="91440"/>
          </a:xfrm>
          <a:prstGeom prst="rect">
            <a:avLst/>
          </a:prstGeom>
          <a:solidFill>
            <a:srgbClr val="0891B2"/>
          </a:solidFill>
          <a:ln w="12700">
            <a:solidFill>
              <a:srgbClr val="0891B2"/>
            </a:solidFill>
            <a:prstDash val="solid"/>
          </a:ln>
        </p:spPr>
      </p:sp>
      <p:sp>
        <p:nvSpPr>
          <p:cNvPr id="8" name="Shape 6"/>
          <p:cNvSpPr/>
          <p:nvPr/>
        </p:nvSpPr>
        <p:spPr>
          <a:xfrm>
            <a:off x="429768" y="1271016"/>
            <a:ext cx="457200" cy="256032"/>
          </a:xfrm>
          <a:prstGeom prst="roundRect">
            <a:avLst>
              <a:gd name="adj" fmla="val 14286"/>
            </a:avLst>
          </a:prstGeom>
          <a:solidFill>
            <a:srgbClr val="0891B2"/>
          </a:solidFill>
          <a:ln w="12700">
            <a:solidFill>
              <a:srgbClr val="0891B2"/>
            </a:solidFill>
            <a:prstDash val="solid"/>
          </a:ln>
        </p:spPr>
      </p:sp>
      <p:sp>
        <p:nvSpPr>
          <p:cNvPr id="9" name="Text 7"/>
          <p:cNvSpPr/>
          <p:nvPr/>
        </p:nvSpPr>
        <p:spPr>
          <a:xfrm>
            <a:off x="429768"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05</a:t>
            </a:r>
            <a:endParaRPr lang="en-US" sz="1100" dirty="0"/>
          </a:p>
        </p:txBody>
      </p:sp>
      <p:sp>
        <p:nvSpPr>
          <p:cNvPr id="10" name="Text 8"/>
          <p:cNvSpPr/>
          <p:nvPr/>
        </p:nvSpPr>
        <p:spPr>
          <a:xfrm>
            <a:off x="429768"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Outils diagnostiques</a:t>
            </a:r>
            <a:endParaRPr lang="en-US" sz="1300" dirty="0"/>
          </a:p>
        </p:txBody>
      </p:sp>
      <p:sp>
        <p:nvSpPr>
          <p:cNvPr id="11" name="Text 9"/>
          <p:cNvSpPr/>
          <p:nvPr/>
        </p:nvSpPr>
        <p:spPr>
          <a:xfrm>
            <a:off x="429768" y="2286000"/>
            <a:ext cx="2523744" cy="274320"/>
          </a:xfrm>
          <a:prstGeom prst="rect">
            <a:avLst/>
          </a:prstGeom>
          <a:noFill/>
          <a:ln/>
        </p:spPr>
        <p:txBody>
          <a:bodyPr wrap="square" rtlCol="0" anchor="ctr"/>
          <a:lstStyle/>
          <a:p>
            <a:pPr indent="0" marL="0">
              <a:buNone/>
            </a:pPr>
            <a:r>
              <a:rPr lang="en-US" sz="850" i="1" dirty="0">
                <a:solidFill>
                  <a:srgbClr val="0891B2"/>
                </a:solidFill>
                <a:latin typeface="Calibri" pitchFamily="34" charset="0"/>
                <a:ea typeface="Calibri" pitchFamily="34" charset="-122"/>
                <a:cs typeface="Calibri" pitchFamily="34" charset="-120"/>
              </a:rPr>
              <a:t>DSM-5-TR · CIM-11 · MINI</a:t>
            </a:r>
            <a:endParaRPr lang="en-US" sz="850" dirty="0"/>
          </a:p>
        </p:txBody>
      </p:sp>
      <p:sp>
        <p:nvSpPr>
          <p:cNvPr id="12" name="Shape 10"/>
          <p:cNvSpPr/>
          <p:nvPr/>
        </p:nvSpPr>
        <p:spPr>
          <a:xfrm>
            <a:off x="429768" y="2596896"/>
            <a:ext cx="2523744" cy="16459"/>
          </a:xfrm>
          <a:prstGeom prst="rect">
            <a:avLst/>
          </a:prstGeom>
          <a:solidFill>
            <a:srgbClr val="0891B2">
              <a:alpha val="50000"/>
            </a:srgbClr>
          </a:solidFill>
          <a:ln w="6350">
            <a:solidFill>
              <a:srgbClr val="0891B2"/>
            </a:solidFill>
            <a:prstDash val="solid"/>
          </a:ln>
        </p:spPr>
      </p:sp>
      <p:sp>
        <p:nvSpPr>
          <p:cNvPr id="13" name="Shape 11"/>
          <p:cNvSpPr/>
          <p:nvPr/>
        </p:nvSpPr>
        <p:spPr>
          <a:xfrm>
            <a:off x="429768" y="2724912"/>
            <a:ext cx="41148" cy="493776"/>
          </a:xfrm>
          <a:prstGeom prst="rect">
            <a:avLst/>
          </a:prstGeom>
          <a:solidFill>
            <a:srgbClr val="0891B2"/>
          </a:solidFill>
          <a:ln w="6350">
            <a:solidFill>
              <a:srgbClr val="0891B2"/>
            </a:solidFill>
            <a:prstDash val="solid"/>
          </a:ln>
        </p:spPr>
      </p:sp>
      <p:sp>
        <p:nvSpPr>
          <p:cNvPr id="14" name="Text 12"/>
          <p:cNvSpPr/>
          <p:nvPr/>
        </p:nvSpPr>
        <p:spPr>
          <a:xfrm>
            <a:off x="539496"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MINI / FLII-11 : entretien structuré diagnostic</a:t>
            </a:r>
            <a:endParaRPr lang="en-US" sz="950" dirty="0"/>
          </a:p>
        </p:txBody>
      </p:sp>
      <p:sp>
        <p:nvSpPr>
          <p:cNvPr id="15" name="Shape 13"/>
          <p:cNvSpPr/>
          <p:nvPr/>
        </p:nvSpPr>
        <p:spPr>
          <a:xfrm>
            <a:off x="429768" y="3419856"/>
            <a:ext cx="41148" cy="493776"/>
          </a:xfrm>
          <a:prstGeom prst="rect">
            <a:avLst/>
          </a:prstGeom>
          <a:solidFill>
            <a:srgbClr val="0891B2"/>
          </a:solidFill>
          <a:ln w="6350">
            <a:solidFill>
              <a:srgbClr val="0891B2"/>
            </a:solidFill>
            <a:prstDash val="solid"/>
          </a:ln>
        </p:spPr>
      </p:sp>
      <p:sp>
        <p:nvSpPr>
          <p:cNvPr id="16" name="Text 14"/>
          <p:cNvSpPr/>
          <p:nvPr/>
        </p:nvSpPr>
        <p:spPr>
          <a:xfrm>
            <a:off x="539496"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PANSS (30 items) : symptômes positifs, négatifs, généraux</a:t>
            </a:r>
            <a:endParaRPr lang="en-US" sz="950" dirty="0"/>
          </a:p>
        </p:txBody>
      </p:sp>
      <p:sp>
        <p:nvSpPr>
          <p:cNvPr id="17" name="Shape 15"/>
          <p:cNvSpPr/>
          <p:nvPr/>
        </p:nvSpPr>
        <p:spPr>
          <a:xfrm>
            <a:off x="429768" y="4114800"/>
            <a:ext cx="41148" cy="493776"/>
          </a:xfrm>
          <a:prstGeom prst="rect">
            <a:avLst/>
          </a:prstGeom>
          <a:solidFill>
            <a:srgbClr val="0891B2"/>
          </a:solidFill>
          <a:ln w="6350">
            <a:solidFill>
              <a:srgbClr val="0891B2"/>
            </a:solidFill>
            <a:prstDash val="solid"/>
          </a:ln>
        </p:spPr>
      </p:sp>
      <p:sp>
        <p:nvSpPr>
          <p:cNvPr id="18" name="Text 16"/>
          <p:cNvSpPr/>
          <p:nvPr/>
        </p:nvSpPr>
        <p:spPr>
          <a:xfrm>
            <a:off x="539496"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SAPS / SANS (Andreasen) : cotation détaillée</a:t>
            </a:r>
            <a:endParaRPr lang="en-US" sz="950" dirty="0"/>
          </a:p>
        </p:txBody>
      </p:sp>
      <p:sp>
        <p:nvSpPr>
          <p:cNvPr id="19" name="Shape 17"/>
          <p:cNvSpPr/>
          <p:nvPr/>
        </p:nvSpPr>
        <p:spPr>
          <a:xfrm>
            <a:off x="429768" y="4809744"/>
            <a:ext cx="41148" cy="493776"/>
          </a:xfrm>
          <a:prstGeom prst="rect">
            <a:avLst/>
          </a:prstGeom>
          <a:solidFill>
            <a:srgbClr val="0891B2"/>
          </a:solidFill>
          <a:ln w="6350">
            <a:solidFill>
              <a:srgbClr val="0891B2"/>
            </a:solidFill>
            <a:prstDash val="solid"/>
          </a:ln>
        </p:spPr>
      </p:sp>
      <p:sp>
        <p:nvSpPr>
          <p:cNvPr id="20" name="Text 18"/>
          <p:cNvSpPr/>
          <p:nvPr/>
        </p:nvSpPr>
        <p:spPr>
          <a:xfrm>
            <a:off x="539496"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BNSS · CAINS : symptômes négatifs de 2e génération</a:t>
            </a:r>
            <a:endParaRPr lang="en-US" sz="950" dirty="0"/>
          </a:p>
        </p:txBody>
      </p:sp>
      <p:sp>
        <p:nvSpPr>
          <p:cNvPr id="21" name="Shape 19"/>
          <p:cNvSpPr/>
          <p:nvPr/>
        </p:nvSpPr>
        <p:spPr>
          <a:xfrm>
            <a:off x="3227832" y="1115568"/>
            <a:ext cx="2743200" cy="5522976"/>
          </a:xfrm>
          <a:prstGeom prst="rect">
            <a:avLst/>
          </a:prstGeom>
          <a:solidFill>
            <a:srgbClr val="059669">
              <a:alpha val="9000"/>
            </a:srgbClr>
          </a:solidFill>
          <a:ln w="6350">
            <a:solidFill>
              <a:srgbClr val="059669">
                <a:alpha val="35000"/>
              </a:srgbClr>
            </a:solidFill>
            <a:prstDash val="solid"/>
          </a:ln>
        </p:spPr>
      </p:sp>
      <p:sp>
        <p:nvSpPr>
          <p:cNvPr id="22" name="Shape 20"/>
          <p:cNvSpPr/>
          <p:nvPr/>
        </p:nvSpPr>
        <p:spPr>
          <a:xfrm>
            <a:off x="3227832" y="1115568"/>
            <a:ext cx="2743200" cy="91440"/>
          </a:xfrm>
          <a:prstGeom prst="rect">
            <a:avLst/>
          </a:prstGeom>
          <a:solidFill>
            <a:srgbClr val="059669"/>
          </a:solidFill>
          <a:ln w="12700">
            <a:solidFill>
              <a:srgbClr val="059669"/>
            </a:solidFill>
            <a:prstDash val="solid"/>
          </a:ln>
        </p:spPr>
      </p:sp>
      <p:sp>
        <p:nvSpPr>
          <p:cNvPr id="23" name="Shape 21"/>
          <p:cNvSpPr/>
          <p:nvPr/>
        </p:nvSpPr>
        <p:spPr>
          <a:xfrm>
            <a:off x="3337560" y="1271016"/>
            <a:ext cx="457200" cy="256032"/>
          </a:xfrm>
          <a:prstGeom prst="roundRect">
            <a:avLst>
              <a:gd name="adj" fmla="val 14286"/>
            </a:avLst>
          </a:prstGeom>
          <a:solidFill>
            <a:srgbClr val="059669"/>
          </a:solidFill>
          <a:ln w="12700">
            <a:solidFill>
              <a:srgbClr val="059669"/>
            </a:solidFill>
            <a:prstDash val="solid"/>
          </a:ln>
        </p:spPr>
      </p:sp>
      <p:sp>
        <p:nvSpPr>
          <p:cNvPr id="24" name="Text 22"/>
          <p:cNvSpPr/>
          <p:nvPr/>
        </p:nvSpPr>
        <p:spPr>
          <a:xfrm>
            <a:off x="3337560"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06</a:t>
            </a:r>
            <a:endParaRPr lang="en-US" sz="1100" dirty="0"/>
          </a:p>
        </p:txBody>
      </p:sp>
      <p:sp>
        <p:nvSpPr>
          <p:cNvPr id="25" name="Text 23"/>
          <p:cNvSpPr/>
          <p:nvPr/>
        </p:nvSpPr>
        <p:spPr>
          <a:xfrm>
            <a:off x="3337560"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Évaluation fonctionnelle</a:t>
            </a:r>
            <a:endParaRPr lang="en-US" sz="1300" dirty="0"/>
          </a:p>
        </p:txBody>
      </p:sp>
      <p:sp>
        <p:nvSpPr>
          <p:cNvPr id="26" name="Text 24"/>
          <p:cNvSpPr/>
          <p:nvPr/>
        </p:nvSpPr>
        <p:spPr>
          <a:xfrm>
            <a:off x="3337560" y="2286000"/>
            <a:ext cx="2523744" cy="274320"/>
          </a:xfrm>
          <a:prstGeom prst="rect">
            <a:avLst/>
          </a:prstGeom>
          <a:noFill/>
          <a:ln/>
        </p:spPr>
        <p:txBody>
          <a:bodyPr wrap="square" rtlCol="0" anchor="ctr"/>
          <a:lstStyle/>
          <a:p>
            <a:pPr indent="0" marL="0">
              <a:buNone/>
            </a:pPr>
            <a:r>
              <a:rPr lang="en-US" sz="850" i="1" dirty="0">
                <a:solidFill>
                  <a:srgbClr val="059669"/>
                </a:solidFill>
                <a:latin typeface="Calibri" pitchFamily="34" charset="0"/>
                <a:ea typeface="Calibri" pitchFamily="34" charset="-122"/>
                <a:cs typeface="Calibri" pitchFamily="34" charset="-120"/>
              </a:rPr>
              <a:t>PSP · EGF · ELADEB</a:t>
            </a:r>
            <a:endParaRPr lang="en-US" sz="850" dirty="0"/>
          </a:p>
        </p:txBody>
      </p:sp>
      <p:sp>
        <p:nvSpPr>
          <p:cNvPr id="27" name="Shape 25"/>
          <p:cNvSpPr/>
          <p:nvPr/>
        </p:nvSpPr>
        <p:spPr>
          <a:xfrm>
            <a:off x="3337560" y="2596896"/>
            <a:ext cx="2523744" cy="16459"/>
          </a:xfrm>
          <a:prstGeom prst="rect">
            <a:avLst/>
          </a:prstGeom>
          <a:solidFill>
            <a:srgbClr val="059669">
              <a:alpha val="50000"/>
            </a:srgbClr>
          </a:solidFill>
          <a:ln w="6350">
            <a:solidFill>
              <a:srgbClr val="059669"/>
            </a:solidFill>
            <a:prstDash val="solid"/>
          </a:ln>
        </p:spPr>
      </p:sp>
      <p:sp>
        <p:nvSpPr>
          <p:cNvPr id="28" name="Shape 26"/>
          <p:cNvSpPr/>
          <p:nvPr/>
        </p:nvSpPr>
        <p:spPr>
          <a:xfrm>
            <a:off x="3337560" y="2724912"/>
            <a:ext cx="41148" cy="493776"/>
          </a:xfrm>
          <a:prstGeom prst="rect">
            <a:avLst/>
          </a:prstGeom>
          <a:solidFill>
            <a:srgbClr val="059669"/>
          </a:solidFill>
          <a:ln w="6350">
            <a:solidFill>
              <a:srgbClr val="059669"/>
            </a:solidFill>
            <a:prstDash val="solid"/>
          </a:ln>
        </p:spPr>
      </p:sp>
      <p:sp>
        <p:nvSpPr>
          <p:cNvPr id="29" name="Text 27"/>
          <p:cNvSpPr/>
          <p:nvPr/>
        </p:nvSpPr>
        <p:spPr>
          <a:xfrm>
            <a:off x="3447288"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PSP : 4 domaines (social, auto-soins, travail, comportement)</a:t>
            </a:r>
            <a:endParaRPr lang="en-US" sz="950" dirty="0"/>
          </a:p>
        </p:txBody>
      </p:sp>
      <p:sp>
        <p:nvSpPr>
          <p:cNvPr id="30" name="Shape 28"/>
          <p:cNvSpPr/>
          <p:nvPr/>
        </p:nvSpPr>
        <p:spPr>
          <a:xfrm>
            <a:off x="3337560" y="3419856"/>
            <a:ext cx="41148" cy="493776"/>
          </a:xfrm>
          <a:prstGeom prst="rect">
            <a:avLst/>
          </a:prstGeom>
          <a:solidFill>
            <a:srgbClr val="059669"/>
          </a:solidFill>
          <a:ln w="6350">
            <a:solidFill>
              <a:srgbClr val="059669"/>
            </a:solidFill>
            <a:prstDash val="solid"/>
          </a:ln>
        </p:spPr>
      </p:sp>
      <p:sp>
        <p:nvSpPr>
          <p:cNvPr id="31" name="Text 29"/>
          <p:cNvSpPr/>
          <p:nvPr/>
        </p:nvSpPr>
        <p:spPr>
          <a:xfrm>
            <a:off x="3447288"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EGF (0-100) et CGI : impression clinique globale</a:t>
            </a:r>
            <a:endParaRPr lang="en-US" sz="950" dirty="0"/>
          </a:p>
        </p:txBody>
      </p:sp>
      <p:sp>
        <p:nvSpPr>
          <p:cNvPr id="32" name="Shape 30"/>
          <p:cNvSpPr/>
          <p:nvPr/>
        </p:nvSpPr>
        <p:spPr>
          <a:xfrm>
            <a:off x="3337560" y="4114800"/>
            <a:ext cx="41148" cy="493776"/>
          </a:xfrm>
          <a:prstGeom prst="rect">
            <a:avLst/>
          </a:prstGeom>
          <a:solidFill>
            <a:srgbClr val="059669"/>
          </a:solidFill>
          <a:ln w="6350">
            <a:solidFill>
              <a:srgbClr val="059669"/>
            </a:solidFill>
            <a:prstDash val="solid"/>
          </a:ln>
        </p:spPr>
      </p:sp>
      <p:sp>
        <p:nvSpPr>
          <p:cNvPr id="33" name="Text 31"/>
          <p:cNvSpPr/>
          <p:nvPr/>
        </p:nvSpPr>
        <p:spPr>
          <a:xfrm>
            <a:off x="3447288"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ELADEB : auto-évaluation par la personne elle-même</a:t>
            </a:r>
            <a:endParaRPr lang="en-US" sz="950" dirty="0"/>
          </a:p>
        </p:txBody>
      </p:sp>
      <p:sp>
        <p:nvSpPr>
          <p:cNvPr id="34" name="Shape 32"/>
          <p:cNvSpPr/>
          <p:nvPr/>
        </p:nvSpPr>
        <p:spPr>
          <a:xfrm>
            <a:off x="3337560" y="4809744"/>
            <a:ext cx="41148" cy="493776"/>
          </a:xfrm>
          <a:prstGeom prst="rect">
            <a:avLst/>
          </a:prstGeom>
          <a:solidFill>
            <a:srgbClr val="059669"/>
          </a:solidFill>
          <a:ln w="6350">
            <a:solidFill>
              <a:srgbClr val="059669"/>
            </a:solidFill>
            <a:prstDash val="solid"/>
          </a:ln>
        </p:spPr>
      </p:sp>
      <p:sp>
        <p:nvSpPr>
          <p:cNvPr id="35" name="Text 33"/>
          <p:cNvSpPr/>
          <p:nvPr/>
        </p:nvSpPr>
        <p:spPr>
          <a:xfrm>
            <a:off x="3447288"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mini-Zarit · SCORE : fardeau et résilience des aidants</a:t>
            </a:r>
            <a:endParaRPr lang="en-US" sz="950" dirty="0"/>
          </a:p>
        </p:txBody>
      </p:sp>
      <p:sp>
        <p:nvSpPr>
          <p:cNvPr id="36" name="Shape 34"/>
          <p:cNvSpPr/>
          <p:nvPr/>
        </p:nvSpPr>
        <p:spPr>
          <a:xfrm>
            <a:off x="6135624" y="1115568"/>
            <a:ext cx="2743200" cy="5522976"/>
          </a:xfrm>
          <a:prstGeom prst="rect">
            <a:avLst/>
          </a:prstGeom>
          <a:solidFill>
            <a:srgbClr val="7C3AED">
              <a:alpha val="9000"/>
            </a:srgbClr>
          </a:solidFill>
          <a:ln w="6350">
            <a:solidFill>
              <a:srgbClr val="7C3AED">
                <a:alpha val="35000"/>
              </a:srgbClr>
            </a:solidFill>
            <a:prstDash val="solid"/>
          </a:ln>
        </p:spPr>
      </p:sp>
      <p:sp>
        <p:nvSpPr>
          <p:cNvPr id="37" name="Shape 35"/>
          <p:cNvSpPr/>
          <p:nvPr/>
        </p:nvSpPr>
        <p:spPr>
          <a:xfrm>
            <a:off x="6135624" y="1115568"/>
            <a:ext cx="2743200" cy="91440"/>
          </a:xfrm>
          <a:prstGeom prst="rect">
            <a:avLst/>
          </a:prstGeom>
          <a:solidFill>
            <a:srgbClr val="7C3AED"/>
          </a:solidFill>
          <a:ln w="12700">
            <a:solidFill>
              <a:srgbClr val="7C3AED"/>
            </a:solidFill>
            <a:prstDash val="solid"/>
          </a:ln>
        </p:spPr>
      </p:sp>
      <p:sp>
        <p:nvSpPr>
          <p:cNvPr id="38" name="Shape 36"/>
          <p:cNvSpPr/>
          <p:nvPr/>
        </p:nvSpPr>
        <p:spPr>
          <a:xfrm>
            <a:off x="6245352" y="1271016"/>
            <a:ext cx="457200" cy="256032"/>
          </a:xfrm>
          <a:prstGeom prst="roundRect">
            <a:avLst>
              <a:gd name="adj" fmla="val 14286"/>
            </a:avLst>
          </a:prstGeom>
          <a:solidFill>
            <a:srgbClr val="7C3AED"/>
          </a:solidFill>
          <a:ln w="12700">
            <a:solidFill>
              <a:srgbClr val="7C3AED"/>
            </a:solidFill>
            <a:prstDash val="solid"/>
          </a:ln>
        </p:spPr>
      </p:sp>
      <p:sp>
        <p:nvSpPr>
          <p:cNvPr id="39" name="Text 37"/>
          <p:cNvSpPr/>
          <p:nvPr/>
        </p:nvSpPr>
        <p:spPr>
          <a:xfrm>
            <a:off x="6245352"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07</a:t>
            </a:r>
            <a:endParaRPr lang="en-US" sz="1100" dirty="0"/>
          </a:p>
        </p:txBody>
      </p:sp>
      <p:sp>
        <p:nvSpPr>
          <p:cNvPr id="40" name="Text 38"/>
          <p:cNvSpPr/>
          <p:nvPr/>
        </p:nvSpPr>
        <p:spPr>
          <a:xfrm>
            <a:off x="6245352"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Rétablissement</a:t>
            </a:r>
            <a:endParaRPr lang="en-US" sz="1300" dirty="0"/>
          </a:p>
        </p:txBody>
      </p:sp>
      <p:sp>
        <p:nvSpPr>
          <p:cNvPr id="41" name="Text 39"/>
          <p:cNvSpPr/>
          <p:nvPr/>
        </p:nvSpPr>
        <p:spPr>
          <a:xfrm>
            <a:off x="6245352" y="2286000"/>
            <a:ext cx="2523744" cy="274320"/>
          </a:xfrm>
          <a:prstGeom prst="rect">
            <a:avLst/>
          </a:prstGeom>
          <a:noFill/>
          <a:ln/>
        </p:spPr>
        <p:txBody>
          <a:bodyPr wrap="square" rtlCol="0" anchor="ctr"/>
          <a:lstStyle/>
          <a:p>
            <a:pPr indent="0" marL="0">
              <a:buNone/>
            </a:pPr>
            <a:r>
              <a:rPr lang="en-US" sz="850" i="1" dirty="0">
                <a:solidFill>
                  <a:srgbClr val="7C3AED"/>
                </a:solidFill>
                <a:latin typeface="Calibri" pitchFamily="34" charset="0"/>
                <a:ea typeface="Calibri" pitchFamily="34" charset="-122"/>
                <a:cs typeface="Calibri" pitchFamily="34" charset="-120"/>
              </a:rPr>
              <a:t>Espoir · Identité · Pair-aidance</a:t>
            </a:r>
            <a:endParaRPr lang="en-US" sz="850" dirty="0"/>
          </a:p>
        </p:txBody>
      </p:sp>
      <p:sp>
        <p:nvSpPr>
          <p:cNvPr id="42" name="Shape 40"/>
          <p:cNvSpPr/>
          <p:nvPr/>
        </p:nvSpPr>
        <p:spPr>
          <a:xfrm>
            <a:off x="6245352" y="2596896"/>
            <a:ext cx="2523744" cy="16459"/>
          </a:xfrm>
          <a:prstGeom prst="rect">
            <a:avLst/>
          </a:prstGeom>
          <a:solidFill>
            <a:srgbClr val="7C3AED">
              <a:alpha val="50000"/>
            </a:srgbClr>
          </a:solidFill>
          <a:ln w="6350">
            <a:solidFill>
              <a:srgbClr val="7C3AED"/>
            </a:solidFill>
            <a:prstDash val="solid"/>
          </a:ln>
        </p:spPr>
      </p:sp>
      <p:sp>
        <p:nvSpPr>
          <p:cNvPr id="43" name="Shape 41"/>
          <p:cNvSpPr/>
          <p:nvPr/>
        </p:nvSpPr>
        <p:spPr>
          <a:xfrm>
            <a:off x="6245352" y="2724912"/>
            <a:ext cx="41148" cy="493776"/>
          </a:xfrm>
          <a:prstGeom prst="rect">
            <a:avLst/>
          </a:prstGeom>
          <a:solidFill>
            <a:srgbClr val="7C3AED"/>
          </a:solidFill>
          <a:ln w="6350">
            <a:solidFill>
              <a:srgbClr val="7C3AED"/>
            </a:solidFill>
            <a:prstDash val="solid"/>
          </a:ln>
        </p:spPr>
      </p:sp>
      <p:sp>
        <p:nvSpPr>
          <p:cNvPr id="44" name="Text 42"/>
          <p:cNvSpPr/>
          <p:nvPr/>
        </p:nvSpPr>
        <p:spPr>
          <a:xfrm>
            <a:off x="6355080"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STORI : 5 stades (moratoire → croissance)</a:t>
            </a:r>
            <a:endParaRPr lang="en-US" sz="950" dirty="0"/>
          </a:p>
        </p:txBody>
      </p:sp>
      <p:sp>
        <p:nvSpPr>
          <p:cNvPr id="45" name="Shape 43"/>
          <p:cNvSpPr/>
          <p:nvPr/>
        </p:nvSpPr>
        <p:spPr>
          <a:xfrm>
            <a:off x="6245352" y="3419856"/>
            <a:ext cx="41148" cy="493776"/>
          </a:xfrm>
          <a:prstGeom prst="rect">
            <a:avLst/>
          </a:prstGeom>
          <a:solidFill>
            <a:srgbClr val="7C3AED"/>
          </a:solidFill>
          <a:ln w="6350">
            <a:solidFill>
              <a:srgbClr val="7C3AED"/>
            </a:solidFill>
            <a:prstDash val="solid"/>
          </a:ln>
        </p:spPr>
      </p:sp>
      <p:sp>
        <p:nvSpPr>
          <p:cNvPr id="46" name="Text 44"/>
          <p:cNvSpPr/>
          <p:nvPr/>
        </p:nvSpPr>
        <p:spPr>
          <a:xfrm>
            <a:off x="6355080"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SERS (estime de soi) · ISMI (stigma intériorisé)</a:t>
            </a:r>
            <a:endParaRPr lang="en-US" sz="950" dirty="0"/>
          </a:p>
        </p:txBody>
      </p:sp>
      <p:sp>
        <p:nvSpPr>
          <p:cNvPr id="47" name="Shape 45"/>
          <p:cNvSpPr/>
          <p:nvPr/>
        </p:nvSpPr>
        <p:spPr>
          <a:xfrm>
            <a:off x="6245352" y="4114800"/>
            <a:ext cx="41148" cy="493776"/>
          </a:xfrm>
          <a:prstGeom prst="rect">
            <a:avLst/>
          </a:prstGeom>
          <a:solidFill>
            <a:srgbClr val="7C3AED"/>
          </a:solidFill>
          <a:ln w="6350">
            <a:solidFill>
              <a:srgbClr val="7C3AED"/>
            </a:solidFill>
            <a:prstDash val="solid"/>
          </a:ln>
        </p:spPr>
      </p:sp>
      <p:sp>
        <p:nvSpPr>
          <p:cNvPr id="48" name="Text 46"/>
          <p:cNvSpPr/>
          <p:nvPr/>
        </p:nvSpPr>
        <p:spPr>
          <a:xfrm>
            <a:off x="6355080"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Pair-aidance : soutien par des personnes rétablies</a:t>
            </a:r>
            <a:endParaRPr lang="en-US" sz="950" dirty="0"/>
          </a:p>
        </p:txBody>
      </p:sp>
      <p:sp>
        <p:nvSpPr>
          <p:cNvPr id="49" name="Shape 47"/>
          <p:cNvSpPr/>
          <p:nvPr/>
        </p:nvSpPr>
        <p:spPr>
          <a:xfrm>
            <a:off x="6245352" y="4809744"/>
            <a:ext cx="41148" cy="493776"/>
          </a:xfrm>
          <a:prstGeom prst="rect">
            <a:avLst/>
          </a:prstGeom>
          <a:solidFill>
            <a:srgbClr val="7C3AED"/>
          </a:solidFill>
          <a:ln w="6350">
            <a:solidFill>
              <a:srgbClr val="7C3AED"/>
            </a:solidFill>
            <a:prstDash val="solid"/>
          </a:ln>
        </p:spPr>
      </p:sp>
      <p:sp>
        <p:nvSpPr>
          <p:cNvPr id="50" name="Text 48"/>
          <p:cNvSpPr/>
          <p:nvPr/>
        </p:nvSpPr>
        <p:spPr>
          <a:xfrm>
            <a:off x="6355080"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Activités signifiantes · Habitat inclusif · Autodétermination</a:t>
            </a:r>
            <a:endParaRPr lang="en-US" sz="950" dirty="0"/>
          </a:p>
        </p:txBody>
      </p:sp>
      <p:sp>
        <p:nvSpPr>
          <p:cNvPr id="51" name="Shape 49"/>
          <p:cNvSpPr/>
          <p:nvPr/>
        </p:nvSpPr>
        <p:spPr>
          <a:xfrm>
            <a:off x="9043416" y="1115568"/>
            <a:ext cx="2743200" cy="5522976"/>
          </a:xfrm>
          <a:prstGeom prst="rect">
            <a:avLst/>
          </a:prstGeom>
          <a:solidFill>
            <a:srgbClr val="B45309">
              <a:alpha val="9000"/>
            </a:srgbClr>
          </a:solidFill>
          <a:ln w="6350">
            <a:solidFill>
              <a:srgbClr val="B45309">
                <a:alpha val="35000"/>
              </a:srgbClr>
            </a:solidFill>
            <a:prstDash val="solid"/>
          </a:ln>
        </p:spPr>
      </p:sp>
      <p:sp>
        <p:nvSpPr>
          <p:cNvPr id="52" name="Shape 50"/>
          <p:cNvSpPr/>
          <p:nvPr/>
        </p:nvSpPr>
        <p:spPr>
          <a:xfrm>
            <a:off x="9043416" y="1115568"/>
            <a:ext cx="2743200" cy="91440"/>
          </a:xfrm>
          <a:prstGeom prst="rect">
            <a:avLst/>
          </a:prstGeom>
          <a:solidFill>
            <a:srgbClr val="B45309"/>
          </a:solidFill>
          <a:ln w="12700">
            <a:solidFill>
              <a:srgbClr val="B45309"/>
            </a:solidFill>
            <a:prstDash val="solid"/>
          </a:ln>
        </p:spPr>
      </p:sp>
      <p:sp>
        <p:nvSpPr>
          <p:cNvPr id="53" name="Shape 51"/>
          <p:cNvSpPr/>
          <p:nvPr/>
        </p:nvSpPr>
        <p:spPr>
          <a:xfrm>
            <a:off x="9153144" y="1271016"/>
            <a:ext cx="457200" cy="256032"/>
          </a:xfrm>
          <a:prstGeom prst="roundRect">
            <a:avLst>
              <a:gd name="adj" fmla="val 14286"/>
            </a:avLst>
          </a:prstGeom>
          <a:solidFill>
            <a:srgbClr val="B45309"/>
          </a:solidFill>
          <a:ln w="12700">
            <a:solidFill>
              <a:srgbClr val="B45309"/>
            </a:solidFill>
            <a:prstDash val="solid"/>
          </a:ln>
        </p:spPr>
      </p:sp>
      <p:sp>
        <p:nvSpPr>
          <p:cNvPr id="54" name="Text 52"/>
          <p:cNvSpPr/>
          <p:nvPr/>
        </p:nvSpPr>
        <p:spPr>
          <a:xfrm>
            <a:off x="9153144" y="1271016"/>
            <a:ext cx="457200" cy="256032"/>
          </a:xfrm>
          <a:prstGeom prst="rect">
            <a:avLst/>
          </a:prstGeom>
          <a:noFill/>
          <a:ln/>
        </p:spPr>
        <p:txBody>
          <a:bodyPr wrap="square" rtlCol="0" anchor="ctr"/>
          <a:lstStyle/>
          <a:p>
            <a:pPr algn="ctr" indent="0" marL="0">
              <a:buNone/>
            </a:pPr>
            <a:r>
              <a:rPr lang="en-US" sz="1100" b="1" dirty="0">
                <a:solidFill>
                  <a:srgbClr val="0C0F1E"/>
                </a:solidFill>
                <a:latin typeface="Calibri" pitchFamily="34" charset="0"/>
                <a:ea typeface="Calibri" pitchFamily="34" charset="-122"/>
                <a:cs typeface="Calibri" pitchFamily="34" charset="-120"/>
              </a:rPr>
              <a:t>08</a:t>
            </a:r>
            <a:endParaRPr lang="en-US" sz="1100" dirty="0"/>
          </a:p>
        </p:txBody>
      </p:sp>
      <p:sp>
        <p:nvSpPr>
          <p:cNvPr id="55" name="Text 53"/>
          <p:cNvSpPr/>
          <p:nvPr/>
        </p:nvSpPr>
        <p:spPr>
          <a:xfrm>
            <a:off x="9153144" y="1600200"/>
            <a:ext cx="2523744" cy="658368"/>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Enjeux &amp; Objectifs</a:t>
            </a:r>
            <a:endParaRPr lang="en-US" sz="1300" dirty="0"/>
          </a:p>
        </p:txBody>
      </p:sp>
      <p:sp>
        <p:nvSpPr>
          <p:cNvPr id="56" name="Text 54"/>
          <p:cNvSpPr/>
          <p:nvPr/>
        </p:nvSpPr>
        <p:spPr>
          <a:xfrm>
            <a:off x="9153144" y="2286000"/>
            <a:ext cx="2523744" cy="274320"/>
          </a:xfrm>
          <a:prstGeom prst="rect">
            <a:avLst/>
          </a:prstGeom>
          <a:noFill/>
          <a:ln/>
        </p:spPr>
        <p:txBody>
          <a:bodyPr wrap="square" rtlCol="0" anchor="ctr"/>
          <a:lstStyle/>
          <a:p>
            <a:pPr indent="0" marL="0">
              <a:buNone/>
            </a:pPr>
            <a:r>
              <a:rPr lang="en-US" sz="850" i="1" dirty="0">
                <a:solidFill>
                  <a:srgbClr val="B45309"/>
                </a:solidFill>
                <a:latin typeface="Calibri" pitchFamily="34" charset="0"/>
                <a:ea typeface="Calibri" pitchFamily="34" charset="-122"/>
                <a:cs typeface="Calibri" pitchFamily="34" charset="-120"/>
              </a:rPr>
              <a:t>HAS 2026 · RBPP 2027 · SERAFIN</a:t>
            </a:r>
            <a:endParaRPr lang="en-US" sz="850" dirty="0"/>
          </a:p>
        </p:txBody>
      </p:sp>
      <p:sp>
        <p:nvSpPr>
          <p:cNvPr id="57" name="Shape 55"/>
          <p:cNvSpPr/>
          <p:nvPr/>
        </p:nvSpPr>
        <p:spPr>
          <a:xfrm>
            <a:off x="9153144" y="2596896"/>
            <a:ext cx="2523744" cy="16459"/>
          </a:xfrm>
          <a:prstGeom prst="rect">
            <a:avLst/>
          </a:prstGeom>
          <a:solidFill>
            <a:srgbClr val="B45309">
              <a:alpha val="50000"/>
            </a:srgbClr>
          </a:solidFill>
          <a:ln w="6350">
            <a:solidFill>
              <a:srgbClr val="B45309"/>
            </a:solidFill>
            <a:prstDash val="solid"/>
          </a:ln>
        </p:spPr>
      </p:sp>
      <p:sp>
        <p:nvSpPr>
          <p:cNvPr id="58" name="Shape 56"/>
          <p:cNvSpPr/>
          <p:nvPr/>
        </p:nvSpPr>
        <p:spPr>
          <a:xfrm>
            <a:off x="9153144" y="2724912"/>
            <a:ext cx="41148" cy="493776"/>
          </a:xfrm>
          <a:prstGeom prst="rect">
            <a:avLst/>
          </a:prstGeom>
          <a:solidFill>
            <a:srgbClr val="B45309"/>
          </a:solidFill>
          <a:ln w="6350">
            <a:solidFill>
              <a:srgbClr val="B45309"/>
            </a:solidFill>
            <a:prstDash val="solid"/>
          </a:ln>
        </p:spPr>
      </p:sp>
      <p:sp>
        <p:nvSpPr>
          <p:cNvPr id="59" name="Text 57"/>
          <p:cNvSpPr/>
          <p:nvPr/>
        </p:nvSpPr>
        <p:spPr>
          <a:xfrm>
            <a:off x="9262872" y="2724912"/>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Note de cadrage adoptée le 8 avril 2026 — RBPP fin 2027</a:t>
            </a:r>
            <a:endParaRPr lang="en-US" sz="950" dirty="0"/>
          </a:p>
        </p:txBody>
      </p:sp>
      <p:sp>
        <p:nvSpPr>
          <p:cNvPr id="60" name="Shape 58"/>
          <p:cNvSpPr/>
          <p:nvPr/>
        </p:nvSpPr>
        <p:spPr>
          <a:xfrm>
            <a:off x="9153144" y="3419856"/>
            <a:ext cx="41148" cy="493776"/>
          </a:xfrm>
          <a:prstGeom prst="rect">
            <a:avLst/>
          </a:prstGeom>
          <a:solidFill>
            <a:srgbClr val="B45309"/>
          </a:solidFill>
          <a:ln w="6350">
            <a:solidFill>
              <a:srgbClr val="B45309"/>
            </a:solidFill>
            <a:prstDash val="solid"/>
          </a:ln>
        </p:spPr>
      </p:sp>
      <p:sp>
        <p:nvSpPr>
          <p:cNvPr id="61" name="Text 59"/>
          <p:cNvSpPr/>
          <p:nvPr/>
        </p:nvSpPr>
        <p:spPr>
          <a:xfrm>
            <a:off x="9262872" y="3419856"/>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Améliorer la précocité diagnostique (DUP &gt; 2 ans inacceptable)</a:t>
            </a:r>
            <a:endParaRPr lang="en-US" sz="950" dirty="0"/>
          </a:p>
        </p:txBody>
      </p:sp>
      <p:sp>
        <p:nvSpPr>
          <p:cNvPr id="62" name="Shape 60"/>
          <p:cNvSpPr/>
          <p:nvPr/>
        </p:nvSpPr>
        <p:spPr>
          <a:xfrm>
            <a:off x="9153144" y="4114800"/>
            <a:ext cx="41148" cy="493776"/>
          </a:xfrm>
          <a:prstGeom prst="rect">
            <a:avLst/>
          </a:prstGeom>
          <a:solidFill>
            <a:srgbClr val="B45309"/>
          </a:solidFill>
          <a:ln w="6350">
            <a:solidFill>
              <a:srgbClr val="B45309"/>
            </a:solidFill>
            <a:prstDash val="solid"/>
          </a:ln>
        </p:spPr>
      </p:sp>
      <p:sp>
        <p:nvSpPr>
          <p:cNvPr id="63" name="Text 61"/>
          <p:cNvSpPr/>
          <p:nvPr/>
        </p:nvSpPr>
        <p:spPr>
          <a:xfrm>
            <a:off x="9262872" y="4114800"/>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Standardiser les outils d'évaluation dans les PPA en ESSMS</a:t>
            </a:r>
            <a:endParaRPr lang="en-US" sz="950" dirty="0"/>
          </a:p>
        </p:txBody>
      </p:sp>
      <p:sp>
        <p:nvSpPr>
          <p:cNvPr id="64" name="Shape 62"/>
          <p:cNvSpPr/>
          <p:nvPr/>
        </p:nvSpPr>
        <p:spPr>
          <a:xfrm>
            <a:off x="9153144" y="4809744"/>
            <a:ext cx="41148" cy="493776"/>
          </a:xfrm>
          <a:prstGeom prst="rect">
            <a:avLst/>
          </a:prstGeom>
          <a:solidFill>
            <a:srgbClr val="B45309"/>
          </a:solidFill>
          <a:ln w="6350">
            <a:solidFill>
              <a:srgbClr val="B45309"/>
            </a:solidFill>
            <a:prstDash val="solid"/>
          </a:ln>
        </p:spPr>
      </p:sp>
      <p:sp>
        <p:nvSpPr>
          <p:cNvPr id="65" name="Text 63"/>
          <p:cNvSpPr/>
          <p:nvPr/>
        </p:nvSpPr>
        <p:spPr>
          <a:xfrm>
            <a:off x="9262872" y="4809744"/>
            <a:ext cx="2414016" cy="512064"/>
          </a:xfrm>
          <a:prstGeom prst="rect">
            <a:avLst/>
          </a:prstGeom>
          <a:noFill/>
          <a:ln/>
        </p:spPr>
        <p:txBody>
          <a:bodyPr wrap="square" rtlCol="0" anchor="t"/>
          <a:lstStyle/>
          <a:p>
            <a:pPr indent="0" marL="0">
              <a:buNone/>
            </a:pPr>
            <a:r>
              <a:rPr lang="en-US" sz="950" dirty="0">
                <a:solidFill>
                  <a:srgbClr val="FFFFFF"/>
                </a:solidFill>
                <a:latin typeface="Calibri" pitchFamily="34" charset="0"/>
                <a:ea typeface="Calibri" pitchFamily="34" charset="-122"/>
                <a:cs typeface="Calibri" pitchFamily="34" charset="-120"/>
              </a:rPr>
              <a:t>Articulation avec SERAFIN-PH 2027 : nomenclature besoins/réponses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F1E"/>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51A2E"/>
          </a:solidFill>
          <a:ln w="12700">
            <a:solidFill>
              <a:srgbClr val="151A2E"/>
            </a:solidFill>
            <a:prstDash val="solid"/>
          </a:ln>
        </p:spPr>
      </p:sp>
      <p:sp>
        <p:nvSpPr>
          <p:cNvPr id="3" name="Shape 1"/>
          <p:cNvSpPr/>
          <p:nvPr/>
        </p:nvSpPr>
        <p:spPr>
          <a:xfrm>
            <a:off x="0" y="6748272"/>
            <a:ext cx="12188952" cy="109728"/>
          </a:xfrm>
          <a:prstGeom prst="rect">
            <a:avLst/>
          </a:prstGeom>
          <a:solidFill>
            <a:srgbClr val="151A2E"/>
          </a:solidFill>
          <a:ln w="12700">
            <a:solidFill>
              <a:srgbClr val="151A2E"/>
            </a:solidFill>
            <a:prstDash val="solid"/>
          </a:ln>
        </p:spPr>
      </p:sp>
      <p:sp>
        <p:nvSpPr>
          <p:cNvPr id="4" name="Text 2"/>
          <p:cNvSpPr/>
          <p:nvPr/>
        </p:nvSpPr>
        <p:spPr>
          <a:xfrm>
            <a:off x="274320" y="201168"/>
            <a:ext cx="11430000" cy="47548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Messages clés pour les ESSMS</a:t>
            </a:r>
            <a:endParaRPr lang="en-US" sz="2200" dirty="0"/>
          </a:p>
        </p:txBody>
      </p:sp>
      <p:sp>
        <p:nvSpPr>
          <p:cNvPr id="5" name="Text 3"/>
          <p:cNvSpPr/>
          <p:nvPr/>
        </p:nvSpPr>
        <p:spPr>
          <a:xfrm>
            <a:off x="274320" y="676656"/>
            <a:ext cx="11430000" cy="310896"/>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Ce que la note de cadrage HAS implique pour les équipes et les projets personnalisés</a:t>
            </a:r>
            <a:endParaRPr lang="en-US" sz="1100" dirty="0"/>
          </a:p>
        </p:txBody>
      </p:sp>
      <p:sp>
        <p:nvSpPr>
          <p:cNvPr id="6" name="Shape 4"/>
          <p:cNvSpPr/>
          <p:nvPr/>
        </p:nvSpPr>
        <p:spPr>
          <a:xfrm>
            <a:off x="320040" y="1115568"/>
            <a:ext cx="5577840" cy="2468880"/>
          </a:xfrm>
          <a:prstGeom prst="rect">
            <a:avLst/>
          </a:prstGeom>
          <a:solidFill>
            <a:srgbClr val="2563EB">
              <a:alpha val="9000"/>
            </a:srgbClr>
          </a:solidFill>
          <a:ln w="6350">
            <a:solidFill>
              <a:srgbClr val="2563EB">
                <a:alpha val="40000"/>
              </a:srgbClr>
            </a:solidFill>
            <a:prstDash val="solid"/>
          </a:ln>
        </p:spPr>
      </p:sp>
      <p:sp>
        <p:nvSpPr>
          <p:cNvPr id="7" name="Shape 5"/>
          <p:cNvSpPr/>
          <p:nvPr/>
        </p:nvSpPr>
        <p:spPr>
          <a:xfrm>
            <a:off x="320040" y="1115568"/>
            <a:ext cx="91440" cy="2468880"/>
          </a:xfrm>
          <a:prstGeom prst="rect">
            <a:avLst/>
          </a:prstGeom>
          <a:solidFill>
            <a:srgbClr val="2563EB"/>
          </a:solidFill>
          <a:ln w="12700">
            <a:solidFill>
              <a:srgbClr val="2563EB"/>
            </a:solidFill>
            <a:prstDash val="solid"/>
          </a:ln>
        </p:spPr>
      </p:sp>
      <p:sp>
        <p:nvSpPr>
          <p:cNvPr id="8" name="Shape 6"/>
          <p:cNvSpPr/>
          <p:nvPr/>
        </p:nvSpPr>
        <p:spPr>
          <a:xfrm>
            <a:off x="502920" y="1280160"/>
            <a:ext cx="384048" cy="384048"/>
          </a:xfrm>
          <a:prstGeom prst="roundRect">
            <a:avLst>
              <a:gd name="adj" fmla="val 9524"/>
            </a:avLst>
          </a:prstGeom>
          <a:solidFill>
            <a:srgbClr val="2563EB"/>
          </a:solidFill>
          <a:ln w="12700">
            <a:solidFill>
              <a:srgbClr val="2563EB"/>
            </a:solidFill>
            <a:prstDash val="solid"/>
          </a:ln>
        </p:spPr>
      </p:sp>
      <p:sp>
        <p:nvSpPr>
          <p:cNvPr id="9" name="Text 7"/>
          <p:cNvSpPr/>
          <p:nvPr/>
        </p:nvSpPr>
        <p:spPr>
          <a:xfrm>
            <a:off x="502920" y="1280160"/>
            <a:ext cx="384048" cy="384048"/>
          </a:xfrm>
          <a:prstGeom prst="rect">
            <a:avLst/>
          </a:prstGeom>
          <a:noFill/>
          <a:ln/>
        </p:spPr>
        <p:txBody>
          <a:bodyPr wrap="square" rtlCol="0" anchor="ctr"/>
          <a:lstStyle/>
          <a:p>
            <a:pPr algn="ctr" indent="0" marL="0">
              <a:buNone/>
            </a:pPr>
            <a:r>
              <a:rPr lang="en-US" sz="1600" b="1" dirty="0">
                <a:solidFill>
                  <a:srgbClr val="0C0F1E"/>
                </a:solidFill>
                <a:latin typeface="Calibri" pitchFamily="34" charset="0"/>
                <a:ea typeface="Calibri" pitchFamily="34" charset="-122"/>
                <a:cs typeface="Calibri" pitchFamily="34" charset="-120"/>
              </a:rPr>
              <a:t>D</a:t>
            </a:r>
            <a:endParaRPr lang="en-US" sz="1600" dirty="0"/>
          </a:p>
        </p:txBody>
      </p:sp>
      <p:sp>
        <p:nvSpPr>
          <p:cNvPr id="10" name="Text 8"/>
          <p:cNvSpPr/>
          <p:nvPr/>
        </p:nvSpPr>
        <p:spPr>
          <a:xfrm>
            <a:off x="1005840" y="1280160"/>
            <a:ext cx="47548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Délai diagnostique : un enjeu d'équité</a:t>
            </a:r>
            <a:endParaRPr lang="en-US" sz="1300" dirty="0"/>
          </a:p>
        </p:txBody>
      </p:sp>
      <p:sp>
        <p:nvSpPr>
          <p:cNvPr id="11" name="Shape 9"/>
          <p:cNvSpPr/>
          <p:nvPr/>
        </p:nvSpPr>
        <p:spPr>
          <a:xfrm>
            <a:off x="502920" y="1865376"/>
            <a:ext cx="5257800" cy="16459"/>
          </a:xfrm>
          <a:prstGeom prst="rect">
            <a:avLst/>
          </a:prstGeom>
          <a:solidFill>
            <a:srgbClr val="2563EB">
              <a:alpha val="50000"/>
            </a:srgbClr>
          </a:solidFill>
          <a:ln w="12700">
            <a:solidFill>
              <a:srgbClr val="2563EB"/>
            </a:solidFill>
            <a:prstDash val="solid"/>
          </a:ln>
        </p:spPr>
      </p:sp>
      <p:sp>
        <p:nvSpPr>
          <p:cNvPr id="12" name="Text 10"/>
          <p:cNvSpPr/>
          <p:nvPr/>
        </p:nvSpPr>
        <p:spPr>
          <a:xfrm>
            <a:off x="502920" y="1956816"/>
            <a:ext cx="5257800" cy="1463040"/>
          </a:xfrm>
          <a:prstGeom prst="rect">
            <a:avLst/>
          </a:prstGeom>
          <a:noFill/>
          <a:ln/>
        </p:spPr>
        <p:txBody>
          <a:bodyPr wrap="square" rtlCol="0" anchor="t"/>
          <a:lstStyle/>
          <a:p>
            <a:pPr indent="0" marL="0">
              <a:buNone/>
            </a:pPr>
            <a:r>
              <a:rPr lang="en-US" sz="1000" dirty="0">
                <a:solidFill>
                  <a:srgbClr val="C0D0E8"/>
                </a:solidFill>
                <a:latin typeface="Calibri" pitchFamily="34" charset="0"/>
                <a:ea typeface="Calibri" pitchFamily="34" charset="-122"/>
                <a:cs typeface="Calibri" pitchFamily="34" charset="-120"/>
              </a:rPr>
              <a:t>47 % des personnes attendent plus de 2 ans pour un diagnostic (UNAFAM 2023). Un DUP long aggrave le pronostic. Les équipes ESSMS doivent connaître les signaux d'alerte (retrait, discours désorganisé, hallucinations rapportées par l'entourage) et orienter rapidement vers le psychiatre référent.</a:t>
            </a:r>
            <a:endParaRPr lang="en-US" sz="1000" dirty="0"/>
          </a:p>
        </p:txBody>
      </p:sp>
      <p:sp>
        <p:nvSpPr>
          <p:cNvPr id="13" name="Shape 11"/>
          <p:cNvSpPr/>
          <p:nvPr/>
        </p:nvSpPr>
        <p:spPr>
          <a:xfrm>
            <a:off x="6190488" y="1115568"/>
            <a:ext cx="5577840" cy="2468880"/>
          </a:xfrm>
          <a:prstGeom prst="rect">
            <a:avLst/>
          </a:prstGeom>
          <a:solidFill>
            <a:srgbClr val="DC2626">
              <a:alpha val="9000"/>
            </a:srgbClr>
          </a:solidFill>
          <a:ln w="6350">
            <a:solidFill>
              <a:srgbClr val="DC2626">
                <a:alpha val="40000"/>
              </a:srgbClr>
            </a:solidFill>
            <a:prstDash val="solid"/>
          </a:ln>
        </p:spPr>
      </p:sp>
      <p:sp>
        <p:nvSpPr>
          <p:cNvPr id="14" name="Shape 12"/>
          <p:cNvSpPr/>
          <p:nvPr/>
        </p:nvSpPr>
        <p:spPr>
          <a:xfrm>
            <a:off x="6190488" y="1115568"/>
            <a:ext cx="91440" cy="2468880"/>
          </a:xfrm>
          <a:prstGeom prst="rect">
            <a:avLst/>
          </a:prstGeom>
          <a:solidFill>
            <a:srgbClr val="DC2626"/>
          </a:solidFill>
          <a:ln w="12700">
            <a:solidFill>
              <a:srgbClr val="DC2626"/>
            </a:solidFill>
            <a:prstDash val="solid"/>
          </a:ln>
        </p:spPr>
      </p:sp>
      <p:sp>
        <p:nvSpPr>
          <p:cNvPr id="15" name="Shape 13"/>
          <p:cNvSpPr/>
          <p:nvPr/>
        </p:nvSpPr>
        <p:spPr>
          <a:xfrm>
            <a:off x="6373368" y="1280160"/>
            <a:ext cx="384048" cy="384048"/>
          </a:xfrm>
          <a:prstGeom prst="roundRect">
            <a:avLst>
              <a:gd name="adj" fmla="val 9524"/>
            </a:avLst>
          </a:prstGeom>
          <a:solidFill>
            <a:srgbClr val="DC2626"/>
          </a:solidFill>
          <a:ln w="12700">
            <a:solidFill>
              <a:srgbClr val="DC2626"/>
            </a:solidFill>
            <a:prstDash val="solid"/>
          </a:ln>
        </p:spPr>
      </p:sp>
      <p:sp>
        <p:nvSpPr>
          <p:cNvPr id="16" name="Text 14"/>
          <p:cNvSpPr/>
          <p:nvPr/>
        </p:nvSpPr>
        <p:spPr>
          <a:xfrm>
            <a:off x="6373368" y="1280160"/>
            <a:ext cx="384048" cy="384048"/>
          </a:xfrm>
          <a:prstGeom prst="rect">
            <a:avLst/>
          </a:prstGeom>
          <a:noFill/>
          <a:ln/>
        </p:spPr>
        <p:txBody>
          <a:bodyPr wrap="square" rtlCol="0" anchor="ctr"/>
          <a:lstStyle/>
          <a:p>
            <a:pPr algn="ctr" indent="0" marL="0">
              <a:buNone/>
            </a:pPr>
            <a:r>
              <a:rPr lang="en-US" sz="1600" b="1" dirty="0">
                <a:solidFill>
                  <a:srgbClr val="0C0F1E"/>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6876288" y="1280160"/>
            <a:ext cx="47548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Comorbidités somatiques : surveiller activement</a:t>
            </a:r>
            <a:endParaRPr lang="en-US" sz="1300" dirty="0"/>
          </a:p>
        </p:txBody>
      </p:sp>
      <p:sp>
        <p:nvSpPr>
          <p:cNvPr id="18" name="Shape 16"/>
          <p:cNvSpPr/>
          <p:nvPr/>
        </p:nvSpPr>
        <p:spPr>
          <a:xfrm>
            <a:off x="6373368" y="1865376"/>
            <a:ext cx="5257800" cy="16459"/>
          </a:xfrm>
          <a:prstGeom prst="rect">
            <a:avLst/>
          </a:prstGeom>
          <a:solidFill>
            <a:srgbClr val="DC2626">
              <a:alpha val="50000"/>
            </a:srgbClr>
          </a:solidFill>
          <a:ln w="12700">
            <a:solidFill>
              <a:srgbClr val="DC2626"/>
            </a:solidFill>
            <a:prstDash val="solid"/>
          </a:ln>
        </p:spPr>
      </p:sp>
      <p:sp>
        <p:nvSpPr>
          <p:cNvPr id="19" name="Text 17"/>
          <p:cNvSpPr/>
          <p:nvPr/>
        </p:nvSpPr>
        <p:spPr>
          <a:xfrm>
            <a:off x="6373368" y="1956816"/>
            <a:ext cx="5257800" cy="1463040"/>
          </a:xfrm>
          <a:prstGeom prst="rect">
            <a:avLst/>
          </a:prstGeom>
          <a:noFill/>
          <a:ln/>
        </p:spPr>
        <p:txBody>
          <a:bodyPr wrap="square" rtlCol="0" anchor="t"/>
          <a:lstStyle/>
          <a:p>
            <a:pPr indent="0" marL="0">
              <a:buNone/>
            </a:pPr>
            <a:r>
              <a:rPr lang="en-US" sz="1000" dirty="0">
                <a:solidFill>
                  <a:srgbClr val="C0D0E8"/>
                </a:solidFill>
                <a:latin typeface="Calibri" pitchFamily="34" charset="0"/>
                <a:ea typeface="Calibri" pitchFamily="34" charset="-122"/>
                <a:cs typeface="Calibri" pitchFamily="34" charset="-120"/>
              </a:rPr>
              <a:t>Le syndrome métabolique touche 41,3 % des personnes atteintes de schizophrénie. L'espérance de vie est réduite de 11 à 18 ans. Un bilan somatique régulier (poids, glycémie, lipides) doit être intégré dans le suivi des résidents accompagnés en ESSMS.</a:t>
            </a:r>
            <a:endParaRPr lang="en-US" sz="1000" dirty="0"/>
          </a:p>
        </p:txBody>
      </p:sp>
      <p:sp>
        <p:nvSpPr>
          <p:cNvPr id="20" name="Shape 18"/>
          <p:cNvSpPr/>
          <p:nvPr/>
        </p:nvSpPr>
        <p:spPr>
          <a:xfrm>
            <a:off x="320040" y="3931920"/>
            <a:ext cx="5577840" cy="2468880"/>
          </a:xfrm>
          <a:prstGeom prst="rect">
            <a:avLst/>
          </a:prstGeom>
          <a:solidFill>
            <a:srgbClr val="059669">
              <a:alpha val="9000"/>
            </a:srgbClr>
          </a:solidFill>
          <a:ln w="6350">
            <a:solidFill>
              <a:srgbClr val="059669">
                <a:alpha val="40000"/>
              </a:srgbClr>
            </a:solidFill>
            <a:prstDash val="solid"/>
          </a:ln>
        </p:spPr>
      </p:sp>
      <p:sp>
        <p:nvSpPr>
          <p:cNvPr id="21" name="Shape 19"/>
          <p:cNvSpPr/>
          <p:nvPr/>
        </p:nvSpPr>
        <p:spPr>
          <a:xfrm>
            <a:off x="320040" y="3931920"/>
            <a:ext cx="91440" cy="2468880"/>
          </a:xfrm>
          <a:prstGeom prst="rect">
            <a:avLst/>
          </a:prstGeom>
          <a:solidFill>
            <a:srgbClr val="059669"/>
          </a:solidFill>
          <a:ln w="12700">
            <a:solidFill>
              <a:srgbClr val="059669"/>
            </a:solidFill>
            <a:prstDash val="solid"/>
          </a:ln>
        </p:spPr>
      </p:sp>
      <p:sp>
        <p:nvSpPr>
          <p:cNvPr id="22" name="Shape 20"/>
          <p:cNvSpPr/>
          <p:nvPr/>
        </p:nvSpPr>
        <p:spPr>
          <a:xfrm>
            <a:off x="502920" y="4096512"/>
            <a:ext cx="384048" cy="384048"/>
          </a:xfrm>
          <a:prstGeom prst="roundRect">
            <a:avLst>
              <a:gd name="adj" fmla="val 9524"/>
            </a:avLst>
          </a:prstGeom>
          <a:solidFill>
            <a:srgbClr val="059669"/>
          </a:solidFill>
          <a:ln w="12700">
            <a:solidFill>
              <a:srgbClr val="059669"/>
            </a:solidFill>
            <a:prstDash val="solid"/>
          </a:ln>
        </p:spPr>
      </p:sp>
      <p:sp>
        <p:nvSpPr>
          <p:cNvPr id="23" name="Text 21"/>
          <p:cNvSpPr/>
          <p:nvPr/>
        </p:nvSpPr>
        <p:spPr>
          <a:xfrm>
            <a:off x="502920" y="4096512"/>
            <a:ext cx="384048" cy="384048"/>
          </a:xfrm>
          <a:prstGeom prst="rect">
            <a:avLst/>
          </a:prstGeom>
          <a:noFill/>
          <a:ln/>
        </p:spPr>
        <p:txBody>
          <a:bodyPr wrap="square" rtlCol="0" anchor="ctr"/>
          <a:lstStyle/>
          <a:p>
            <a:pPr algn="ctr" indent="0" marL="0">
              <a:buNone/>
            </a:pPr>
            <a:r>
              <a:rPr lang="en-US" sz="1600" b="1" dirty="0">
                <a:solidFill>
                  <a:srgbClr val="0C0F1E"/>
                </a:solidFill>
                <a:latin typeface="Calibri" pitchFamily="34" charset="0"/>
                <a:ea typeface="Calibri" pitchFamily="34" charset="-122"/>
                <a:cs typeface="Calibri" pitchFamily="34" charset="-120"/>
              </a:rPr>
              <a:t>O</a:t>
            </a:r>
            <a:endParaRPr lang="en-US" sz="1600" dirty="0"/>
          </a:p>
        </p:txBody>
      </p:sp>
      <p:sp>
        <p:nvSpPr>
          <p:cNvPr id="24" name="Text 22"/>
          <p:cNvSpPr/>
          <p:nvPr/>
        </p:nvSpPr>
        <p:spPr>
          <a:xfrm>
            <a:off x="1005840" y="4096512"/>
            <a:ext cx="47548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Outils standardisés : intégrer dans les PPA</a:t>
            </a:r>
            <a:endParaRPr lang="en-US" sz="1300" dirty="0"/>
          </a:p>
        </p:txBody>
      </p:sp>
      <p:sp>
        <p:nvSpPr>
          <p:cNvPr id="25" name="Shape 23"/>
          <p:cNvSpPr/>
          <p:nvPr/>
        </p:nvSpPr>
        <p:spPr>
          <a:xfrm>
            <a:off x="502920" y="4681728"/>
            <a:ext cx="5257800" cy="16459"/>
          </a:xfrm>
          <a:prstGeom prst="rect">
            <a:avLst/>
          </a:prstGeom>
          <a:solidFill>
            <a:srgbClr val="059669">
              <a:alpha val="50000"/>
            </a:srgbClr>
          </a:solidFill>
          <a:ln w="12700">
            <a:solidFill>
              <a:srgbClr val="059669"/>
            </a:solidFill>
            <a:prstDash val="solid"/>
          </a:ln>
        </p:spPr>
      </p:sp>
      <p:sp>
        <p:nvSpPr>
          <p:cNvPr id="26" name="Text 24"/>
          <p:cNvSpPr/>
          <p:nvPr/>
        </p:nvSpPr>
        <p:spPr>
          <a:xfrm>
            <a:off x="502920" y="4773168"/>
            <a:ext cx="5257800" cy="1463040"/>
          </a:xfrm>
          <a:prstGeom prst="rect">
            <a:avLst/>
          </a:prstGeom>
          <a:noFill/>
          <a:ln/>
        </p:spPr>
        <p:txBody>
          <a:bodyPr wrap="square" rtlCol="0" anchor="t"/>
          <a:lstStyle/>
          <a:p>
            <a:pPr indent="0" marL="0">
              <a:buNone/>
            </a:pPr>
            <a:r>
              <a:rPr lang="en-US" sz="1000" dirty="0">
                <a:solidFill>
                  <a:srgbClr val="C0D0E8"/>
                </a:solidFill>
                <a:latin typeface="Calibri" pitchFamily="34" charset="0"/>
                <a:ea typeface="Calibri" pitchFamily="34" charset="-122"/>
                <a:cs typeface="Calibri" pitchFamily="34" charset="-120"/>
              </a:rPr>
              <a:t>PSP, EGF, ELADEB, STORI, ISMI doivent alimenter le Projet Personnalisé d'Accompagnement à son élaboration et lors de ses révisions. Ces outils permettent d'objectiver les progrès et de coconstruire les objectifs avec la personne. Articulation directe avec SERAFIN-PH 2027.</a:t>
            </a:r>
            <a:endParaRPr lang="en-US" sz="1000" dirty="0"/>
          </a:p>
        </p:txBody>
      </p:sp>
      <p:sp>
        <p:nvSpPr>
          <p:cNvPr id="27" name="Shape 25"/>
          <p:cNvSpPr/>
          <p:nvPr/>
        </p:nvSpPr>
        <p:spPr>
          <a:xfrm>
            <a:off x="6190488" y="3931920"/>
            <a:ext cx="5577840" cy="2468880"/>
          </a:xfrm>
          <a:prstGeom prst="rect">
            <a:avLst/>
          </a:prstGeom>
          <a:solidFill>
            <a:srgbClr val="7C3AED">
              <a:alpha val="9000"/>
            </a:srgbClr>
          </a:solidFill>
          <a:ln w="6350">
            <a:solidFill>
              <a:srgbClr val="7C3AED">
                <a:alpha val="40000"/>
              </a:srgbClr>
            </a:solidFill>
            <a:prstDash val="solid"/>
          </a:ln>
        </p:spPr>
      </p:sp>
      <p:sp>
        <p:nvSpPr>
          <p:cNvPr id="28" name="Shape 26"/>
          <p:cNvSpPr/>
          <p:nvPr/>
        </p:nvSpPr>
        <p:spPr>
          <a:xfrm>
            <a:off x="6190488" y="3931920"/>
            <a:ext cx="91440" cy="2468880"/>
          </a:xfrm>
          <a:prstGeom prst="rect">
            <a:avLst/>
          </a:prstGeom>
          <a:solidFill>
            <a:srgbClr val="7C3AED"/>
          </a:solidFill>
          <a:ln w="12700">
            <a:solidFill>
              <a:srgbClr val="7C3AED"/>
            </a:solidFill>
            <a:prstDash val="solid"/>
          </a:ln>
        </p:spPr>
      </p:sp>
      <p:sp>
        <p:nvSpPr>
          <p:cNvPr id="29" name="Shape 27"/>
          <p:cNvSpPr/>
          <p:nvPr/>
        </p:nvSpPr>
        <p:spPr>
          <a:xfrm>
            <a:off x="6373368" y="4096512"/>
            <a:ext cx="384048" cy="384048"/>
          </a:xfrm>
          <a:prstGeom prst="roundRect">
            <a:avLst>
              <a:gd name="adj" fmla="val 9524"/>
            </a:avLst>
          </a:prstGeom>
          <a:solidFill>
            <a:srgbClr val="7C3AED"/>
          </a:solidFill>
          <a:ln w="12700">
            <a:solidFill>
              <a:srgbClr val="7C3AED"/>
            </a:solidFill>
            <a:prstDash val="solid"/>
          </a:ln>
        </p:spPr>
      </p:sp>
      <p:sp>
        <p:nvSpPr>
          <p:cNvPr id="30" name="Text 28"/>
          <p:cNvSpPr/>
          <p:nvPr/>
        </p:nvSpPr>
        <p:spPr>
          <a:xfrm>
            <a:off x="6373368" y="4096512"/>
            <a:ext cx="384048" cy="384048"/>
          </a:xfrm>
          <a:prstGeom prst="rect">
            <a:avLst/>
          </a:prstGeom>
          <a:noFill/>
          <a:ln/>
        </p:spPr>
        <p:txBody>
          <a:bodyPr wrap="square" rtlCol="0" anchor="ctr"/>
          <a:lstStyle/>
          <a:p>
            <a:pPr algn="ctr" indent="0" marL="0">
              <a:buNone/>
            </a:pPr>
            <a:r>
              <a:rPr lang="en-US" sz="1600" b="1" dirty="0">
                <a:solidFill>
                  <a:srgbClr val="0C0F1E"/>
                </a:solidFill>
                <a:latin typeface="Calibri" pitchFamily="34" charset="0"/>
                <a:ea typeface="Calibri" pitchFamily="34" charset="-122"/>
                <a:cs typeface="Calibri" pitchFamily="34" charset="-120"/>
              </a:rPr>
              <a:t>R</a:t>
            </a:r>
            <a:endParaRPr lang="en-US" sz="1600" dirty="0"/>
          </a:p>
        </p:txBody>
      </p:sp>
      <p:sp>
        <p:nvSpPr>
          <p:cNvPr id="31" name="Text 29"/>
          <p:cNvSpPr/>
          <p:nvPr/>
        </p:nvSpPr>
        <p:spPr>
          <a:xfrm>
            <a:off x="6876288" y="4096512"/>
            <a:ext cx="47548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Rétablissement : une posture, pas un résultat</a:t>
            </a:r>
            <a:endParaRPr lang="en-US" sz="1300" dirty="0"/>
          </a:p>
        </p:txBody>
      </p:sp>
      <p:sp>
        <p:nvSpPr>
          <p:cNvPr id="32" name="Shape 30"/>
          <p:cNvSpPr/>
          <p:nvPr/>
        </p:nvSpPr>
        <p:spPr>
          <a:xfrm>
            <a:off x="6373368" y="4681728"/>
            <a:ext cx="5257800" cy="16459"/>
          </a:xfrm>
          <a:prstGeom prst="rect">
            <a:avLst/>
          </a:prstGeom>
          <a:solidFill>
            <a:srgbClr val="7C3AED">
              <a:alpha val="50000"/>
            </a:srgbClr>
          </a:solidFill>
          <a:ln w="12700">
            <a:solidFill>
              <a:srgbClr val="7C3AED"/>
            </a:solidFill>
            <a:prstDash val="solid"/>
          </a:ln>
        </p:spPr>
      </p:sp>
      <p:sp>
        <p:nvSpPr>
          <p:cNvPr id="33" name="Text 31"/>
          <p:cNvSpPr/>
          <p:nvPr/>
        </p:nvSpPr>
        <p:spPr>
          <a:xfrm>
            <a:off x="6373368" y="4773168"/>
            <a:ext cx="5257800" cy="1463040"/>
          </a:xfrm>
          <a:prstGeom prst="rect">
            <a:avLst/>
          </a:prstGeom>
          <a:noFill/>
          <a:ln/>
        </p:spPr>
        <p:txBody>
          <a:bodyPr wrap="square" rtlCol="0" anchor="t"/>
          <a:lstStyle/>
          <a:p>
            <a:pPr indent="0" marL="0">
              <a:buNone/>
            </a:pPr>
            <a:r>
              <a:rPr lang="en-US" sz="1000" dirty="0">
                <a:solidFill>
                  <a:srgbClr val="C0D0E8"/>
                </a:solidFill>
                <a:latin typeface="Calibri" pitchFamily="34" charset="0"/>
                <a:ea typeface="Calibri" pitchFamily="34" charset="-122"/>
                <a:cs typeface="Calibri" pitchFamily="34" charset="-120"/>
              </a:rPr>
              <a:t>Le rétablissement est un processus personnel : espoir, identité positive, sens de la vie, responsabilité. Les équipes soutiennent activement la pair-aidance, valorisent les compétences quotidiennes, et respectent les choix de la personne — y compris imparfaits — dans une logique d'autodétermination (RBPP HAS 2022).</a:t>
            </a:r>
            <a:endParaRPr lang="en-US" sz="1000" dirty="0"/>
          </a:p>
        </p:txBody>
      </p:sp>
      <p:sp>
        <p:nvSpPr>
          <p:cNvPr id="34" name="Text 32"/>
          <p:cNvSpPr/>
          <p:nvPr/>
        </p:nvSpPr>
        <p:spPr>
          <a:xfrm>
            <a:off x="274320" y="6537960"/>
            <a:ext cx="11430000" cy="201168"/>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Source : Note de cadrage HAS, 8 avril 2026 · Palette Cérébral Nocturne · 26 avril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2026-04-26T14:43:56Z</dcterms:created>
  <dcterms:modified xsi:type="dcterms:W3CDTF">2026-04-26T14:43:56Z</dcterms:modified>
</cp:coreProperties>
</file>