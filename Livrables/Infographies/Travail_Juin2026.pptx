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9EC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DROIT DU TRAVAIL ·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 en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réformes majeures pour salariés et employeurs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travail-emploi.gouv.fr  ·  legifrance.gouv.fr  ·  cnil.fr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mesures entrent en vigueur au 1er juin 2026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5603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560320" cy="1645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508760"/>
            <a:ext cx="475488" cy="475488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" y="210312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salaires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" y="2788920"/>
            <a:ext cx="215798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obligatoire du salaire ou d'une fourchette sur chaque offre d'emploi. Interdiction de demander le salaire précédent au candidat.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2560320" cy="164592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93008" y="1508760"/>
            <a:ext cx="475488" cy="475488"/>
          </a:xfrm>
          <a:prstGeom prst="ellipse">
            <a:avLst/>
          </a:prstGeom>
          <a:solidFill>
            <a:srgbClr val="FEF3CD"/>
          </a:solidFill>
          <a:ln w="12700">
            <a:solidFill>
              <a:srgbClr val="FEF3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93008" y="210312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harcèlement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93008" y="2788920"/>
            <a:ext cx="215798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dans toutes les entreprises de 20 salariés et plus : référent dédié, dispositif de signalement, traitement sous 15 jours.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188720"/>
            <a:ext cx="25603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188720"/>
            <a:ext cx="2560320" cy="164592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4808" y="1508760"/>
            <a:ext cx="475488" cy="475488"/>
          </a:xfrm>
          <a:prstGeom prst="ellipse">
            <a:avLst/>
          </a:prstGeom>
          <a:solidFill>
            <a:srgbClr val="E3EFF8"/>
          </a:solidFill>
          <a:ln w="12700">
            <a:solidFill>
              <a:srgbClr val="E3EF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64808" y="210312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RH 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décret attendu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64808" y="2788920"/>
            <a:ext cx="215798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du décret sur l'étude d'impact obligatoire avant tout déploiement d'outil IA en gestion RH. Registre IA imposé aux 250+ salariés.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travail-emploi.gouv.fr · revue-juridique.fr · Données au 27 avril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417320" cy="256032"/>
          </a:xfrm>
          <a:prstGeom prst="rect">
            <a:avLst>
              <a:gd name="adj" fmla="val 21429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N°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 des salaires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937760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6245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le salaire ou une fourchette dans chaque offre d'emploi publiée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4937760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84248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2082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Interdiction d'interroger le candidat sur son salaire actuel ou précédent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642616"/>
            <a:ext cx="4937760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42616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791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salariés peuvent demander les critères de fixation du salaire en interne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300984"/>
            <a:ext cx="4937760" cy="530352"/>
          </a:xfrm>
          <a:prstGeom prst="rect">
            <a:avLst/>
          </a:prstGeom>
          <a:solidFill>
            <a:srgbClr val="F4F5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300984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375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 européenne transposée en droit français avant juin 2026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760720" y="201168"/>
            <a:ext cx="3017520" cy="4663440"/>
          </a:xfrm>
          <a:prstGeom prst="rect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411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concret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896112"/>
            <a:ext cx="256032" cy="25603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8503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candidats gagnent en pouvoir de négociation sans divulguer leur historique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0" y="1810512"/>
            <a:ext cx="256032" cy="25603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17647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des écarts de salaire hommes/femmes dès le recrutement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0" y="2724912"/>
            <a:ext cx="256032" cy="25603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26791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RH doivent formaliser leur politique de rémunération par poste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0" y="3639312"/>
            <a:ext cx="256032" cy="25603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35935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 possible en cas de non-respect de l'obligation d'affichage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Directive UE 2023/970 · travail-emploi.gouv.fr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solidFill>
            <a:srgbClr val="FEF3CD"/>
          </a:solidFill>
          <a:ln w="12700">
            <a:solidFill>
              <a:srgbClr val="FEF3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N°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 harcèlement obligatoire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974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2697480" cy="137160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FEF3CD"/>
          </a:solidFill>
          <a:ln w="12700">
            <a:solidFill>
              <a:srgbClr val="FEF3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Désigner un référent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entreprise de 20 salariés et plus doit nommer une personne dédiée au traitement du harcèlement moral et sexuel.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6974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2697480" cy="137160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554480"/>
            <a:ext cx="457200" cy="457200"/>
          </a:xfrm>
          <a:prstGeom prst="ellipse">
            <a:avLst/>
          </a:prstGeom>
          <a:solidFill>
            <a:srgbClr val="FEF3CD"/>
          </a:solidFill>
          <a:ln w="12700">
            <a:solidFill>
              <a:srgbClr val="FEF3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2148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de signalement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260604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d'un canal formel permettant à tout salarié de signaler une situation en toute confidentialité.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325880"/>
            <a:ext cx="26974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325880"/>
            <a:ext cx="2697480" cy="137160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rgbClr val="FEF3CD"/>
          </a:solidFill>
          <a:ln w="12700">
            <a:solidFill>
              <a:srgbClr val="FEF3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2148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sous 15 jours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60604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L'employeur doit initier une enquête interne dans les 15 jours ouvrés suivant tout signalement reçu.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solidFill>
            <a:srgbClr val="FEF3CD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87952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d'application : entreprises de 20 salariés et plus  —  Les structures de moins de 20 salariés restent soumises à l'obligation générale de prévention (Art. L. 4121-1 du Code du travail), mais sans les contraintes procédurales détaillées.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revue-juridique.fr · travail-emploi.gouv.fr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solidFill>
            <a:srgbClr val="E3EFF8"/>
          </a:solidFill>
          <a:ln w="12700">
            <a:solidFill>
              <a:srgbClr val="E3EF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N°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RH — décret d'application attendu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issues de l'AI Act européen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480560" cy="822960"/>
          </a:xfrm>
          <a:prstGeom prst="rect">
            <a:avLst/>
          </a:prstGeom>
          <a:solidFill>
            <a:srgbClr val="E3EFF8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91640"/>
            <a:ext cx="54864" cy="822960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190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 algorithmique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984248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salarié concerné par une décision RH algorithmique doit en être informé et peut demander une explication.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4480560" cy="822960"/>
          </a:xfrm>
          <a:prstGeom prst="rect">
            <a:avLst/>
          </a:prstGeom>
          <a:solidFill>
            <a:srgbClr val="E3EFF8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51760"/>
            <a:ext cx="54864" cy="822960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791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d'impact obligatoire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2944368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tout déploiement d'outil IA en RH, l'employeur réalise une analyse d'impact sur les droits fondamentaux.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4480560" cy="822960"/>
          </a:xfrm>
          <a:prstGeom prst="rect">
            <a:avLst/>
          </a:prstGeom>
          <a:solidFill>
            <a:srgbClr val="E3EFF8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11880"/>
            <a:ext cx="54864" cy="822960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3931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des systèmes IA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904488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entreprises de 250+ salariés tiennent un registre actualisé de tous les outils IA utilisés en gestion RH.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0" y="1280160"/>
            <a:ext cx="3566160" cy="3429000"/>
          </a:xfrm>
          <a:prstGeom prst="rect">
            <a:avLst/>
          </a:prstGeom>
          <a:solidFill>
            <a:srgbClr val="F8FAFF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417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directement concernés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94960" y="1828800"/>
            <a:ext cx="201168" cy="201168"/>
          </a:xfrm>
          <a:prstGeom prst="ellipse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8013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automatisé de CV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2359152"/>
            <a:ext cx="201168" cy="201168"/>
          </a:xfrm>
          <a:prstGeom prst="ellipse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2331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Logiciels de surveillance de productivité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94960" y="2889504"/>
            <a:ext cx="201168" cy="201168"/>
          </a:xfrm>
          <a:prstGeom prst="ellipse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2862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RH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94960" y="3419856"/>
            <a:ext cx="201168" cy="201168"/>
          </a:xfrm>
          <a:prstGeom prst="ellipse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339242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algorithmique des horaires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94960" y="3950208"/>
            <a:ext cx="201168" cy="201168"/>
          </a:xfrm>
          <a:prstGeom prst="ellipse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392277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d'évaluation automatisée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43434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Décret d'application attendu : juin 2026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1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CNIL disponible sur cnil.fr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AI Act UE (Règlement 2024/1689) · cnil.fr · revue-juridique.fr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CHIFFRES CLÉS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vigueur depuis le 1er janvier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697480" cy="109728"/>
          </a:xfrm>
          <a:prstGeom prst="rect">
            <a:avLst/>
          </a:prstGeom>
          <a:solidFill>
            <a:srgbClr val="C0432B"/>
          </a:solidFill>
          <a:ln w="12700">
            <a:solidFill>
              <a:srgbClr val="C04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70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SMIC revalorisé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463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12,02 €/h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19202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 · 1 823 €/mois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05840"/>
            <a:ext cx="2697480" cy="10972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170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 conventionnelle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10712" y="1463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10712" y="19202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patronale (vs 30%)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005840"/>
            <a:ext cx="269748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170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CDD de reconversion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91072" y="1463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91072" y="19202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pour mobilité pro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 — Juin 2026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1965960" cy="1417320"/>
          </a:xfrm>
          <a:prstGeom prst="rect">
            <a:avLst/>
          </a:prstGeom>
          <a:solidFill>
            <a:srgbClr val="F4F5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154680"/>
            <a:ext cx="1965960" cy="91440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2735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75488" y="3785616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référent harcèlement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14600" y="3154680"/>
            <a:ext cx="1965960" cy="1417320"/>
          </a:xfrm>
          <a:prstGeom prst="rect">
            <a:avLst/>
          </a:prstGeom>
          <a:solidFill>
            <a:srgbClr val="F4F5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3154680"/>
            <a:ext cx="1965960" cy="91440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24328" y="32735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15j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624328" y="3785616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maxi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signalement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154680"/>
            <a:ext cx="1965960" cy="1417320"/>
          </a:xfrm>
          <a:prstGeom prst="rect">
            <a:avLst/>
          </a:prstGeom>
          <a:solidFill>
            <a:srgbClr val="F4F5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154680"/>
            <a:ext cx="1965960" cy="91440"/>
          </a:xfrm>
          <a:prstGeom prst="rect">
            <a:avLst/>
          </a:prstGeom>
          <a:solidFill>
            <a:srgbClr val="1A6FB5"/>
          </a:solidFill>
          <a:ln w="12700">
            <a:solidFill>
              <a:srgbClr val="1A6F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2735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773168" y="3785616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registre IA obligatoire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12280" y="3154680"/>
            <a:ext cx="1965960" cy="1417320"/>
          </a:xfrm>
          <a:prstGeom prst="rect">
            <a:avLst/>
          </a:prstGeom>
          <a:solidFill>
            <a:srgbClr val="F4F5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12280" y="3154680"/>
            <a:ext cx="1965960" cy="91440"/>
          </a:xfrm>
          <a:prstGeom prst="rect">
            <a:avLst/>
          </a:prstGeom>
          <a:solidFill>
            <a:srgbClr val="C0432B"/>
          </a:solidFill>
          <a:ln w="12700">
            <a:solidFill>
              <a:srgbClr val="C043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22008" y="32735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922008" y="3785616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 conventionnelle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travail-emploi.gouv.fr · legifrance.gouv.fr · cnil.fr · revue-juridique.fr · nexem.fr · has-sante.fr · anap.fr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EC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ALLER PLUS LOIN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officielles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consulter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029968"/>
            <a:ext cx="822960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8483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travail-emploi.gouv.fr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208483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officiel de toutes les mesures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96896"/>
            <a:ext cx="822960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5176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legifrance.gouv.fr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265176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Textes de loi et décrets d'application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63824"/>
            <a:ext cx="822960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1868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cnil.fr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32186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CNIL pour les DRH sur l'IA en entreprise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30752"/>
            <a:ext cx="822960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8561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nexem.fr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378561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Actualités conventions collectives CCN 66 / CCN 51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5254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has-sante.fr · anap.fr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4352544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dans le secteur médico-social (ESSMS)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au 27 avril 2026 · Certaines mesures peuvent être précisées par décret.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 qui change dans le monde du travail — Juin 2026</dc:title>
  <dc:subject>PptxGenJS Presentation</dc:subject>
  <dc:creator>RicoBSJ</dc:creator>
  <cp:lastModifiedBy>RicoBSJ</cp:lastModifiedBy>
  <cp:revision>1</cp:revision>
  <dcterms:created xsi:type="dcterms:W3CDTF">2026-04-27T06:55:04Z</dcterms:created>
  <dcterms:modified xsi:type="dcterms:W3CDTF">2026-04-27T06:55:04Z</dcterms:modified>
</cp:coreProperties>
</file>