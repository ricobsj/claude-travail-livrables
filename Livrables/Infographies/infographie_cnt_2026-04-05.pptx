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1270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1270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132320" cy="0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2560320" cy="420624"/>
          </a:xfrm>
          <a:prstGeom prst="roundRect">
            <a:avLst>
              <a:gd name="adj" fmla="val 2608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Avril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de compétences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Facteurs Humains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Sécurité des Soins — Compétences Non Techniques (CNT)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pédagogiques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thématiques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5216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compétences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&amp; Association Facteurs humains en santé — Référentiel CNT, avril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5532120"/>
            <a:ext cx="274320" cy="27432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5532120"/>
            <a:ext cx="274320" cy="274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5532120"/>
            <a:ext cx="274320" cy="27432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référentiel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fiches · 4 groupes thématiques · 2 niveaux de formation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880360" cy="5559552"/>
          </a:xfrm>
          <a:prstGeom prst="rect">
            <a:avLst/>
          </a:prstGeom>
          <a:solidFill>
            <a:srgbClr val="083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28803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61872"/>
            <a:ext cx="2660904" cy="256032"/>
          </a:xfrm>
          <a:prstGeom prst="roundRect">
            <a:avLst>
              <a:gd name="adj" fmla="val 17857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6187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Fondamentaux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660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sûre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" y="2670048"/>
            <a:ext cx="2660904" cy="27432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788920"/>
            <a:ext cx="4572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280720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Facteurs org. &amp; humains (FOH)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3355848"/>
            <a:ext cx="4572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3374136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Culture de sécurité des soins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55264" y="1097280"/>
            <a:ext cx="2880360" cy="5559552"/>
          </a:xfrm>
          <a:prstGeom prst="rect">
            <a:avLst/>
          </a:prstGeom>
          <a:solidFill>
            <a:srgbClr val="4A1030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55264" y="1097280"/>
            <a:ext cx="2880360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261872"/>
            <a:ext cx="2660904" cy="256032"/>
          </a:xfrm>
          <a:prstGeom prst="roundRect">
            <a:avLst>
              <a:gd name="adj" fmla="val 17857"/>
            </a:avLst>
          </a:prstGeom>
          <a:solidFill>
            <a:srgbClr val="FF6B9D">
              <a:alpha val="30000"/>
            </a:srgbClr>
          </a:solidFill>
          <a:ln w="12700">
            <a:solidFill>
              <a:srgbClr val="FF6B9D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26187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Fondamentaux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1600200"/>
            <a:ext cx="2660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je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« moi » 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2670048"/>
            <a:ext cx="2660904" cy="27432"/>
          </a:xfrm>
          <a:prstGeom prst="rect">
            <a:avLst/>
          </a:prstGeom>
          <a:solidFill>
            <a:srgbClr val="FF6B9D">
              <a:alpha val="60000"/>
            </a:srgbClr>
          </a:solidFill>
          <a:ln w="12700">
            <a:solidFill>
              <a:srgbClr val="FF6B9D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2788920"/>
            <a:ext cx="45720" cy="42062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80720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— Sciences cognitives &amp; neurosciences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3355848"/>
            <a:ext cx="45720" cy="42062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374136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— Fatigue et gestion de la fatigue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3922776"/>
            <a:ext cx="45720" cy="42062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941064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— Stress et gestion du stress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0488" y="1097280"/>
            <a:ext cx="2880360" cy="5559552"/>
          </a:xfrm>
          <a:prstGeom prst="rect">
            <a:avLst/>
          </a:prstGeom>
          <a:solidFill>
            <a:srgbClr val="023D2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0488" y="1097280"/>
            <a:ext cx="288036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0216" y="1261872"/>
            <a:ext cx="2660904" cy="256032"/>
          </a:xfrm>
          <a:prstGeom prst="roundRect">
            <a:avLst>
              <a:gd name="adj" fmla="val 17857"/>
            </a:avLst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126187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Fondamentaux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0216" y="1600200"/>
            <a:ext cx="2660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l'équipe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devient-elle efficace 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0216" y="2670048"/>
            <a:ext cx="2660904" cy="27432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0216" y="2788920"/>
            <a:ext cx="45720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280720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— Caractéristiques d'une équipe efficace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0216" y="3355848"/>
            <a:ext cx="45720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3374136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— Place du patient dans l'équipe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25712" y="1097280"/>
            <a:ext cx="2880360" cy="5559552"/>
          </a:xfrm>
          <a:prstGeom prst="rect">
            <a:avLst/>
          </a:prstGeom>
          <a:solidFill>
            <a:srgbClr val="3D3000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25712" y="1097280"/>
            <a:ext cx="2880360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1261872"/>
            <a:ext cx="2660904" cy="256032"/>
          </a:xfrm>
          <a:prstGeom prst="roundRect">
            <a:avLst>
              <a:gd name="adj" fmla="val 17857"/>
            </a:avLst>
          </a:prstGeom>
          <a:solidFill>
            <a:srgbClr val="F9C846">
              <a:alpha val="30000"/>
            </a:srgbClr>
          </a:solidFill>
          <a:ln w="12700">
            <a:solidFill>
              <a:srgbClr val="F9C846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126187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Agir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35440" y="1600200"/>
            <a:ext cx="2660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agir avec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compétences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235440" y="2670048"/>
            <a:ext cx="2660904" cy="27432"/>
          </a:xfrm>
          <a:prstGeom prst="rect">
            <a:avLst/>
          </a:prstGeom>
          <a:solidFill>
            <a:srgbClr val="F9C846">
              <a:alpha val="60000"/>
            </a:srgbClr>
          </a:solidFill>
          <a:ln w="12700">
            <a:solidFill>
              <a:srgbClr val="F9C846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0" y="2788920"/>
            <a:ext cx="45720" cy="420624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45168" y="280720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— Leadership &amp; travail en équipe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35440" y="3355848"/>
            <a:ext cx="45720" cy="420624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45168" y="3374136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— Conscience de soi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235440" y="3922776"/>
            <a:ext cx="45720" cy="420624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45168" y="3941064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— Communication efficace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235440" y="4489704"/>
            <a:ext cx="45720" cy="420624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45168" y="4507992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— Gestion de la charge de travail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35440" y="5056632"/>
            <a:ext cx="45720" cy="420624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45168" y="5074920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— Conscience de la situation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235440" y="5623560"/>
            <a:ext cx="45720" cy="420624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45168" y="564184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— Prise de décision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compétences non techniques clés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Savoir agir — Fiches 8 à 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840480" cy="2642616"/>
          </a:xfrm>
          <a:prstGeom prst="rect">
            <a:avLst/>
          </a:prstGeom>
          <a:solidFill>
            <a:srgbClr val="14112A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3840480" cy="731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34440"/>
            <a:ext cx="502920" cy="50292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4984" y="12161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86537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orienter, motiver et responsabiliser les membres d'une équipe pour atteindre un objectif commun.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2523744"/>
            <a:ext cx="3621024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670048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606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responsabilisation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2670048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2606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d'initiative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" y="30175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95351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conflits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0280" y="30175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295351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pluriprofessionnelle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33672" y="1097280"/>
            <a:ext cx="3840480" cy="2642616"/>
          </a:xfrm>
          <a:prstGeom prst="rect">
            <a:avLst/>
          </a:prstGeom>
          <a:solidFill>
            <a:srgbClr val="14112A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1097280"/>
            <a:ext cx="3840480" cy="731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1234440"/>
            <a:ext cx="502920" cy="5029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28616" y="12161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186537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reconnaître ses propres états émotionnels, biais et limites pour ajuster ses comportements en situation.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523744"/>
            <a:ext cx="3621024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2670048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2606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Réflexivité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53912" y="2670048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606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 de ses limites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3017520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295351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émotionnelle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53912" y="3017520"/>
            <a:ext cx="109728" cy="1097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95351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psychologique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47304" y="1097280"/>
            <a:ext cx="3840480" cy="2642616"/>
          </a:xfrm>
          <a:prstGeom prst="rect">
            <a:avLst/>
          </a:prstGeom>
          <a:solidFill>
            <a:srgbClr val="1411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47304" y="109728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57032" y="1234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842248" y="12161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57032" y="186537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et recevoir une information sans ambiguïté, adaptée à l'interlocuteur et au contexte de soins.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57032" y="2523744"/>
            <a:ext cx="3621024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57032" y="267004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606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clair et non ambigu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067544" y="267004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22992" y="2606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active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57032" y="30175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295351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067544" y="30175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22992" y="295351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Transmissions &amp; relèves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3849624"/>
            <a:ext cx="3840480" cy="2642616"/>
          </a:xfrm>
          <a:prstGeom prst="rect">
            <a:avLst/>
          </a:prstGeom>
          <a:solidFill>
            <a:srgbClr val="14112A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849624"/>
            <a:ext cx="3840480" cy="731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768" y="3986784"/>
            <a:ext cx="502920" cy="50292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4984" y="39684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travail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29768" y="4617720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Organiser, hiérarchiser et distribuer les tâches pour maintenir la sécurité et la performance malgré les contraintes.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29768" y="5276088"/>
            <a:ext cx="3621024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9768" y="5422392"/>
            <a:ext cx="109728" cy="109728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" y="535838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&amp; planification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40280" y="5422392"/>
            <a:ext cx="109728" cy="109728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95728" y="535838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29768" y="5769864"/>
            <a:ext cx="109728" cy="109728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5216" y="5705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imprévus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40280" y="5769864"/>
            <a:ext cx="109728" cy="109728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95728" y="5705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 la surcharge cognitive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233672" y="3849624"/>
            <a:ext cx="3840480" cy="2642616"/>
          </a:xfrm>
          <a:prstGeom prst="rect">
            <a:avLst/>
          </a:prstGeom>
          <a:solidFill>
            <a:srgbClr val="1411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33672" y="3849624"/>
            <a:ext cx="384048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343400" y="3986784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4340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28616" y="39684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situation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343400" y="4617720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Percevoir les éléments de l'environnement, en comprendre la signification et anticiper les évolutions.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343400" y="5276088"/>
            <a:ext cx="3621024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43400" y="542239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98848" y="535838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de l'environnement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153912" y="542239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9360" y="535838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 la situation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343400" y="5769864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98848" y="5705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153912" y="5769864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09360" y="5705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faibles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147304" y="3849624"/>
            <a:ext cx="3840480" cy="2642616"/>
          </a:xfrm>
          <a:prstGeom prst="rect">
            <a:avLst/>
          </a:prstGeom>
          <a:solidFill>
            <a:srgbClr val="14112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147304" y="3849624"/>
            <a:ext cx="384048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57032" y="3986784"/>
            <a:ext cx="502920" cy="5029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57032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842248" y="39684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8257032" y="4617720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une situation, envisager les options disponibles et choisir l'action la plus adaptée, seul ou collectivement.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257032" y="5276088"/>
            <a:ext cx="3621024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57032" y="5422392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412480" y="535838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options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0067544" y="5422392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222992" y="535838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257032" y="576986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412480" y="5705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cognitifs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0067544" y="576986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222992" y="5705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partagée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 — Fiches 1 à 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Comprendre l'organisation, soi-même et l'équipe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880360" cy="2660904"/>
          </a:xfrm>
          <a:prstGeom prst="rect">
            <a:avLst/>
          </a:prstGeom>
          <a:solidFill>
            <a:srgbClr val="1411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2880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" y="1188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organisationnels et humains (FOH)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4708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de l'individu (stress, fatigue, biais)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432304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2257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dans l'équipe (communication, coordination)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980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organisationnel et matériel (procédures, environnement)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7355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ne peut pas changer la condition humaine,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on peut changer les conditions de travail 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64408" y="1078992"/>
            <a:ext cx="2880360" cy="2660904"/>
          </a:xfrm>
          <a:prstGeom prst="rect">
            <a:avLst/>
          </a:prstGeom>
          <a:solidFill>
            <a:srgbClr val="1411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1078992"/>
            <a:ext cx="2880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12070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86200" y="1188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de sécurité des soins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19568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84708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du signalement (déclaration d'EIAS)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55848" y="2432304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32257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du retour d'expérience (RETEX, RMM, CREX)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55848" y="290779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7980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juste (management équitable, non punitif)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55848" y="338328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27355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du travail en équipe (CNT, débriefing)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08776" y="1078992"/>
            <a:ext cx="2880360" cy="2660904"/>
          </a:xfrm>
          <a:prstGeom prst="rect">
            <a:avLst/>
          </a:prstGeom>
          <a:solidFill>
            <a:srgbClr val="14112A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1078992"/>
            <a:ext cx="2880360" cy="731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0216" y="1207008"/>
            <a:ext cx="457200" cy="45720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30568" y="1188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Sciences cognitives &amp; neurosciences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0216" y="1956816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184708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cognitifs 1 (automatique) &amp; 2 (analytique)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0216" y="2432304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232257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cognitifs et heuristiques en soins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0216" y="2907792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27980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Mémoire, attention et limitations humaines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0216" y="3383280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327355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humaine sous pression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153144" y="1078992"/>
            <a:ext cx="2880360" cy="2660904"/>
          </a:xfrm>
          <a:prstGeom prst="rect">
            <a:avLst/>
          </a:prstGeom>
          <a:solidFill>
            <a:srgbClr val="14112A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53144" y="1078992"/>
            <a:ext cx="2880360" cy="731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44584" y="1207008"/>
            <a:ext cx="457200" cy="45720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44584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74936" y="1188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et gestion de la fatigue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44584" y="1956816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81744" y="184708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aiguë vs chronique et leurs effets sur la vigilance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244584" y="2432304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81744" y="232257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Signes d'alerte individuels et collectifs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244584" y="2907792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81744" y="27980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récupération et d'adaptation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244584" y="3383280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81744" y="327355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Hygiène du sommeil et gestion du rythme biologique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831336"/>
            <a:ext cx="2880360" cy="2660904"/>
          </a:xfrm>
          <a:prstGeom prst="rect">
            <a:avLst/>
          </a:prstGeom>
          <a:solidFill>
            <a:srgbClr val="14112A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3831336"/>
            <a:ext cx="2880360" cy="731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" y="3959352"/>
            <a:ext cx="457200" cy="45720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41832" y="394106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et gestion du stress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11480" y="4709160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59943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CINE (Contrôle, Imprévisibilité, Nouveauté, Ego)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84648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5074920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physiologiques et cognitifs du stress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5660136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555040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de régulation émotionnelle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11480" y="6135624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60258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par les pairs et ressources organisationnelles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64408" y="3831336"/>
            <a:ext cx="2880360" cy="2660904"/>
          </a:xfrm>
          <a:prstGeom prst="rect">
            <a:avLst/>
          </a:prstGeom>
          <a:solidFill>
            <a:srgbClr val="1411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64408" y="3831336"/>
            <a:ext cx="28803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55848" y="3959352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5584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886200" y="394106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d'une équipe efficace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355848" y="470916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93008" y="459943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commun &amp; rôles clairement définis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355848" y="51846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93008" y="5074920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Tuckman : forming, storming, norming, performing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355848" y="5660136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93008" y="555040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Cohésion, confiance et sécurité psychologique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355848" y="613562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93008" y="60258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NOTECH, ANTS, CRM santé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208776" y="3831336"/>
            <a:ext cx="2880360" cy="2660904"/>
          </a:xfrm>
          <a:prstGeom prst="rect">
            <a:avLst/>
          </a:prstGeom>
          <a:solidFill>
            <a:srgbClr val="1411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08776" y="3831336"/>
            <a:ext cx="28803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00216" y="3959352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0216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830568" y="394106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du patient dans l'équipe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300216" y="470916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7376" y="459943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acteur de sa sécurité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300216" y="51846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37376" y="5074920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soignant-patient-famille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300216" y="5660136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37376" y="555040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thérapeutique et décision partagée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00216" y="613562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37376" y="60258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Représentants des usagers dans les démarches qualité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de formation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initiale &amp; continue — Approche spiralaire et pluriprofessionnelle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394960" cy="5559552"/>
          </a:xfrm>
          <a:prstGeom prst="rect">
            <a:avLst/>
          </a:prstGeom>
          <a:solidFill>
            <a:srgbClr val="12103A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539496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6187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Formation initiale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en santé — Socle commun pluriprofessionnel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2084832"/>
            <a:ext cx="5065776" cy="292608"/>
          </a:xfrm>
          <a:prstGeom prst="roundRect">
            <a:avLst>
              <a:gd name="adj" fmla="val 18750"/>
            </a:avLst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08483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S'approprier les concepts  (Fiches 1-7)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596896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514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organisation sûre ?  → FOH &amp; Culture de sécurité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2999232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916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je fonctionne « moi » ?  → Cognition, Fatigue, Stress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3401568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3192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l'équipe devient-elle efficace ?  → Équipe &amp; Patient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" y="3794760"/>
            <a:ext cx="5065776" cy="292608"/>
          </a:xfrm>
          <a:prstGeom prst="roundRect">
            <a:avLst>
              <a:gd name="adj" fmla="val 1875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79476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Agir  (Fiches 8-13)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4306824"/>
            <a:ext cx="109728" cy="109728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42245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Travail en équipe — Conscience de soi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" y="4709160"/>
            <a:ext cx="109728" cy="109728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6268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efficace — Charge de travail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" y="5111496"/>
            <a:ext cx="109728" cy="109728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50292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Conscience de la situation — Prise de décision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88152" y="1097280"/>
            <a:ext cx="6053328" cy="5559552"/>
          </a:xfrm>
          <a:prstGeom prst="rect">
            <a:avLst/>
          </a:prstGeom>
          <a:solidFill>
            <a:srgbClr val="12280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8152" y="1097280"/>
            <a:ext cx="6053328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52744" y="1261872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Formation continue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52744" y="1691640"/>
            <a:ext cx="5724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Professionnels en exercice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52744" y="2084832"/>
            <a:ext cx="5724144" cy="182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52744" y="2176272"/>
            <a:ext cx="5724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pédagogiques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52744" y="2578608"/>
            <a:ext cx="5724144" cy="457200"/>
          </a:xfrm>
          <a:prstGeom prst="rect">
            <a:avLst/>
          </a:prstGeom>
          <a:solidFill>
            <a:srgbClr val="1A3A1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2615184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Simulation en santé (in situ ou en centre)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52744" y="3108960"/>
            <a:ext cx="5724144" cy="457200"/>
          </a:xfrm>
          <a:prstGeom prst="rect">
            <a:avLst/>
          </a:prstGeom>
          <a:solidFill>
            <a:srgbClr val="1A3A1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3145536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CRM Santé — Crew Resource Management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52744" y="3639312"/>
            <a:ext cx="5724144" cy="457200"/>
          </a:xfrm>
          <a:prstGeom prst="rect">
            <a:avLst/>
          </a:prstGeom>
          <a:solidFill>
            <a:srgbClr val="1A3A1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3675888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RETEX · RMM · CREX (retour d'expérience)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52744" y="4169664"/>
            <a:ext cx="5724144" cy="457200"/>
          </a:xfrm>
          <a:prstGeom prst="rect">
            <a:avLst/>
          </a:prstGeom>
          <a:solidFill>
            <a:srgbClr val="1A3A1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4206240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DPC — Développement Professionnel Continu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52744" y="4700016"/>
            <a:ext cx="5724144" cy="457200"/>
          </a:xfrm>
          <a:prstGeom prst="rect">
            <a:avLst/>
          </a:prstGeom>
          <a:solidFill>
            <a:srgbClr val="1A3A1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62472" y="473659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EPP — Évaluation des Pratiques Professionnelles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52744" y="5349240"/>
            <a:ext cx="5724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clés de réussite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52744" y="5797296"/>
            <a:ext cx="91440" cy="9144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9904" y="5724144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institutionnel fort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52744" y="6126480"/>
            <a:ext cx="91440" cy="9144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9904" y="6053328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Pluriprofessionnalité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52744" y="6455664"/>
            <a:ext cx="91440" cy="9144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9904" y="6382512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Contextes réels de travail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Finalités &amp; messages clés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développer les compétences non techniques dans les équipes de soins 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840480" cy="2660904"/>
          </a:xfrm>
          <a:prstGeom prst="rect">
            <a:avLst/>
          </a:prstGeom>
          <a:solidFill>
            <a:srgbClr val="13112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73152" cy="2660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EIAS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5478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 des évènements indésirables sont liés à des défaillances non techniques : communication, coordination, prise de décision, stress, fatigue.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33672" y="1078992"/>
            <a:ext cx="3840480" cy="2660904"/>
          </a:xfrm>
          <a:prstGeom prst="rect">
            <a:avLst/>
          </a:prstGeom>
          <a:solidFill>
            <a:srgbClr val="13112C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078992"/>
            <a:ext cx="73152" cy="266090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10912" y="1188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fonctionnement humain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16552" y="1828800"/>
            <a:ext cx="35478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est inévitable. Les CNT permettent de la détecter plus tôt, de la récupérer avant conséquence et de rendre les équipes résilientes.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47304" y="1078992"/>
            <a:ext cx="3840480" cy="2660904"/>
          </a:xfrm>
          <a:prstGeom prst="rect">
            <a:avLst/>
          </a:prstGeom>
          <a:solidFill>
            <a:srgbClr val="13112C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1078992"/>
            <a:ext cx="73152" cy="266090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24544" y="1188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la performance collective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0184" y="1828800"/>
            <a:ext cx="35478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techniquement compétente mais mal coordonnée est plus à risque qu'une équipe entraînée aux CNT.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3840480" cy="2660904"/>
          </a:xfrm>
          <a:prstGeom prst="rect">
            <a:avLst/>
          </a:prstGeom>
          <a:solidFill>
            <a:srgbClr val="13112C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831336"/>
            <a:ext cx="73152" cy="2660904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39410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sur 6 compétences clés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581144"/>
            <a:ext cx="35478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Conscience de soi, Communication, Charge de travail, Conscience de la situation, Prise de décision — mobilisées conjointement.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33672" y="3831336"/>
            <a:ext cx="3840480" cy="2660904"/>
          </a:xfrm>
          <a:prstGeom prst="rect">
            <a:avLst/>
          </a:prstGeom>
          <a:solidFill>
            <a:srgbClr val="13112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3672" y="3831336"/>
            <a:ext cx="73152" cy="266090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10912" y="39410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Bien-être &amp; qualité de vie au travail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16552" y="4581144"/>
            <a:ext cx="35478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stress et la fatigue, prévenir l'épuisement professionnel, renforcer la sécurité psychologique et redonner du sens au collectif.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47304" y="3831336"/>
            <a:ext cx="3840480" cy="2660904"/>
          </a:xfrm>
          <a:prstGeom prst="rect">
            <a:avLst/>
          </a:prstGeom>
          <a:solidFill>
            <a:srgbClr val="13112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3831336"/>
            <a:ext cx="73152" cy="26609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924544" y="39410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de sécurité durable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30184" y="4581144"/>
            <a:ext cx="35478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Signalement, retour d'expérience, apprentissage continu, amélioration des pratiques. Performance des soins et bien-être des soignants sont indissociables.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126480"/>
            <a:ext cx="12161520" cy="621792"/>
          </a:xfrm>
          <a:prstGeom prst="rect">
            <a:avLst/>
          </a:prstGeom>
          <a:solidFill>
            <a:srgbClr val="1B163D"/>
          </a:solidFill>
          <a:ln w="12700">
            <a:solidFill>
              <a:srgbClr val="1B1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126480"/>
            <a:ext cx="54864" cy="62179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6144768"/>
            <a:ext cx="1179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Travailler les CNT, ce n'est pas chercher à corriger l'humain, c'est adapter les pratiques et les organisations au fonctionnement humain réel. »  — HAS, Référentiel CNT, avril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Infographie — Référentiel CNT HAS 2026</dc:title>
  <dc:subject>PptxGenJS Presentation</dc:subject>
  <dc:creator>PptxGenJS</dc:creator>
  <cp:lastModifiedBy>PptxGenJS</cp:lastModifiedBy>
  <cp:revision>1</cp:revision>
  <dcterms:created xsi:type="dcterms:W3CDTF">2026-04-05T12:15:13Z</dcterms:created>
  <dcterms:modified xsi:type="dcterms:W3CDTF">2026-04-05T12:15:13Z</dcterms:modified>
</cp:coreProperties>
</file>