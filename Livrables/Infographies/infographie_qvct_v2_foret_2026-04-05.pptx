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0B981">
              <a:alpha val="16000"/>
            </a:srgbClr>
          </a:solidFill>
          <a:ln w="6350">
            <a:solidFill>
              <a:srgbClr val="10B981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10B981">
              <a:alpha val="3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8B5CF6">
              <a:alpha val="20000"/>
            </a:srgbClr>
          </a:solidFill>
          <a:ln w="635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Anact · DGCS · Guide QVT ESSMS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Qualite de Vie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Travail en ESSMS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Demarche QVT — 7 axes · Guide Anact/DGCS mars 2021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de la demarche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national 2013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cles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Principes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Social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Phases demarche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travail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 &amp; Relations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participatif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Attractivite &amp; Fidelisation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DGCS · Anact — Guide QVT en etablissements medico-sociaux, mars 2021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Fondements et pilotage de la demarche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quatre premiers axes de la QVT en ESSMS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10B981">
              <a:alpha val="9000"/>
            </a:srgbClr>
          </a:solidFill>
          <a:ln w="635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Principes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QVT = conditions + performance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Ameliorer conditions de travail et performance globale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conditions = meilleure qualite de service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ESSMS avec QVT s'adaptent mieux en crise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0D9488">
              <a:alpha val="9000"/>
            </a:srgbClr>
          </a:solidFill>
          <a:ln w="635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Social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Paritaire : Direction / RP / Metier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Comite QVT tripartite pour concevoir et piloter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direction porte, les managers soutiennent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: fil rouge, valoriser les reussites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84CC16">
              <a:alpha val="9000"/>
            </a:srgbClr>
          </a:solidFill>
          <a:ln w="6350">
            <a:solidFill>
              <a:srgbClr val="84CC16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Phases de la demarche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 · Etat des lieux · Experimenter · Perenniser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84CC16">
              <a:alpha val="50000"/>
            </a:srgbClr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Cadrer : perimetre, comite QVT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Etat des lieux : chantiers prioritaires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Experimenter · Phase 4 — Perenniser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F59E0B">
              <a:alpha val="9000"/>
            </a:srgbClr>
          </a:solidFill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Travail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· Reorganisations · Materiel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Equite dans la charge de travail sur les 24h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Personnels co-concepteurs des reorganisations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Materiel defectueux : impact direct sur la sante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Relations, management et attractivite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derniers axes — Axes 5 a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739896" cy="5522976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739896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 &amp; Relations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· Bienveillance · Communication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3520440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intra ET inter-services necessaire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Bienveillance : continuite, entraide, communication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varies : reunions, affichages, numerique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4528" y="1115568"/>
            <a:ext cx="3739896" cy="5522976"/>
          </a:xfrm>
          <a:prstGeom prst="rect">
            <a:avLst/>
          </a:prstGeom>
          <a:solidFill>
            <a:srgbClr val="8B5CF6">
              <a:alpha val="9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1115568"/>
            <a:ext cx="3739896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425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34256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Participatif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4256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 · Sens · Autonomie · Reconnaissance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34256" y="2596896"/>
            <a:ext cx="3520440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4256" y="2724912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de discussion sur le travail (EDD)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34256" y="3401568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EDD developpent la reconnaissance et le sens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34256" y="4078224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43984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Redonner du sens = renforcer l'autonomie collective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29016" y="1115568"/>
            <a:ext cx="3739896" cy="5522976"/>
          </a:xfrm>
          <a:prstGeom prst="rect">
            <a:avLst/>
          </a:prstGeom>
          <a:solidFill>
            <a:srgbClr val="06B6D4">
              <a:alpha val="9000"/>
            </a:srgbClr>
          </a:solidFill>
          <a:ln w="635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29016" y="1115568"/>
            <a:ext cx="3739896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387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38744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Attractivite &amp; Fidelisation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38744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· Image · Absenteisme · Fidelisation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38744" y="2596896"/>
            <a:ext cx="3520440" cy="18288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38744" y="2724912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8472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Ameliorer l'accueil et l'integration des nouveaux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38744" y="3401568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 l'image de l'etablissement sur le territoire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38744" y="4078224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Fidelisation : reconnaissance, autonomie, relations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investir dans la QVT en ESSMS 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raisons cles issues du guide Anact/DGCS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10B981">
              <a:alpha val="9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QVT n'est pas un projet, c'est une culture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la QVT est inscrite dans la duree et portee par la direction, elle ameliore a la fois le bien-etre des professionnels et la qualite de service rendu aux personnes accompagnees. ANI 2013.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84CC16">
              <a:alpha val="9000"/>
            </a:srgbClr>
          </a:solidFill>
          <a:ln w="635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pilotage paritaire est la cle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trinome direction / representant du personnel / representant metier dans le comite QVT garantit l'ancrage concret de la demarche dans les realites du terrain. La communication est le fil rouge.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59E0B">
              <a:alpha val="9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L'organisation du travail au coeur de la QVT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24h de vie des residents, l'equite dans la charge de travail et la co-conception des reorganisations sont les leviers les plus concrets. Le materiel defectueux impacte directement les relations.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8B5CF6">
              <a:alpha val="9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fidelisation est l'horizon de la demarche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Accueil, integration, reconnaissance et sens au travail : les etablissements qui investissent dans ces dimensions ameliorent leur attractivite et reduisent l'absenteisme sur le long terme.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2026-04-17T21:04:13Z</dcterms:created>
  <dcterms:modified xsi:type="dcterms:W3CDTF">2026-04-17T21:04:13Z</dcterms:modified>
</cp:coreProperties>
</file>