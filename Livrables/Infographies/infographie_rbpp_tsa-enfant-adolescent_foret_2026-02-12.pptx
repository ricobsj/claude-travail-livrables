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10B981">
              <a:alpha val="16000"/>
            </a:srgbClr>
          </a:solidFill>
          <a:ln w="6350">
            <a:solidFill>
              <a:srgbClr val="10B981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731520"/>
            <a:ext cx="3657600" cy="3657600"/>
          </a:xfrm>
          <a:prstGeom prst="ellipse">
            <a:avLst/>
          </a:prstGeom>
          <a:solidFill>
            <a:srgbClr val="10B981">
              <a:alpha val="30000"/>
            </a:srgbClr>
          </a:solidFill>
          <a:ln w="635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754880"/>
            <a:ext cx="2926080" cy="2926080"/>
          </a:xfrm>
          <a:prstGeom prst="ellipse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548640" y="5303520"/>
            <a:ext cx="2560320" cy="2560320"/>
          </a:xfrm>
          <a:prstGeom prst="ellipse">
            <a:avLst/>
          </a:prstGeom>
          <a:solidFill>
            <a:srgbClr val="8B5CF6">
              <a:alpha val="20000"/>
            </a:srgbClr>
          </a:solidFill>
          <a:ln w="6350">
            <a:solidFill>
              <a:srgbClr val="8B5CF6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· RBPP · TSA Enfant &amp; Adolescent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09344"/>
            <a:ext cx="7040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TSA Enfant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Adolescent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3145536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HAS — Interventions et parcours de vie — 7 axes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7040880" cy="18288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4864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de recommandation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2608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92608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publiee le 12/02/2026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CAA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30352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du projet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864608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fonctionnement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651760" y="4864608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4436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Soutien familles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4864608"/>
            <a:ext cx="219456" cy="219456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Interventions precoces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58000" y="4864608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060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Scolarisation vie sociale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5230368"/>
            <a:ext cx="219456" cy="21945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medical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651760" y="5230368"/>
            <a:ext cx="219456" cy="21945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4436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adulte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5230368"/>
            <a:ext cx="219456" cy="21945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Comportements-problemes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858000" y="5230368"/>
            <a:ext cx="219456" cy="219456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5060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48640" y="6309360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HAS — RBPP TSA Enfant &amp; Adolescent, publiee le 12 fevrier 2026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Evaluation, soutien et interventions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fondements de l'accompagnement TSA — Axes 1 a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763774" cy="5522976"/>
          </a:xfrm>
          <a:prstGeom prst="rect">
            <a:avLst/>
          </a:prstGeom>
          <a:solidFill>
            <a:srgbClr val="10B981">
              <a:alpha val="9000"/>
            </a:srgbClr>
          </a:solidFill>
          <a:ln w="6350">
            <a:solidFill>
              <a:srgbClr val="10B981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2763774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du fonctionnement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Multidimensionnelle · CIF · Continue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2596896"/>
            <a:ext cx="2544318" cy="18288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724912"/>
            <a:ext cx="45720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multidimensionnelle et pluriprofessionnelle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401568"/>
            <a:ext cx="45720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partagees parents / professionnels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4078224"/>
            <a:ext cx="45720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la personnalisation de l'accompagnement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48406" y="1115568"/>
            <a:ext cx="2763774" cy="5522976"/>
          </a:xfrm>
          <a:prstGeom prst="rect">
            <a:avLst/>
          </a:prstGeom>
          <a:solidFill>
            <a:srgbClr val="0D9488">
              <a:alpha val="9000"/>
            </a:srgbClr>
          </a:solidFill>
          <a:ln w="635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8406" y="1115568"/>
            <a:ext cx="2763774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58134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8134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58134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Soutien aux familles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58134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· Psychoeducation · Repit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58134" y="2596896"/>
            <a:ext cx="2544318" cy="18288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58134" y="2724912"/>
            <a:ext cx="4572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67862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parentale et psychoeducation structuree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58134" y="3401568"/>
            <a:ext cx="4572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67862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 d'entraide et pair-aidance recommandes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58134" y="4078224"/>
            <a:ext cx="4572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67862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Dispositifs de repit reconnus et remboursables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76772" y="1115568"/>
            <a:ext cx="2763774" cy="5522976"/>
          </a:xfrm>
          <a:prstGeom prst="rect">
            <a:avLst/>
          </a:prstGeom>
          <a:solidFill>
            <a:srgbClr val="84CC16">
              <a:alpha val="9000"/>
            </a:srgbClr>
          </a:solidFill>
          <a:ln w="6350">
            <a:solidFill>
              <a:srgbClr val="84CC16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6772" y="1115568"/>
            <a:ext cx="2763774" cy="9144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86500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86500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86500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Interventions precoces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86500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Developpemental · Comportemental · CAA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86500" y="2596896"/>
            <a:ext cx="2544318" cy="18288"/>
          </a:xfrm>
          <a:prstGeom prst="rect">
            <a:avLst/>
          </a:prstGeom>
          <a:solidFill>
            <a:srgbClr val="84CC16">
              <a:alpha val="50000"/>
            </a:srgbClr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86500" y="2724912"/>
            <a:ext cx="45720" cy="530352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96228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Demarrer des les premieres interrogations diag.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86500" y="3401568"/>
            <a:ext cx="45720" cy="530352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96228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Approches developpemental. et comportemental. (ABA)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86500" y="4078224"/>
            <a:ext cx="45720" cy="530352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96228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CAA : pilier essentiel · Adapter l'environnement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105138" y="1115568"/>
            <a:ext cx="2763774" cy="5522976"/>
          </a:xfrm>
          <a:prstGeom prst="rect">
            <a:avLst/>
          </a:prstGeom>
          <a:solidFill>
            <a:srgbClr val="F59E0B">
              <a:alpha val="9000"/>
            </a:srgbClr>
          </a:solidFill>
          <a:ln w="635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05138" y="1115568"/>
            <a:ext cx="2763774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214866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14866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214866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Scolarisation &amp; vie sociale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214866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ecole-sante-medico-social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214866" y="2596896"/>
            <a:ext cx="2544318" cy="18288"/>
          </a:xfrm>
          <a:prstGeom prst="rect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214866" y="2724912"/>
            <a:ext cx="45720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24594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etroite ecole / sante / medico-social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214866" y="3401568"/>
            <a:ext cx="45720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24594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et soutien des acteurs scolaires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214866" y="4078224"/>
            <a:ext cx="45720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324594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 aux loisirs, sport, culture — droit effectif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Sante, transition et comportements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cliniques avances — Axes 5 a 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3739896" cy="5522976"/>
          </a:xfrm>
          <a:prstGeom prst="rect">
            <a:avLst/>
          </a:prstGeom>
          <a:solidFill>
            <a:srgbClr val="F97316">
              <a:alpha val="9000"/>
            </a:srgbClr>
          </a:solidFill>
          <a:ln w="6350">
            <a:solidFill>
              <a:srgbClr val="F97316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3739896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medical &amp; Comorbidites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Epilepsie · Sommeil · Psychotropes encadres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2596896"/>
            <a:ext cx="3520440" cy="18288"/>
          </a:xfrm>
          <a:prstGeom prst="rect">
            <a:avLst/>
          </a:prstGeom>
          <a:solidFill>
            <a:srgbClr val="F97316">
              <a:alpha val="5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724912"/>
            <a:ext cx="45720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724912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Vigilance : epilepsie, troubles du sommeil, alimentation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401568"/>
            <a:ext cx="45720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401568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Psychotropes strictement encadres et documentes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4078224"/>
            <a:ext cx="45720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4078224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Sensibilisation de tous les professionnels de sante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224528" y="1115568"/>
            <a:ext cx="3739896" cy="5522976"/>
          </a:xfrm>
          <a:prstGeom prst="rect">
            <a:avLst/>
          </a:prstGeom>
          <a:solidFill>
            <a:srgbClr val="8B5CF6">
              <a:alpha val="9000"/>
            </a:srgbClr>
          </a:solidFill>
          <a:ln w="6350">
            <a:solidFill>
              <a:srgbClr val="8B5CF6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24528" y="1115568"/>
            <a:ext cx="3739896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34256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34256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34256" y="160020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vers l'age adulte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34256" y="22860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Preparer des l'adolescence · Continuite PPA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334256" y="2596896"/>
            <a:ext cx="3520440" cy="18288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34256" y="2724912"/>
            <a:ext cx="45720" cy="5303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43984" y="2724912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Preparer des l'adolescence, avant la majorite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34256" y="3401568"/>
            <a:ext cx="45720" cy="5303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43984" y="3401568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Vigilance aux comorbidites psychiatriques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334256" y="4078224"/>
            <a:ext cx="45720" cy="5303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43984" y="4078224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Continuite du projet personnalise entre structures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129016" y="1115568"/>
            <a:ext cx="3739896" cy="5522976"/>
          </a:xfrm>
          <a:prstGeom prst="rect">
            <a:avLst/>
          </a:prstGeom>
          <a:solidFill>
            <a:srgbClr val="06B6D4">
              <a:alpha val="9000"/>
            </a:srgbClr>
          </a:solidFill>
          <a:ln w="635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29016" y="1115568"/>
            <a:ext cx="3739896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38744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38744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38744" y="160020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Comportements-problemes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238744" y="22860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somatique d'abord · PBS / ABA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238744" y="2596896"/>
            <a:ext cx="3520440" cy="18288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38744" y="2724912"/>
            <a:ext cx="45720" cy="5303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48472" y="2724912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medical en 1er : ecarter la cause somatique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238744" y="3401568"/>
            <a:ext cx="45720" cy="5303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48472" y="3401568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fonctionnelle (antecedents / consequences)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238744" y="4078224"/>
            <a:ext cx="45720" cy="5303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48472" y="4078224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PBS / ABA — jamais de psychotropes sans justif.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messages cles de la RBPP HAS 2026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la recommandation change dans les pratiques TSA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5577840" cy="2487168"/>
          </a:xfrm>
          <a:prstGeom prst="rect">
            <a:avLst/>
          </a:prstGeom>
          <a:solidFill>
            <a:srgbClr val="10B981">
              <a:alpha val="9000"/>
            </a:srgbClr>
          </a:solidFill>
          <a:ln w="635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73152" cy="2487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24712" y="128016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Evaluer pour personnaliser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883664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L'evaluation multidimensionnelle et pluriprofessionnelle, partagee avec les familles, est le fondement de tout accompagnement personnalise du TSA. Elle doit etre continue et regulierement actualisee.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62472" y="1115568"/>
            <a:ext cx="5577840" cy="2487168"/>
          </a:xfrm>
          <a:prstGeom prst="rect">
            <a:avLst/>
          </a:prstGeom>
          <a:solidFill>
            <a:srgbClr val="84CC16">
              <a:alpha val="9000"/>
            </a:srgbClr>
          </a:solidFill>
          <a:ln w="6350">
            <a:solidFill>
              <a:srgbClr val="84CC16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62472" y="1115568"/>
            <a:ext cx="73152" cy="2487168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45352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67144" y="128016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Intervenir precocement, adapter l'environnement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approches developpemental. et comportemental. demarrees des les premieres interrogations, combinees a la CAA et a l'adaptation sensorielle de l'environnement, sont les leviers les plus efficaces.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730752"/>
            <a:ext cx="5577840" cy="2487168"/>
          </a:xfrm>
          <a:prstGeom prst="rect">
            <a:avLst/>
          </a:prstGeom>
          <a:solidFill>
            <a:srgbClr val="F59E0B">
              <a:alpha val="9000"/>
            </a:srgbClr>
          </a:solidFill>
          <a:ln w="63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730752"/>
            <a:ext cx="73152" cy="2487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8953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24712" y="3895344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scolarisation inclusive est un droit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498848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coordination ecole-sante-medico-social, la formation des acteurs scolaires et l'acces aux loisirs sont des imperatifs. Les outils numeriques et la teleexpertise sont desormais autorises.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62472" y="3730752"/>
            <a:ext cx="5577840" cy="2487168"/>
          </a:xfrm>
          <a:prstGeom prst="rect">
            <a:avLst/>
          </a:prstGeom>
          <a:solidFill>
            <a:srgbClr val="8B5CF6">
              <a:alpha val="9000"/>
            </a:srgbClr>
          </a:solidFill>
          <a:ln w="635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62472" y="3730752"/>
            <a:ext cx="73152" cy="2487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5352" y="38953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67144" y="3895344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Preparer la transition des l'adolescence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45352" y="4498848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continuite du PPA entre structures pediatriques et adultes, la vigilance aux comorbidites psychiatriques et le respect de l'autodetermination de l'adolescent conditionne une transition reussie.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2026-04-17T21:04:13Z</dcterms:created>
  <dcterms:modified xsi:type="dcterms:W3CDTF">2026-04-17T21:04:13Z</dcterms:modified>
</cp:coreProperties>
</file>