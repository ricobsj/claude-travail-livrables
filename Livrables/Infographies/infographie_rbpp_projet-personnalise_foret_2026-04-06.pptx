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0B981">
              <a:alpha val="16000"/>
            </a:srgbClr>
          </a:solidFill>
          <a:ln w="6350">
            <a:solidFill>
              <a:srgbClr val="10B981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731520"/>
            <a:ext cx="3657600" cy="3657600"/>
          </a:xfrm>
          <a:prstGeom prst="ellipse">
            <a:avLst/>
          </a:prstGeom>
          <a:solidFill>
            <a:srgbClr val="10B981">
              <a:alpha val="3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754880"/>
            <a:ext cx="2926080" cy="2926080"/>
          </a:xfrm>
          <a:prstGeom prst="ellipse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5303520"/>
            <a:ext cx="2560320" cy="2560320"/>
          </a:xfrm>
          <a:prstGeom prst="ellipse">
            <a:avLst/>
          </a:prstGeom>
          <a:solidFill>
            <a:srgbClr val="8B5CF6">
              <a:alpha val="20000"/>
            </a:srgbClr>
          </a:solidFill>
          <a:ln w="635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ANESM 2008 · HAS 2025 · PPA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Personnalise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d'Accompagnement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ANESM 2008 — Note de cadrage HAS 2025 — 7 axes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040880" cy="1828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de la demarche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ANESM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2008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numerisation 2025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&amp; Loi 2002-2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51760" y="486460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Co-construction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4864608"/>
            <a:ext cx="219456" cy="219456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Phases demarche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4864608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active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Revision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5230368"/>
            <a:ext cx="219456" cy="2194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etablissement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5230368"/>
            <a:ext cx="219456" cy="21945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Numerisation 2025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5230368"/>
            <a:ext cx="219456" cy="21945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ANESM 2008 · Note de cadrage HAS avril 2025 · Art. L.311-3 CASF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Droits, co-construction et phases de la demarche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fondements du projet personnalise — Axes 1 a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63774" cy="5522976"/>
          </a:xfrm>
          <a:prstGeom prst="rect">
            <a:avLst/>
          </a:prstGeom>
          <a:solidFill>
            <a:srgbClr val="10B981">
              <a:alpha val="9000"/>
            </a:srgbClr>
          </a:solidFill>
          <a:ln w="635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63774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&amp; Loi 2002-2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CASF L.311-3 · DIPC · Consentement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44318" cy="1828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a un projet individualise (art. L.311-3 CASF)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DIPC : engagement formels reciproques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Dignite, intimite, libre choix, droit au refus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8406" y="1115568"/>
            <a:ext cx="2763774" cy="5522976"/>
          </a:xfrm>
          <a:prstGeom prst="rect">
            <a:avLst/>
          </a:prstGeom>
          <a:solidFill>
            <a:srgbClr val="0D9488">
              <a:alpha val="9000"/>
            </a:srgbClr>
          </a:solidFill>
          <a:ln w="635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8406" y="1115568"/>
            <a:ext cx="2763774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813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813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8134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Co-construction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8134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auteur · SMART · FALC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58134" y="2596896"/>
            <a:ext cx="2544318" cy="18288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8134" y="2724912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7862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est l'auteur principal de son projet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58134" y="3401568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7862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co-definis : precis, mesurables (SMART)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8134" y="4078224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7862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adaptes : FALC, pictogrammes, AAC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6772" y="1115568"/>
            <a:ext cx="2763774" cy="5522976"/>
          </a:xfrm>
          <a:prstGeom prst="rect">
            <a:avLst/>
          </a:prstGeom>
          <a:solidFill>
            <a:srgbClr val="84CC16">
              <a:alpha val="9000"/>
            </a:srgbClr>
          </a:solidFill>
          <a:ln w="6350">
            <a:solidFill>
              <a:srgbClr val="84CC16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6772" y="1115568"/>
            <a:ext cx="2763774" cy="9144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650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650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86500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Phases de la demarche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86500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→ Analyse → Decision → Evaluation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86500" y="2596896"/>
            <a:ext cx="2544318" cy="18288"/>
          </a:xfrm>
          <a:prstGeom prst="rect">
            <a:avLst/>
          </a:prstGeom>
          <a:solidFill>
            <a:srgbClr val="84CC16">
              <a:alpha val="50000"/>
            </a:srgbClr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86500" y="2724912"/>
            <a:ext cx="45720" cy="53035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6228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Premiers contacts · Analyse · Co-construction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86500" y="3401568"/>
            <a:ext cx="45720" cy="53035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6228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Decision/signature · Mise en oeuvre coordonnee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86500" y="4078224"/>
            <a:ext cx="45720" cy="53035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6228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Co-evaluation · Redaction et archivage securise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05138" y="1115568"/>
            <a:ext cx="2763774" cy="5522976"/>
          </a:xfrm>
          <a:prstGeom prst="rect">
            <a:avLst/>
          </a:prstGeom>
          <a:solidFill>
            <a:srgbClr val="F59E0B">
              <a:alpha val="9000"/>
            </a:srgbClr>
          </a:solidFill>
          <a:ln w="635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05138" y="1115568"/>
            <a:ext cx="2763774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1486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1486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14866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active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214866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· CVS · Refus · Risque acceptable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214866" y="2596896"/>
            <a:ext cx="2544318" cy="18288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14866" y="2724912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4594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presente a sa reunion de projet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214866" y="3401568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4594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au refus respecte et trace (sans imposer)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214866" y="4078224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4594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acceptable si personne informee et soutenue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projet d'etablissement et numerisation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Pilotage, qualite et evolutions 2025 — Axes 5 a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3739896" cy="5522976"/>
          </a:xfrm>
          <a:prstGeom prst="rect">
            <a:avLst/>
          </a:prstGeom>
          <a:solidFill>
            <a:srgbClr val="F97316">
              <a:alpha val="9000"/>
            </a:srgbClr>
          </a:solidFill>
          <a:ln w="635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739896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Revision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Annuelle · Anticipee · Co-evaluation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3520440" cy="18288"/>
          </a:xfrm>
          <a:prstGeom prst="rect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annuelle obligatoire (document vivant)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anticipee si evolution de sante ou de vie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Co-evaluation : indicateurs observables + ressenti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24528" y="1115568"/>
            <a:ext cx="3739896" cy="5522976"/>
          </a:xfrm>
          <a:prstGeom prst="rect">
            <a:avLst/>
          </a:prstGeom>
          <a:solidFill>
            <a:srgbClr val="8B5CF6">
              <a:alpha val="9000"/>
            </a:srgbClr>
          </a:solidFill>
          <a:ln w="635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24528" y="1115568"/>
            <a:ext cx="3739896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3425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3425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34256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d'etablissement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34256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→ Besoins collectifs → Qualite HAS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34256" y="2596896"/>
            <a:ext cx="3520440" cy="1828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34256" y="2724912"/>
            <a:ext cx="4572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3984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agreg. font emerger les besoins collectifs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34256" y="3401568"/>
            <a:ext cx="4572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au referentiel HAS 2022 (evaluation)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34256" y="4078224"/>
            <a:ext cx="4572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43984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CPOM : les PPA alimentent les objectifs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29016" y="1115568"/>
            <a:ext cx="3739896" cy="5522976"/>
          </a:xfrm>
          <a:prstGeom prst="rect">
            <a:avLst/>
          </a:prstGeom>
          <a:solidFill>
            <a:srgbClr val="06B6D4">
              <a:alpha val="9000"/>
            </a:srgbClr>
          </a:solidFill>
          <a:ln w="635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29016" y="1115568"/>
            <a:ext cx="3739896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387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387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38744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Numerisation 2025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38744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avril 2025 · DUI · Mon Espace Sante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238744" y="2596896"/>
            <a:ext cx="3520440" cy="18288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38744" y="2724912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48472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de cadrage HAS : PPA structure en donnees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38744" y="3401568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48472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Cibles : DUI, Mon Espace Sante, DLU, PPCS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38744" y="4078224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48472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Vigilance : RGPD, fracture numerique, humanite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cles de la recommandation PPA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RBPP ANESM / note HAS 2025 change dans les pratiques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2487168"/>
          </a:xfrm>
          <a:prstGeom prst="rect">
            <a:avLst/>
          </a:prstGeom>
          <a:solidFill>
            <a:srgbClr val="10B981">
              <a:alpha val="9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73152" cy="2487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est l'auteur de son projet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PPA n'est pas un document institutionnel sur la personne : c'est un projet elabore avec et par elle, avec des supports adaptes (FALC, AAC), dans le respect de ses choix, y compris de refus.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2472" y="1115568"/>
            <a:ext cx="5577840" cy="2487168"/>
          </a:xfrm>
          <a:prstGeom prst="rect">
            <a:avLst/>
          </a:prstGeom>
          <a:solidFill>
            <a:srgbClr val="84CC16">
              <a:alpha val="9000"/>
            </a:srgbClr>
          </a:solidFill>
          <a:ln w="6350">
            <a:solidFill>
              <a:srgbClr val="84CC1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2472" y="1115568"/>
            <a:ext cx="73152" cy="248716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67144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Co-construire, c'est structurer en 7 phases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7 phases (premiers contacts, analyse, co-construction, decision, mise en oeuvre, co-evaluation, redaction) garantissent un processus rigoureux et tracable, pas un simple formulaire.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5577840" cy="2487168"/>
          </a:xfrm>
          <a:prstGeom prst="rect">
            <a:avLst/>
          </a:prstGeom>
          <a:solidFill>
            <a:srgbClr val="F59E0B">
              <a:alpha val="9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0752"/>
            <a:ext cx="73152" cy="2487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document vivant, pas une formalite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revision annuelle minimum, les revisions anticipees et la co-evaluation avec la personne font du PPA un outil d'accompagnement actif, pas une procedure administrative annuelle.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2472" y="3730752"/>
            <a:ext cx="5577840" cy="2487168"/>
          </a:xfrm>
          <a:prstGeom prst="rect">
            <a:avLst/>
          </a:prstGeom>
          <a:solidFill>
            <a:srgbClr val="8B5CF6">
              <a:alpha val="9000"/>
            </a:srgbClr>
          </a:solidFill>
          <a:ln w="635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2472" y="3730752"/>
            <a:ext cx="73152" cy="2487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144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numerisation du PPA a l'horizon 2026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5352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note de cadrage HAS (avril 2025) prepare l'interoperabilite avec le DUI, Mon Espace Sante et les outils de coordination. La vigilance sur le RGPD et la fracture numerique est essentielle.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2026-04-17T21:04:13Z</dcterms:created>
  <dcterms:modified xsi:type="dcterms:W3CDTF">2026-04-17T21:04:13Z</dcterms:modified>
</cp:coreProperties>
</file>