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</a:rPr>
              <a:t>Le PPA en 10 étapes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Chapitre 1 du guide HAS — Élaborer le projet personnalisé d'accompagnement dans le DUI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" y="1298448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1B6E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35608"/>
            <a:ext cx="566928" cy="566928"/>
          </a:xfrm>
          <a:prstGeom prst="ellipse">
            <a:avLst/>
          </a:prstGeom>
          <a:solidFill>
            <a:srgbClr val="1B6EC0"/>
          </a:solidFill>
          <a:ln w="12700">
            <a:solidFill>
              <a:srgbClr val="1B6E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35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Informer la personne &amp; recueillir son consentement (ou son refus)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276856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1F7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414016"/>
            <a:ext cx="566928" cy="566928"/>
          </a:xfrm>
          <a:prstGeom prst="ellipse">
            <a:avLst/>
          </a:prstGeom>
          <a:solidFill>
            <a:srgbClr val="1F7FB5"/>
          </a:solidFill>
          <a:ln w="12700">
            <a:solidFill>
              <a:srgbClr val="1F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27685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Recueillir les besoins, attentes &amp; désirs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" y="3255264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390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392424"/>
            <a:ext cx="566928" cy="566928"/>
          </a:xfrm>
          <a:prstGeom prst="ellipse">
            <a:avLst/>
          </a:prstGeom>
          <a:solidFill>
            <a:srgbClr val="2390AA"/>
          </a:solidFill>
          <a:ln w="12700">
            <a:solidFill>
              <a:srgbClr val="2390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92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255264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Centraliser les informations des professionnels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233672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7A1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370832"/>
            <a:ext cx="566928" cy="566928"/>
          </a:xfrm>
          <a:prstGeom prst="ellipse">
            <a:avLst/>
          </a:prstGeom>
          <a:solidFill>
            <a:srgbClr val="27A19F"/>
          </a:solidFill>
          <a:ln w="12700">
            <a:solidFill>
              <a:srgbClr val="27A1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370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423367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Analyser &amp; co-construire le PPA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" y="5212080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2BB2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5349240"/>
            <a:ext cx="566928" cy="566928"/>
          </a:xfrm>
          <a:prstGeom prst="ellipse">
            <a:avLst/>
          </a:prstGeom>
          <a:solidFill>
            <a:srgbClr val="2BB294"/>
          </a:solidFill>
          <a:ln w="12700">
            <a:solidFill>
              <a:srgbClr val="2BB2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5349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5212080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Élaborer les objectifs &amp; programmer les actions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1298448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3FA7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435608"/>
            <a:ext cx="566928" cy="566928"/>
          </a:xfrm>
          <a:prstGeom prst="ellipse">
            <a:avLst/>
          </a:prstGeom>
          <a:solidFill>
            <a:srgbClr val="3FA776"/>
          </a:solidFill>
          <a:ln w="12700">
            <a:solidFill>
              <a:srgbClr val="3FA7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435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68312" y="129844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Co-valider le PPA &amp; formaliser l'accord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2276856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5A9B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414016"/>
            <a:ext cx="566928" cy="566928"/>
          </a:xfrm>
          <a:prstGeom prst="ellipse">
            <a:avLst/>
          </a:prstGeom>
          <a:solidFill>
            <a:srgbClr val="5A9B5A"/>
          </a:solidFill>
          <a:ln w="12700">
            <a:solidFill>
              <a:srgbClr val="5A9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68312" y="227685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Réviser le PPA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3255264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7E92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3392424"/>
            <a:ext cx="566928" cy="566928"/>
          </a:xfrm>
          <a:prstGeom prst="ellipse">
            <a:avLst/>
          </a:prstGeom>
          <a:solidFill>
            <a:srgbClr val="7E9248"/>
          </a:solidFill>
          <a:ln w="12700">
            <a:solidFill>
              <a:srgbClr val="7E92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3924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68312" y="3255264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Échanger &amp; partager les informations (dont Mon espace santé)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0" y="4233672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A88A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4370832"/>
            <a:ext cx="566928" cy="566928"/>
          </a:xfrm>
          <a:prstGeom prst="ellipse">
            <a:avLst/>
          </a:prstGeom>
          <a:solidFill>
            <a:srgbClr val="A88A39"/>
          </a:solidFill>
          <a:ln w="12700">
            <a:solidFill>
              <a:srgbClr val="A88A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4370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68312" y="423367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Co-évaluer &amp; actualiser (indicateurs/résultats attendus)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83680" y="5212080"/>
            <a:ext cx="5193792" cy="841248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C77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99632" y="5349240"/>
            <a:ext cx="566928" cy="566928"/>
          </a:xfrm>
          <a:prstGeom prst="ellipse">
            <a:avLst/>
          </a:prstGeom>
          <a:solidFill>
            <a:srgbClr val="C77F2C"/>
          </a:solidFill>
          <a:ln w="12700">
            <a:solidFill>
              <a:srgbClr val="C77F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5349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68312" y="5212080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937"/>
                </a:solidFill>
              </a:rPr>
              <a:t>Protéger les données (conservation, archivage, droits d'opposition/rectification)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Processus dynamique et cyclique — la personne au cœur de la démarche (autodétermination) · HAS, mai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2026-06-27T13:22:33Z</dcterms:created>
  <dcterms:modified xsi:type="dcterms:W3CDTF">2026-06-27T13:22:33Z</dcterms:modified>
</cp:coreProperties>
</file>