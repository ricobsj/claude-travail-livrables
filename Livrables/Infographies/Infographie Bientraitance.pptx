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4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645920" y="3840480"/>
            <a:ext cx="5486400" cy="5486400"/>
          </a:xfrm>
          <a:prstGeom prst="ellipse">
            <a:avLst/>
          </a:prstGeom>
          <a:solidFill>
            <a:srgbClr val="2D6A4F">
              <a:alpha val="35000"/>
            </a:srgbClr>
          </a:solidFill>
          <a:ln w="12700">
            <a:solidFill>
              <a:srgbClr val="2D6A4F">
                <a:alpha val="3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875520" y="-1097280"/>
            <a:ext cx="4572000" cy="4572000"/>
          </a:xfrm>
          <a:prstGeom prst="ellipse">
            <a:avLst/>
          </a:prstGeom>
          <a:solidFill>
            <a:srgbClr val="2D6A4F">
              <a:alpha val="35000"/>
            </a:srgbClr>
          </a:solidFill>
          <a:ln w="12700">
            <a:solidFill>
              <a:srgbClr val="2D6A4F">
                <a:alpha val="3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686800" y="4754880"/>
            <a:ext cx="3200400" cy="3200400"/>
          </a:xfrm>
          <a:prstGeom prst="ellipse">
            <a:avLst/>
          </a:prstGeom>
          <a:solidFill>
            <a:srgbClr val="40916C">
              <a:alpha val="30000"/>
            </a:srgbClr>
          </a:solidFill>
          <a:ln w="12700">
            <a:solidFill>
              <a:srgbClr val="40916C">
                <a:alpha val="3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rot="1800000">
            <a:off x="274320" y="274320"/>
            <a:ext cx="1828800" cy="731520"/>
          </a:xfrm>
          <a:prstGeom prst="ellipse">
            <a:avLst/>
          </a:prstGeom>
          <a:solidFill>
            <a:srgbClr val="52B788">
              <a:alpha val="45000"/>
            </a:srgbClr>
          </a:solidFill>
          <a:ln w="12700">
            <a:solidFill>
              <a:srgbClr val="52B788">
                <a:alpha val="45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005840"/>
            <a:ext cx="11612880" cy="1828800"/>
          </a:xfrm>
          <a:prstGeom prst="rect">
            <a:avLst/>
          </a:prstGeom>
          <a:noFill/>
          <a:ln/>
          <a:effectLst>
            <a:outerShdw sx="100000" sy="100000" kx="0" ky="0" algn="bl" rotWithShape="0" blurRad="152400" dist="38100" dir="8100000">
              <a:srgbClr val="000000">
                <a:alpha val="30000"/>
              </a:srgbClr>
            </a:outerShdw>
          </a:effectLst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spc="180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BIENTRAITANCE</a:t>
            </a:r>
            <a:endParaRPr lang="en-US" sz="6000" dirty="0"/>
          </a:p>
        </p:txBody>
      </p:sp>
      <p:sp>
        <p:nvSpPr>
          <p:cNvPr id="7" name="Shape 5"/>
          <p:cNvSpPr/>
          <p:nvPr/>
        </p:nvSpPr>
        <p:spPr>
          <a:xfrm>
            <a:off x="3200400" y="2971800"/>
            <a:ext cx="5760720" cy="64008"/>
          </a:xfrm>
          <a:prstGeom prst="ellipse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3108960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spc="500" kern="0" dirty="0">
                <a:solidFill>
                  <a:srgbClr val="74C6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CULTURE DE SOIN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14400" y="3657600"/>
            <a:ext cx="1033272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i="1" dirty="0">
                <a:solidFill>
                  <a:srgbClr val="B7E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La bientraitance est une culture inspirant les actions individuelles et les relations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i="1" dirty="0">
                <a:solidFill>
                  <a:srgbClr val="B7E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collectives au sein d'un établissement ou d'un service. Elle vise à promouvoir le bien-être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i="1" dirty="0">
                <a:solidFill>
                  <a:srgbClr val="B7E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l'usager en gardant présent à l'esprit le risque de maltraitance. »</a:t>
            </a:r>
            <a:endParaRPr lang="en-US" sz="1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09728"/>
            <a:ext cx="116128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1B4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Les Piliers de la Bientraitance</a:t>
            </a:r>
            <a:endParaRPr lang="en-US" sz="2300" dirty="0"/>
          </a:p>
        </p:txBody>
      </p:sp>
      <p:sp>
        <p:nvSpPr>
          <p:cNvPr id="3" name="Shape 1"/>
          <p:cNvSpPr/>
          <p:nvPr/>
        </p:nvSpPr>
        <p:spPr>
          <a:xfrm rot="5400000">
            <a:off x="2990088" y="1275588"/>
            <a:ext cx="2249424" cy="1106424"/>
          </a:xfrm>
          <a:prstGeom prst="ellipse">
            <a:avLst/>
          </a:prstGeom>
          <a:solidFill>
            <a:srgbClr val="52B788">
              <a:alpha val="25000"/>
            </a:srgbClr>
          </a:solidFill>
          <a:ln w="12700">
            <a:solidFill>
              <a:srgbClr val="52B788">
                <a:alpha val="2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5400000">
            <a:off x="3063240" y="1348740"/>
            <a:ext cx="2103120" cy="960120"/>
          </a:xfrm>
          <a:prstGeom prst="ellipse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0" y="1303020"/>
            <a:ext cx="9144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8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 Respect de</a:t>
            </a:r>
            <a:endParaRPr lang="en-US" sz="780" dirty="0"/>
          </a:p>
          <a:p>
            <a:pPr algn="ctr" indent="0" marL="0">
              <a:buNone/>
            </a:pPr>
            <a:r>
              <a:rPr lang="en-US" sz="78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personne et</a:t>
            </a:r>
            <a:endParaRPr lang="en-US" sz="780" dirty="0"/>
          </a:p>
          <a:p>
            <a:pPr algn="ctr" indent="0" marL="0">
              <a:buNone/>
            </a:pPr>
            <a:r>
              <a:rPr lang="en-US" sz="78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sa singularité</a:t>
            </a:r>
            <a:endParaRPr lang="en-US" sz="780" dirty="0"/>
          </a:p>
        </p:txBody>
      </p:sp>
      <p:sp>
        <p:nvSpPr>
          <p:cNvPr id="6" name="Shape 4"/>
          <p:cNvSpPr/>
          <p:nvPr/>
        </p:nvSpPr>
        <p:spPr>
          <a:xfrm rot="9720000">
            <a:off x="4772862" y="2570849"/>
            <a:ext cx="2249424" cy="1106424"/>
          </a:xfrm>
          <a:prstGeom prst="ellipse">
            <a:avLst/>
          </a:prstGeom>
          <a:solidFill>
            <a:srgbClr val="40916C">
              <a:alpha val="25000"/>
            </a:srgbClr>
          </a:solidFill>
          <a:ln w="12700">
            <a:solidFill>
              <a:srgbClr val="40916C">
                <a:alpha val="2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rot="9720000">
            <a:off x="4846014" y="2644001"/>
            <a:ext cx="2103120" cy="960120"/>
          </a:xfrm>
          <a:prstGeom prst="ellipse">
            <a:avLst/>
          </a:prstGeom>
          <a:solidFill>
            <a:srgbClr val="40916C"/>
          </a:solidFill>
          <a:ln w="12700">
            <a:solidFill>
              <a:srgbClr val="40916C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440374" y="2598281"/>
            <a:ext cx="9144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8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 Manière d'être</a:t>
            </a:r>
            <a:endParaRPr lang="en-US" sz="780" dirty="0"/>
          </a:p>
          <a:p>
            <a:pPr algn="ctr" indent="0" marL="0">
              <a:buNone/>
            </a:pPr>
            <a:r>
              <a:rPr lang="en-US" sz="78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professionnels</a:t>
            </a:r>
            <a:endParaRPr lang="en-US" sz="780" dirty="0"/>
          </a:p>
          <a:p>
            <a:pPr algn="ctr" indent="0" marL="0">
              <a:buNone/>
            </a:pPr>
            <a:r>
              <a:rPr lang="en-US" sz="78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au-delà des actes</a:t>
            </a:r>
            <a:endParaRPr lang="en-US" sz="780" dirty="0"/>
          </a:p>
        </p:txBody>
      </p:sp>
      <p:sp>
        <p:nvSpPr>
          <p:cNvPr id="9" name="Shape 7"/>
          <p:cNvSpPr/>
          <p:nvPr/>
        </p:nvSpPr>
        <p:spPr>
          <a:xfrm rot="3240000">
            <a:off x="4091903" y="4666627"/>
            <a:ext cx="2249424" cy="1106424"/>
          </a:xfrm>
          <a:prstGeom prst="ellipse">
            <a:avLst/>
          </a:prstGeom>
          <a:solidFill>
            <a:srgbClr val="2D6A4F">
              <a:alpha val="25000"/>
            </a:srgbClr>
          </a:solidFill>
          <a:ln w="12700">
            <a:solidFill>
              <a:srgbClr val="2D6A4F">
                <a:alpha val="2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rot="3240000">
            <a:off x="4165055" y="4739779"/>
            <a:ext cx="2103120" cy="960120"/>
          </a:xfrm>
          <a:prstGeom prst="ellipse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759415" y="4694059"/>
            <a:ext cx="9144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8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 Valorisation</a:t>
            </a:r>
            <a:endParaRPr lang="en-US" sz="780" dirty="0"/>
          </a:p>
          <a:p>
            <a:pPr algn="ctr" indent="0" marL="0">
              <a:buNone/>
            </a:pPr>
            <a:r>
              <a:rPr lang="en-US" sz="78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l'expression</a:t>
            </a:r>
            <a:endParaRPr lang="en-US" sz="780" dirty="0"/>
          </a:p>
          <a:p>
            <a:pPr algn="ctr" indent="0" marL="0">
              <a:buNone/>
            </a:pPr>
            <a:r>
              <a:rPr lang="en-US" sz="78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usagers</a:t>
            </a:r>
            <a:endParaRPr lang="en-US" sz="780" dirty="0"/>
          </a:p>
        </p:txBody>
      </p:sp>
      <p:sp>
        <p:nvSpPr>
          <p:cNvPr id="12" name="Shape 10"/>
          <p:cNvSpPr/>
          <p:nvPr/>
        </p:nvSpPr>
        <p:spPr>
          <a:xfrm rot="7560000">
            <a:off x="1888273" y="4666627"/>
            <a:ext cx="2249424" cy="1106424"/>
          </a:xfrm>
          <a:prstGeom prst="ellipse">
            <a:avLst/>
          </a:prstGeom>
          <a:solidFill>
            <a:srgbClr val="1B4332">
              <a:alpha val="25000"/>
            </a:srgbClr>
          </a:solidFill>
          <a:ln w="12700">
            <a:solidFill>
              <a:srgbClr val="1B4332">
                <a:alpha val="2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 rot="7560000">
            <a:off x="1961425" y="4739779"/>
            <a:ext cx="2103120" cy="960120"/>
          </a:xfrm>
          <a:prstGeom prst="ellipse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2555785" y="4694059"/>
            <a:ext cx="9144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8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  Aller-retour</a:t>
            </a:r>
            <a:endParaRPr lang="en-US" sz="780" dirty="0"/>
          </a:p>
          <a:p>
            <a:pPr algn="ctr" indent="0" marL="0">
              <a:buNone/>
            </a:pPr>
            <a:r>
              <a:rPr lang="en-US" sz="78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 penser</a:t>
            </a:r>
            <a:endParaRPr lang="en-US" sz="780" dirty="0"/>
          </a:p>
          <a:p>
            <a:pPr algn="ctr" indent="0" marL="0">
              <a:buNone/>
            </a:pPr>
            <a:r>
              <a:rPr lang="en-US" sz="78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 agir</a:t>
            </a:r>
            <a:endParaRPr lang="en-US" sz="780" dirty="0"/>
          </a:p>
        </p:txBody>
      </p:sp>
      <p:sp>
        <p:nvSpPr>
          <p:cNvPr id="15" name="Shape 13"/>
          <p:cNvSpPr/>
          <p:nvPr/>
        </p:nvSpPr>
        <p:spPr>
          <a:xfrm rot="1080000">
            <a:off x="1207314" y="2570849"/>
            <a:ext cx="2249424" cy="1106424"/>
          </a:xfrm>
          <a:prstGeom prst="ellipse">
            <a:avLst/>
          </a:prstGeom>
          <a:solidFill>
            <a:srgbClr val="74C69D">
              <a:alpha val="25000"/>
            </a:srgbClr>
          </a:solidFill>
          <a:ln w="12700">
            <a:solidFill>
              <a:srgbClr val="74C69D">
                <a:alpha val="2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 rot="1080000">
            <a:off x="1280466" y="2644001"/>
            <a:ext cx="2103120" cy="960120"/>
          </a:xfrm>
          <a:prstGeom prst="ellipse">
            <a:avLst/>
          </a:prstGeom>
          <a:solidFill>
            <a:srgbClr val="74C69D"/>
          </a:solidFill>
          <a:ln w="12700">
            <a:solidFill>
              <a:srgbClr val="74C69D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874826" y="2598281"/>
            <a:ext cx="9144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8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⑤  Adaptation</a:t>
            </a:r>
            <a:endParaRPr lang="en-US" sz="780" dirty="0"/>
          </a:p>
          <a:p>
            <a:pPr algn="ctr" indent="0" marL="0">
              <a:buNone/>
            </a:pPr>
            <a:r>
              <a:rPr lang="en-US" sz="78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continue à</a:t>
            </a:r>
            <a:endParaRPr lang="en-US" sz="780" dirty="0"/>
          </a:p>
          <a:p>
            <a:pPr algn="ctr" indent="0" marL="0">
              <a:buNone/>
            </a:pPr>
            <a:r>
              <a:rPr lang="en-US" sz="78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situation</a:t>
            </a:r>
            <a:endParaRPr lang="en-US" sz="780" dirty="0"/>
          </a:p>
        </p:txBody>
      </p:sp>
      <p:sp>
        <p:nvSpPr>
          <p:cNvPr id="18" name="Shape 16"/>
          <p:cNvSpPr/>
          <p:nvPr/>
        </p:nvSpPr>
        <p:spPr>
          <a:xfrm>
            <a:off x="3063240" y="2651760"/>
            <a:ext cx="2103120" cy="2103120"/>
          </a:xfrm>
          <a:prstGeom prst="ellipse">
            <a:avLst/>
          </a:prstGeom>
          <a:solidFill>
            <a:srgbClr val="0A2818"/>
          </a:solidFill>
          <a:ln w="4445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246120" y="2834640"/>
            <a:ext cx="1737360" cy="1737360"/>
          </a:xfrm>
          <a:prstGeom prst="ellipse">
            <a:avLst/>
          </a:prstGeom>
          <a:solidFill>
            <a:srgbClr val="0A2818">
              <a:alpha val="0"/>
            </a:srgbClr>
          </a:solidFill>
          <a:ln w="12700">
            <a:solidFill>
              <a:srgbClr val="52B788">
                <a:alpha val="7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154680" y="2743200"/>
            <a:ext cx="192024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BIENTRAITANCE</a:t>
            </a:r>
            <a:endParaRPr lang="en-US" sz="9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52B7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─────</a:t>
            </a:r>
            <a:endParaRPr lang="en-US" sz="900" dirty="0"/>
          </a:p>
          <a:p>
            <a:pPr algn="ctr" indent="0" marL="0">
              <a:buNone/>
            </a:pPr>
            <a:r>
              <a:rPr lang="en-US" sz="75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Culture</a:t>
            </a:r>
            <a:endParaRPr lang="en-US" sz="900" dirty="0"/>
          </a:p>
          <a:p>
            <a:pPr algn="ctr" indent="0" marL="0">
              <a:buNone/>
            </a:pPr>
            <a:r>
              <a:rPr lang="en-US" sz="75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inspirante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7818120" y="777240"/>
            <a:ext cx="0" cy="5852160"/>
          </a:xfrm>
          <a:prstGeom prst="line">
            <a:avLst/>
          </a:prstGeom>
          <a:noFill/>
          <a:ln w="15240">
            <a:solidFill>
              <a:srgbClr val="B7E4C7"/>
            </a:solidFill>
            <a:prstDash val="sysDot"/>
          </a:ln>
        </p:spPr>
      </p:sp>
      <p:sp>
        <p:nvSpPr>
          <p:cNvPr id="22" name="Shape 20"/>
          <p:cNvSpPr/>
          <p:nvPr/>
        </p:nvSpPr>
        <p:spPr>
          <a:xfrm>
            <a:off x="8001000" y="731520"/>
            <a:ext cx="3931920" cy="2880360"/>
          </a:xfrm>
          <a:prstGeom prst="rect">
            <a:avLst/>
          </a:prstGeom>
          <a:solidFill>
            <a:srgbClr val="EBF6F0"/>
          </a:solidFill>
          <a:ln w="19050">
            <a:solidFill>
              <a:srgbClr val="40916C"/>
            </a:solidFill>
            <a:prstDash val="solid"/>
          </a:ln>
          <a:effectLst>
            <a:outerShdw sx="100000" sy="100000" kx="0" ky="0" algn="bl" rotWithShape="0" blurRad="76200" dist="12700" dir="810000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8001000" y="731520"/>
            <a:ext cx="118872" cy="2880360"/>
          </a:xfrm>
          <a:prstGeom prst="rect">
            <a:avLst/>
          </a:prstGeom>
          <a:solidFill>
            <a:srgbClr val="40916C"/>
          </a:solidFill>
          <a:ln w="12700">
            <a:solidFill>
              <a:srgbClr val="40916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202168" y="749808"/>
            <a:ext cx="368503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B4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Carl Rogers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8202168" y="1207008"/>
            <a:ext cx="36576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i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dimensions d'une communication bientraitante :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8202168" y="1554480"/>
            <a:ext cx="36393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Observer les faits sans jugement de valeur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8202168" y="1920240"/>
            <a:ext cx="36393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Reconnaître ses propres sentiments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8202168" y="2286000"/>
            <a:ext cx="36393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Exprimer ses besoins propres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8202168" y="2651760"/>
            <a:ext cx="36393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 Formuler clairement sa demande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8202168" y="321868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409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Empathie  ·  Posture de négociation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8001000" y="3749040"/>
            <a:ext cx="3931920" cy="2880360"/>
          </a:xfrm>
          <a:prstGeom prst="rect">
            <a:avLst/>
          </a:prstGeom>
          <a:solidFill>
            <a:srgbClr val="EEFAF3"/>
          </a:solidFill>
          <a:ln w="19050">
            <a:solidFill>
              <a:srgbClr val="1B4332"/>
            </a:solidFill>
            <a:prstDash val="solid"/>
          </a:ln>
          <a:effectLst>
            <a:outerShdw sx="100000" sy="100000" kx="0" ky="0" algn="bl" rotWithShape="0" blurRad="76200" dist="12700" dir="8100000">
              <a:srgbClr val="000000">
                <a:alpha val="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8001000" y="3749040"/>
            <a:ext cx="118872" cy="288036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202168" y="3776472"/>
            <a:ext cx="368503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B4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 Care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8202168" y="4242816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Différencier « prendre soin » du simple « guérir »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8202168" y="4617720"/>
            <a:ext cx="3639312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accompagnement de proximité valorisant l'expérience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professionnels au plus près des personnes dépendantes.</a:t>
            </a:r>
            <a:endParaRPr lang="en-US" sz="1000" dirty="0"/>
          </a:p>
          <a:p>
            <a:pPr algn="l" indent="0" marL="0">
              <a:buNone/>
            </a:pP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attitudes déterminées non par la règle, mais par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l'adaptation à chaque situation singulière.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8202168" y="6053328"/>
            <a:ext cx="36393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i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Sortir de son cadre de référence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i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 entrer dans celui de l'autre. »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274320" y="6629400"/>
            <a:ext cx="7406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Bientraitance — Secteur Médico-Social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2026-03-26T15:26:47Z</dcterms:created>
  <dcterms:modified xsi:type="dcterms:W3CDTF">2026-03-26T15:26:47Z</dcterms:modified>
</cp:coreProperties>
</file>