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1229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40C1A"/>
          </a:solidFill>
          <a:ln w="12700">
            <a:solidFill>
              <a:srgbClr val="040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0D2238"/>
          </a:solidFill>
          <a:ln w="12700">
            <a:solidFill>
              <a:srgbClr val="0D2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600200"/>
            <a:ext cx="5029200" cy="5029200"/>
          </a:xfrm>
          <a:prstGeom prst="ellipse">
            <a:avLst/>
          </a:prstGeom>
          <a:solidFill>
            <a:srgbClr val="0D2238"/>
          </a:solidFill>
          <a:ln w="12700">
            <a:solidFill>
              <a:srgbClr val="0D2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-457200"/>
            <a:ext cx="3474720" cy="3474720"/>
          </a:xfrm>
          <a:prstGeom prst="ellipse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42960" y="162393"/>
            <a:ext cx="3657600" cy="3657600"/>
          </a:xfrm>
          <a:prstGeom prst="ellipse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0"/>
            <a:ext cx="11990802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6803136"/>
            <a:ext cx="11990802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82296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822960"/>
            <a:ext cx="640080" cy="6400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822960"/>
            <a:ext cx="640080" cy="64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82296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786384"/>
            <a:ext cx="457200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786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1645920"/>
            <a:ext cx="1127757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GÉNÉRATIVE</a:t>
            </a:r>
            <a:endParaRPr lang="en-US" sz="5800" dirty="0"/>
          </a:p>
        </p:txBody>
      </p:sp>
      <p:sp>
        <p:nvSpPr>
          <p:cNvPr id="18" name="Text 16"/>
          <p:cNvSpPr/>
          <p:nvPr/>
        </p:nvSpPr>
        <p:spPr>
          <a:xfrm>
            <a:off x="457200" y="2651760"/>
            <a:ext cx="1127757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santé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112775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HAS – Premières clefs d'usage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3858768"/>
            <a:ext cx="112775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Adopté par le Collège HAS le 23 octobre 2025  •  Secteurs sanitaire, social et médico-social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2697480" cy="14630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663440"/>
            <a:ext cx="269748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754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1371600" y="47548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5257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l'IA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080760"/>
            <a:ext cx="26974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64408" y="4663440"/>
            <a:ext cx="2697480" cy="14630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64408" y="4663440"/>
            <a:ext cx="26974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4754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4178808" y="47548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178808" y="5257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les contenus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64408" y="6080760"/>
            <a:ext cx="269748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71616" y="4663440"/>
            <a:ext cx="2697480" cy="14630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71616" y="4663440"/>
            <a:ext cx="269748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63056" y="4754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4400" dirty="0"/>
          </a:p>
        </p:txBody>
      </p:sp>
      <p:sp>
        <p:nvSpPr>
          <p:cNvPr id="36" name="Text 34"/>
          <p:cNvSpPr/>
          <p:nvPr/>
        </p:nvSpPr>
        <p:spPr>
          <a:xfrm>
            <a:off x="6986016" y="47548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Estimer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86016" y="5257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la pertinence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71616" y="6080760"/>
            <a:ext cx="269748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78824" y="4663440"/>
            <a:ext cx="2697480" cy="14630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78824" y="4663440"/>
            <a:ext cx="26974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70264" y="4754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4400" dirty="0"/>
          </a:p>
        </p:txBody>
      </p:sp>
      <p:sp>
        <p:nvSpPr>
          <p:cNvPr id="42" name="Text 40"/>
          <p:cNvSpPr/>
          <p:nvPr/>
        </p:nvSpPr>
        <p:spPr>
          <a:xfrm>
            <a:off x="9793224" y="47548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Communiquer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793224" y="5257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les retours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878824" y="6080760"/>
            <a:ext cx="26974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446520"/>
            <a:ext cx="1127757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A.V.E.C.  — 4 lignes directrices pour un bon usage de l'IA générative en santé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12127962" cy="6858000"/>
          </a:xfrm>
          <a:prstGeom prst="rect">
            <a:avLst/>
          </a:prstGeom>
          <a:solidFill>
            <a:srgbClr val="040C1A"/>
          </a:solidFill>
          <a:ln w="12700">
            <a:solidFill>
              <a:srgbClr val="040C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" y="0"/>
            <a:ext cx="12127962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9728"/>
            <a:ext cx="5577840" cy="118872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9728"/>
            <a:ext cx="73152" cy="1188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28600"/>
            <a:ext cx="822960" cy="8229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28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417320" y="1645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17320" y="71323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pour mieux utiliser l'IA générative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1417320"/>
            <a:ext cx="5577840" cy="12344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417320"/>
            <a:ext cx="64008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47218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initiales et continues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1828800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les principes de fonctionnement, les potentialités, les limites, les modalités de contrôle et les enjeux réglementaires de l'IA générative.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2724912"/>
            <a:ext cx="5577840" cy="12344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724912"/>
            <a:ext cx="64008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7977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Échanges avec les développeurs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136392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Interagir avec les concepteurs des systèmes pour comprendre leurs fonctionnements, leurs mises à jour et leurs conditions d'usage.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4032504"/>
            <a:ext cx="5577840" cy="12344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4032504"/>
            <a:ext cx="64008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8736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institutionnelles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4443984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S'informer via les instances institutionnelles (HAS, ANAP, autorités de tutelle) sur les recommandations et évolutions réglementaires.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5340096"/>
            <a:ext cx="5577840" cy="12344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5340096"/>
            <a:ext cx="64008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5394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GRADeS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" y="5751576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Mobiliser les Groupements Régionaux d'Appui au Développement de la e-Santé pour l'appropriation locale de l'IA en santé.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109728"/>
            <a:ext cx="5852160" cy="118872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109728"/>
            <a:ext cx="73152" cy="1188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228600"/>
            <a:ext cx="822960" cy="8229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28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7315200" y="16459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315200" y="7132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chaque génération avant tout usage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26480" y="1417320"/>
            <a:ext cx="5852160" cy="12344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1417320"/>
            <a:ext cx="64008" cy="1234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47218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les données personnelles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09360" y="1828800"/>
            <a:ext cx="5577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toute information personnelle ou confidentielle des demandes adressées à l'IA avant de les soumettre.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0" y="2724912"/>
            <a:ext cx="5852160" cy="12344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2724912"/>
            <a:ext cx="64008" cy="1234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277977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et consulter les sources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09360" y="3136392"/>
            <a:ext cx="5577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 aux sources citées par l'IA, les consulter et analyser les citations indiquées pour en vérifier l'exactitude.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26480" y="4032504"/>
            <a:ext cx="5852160" cy="12344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4032504"/>
            <a:ext cx="64008" cy="1234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408736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Relecture et validation humaine systématiques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309360" y="4443984"/>
            <a:ext cx="5577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Relire rigoureusement chaque contenu généré et valider de façon humaine avant tout usage professionnel.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126480" y="5340096"/>
            <a:ext cx="5852160" cy="12344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26480" y="5340096"/>
            <a:ext cx="64008" cy="1234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53949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 le copier-coller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309360" y="5751576"/>
            <a:ext cx="5577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Réécrire le contenu généré avec ses propres mots plutôt que de le copier-coller directement dans un document.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12127962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5577840" cy="118872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9728"/>
            <a:ext cx="73152" cy="1188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28600"/>
            <a:ext cx="822960" cy="82296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28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417320" y="1645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17320" y="71323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la pertinence des usages de l'IA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1417320"/>
            <a:ext cx="5577840" cy="12344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417320"/>
            <a:ext cx="64008" cy="1234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7218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des critères d'évaluation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1828800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Établir des critères qualitatifs et quantitatifs pour apprécier la pertinence et la qualité des contenus générés par l'IA dans les pratiques.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724912"/>
            <a:ext cx="5577840" cy="12344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724912"/>
            <a:ext cx="64008" cy="1234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7977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usages et les demandes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136392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 suivi structuré des usages effectifs de l'IA générative et contrôler les demandes adressées aux systèmes.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4032504"/>
            <a:ext cx="5577840" cy="12344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4032504"/>
            <a:ext cx="64008" cy="1234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08736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les générations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4443984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et documenter les générations produites par les systèmes d'IA pour évaluer leur pertinence et leur cohérence avec les pratiques.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5340096"/>
            <a:ext cx="5577840" cy="12344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5340096"/>
            <a:ext cx="64008" cy="1234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5394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erreurs et les correctifs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5751576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les erreurs identifiées, analyser leurs causes et mettre en œuvre les mesures correctives dans une démarche qualité.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109728"/>
            <a:ext cx="5852160" cy="118872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09728"/>
            <a:ext cx="73152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22860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28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7315200" y="16459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COMMUNIQUER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15200" y="7132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les expériences pour progresser collectivement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26480" y="1417320"/>
            <a:ext cx="5852160" cy="12344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1417320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147218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Informer les patients et personnes accompagnées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09360" y="1828800"/>
            <a:ext cx="5577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Leur communiquer de façon adaptée les usages faits de l'IA, les risques, les données partagées et la gestion des générations.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26480" y="2724912"/>
            <a:ext cx="5852160" cy="12344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2724912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77977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les retours d'expérience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09360" y="3136392"/>
            <a:ext cx="5577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et partager des retours qualitatifs et quantitatifs sur les usages de l'IA avec les pairs, les gouvernances et les développeurs.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26480" y="4032504"/>
            <a:ext cx="5852160" cy="12344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4032504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408736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les biais, erreurs et hallucinations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309360" y="4443984"/>
            <a:ext cx="5577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et signaler aux développeurs les biais, erreurs et hallucinations détectés pour améliorer les systèmes d'IA.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26480" y="5340096"/>
            <a:ext cx="5852160" cy="12344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26480" y="5340096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53949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Échanger avec les développeurs et pairs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309360" y="5751576"/>
            <a:ext cx="5577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un dialogue ouvert avec les concepteurs des systèmes et les autres utilisateurs pour faire progresser les bonnes pratiques.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1212796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28016"/>
            <a:ext cx="118262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— CHIFFRES CLÉS ET POINTS ESSENTIELS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834640" cy="14630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28346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8696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8 991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identifiées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littérature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9544" y="777240"/>
            <a:ext cx="2834640" cy="14630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9544" y="777240"/>
            <a:ext cx="28346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88696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00984" y="158191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sélectionnées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l'analyse critique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44768" y="777240"/>
            <a:ext cx="2834640" cy="14630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4768" y="777240"/>
            <a:ext cx="283464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88696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36208" y="158191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entretiens conduits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l'écosystème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9992" y="777240"/>
            <a:ext cx="2834640" cy="146304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9992" y="777240"/>
            <a:ext cx="2834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17152" y="88696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171432" y="158191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participation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relecture (sur 44)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423160"/>
            <a:ext cx="5806440" cy="196596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23160"/>
            <a:ext cx="58064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423160"/>
            <a:ext cx="54864" cy="1965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1460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Un guide simple et pédagogique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2990088"/>
            <a:ext cx="5532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court et accessible, destiné aux professionnels non experts de l'IA, avec des exemples concrets adaptés aux 3 secteurs (sanitaire, social, médico-social).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81928" y="2423160"/>
            <a:ext cx="5806440" cy="196596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81928" y="2423160"/>
            <a:ext cx="58064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81928" y="2423160"/>
            <a:ext cx="54864" cy="19659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4808" y="251460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Déficit de guides pratiques sur l'IA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64808" y="2990088"/>
            <a:ext cx="5532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72 % de la littérature porte uniquement sur les performances. Seulement 11 % concerne les guides d'usage. Le guide HAS répond à ce manque avec une méthodologie robuste.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4526280"/>
            <a:ext cx="5806440" cy="196596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4526280"/>
            <a:ext cx="580644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526280"/>
            <a:ext cx="54864" cy="19659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1772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Une méthode en 3 piliers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5093208"/>
            <a:ext cx="5532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critique de la littérature scientifique (Medline, 2020-2025) + 31 entretiens semi-directifs + relecture par 44 experts (taux de participation 95 %).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81928" y="4526280"/>
            <a:ext cx="5806440" cy="196596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81928" y="4526280"/>
            <a:ext cx="58064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81928" y="4526280"/>
            <a:ext cx="54864" cy="1965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64808" y="461772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Une suite envisagée pour les usagers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64808" y="5093208"/>
            <a:ext cx="5532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premier guide cible les professionnels. Des préconisations pour les patients et usagers du système de santé sont annoncées pour un travail ultérieur de la HAS.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" y="6492240"/>
            <a:ext cx="12127962" cy="36576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6510528"/>
            <a:ext cx="116433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• Premières clefs d'usage de l'IA générative en santé – Argumentaire • octobre 2025  |  www.has-sante.fr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692</Words>
  <Application>Microsoft Office PowerPoint</Application>
  <PresentationFormat>Grand écran</PresentationFormat>
  <Paragraphs>88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Infographie — IA générative en santé A.V.E.C. (HAS 2025)</dc:title>
  <dc:subject>PptxGenJS Presentation</dc:subject>
  <dc:creator>PptxGenJS</dc:creator>
  <cp:lastModifiedBy>Eric AUBRUN</cp:lastModifiedBy>
  <cp:revision>2</cp:revision>
  <dcterms:created xsi:type="dcterms:W3CDTF">2026-04-19T20:39:10Z</dcterms:created>
  <dcterms:modified xsi:type="dcterms:W3CDTF">2026-04-27T07:00:40Z</dcterms:modified>
</cp:coreProperties>
</file>