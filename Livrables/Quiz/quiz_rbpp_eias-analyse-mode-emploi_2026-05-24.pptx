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</p:sldIdLst>
  <p:notesMasterIdLst>
    <p:notesMasterId r:id="rId20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notesMaster" Target="notesMasters/notesMaster1.xml"/><Relationship Id="rId204" Type="http://schemas.openxmlformats.org/officeDocument/2006/relationships/presProps" Target="presProps.xml"/><Relationship Id="rId205" Type="http://schemas.openxmlformats.org/officeDocument/2006/relationships/viewProps" Target="viewProps.xml"/><Relationship Id="rId206" Type="http://schemas.openxmlformats.org/officeDocument/2006/relationships/theme" Target="theme/theme1.xml"/><Relationship Id="rId20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14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HAS — 100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EIAS — Mode d'emploi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indésirables associés aux soins — Méthode ALARM-E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cadres, qualiticiens et équipes des ESSMS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2026-05-24  ·  Source HAS : 16/04/2026 (MAJ 21/05/2026)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l'acronyme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Évaluation Indicateur d'Activité de Soins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Événement Indésirable Associé aux Soins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Échelle Internationale d'Analyse des Soins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Étude des Incidents Annuels en Soins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1/100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Événement Indésirable Associé aux Soins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EIAS = Événement Indésirable Associé aux Soins. C'est un événement non souhaité, lié au processus de soin.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1/100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l'acronyme EIGS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Établissement Indépendant Géré Socialement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Événement Indésirable Grave associé aux Soins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Évaluation Interne Globale Sanitaire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Échelle d'Intervention Gradée Sécuritaire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2/100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Événement Indésirable Grave associé aux Soins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EIGS = Événement Indésirable Grave associé aux Soins. Sous-catégorie des EIAS avec conséquences graves.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2/100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l'autorité publiant le guide EIAS 2026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HAS (Haute Autorité de Santé)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ANESM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ATIH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3/100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HAS (Haute Autorité de Santé)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publie le guide d'analyse des EIAS, mise à jour avril/mai 2026.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3/100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guide a-t-il été publié initialement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Janvier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16 avril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Juin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Décembre 2025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4/100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16 avril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initiale le 16 avril 2026, mise à jour le 21 mai 2026.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4/100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secteurs sont couverts par ce guide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Sanitaire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Médico-social uniquement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Sanitaire, médico-social et ville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Ville uniquement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5/100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Sanitaire, médico-social et ville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multi-secteurs : sanitaire, médico-social (ESSMS) et ville.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5/100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méthode d'analyse est mobilisée par le guide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HACCP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ALARM-E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AMDEC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FMEA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6/100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ALARM-E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ALARM-E = Association of Litigation And Risk Management — Extended.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6/100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le « E » dans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Évaluation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Expérience patient/usager (Extended)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Établissement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Émergence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7/100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Expérience patient/usager (Extended)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E » désigne l'Extended version, intégrant l'Expérience patient.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7/100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quelle année la version « E » d'ALARM est-elle utilisée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2010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2016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2020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2026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8/100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2016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 étendue ALARM-E est utilisée depuis 2016.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8/100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guide HAS 2026 s'appuie sur quel protocole international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Helsinki Protocol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London Protocol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Geneva Protocol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Paris Protocol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9/100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London Protocol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2026 alignée sur le London Protocol.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9/100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documents associés à ce guide la HAS publie-t-elle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10/100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documents : guide principal, fiche patient, aide ville, aide ESSMS, l'essentiel.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10/100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pourcentage des déclarations EIGS sont jugées inexploitables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10 %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25 %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50 %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75 %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11/100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50 %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50 % des déclarations EIGS manquent de qualité analytique suffisante.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11/100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50 % des EIGS sont-ils inexploitables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Manque de déclarations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Absence d'identification des causes profondes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Trop de déclarations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Erreurs informatiques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12/100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Absence d'identification des causes profondes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causes immédiates sont identifiées, mais pas les causes profondes.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12/100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nouveauté majeure le guide 2026 introduit-il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retrait des usagers de l'analyse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L'intégration explicite de la parole du patient/usager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fin de l'analyse des EIAS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suppression du CREX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13/100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L'intégration explicite de la parole du patient/usager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guide 2026 intègre explicitement la parole et l'expérience du patient/usager.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13/100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argument justifie l'intégration de la parole patient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Obligation légale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patient est le seul acteur traversant toutes les étapes du soin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Pour les statistiques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Pour la communication externe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14/100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patient est le seul acteur traversant toutes les étapes du soin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est le seul acteur qui traverse toutes les étapes du soin, son point de vue est unique.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14/100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article du Code de la santé publique encadre la déclaration des EIGS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L1110-1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L1413-14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L6112-1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L312-1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15/100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L1413-14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L1413-14 du CSP encadre la déclaration des EIGS à l'ARS.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15/100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catégories de facteurs comporte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7+1 (avec Expérience patient)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16/100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7+1 (avec Expérience patient)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catégories de facteurs + 1 (Expérience patient/usager) = 7+1.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16/100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1re catégorie de facteurs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Tâches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Patient/usager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Équipe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Environnement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17/100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Patient/usager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catégorie : facteurs liés au Patient/usager (état de santé, comportement, communication).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17/100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liés au patient ALARM-E identifie-t-il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l'âge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État de santé, comorbidités, communication, comportement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sexe seulement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18/100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État de santé, comorbidités, communication, comportement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santé, comorbidités, communication, comportement — facteurs patient.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18/100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2e catégorie de facteurs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Tâches à accomplir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Patient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Équipe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Management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19/100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Tâches à accomplir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catégorie : facteurs liés aux Tâches à accomplir (protocoles, complexité, ressources).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19/100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recouvrent les facteurs « Tâches »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Compétences seules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Protocoles, complexité de l'acte, ressources disponibles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Personnel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Locaux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20/100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Protocoles, complexité de l'acte, ressources disponibles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disponibles, complexité de l'acte, ressources matérielles et techniques.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20/100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3e catégorie de facteurs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Patient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Soignants / professionnels individuels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Tâches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Institutionnel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21/100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Soignants / professionnels individuels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 catégorie : facteurs individuels liés aux Soignants/professionnels.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21/100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individuels relèvent du soignant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compétences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Compétences, état émotionnel, formation, charge de travail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L'âge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22/100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Compétences, état émotionnel, formation, charge de travail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Compétences, état émotionnel, formation, charge de travail individuelle.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22/100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4e catégorie de facteurs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Patient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Équipe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Tâches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Environnement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23/100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Équipe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catégorie : facteurs liés à l'Équipe (communication, coordination, supervision).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23/100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d'équipe ALARM-E retient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Effectif seul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Communication, coordination, supervision,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Salaires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Métiers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24/100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Communication, coordination, supervision, leadership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coordination, supervision, leadership et fonctionnement collectif.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24/100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5e catégorie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Environnement de travail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Patient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Tâches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Institution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25/100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Environnement de travail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 catégorie : facteurs liés à l'Environnement de travail (locaux, équipements, charge).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25/100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recouvrent les facteurs environnementaux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Météo seulement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Locaux, équipements, charge, organisation matérielle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Aucun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Politique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26/100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Locaux, équipements, charge, organisation matérielle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Locaux, équipements, charge de travail collective, organisation matérielle.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26/100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6e catégorie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Organisation /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Patient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Tâches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Politique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27/100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Organisation /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6e catégorie : facteurs liés à l'Organisation et au Management.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27/100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organisationnels ALARM-E identifie-t-il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Politiques, ressources humaines, climat institutionnel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Salaires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Diplômes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28/100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Politiques, ressources humaines, climat institutionnel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internes, ressources humaines, culture et climat institutionnel.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28/100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7e catégorie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Contexte institutionnel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Équipe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Patient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Soignants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29/100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Contexte institutionnel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7e catégorie : facteurs liés au Contexte institutionnel (contraintes externes, régulation).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29/100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recouvre la catégorie « contexte institutionnel »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L'humeur du jour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Contraintes externes, financement, régulation, partenariats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L'équipe seulement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patient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30/100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Contraintes externes, financement, régulation, partenariats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externes, financement, régulation, partenariats territoriaux.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30/100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recouvre la catégorie supplémentaire « E »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L'extérieur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Expérience patient/usager — vécu, ressenti, narration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L'évaluation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L'établissement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31/100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Expérience patient/usager — vécu, ressenti, narration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patient/usager : vécu, ressenti, narration de l'événement par la personne.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31/100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distinguer causes immédiates et causes profondes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Pour faire plus long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causes immédiates seules ne permettent pas de corriger durablement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Pour le rapport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Pour l'archive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32/100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causes immédiates seules ne permettent pas de corriger durablement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causes profondes (organisationnelles, systémiques) sont nécessaires pour des actions correctives durables.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32/100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cause profonde, c'est typiquement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erreur de saisie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défaut organisationnel ou systémique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oubli ponctuel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faute individuelle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33/100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défaut organisationnel ou systémique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cause profonde est organisationnelle ou systémique, jamais simplement individuelle.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33/100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ALARM-E vise-t-elle à désigner un coupable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Oui, c'est sa fonction première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Non, elle vise à comprendre et améliorer le système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Parfois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Cela dépend du contexte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34/100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Non, elle vise à comprendre et améliorer le système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ALARM-E est une analyse systémique, non punitive : elle vise à comprendre, pas à sanctionner.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34/100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pose la méthode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L'erreur est humaine, à punir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L'erreur est humaine, l'organisation doit la prévenir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Pas d'erreur dans le soin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L'erreur est rare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35/100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L'erreur est humaine, l'organisation doit la prévenir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est humaine ; c'est à l'organisation et au système de la prévenir.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35/100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d'étapes structurent une analyse EIAS de qualité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36/100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 : détection/déclaration, recueil des faits, analyse ALARM-E, plan d'actions, suivi/REX.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36/100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1re étape de l'analyse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Plan d'action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Détection et déclaration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Analyse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37/100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Détection et déclaration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étape : détection de l'événement et déclaration dans le système (AGEVAL ou autre).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37/100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déclarer un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médecin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Tout professionnel témoin de l'événement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directeur seul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L'usager seul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38/100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Tout professionnel témoin de l'événement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professionnel témoin peut et doit déclarer un EIAS — culture de la déclaration.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38/100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2e étape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Recueil des faits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Analyse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Plan d'actions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39/100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Recueil des faits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étape : recueil des faits — chronologie précise, sans jugement, avec écoute du patient/usager.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39/100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guide le recueil des faits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Jugement immédiat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Sans jugement, chronologie objective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Avec sanctions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Avec hiérarchisation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40/100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Sans jugement, chronologie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sans jugement, chronologie objective des faits — base d'une analyse fiable.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40/100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3e étape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Déclaration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Analyse ALARM-E pluridisciplinaire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Plan d'action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41/100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Analyse ALARM-E pluridisciplinaire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 étape : analyse ALARM-E menée en groupe pluridisciplinaire.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41/100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instance porte typiquement l'analyse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directeur seul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CREX ou la RMM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DRH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42/100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CREX ou la RMM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CREX (Comité de Retour d'Expérience) ou RMM (Revue de Morbi-Mortalité).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42/100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CREX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Comité de Retour d'EXpérience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Conseil de Recherche EXperte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Centre de Régulation Externe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Cellule Régionale EXécutive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43/100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Comité de Retour d'EXpérience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CREX = Comité de Retour d'EXpérience.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43/100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RMM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Revue de Maladies Médicales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Revue de Morbi-Mortalité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Réunion Mensuelle Médicale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Référentiel Médical Maladie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44/100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Revue de Morbi-Mortalité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RMM = Revue de Morbi-Mortalité, instance d'analyse a posteriori.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44/100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4e étape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Plan d'actions ciblées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Déclaration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Analyse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45/100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Plan d'actions ciblées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étape : élaboration du plan d'actions correctives ciblées, mesurables, avec responsables et délais.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45/100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critères doit respecter un plan d'actions efficace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Vague et long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Ciblées, mesurables, avec responsables et délais (SMART)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Sans délais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Sans responsables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46/100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Ciblées, mesurables, avec responsables et délais (SMART)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d'actions SMART : Spécifique, Mesurable, Atteignable, Réaliste, Temporel.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46/100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5e étape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Déclaration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Suivi et REX (retour d'expérience)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Analyse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Plan d'action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47/100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Suivi et REX (retour d'expérience)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 étape : suivi des actions et REX (capitalisation, partage).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47/100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REX consiste à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Refaire l'analyse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Partager les enseignements et capitaliser sur l'expérience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Punir les responsables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Archiver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48/100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Partager les enseignements et capitaliser sur l'expérience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enseignements de l'analyse pour éviter la récurrence et améliorer collectivement.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48/100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périodicité minimale recommandée pour le CREX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Annuelle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Mensuelle ou trimestrielle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Quotidienne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Décennale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49/100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Mensuelle ou trimestrielle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Périodicité mensuelle ou trimestrielle pour assurer une dynamique continue.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49/100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composition pour le CREX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Direction seule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Pluridisciplinaire (cadres, soignants, qualiticien, parfois usagers)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Médecins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Direction et juriste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50/100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Pluridisciplinaire (cadres, soignants, qualiticien, parfois usagers)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pluridisciplinaire pour croiser les regards et identifier toutes les causes.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50/100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intégrer la parole de l'usager dans l'analyse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Obligation légale uniquement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 apporte un éclairage unique sur des dysfonctionnements invisibles aux pros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Pour la statistique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Pour la communication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51/100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 apporte un éclairage unique sur des dysfonctionnements invisibles aux pros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traverse toutes les étapes du soin et perçoit des dysfonctionnements invisibles aux professionnels.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51/100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accompagne le patient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fiche d'information patient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facture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contrat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52/100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fiche d'information patient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d'information patient explique le processus et les droits.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52/100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doit-il participer à l'analyse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Obligatoirement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C'est une proposition, son refus est respecté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Jamais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les patients adultes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53/100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C'est une proposition, son refus est respecté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patient/usager peut participer s'il le souhaite — le droit au refus est garanti.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53/100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adaptations prévoir pour le handicap mental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Adaptation FALC, tiers neutre, représentants au CVS si besoin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Refus systématique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Seulement les écrits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54/100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Adaptation FALC, tiers neutre, représentants au CVS si besoin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FALC (Facile À Lire et à Comprendre), tiers neutre, recours au CVS si nécessaire.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54/100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FALC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Facile À Lire et à Comprendre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Faut-il Aller Loin Comme ça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Fédération Associative Locale Citoyenne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Forme Avancée du Langage Clinique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55/100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Facile À Lire et à Comprendre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 = Facile À Lire et à Comprendre — adaptation pour personnes en situation de handicap mental.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55/100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représenter une personne sous tutelle dans l'analyse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Personne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mandataire judiciaire ou tuteur familial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L'ARS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HAS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56/100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mandataire judiciaire ou tuteur familial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mandataire judiciaire ou tuteur familial peut être associé selon la nature de l'événement.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56/100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CVS a-t-il un rôle dans la communication des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 doit être informé des EIGS et des plans d'actions (secret respecté)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Il décide seul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Il déclare à l'ARS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57/100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 doit être informé des EIGS et des plans d'actions (secret respecté)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CVS doit être informé des EIGS et des plans d'actions, dans le respect du secret professionnel.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57/100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garantit la qualité du recueil de la parole patient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Anonymat et non-représailles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Identification publique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Publication dans la presse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58/100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Anonymat et non-représailles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d'anonymat et de non-représailles pour la personne qui s'exprime.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58/100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professionnel peut recueillir cette parole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supérieur hiérarchique direct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tiers neutre (qualiticien, médiateur)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directeur uniquement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Personne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59/100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tiers neutre (qualiticien, médiateur)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 neutre pour éviter tout conflit d'intérêt et favoriser la libre expression.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59/100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posture adopter face à l'usager dans l'entretien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Confrontation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Écoute active, sans jugement, sans interruption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Validation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60/100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Écoute active, sans jugement, sans interruption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active, sans jugement, sans interruption — posture clinique d'entretien.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60/100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droit fondamental doit être respecté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droit de filmer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droit au refus de participation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droit de modifier les faits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droit de demander une indemnité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61/100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droit au refus de participation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au refus de participer est garanti à toutes les étapes.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61/100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familles peuvent-elles être associées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Jamais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avec l'accord de la personne accompagnée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Toujours obligatoirement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Sans condition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62/100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avec l'accord de la personne accompagnée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l'accord de la personne accompagnée (sauf cas particuliers : enfant, tutelle).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62/100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de la parole patient renforce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travail administratif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légitimité du plan d'actions et la démarche bientraitance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coûts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contentieux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63/100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légitimité du plan d'actions et la démarche bientraitance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Légitimité du plan d'actions et inscription dans la démarche bientraitance.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63/100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L'expérience patient (« E » d'ALARM-E) ajoute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Du temps perdu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8e catégorie d'analyse : vécu et narration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complication inutile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risque juridique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64/100</a:t>
            </a:r>
            <a:endParaRPr lang="en-US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8e catégorie d'analyse : vécu et narration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E » ajoute une 8e dimension d'analyse : vécu et narration de l'événement par la personne.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64/100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enfants, comment recueillir leur parole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Comme un adulte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Avec adaptation à l'âge, présence d'un référent, méthode ludique si jeune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Jamais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Via les parents seulement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65/100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Avec adaptation à l'âge, présence d'un référent, méthode ludique si jeune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l'âge, référent adulte de confiance, méthode ludique si très jeune.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65/100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délai un EIGS doit-il être déclaré à l'ARS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7 jours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48h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30 jours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Pas de délai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66/100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48h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48h via le portail signalement-sante.gouv.fr (article L1413-14 CSP).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66/100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portail recueille les déclarations EIGS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arspaca.fr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signalement-sante.gouv.fr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has-sante.fr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ameli.fr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67/100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signalement-sante.gouv.fr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signalement-sante.gouv.fr — portail unique national.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67/100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 déclarer l'EIGS à l'ARS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soignant directement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responsable de l'établissement (directeur ou son délégataire)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L'usager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famille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68/100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responsable de l'établissement (directeur ou son délégataire)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responsable de l'établissement (directeur ou délégataire) est responsable de la déclaration.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68/100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approfondie est-elle obligatoire pour tout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Non, jamais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 pour les EIGS, recommandée pour les EIAS significatifs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sur demande ARS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les EIAS mortels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69/100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 pour les EIGS, recommandée pour les EIAS significatifs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pour EIGS, fortement recommandée pour les EIAS significatifs.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69/100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rôle joue le qualiticien dans l'analyse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Coordination de l'analyse, méthodologie ALARM-E, suivi du plan d'actions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Décision unique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Punition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70/100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Coordination de l'analyse, méthodologie ALARM-E, suivi du plan d'actions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garant de la méthode, suivi du plan d'actions.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70/100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HAS 2022 — Chapitre 3 traite de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Personnes accompagnées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Professionnels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Établissement (gouvernance, démarche qualité, gestion des risques)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71/100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Établissement (gouvernance, démarche qualité, gestion des risques)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chapitre 3 du référentiel HAS 2022 traite de l'établissement, incluant la gestion des risques.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71/100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critère HAS impose une politique de gestion des risques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3.3 (gestion des risques)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1.2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2.5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72/100</a:t>
            </a:r>
            <a:endParaRPr lang="en-US" sz="1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3.3 (gestion des risques)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critères 3.3-01 à 3.3-04 du référentiel HAS 2022 portent sur la gestion des risques.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72/100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ALARM-E sert de preuve dans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marketing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L'évaluation HAS et la démarche qualité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ventes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L'achat de matériel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73/100</a:t>
            </a:r>
            <a:endParaRPr lang="en-US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L'évaluation HAS et la démarche qualité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conformité pour l'évaluation HAS et la démarche qualité.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73/100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qualité efficace doit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Cacher les EIAS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Encourager la déclaration et l'analyse approfondie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Sanctionner les déclarants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Limiter les déclarations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74/100</a:t>
            </a:r>
            <a:endParaRPr lang="en-US" sz="1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Encourager la déclaration et l'analyse approfondie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Encourager la déclaration (culture juste) et l'analyse approfondie.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74/100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culture juste signifie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Sans erreur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Reconnaître les erreurs sans punir, distinguer erreur humaine et faute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Toujours punir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Cacher les erreurs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75/100</a:t>
            </a:r>
            <a:endParaRPr lang="en-US" sz="1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Reconnaître les erreurs sans punir, distinguer erreur humaine et faute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les erreurs sans punir systématiquement — distinguer erreur humaine et faute volontaire.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75/100</a:t>
            </a:r>
            <a:endParaRPr lang="en-US" sz="1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système couramment utilisé en ESSMS pour déclarer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Excel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AGEVAL ou outil équivalent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Word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PowerPoint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76/100</a:t>
            </a:r>
            <a:endParaRPr lang="en-US" sz="1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AGEVAL ou outil équivalent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AGEVAL (ou outil équivalent) est utilisé pour la gestion des EI en ESSMS.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76/100</a:t>
            </a:r>
            <a:endParaRPr lang="en-US" sz="1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L'inscription de la gestion des risques doit figurer dans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brochure commerciale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projet d'établissement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menu de la cantine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document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77/100</a:t>
            </a:r>
            <a:endParaRPr lang="en-US" sz="1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projet d'établissement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politique de gestion des risques doit être inscrite dans le projet d'établissement.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77/100</a:t>
            </a:r>
            <a:endParaRPr lang="en-US" sz="1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indicateur peut figurer dans le CPOM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Taux de remplissage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Taux de signalement et taux d'analyse approfondie des EIAS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Nombre de visites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Chiffre d'affaires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78/100</a:t>
            </a:r>
            <a:endParaRPr lang="en-US" sz="1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Taux de signalement et taux d'analyse approfondie des EIAS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signalement et d'analyse approfondie sont des indicateurs qualité ESSMS.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78/100</a:t>
            </a:r>
            <a:endParaRPr lang="en-US" sz="1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l'articulation avec la RBPP Bientraitance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Continuum entre prévention de la maltraitance et analyse des EIAS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Opposition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Concurrence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79/100</a:t>
            </a:r>
            <a:endParaRPr lang="en-US" sz="1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Continuum entre prévention de la maltraitance et analyse des EIAS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entre prévention de la maltraitance et analyse rigoureuse des EIAS.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79/100</a:t>
            </a:r>
            <a:endParaRPr lang="en-US" sz="1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doit-on remettre au CSE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Rien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Information sur la politique de gestion des risques et bilan annuel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Tous les dossiers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noms des déclarants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80/100</a:t>
            </a:r>
            <a:endParaRPr lang="en-US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Information sur la politique de gestion des risques et bilan annuel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sur la politique de gestion des risques et bilan annuel anonymisé.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80/100</a:t>
            </a:r>
            <a:endParaRPr lang="en-US" sz="1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foyer d'hébergement handicap, quels EIAS sont fréquents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Chutes, fugues, agressions, erreurs médicamenteuses, troubles du comportement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les chutes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spécifique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81/100</a:t>
            </a:r>
            <a:endParaRPr lang="en-US" sz="1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Chutes, fugues, agressions, erreurs médicamenteuses, troubles du comportement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Chutes, fugues, agressions, erreurs médicamenteuses, troubles du comportement non maîtrisés.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81/100</a:t>
            </a:r>
            <a:endParaRPr lang="en-US" sz="1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facteur ALARM-E typique en handicap mental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Communication adaptée (FALC), troubles cognitifs, comportements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L'âge seulement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genre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82/100</a:t>
            </a:r>
            <a:endParaRPr lang="en-US" sz="1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Communication adaptée (FALC), troubles cognitifs, comportements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patient en handicap mental : communication adaptée, troubles cognitifs, troubles du comportement.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82/100</a:t>
            </a:r>
            <a:endParaRPr lang="en-US" sz="12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fugue d'un résident doit-elle être analysée comme un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Non, c'est un événement social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c'est un EIAS à analyser (sécurité, prévention)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si retour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Jamais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83/100</a:t>
            </a:r>
            <a:endParaRPr lang="en-US" sz="1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c'est un EIAS à analyser (sécurité, prévention)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fugue est un EIAS — analyse en termes de sécurité, autodétermination et prévention.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83/100</a:t>
            </a:r>
            <a:endParaRPr lang="en-US" sz="1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médicamenteuse doit-elle être déclarée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Non si pas de conséquence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Toujours, même sans conséquence (presque-accident)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les mortelles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À discrétion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84/100</a:t>
            </a:r>
            <a:endParaRPr lang="en-US" sz="1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Toujours, même sans conséquence (presque-accident)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déclarée — la culture de signalement inclut les presque-accidents pour anticiper les EIGS.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84/100</a:t>
            </a:r>
            <a:endParaRPr lang="en-US" sz="12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trouble du comportement avec mise en danger est 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Banal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EIAS à analyser via ALARM-E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faute du résident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faute du soignant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85/100</a:t>
            </a:r>
            <a:endParaRPr lang="en-US" sz="1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EIAS à analyser via ALARM-E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EIAS — analyse ALARM-E pour comprendre les facteurs et améliorer la prévention.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85/100</a:t>
            </a:r>
            <a:endParaRPr lang="en-US" sz="12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intégrer la parole d'un résident TDI/TSA dans l'analyse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Impossible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Adaptation FALC, pictogrammes, tiers de confiance, séances courtes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Comme tout résident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Via la famille seule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86/100</a:t>
            </a:r>
            <a:endParaRPr lang="en-US" sz="1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Adaptation FALC, pictogrammes, tiers de confiance, séances courtes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FALC, pictogrammes, tiers de confiance, séances courtes adaptées au profil.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86/100</a:t>
            </a:r>
            <a:endParaRPr lang="en-US" sz="1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dimension QVT est liée à l'analyse des EIAS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L'analyse non punitive protège la santé mentale des équipes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Sanction immédiate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87/100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L'analyse non punitive protège la santé mentale des équipes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non punitive et systémique protège la santé mentale des équipes et leur engagement.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87/100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des EIAS contribue-t-elle à la prévention des TMS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en identifiant les facteurs d'environnement de travail et d'organisation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Indirectement seulement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Jamais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88/100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Oui, en identifiant les facteurs d'environnement de travail et d'organisation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identifie les facteurs environnement/organisation, dont les charges et postures à risque.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88/100</a:t>
            </a:r>
            <a:endParaRPr lang="en-US" sz="12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professionnel non-soignant peut être impliqué dans le CREX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Personne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Cadre socio-éducatif, agent technique, qualiticien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Médecin seul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Direction seule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89/100</a:t>
            </a:r>
            <a:endParaRPr lang="en-US" sz="12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Cadre socio-éducatif, agent technique, qualiticien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CREX est pluridisciplinaire — cadre socio-éducatif, agent technique, qualiticien.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89/100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fréquence idéale d'animation du REX en ESSMS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fois tous les 10 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Mensuelle ou trimestrielle selon l'effectif et le volume d'EIAS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Aléatoire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Jamais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90/100</a:t>
            </a:r>
            <a:endParaRPr lang="en-US" sz="1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Mensuelle ou trimestrielle selon l'effectif et le volume d'EIAS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Mensuelle ou trimestrielle pour une dynamique vivante.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90/100</a:t>
            </a:r>
            <a:endParaRPr lang="en-US" sz="12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91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preuve documentaire l'évaluation HAS attendra-t-elle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Compte-rendus de CREX/RMM avec analyse ALARM-E et plans d'actions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Slides marketing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Photos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91/100</a:t>
            </a:r>
            <a:endParaRPr lang="en-US" sz="12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91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Compte-rendus de CREX/RMM avec analyse ALARM-E et plans d'actions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de CREX/RMM avec analyse ALARM-E, plans d'actions et suivi.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91/100</a:t>
            </a:r>
            <a:endParaRPr lang="en-US" sz="12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92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volet du projet d'établissement intègre la gestion des risques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Volet financier seulement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Volet qualité / gestion des risques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Volet marketing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92/100</a:t>
            </a:r>
            <a:endParaRPr lang="en-US" sz="1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92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Volet qualité / gestion des risques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qualité / gestion des risques du projet d'établissement (article L311-8 CASF).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92/100</a:t>
            </a:r>
            <a:endParaRPr lang="en-US" sz="12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93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action prioritaire pour améliorer la qualité d'analyse en interne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Acheter du matériel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Former cadres et qualiticien à ALARM-E (1 demi-journée min)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Recruter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Sanctionner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93/100</a:t>
            </a:r>
            <a:endParaRPr lang="en-US" sz="12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93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Former cadres et qualiticien à ALARM-E (1 demi-journée min)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cadres et du qualiticien à ALARM-E — au minimum une demi-journée.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93/100</a:t>
            </a:r>
            <a:endParaRPr lang="en-US" sz="1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94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pourrait être adapté pour intégrer ALARM-E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menu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formulaire de déclaration AGEVAL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L'agenda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contrat de séjour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94/100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94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formulaire de déclaration AGEVAL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du formulaire AGEVAL pour intégrer les 7+1 catégories ALARM-E.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94/100</a:t>
            </a:r>
            <a:endParaRPr lang="en-US" sz="12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95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restituer le bilan EIAS à la direction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Jamais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Rapport qualité annuel + présentation CODIR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Par SMS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Par voie de presse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95/100</a:t>
            </a:r>
            <a:endParaRPr lang="en-US" sz="12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95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Rapport qualité annuel + présentation CODIR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qualité annuel + présentation au CODIR pour ancrer la démarche dans le pilotage.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95/100</a:t>
            </a:r>
            <a:endParaRPr lang="en-US" sz="12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96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articuler EIAS et démarche bientraitance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Aucune articulation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analyse ALARM-E rigoureuse renforce la bientraitance et prévient la maltraitance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Opposition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Indépendance totale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96/100</a:t>
            </a:r>
            <a:endParaRPr lang="en-US" sz="12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96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analyse ALARM-E rigoureuse renforce la bientraitance et prévient la maltraitance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rigoureuse contribue directement à la bientraitance et à la prévention de la maltraitance.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96/100</a:t>
            </a:r>
            <a:endParaRPr lang="en-US" sz="12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97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risque représente une culture punitive de l'erreur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Sous-déclaration des EIAS et masquage des EIGS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Surdéclaration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Amélioration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97/100</a:t>
            </a:r>
            <a:endParaRPr lang="en-US" sz="12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97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Sous-déclaration des EIAS et masquage des EIGS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culture punitive génère sous-déclaration et masquage — l'opposé de l'objectif.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97/100</a:t>
            </a:r>
            <a:endParaRPr lang="en-US" sz="12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98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signal indique une démarche de gestion des risques mature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 EIAS déclaré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Nombre croissant de déclarations avec analyses approfondies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Diminution des déclarations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Aucune analyse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98/100</a:t>
            </a:r>
            <a:endParaRPr lang="en-US" sz="12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98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Nombre croissant de déclarations avec analyses approfondies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augmentation des déclarations avec analyses approfondies = culture de signalement saine.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98/100</a:t>
            </a:r>
            <a:endParaRPr lang="en-US" sz="1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99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premier livrable opérationnel produire après lecture du guide HAS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PowerPoint marketing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note de cadrage interne + plan de formation des cadres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publicité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Rien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99/100</a:t>
            </a:r>
            <a:endParaRPr lang="en-US" sz="12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99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note de cadrage interne + plan de formation des cadres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interne + plan de formation des cadres à ALARM-E.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99/100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100 / 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posture stratégique adopter en tant que chef de service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Attendre l'évaluation HAS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Anticiper : diagnostic interne + formation + refonte du process d'analyse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Externaliser tout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Ignorer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100/100</a:t>
            </a:r>
            <a:endParaRPr lang="en-US" sz="12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100 — Réponse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Réponse :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Anticiper : diagnostic interne + formation + refonte du process d'analyse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: diagnostic interne des 10 dernières analyses + formation + refonte du process.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: 100/100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201</Slides>
  <Notes>201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201</vt:i4>
      </vt:variant>
    </vt:vector>
  </HeadingPairs>
  <TitlesOfParts>
    <vt:vector size="20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2026-05-24T12:30:27Z</dcterms:created>
  <dcterms:modified xsi:type="dcterms:W3CDTF">2026-05-24T12:30:27Z</dcterms:modified>
</cp:coreProperties>
</file>