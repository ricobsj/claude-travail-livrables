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Lst>
  <p:notesMasterIdLst>
    <p:notesMasterId r:id="rId1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notesMaster" Target="notesMasters/notesMaster1.xml"/><Relationship Id="rId142" Type="http://schemas.openxmlformats.org/officeDocument/2006/relationships/presProps" Target="presProps.xml"/><Relationship Id="rId143" Type="http://schemas.openxmlformats.org/officeDocument/2006/relationships/viewProps" Target="viewProps.xml"/><Relationship Id="rId144" Type="http://schemas.openxmlformats.org/officeDocument/2006/relationships/theme" Target="theme/theme1.xml"/><Relationship Id="rId1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7772400" y="0"/>
            <a:ext cx="4420800" cy="6858000"/>
          </a:xfrm>
          <a:prstGeom prst="rect">
            <a:avLst/>
          </a:prstGeom>
          <a:solidFill>
            <a:srgbClr val="00B4D8">
              <a:alpha val="20000"/>
            </a:srgbClr>
          </a:solidFill>
          <a:ln w="12700">
            <a:solidFill>
              <a:srgbClr val="00B4D8">
                <a:alpha val="20000"/>
              </a:srgbClr>
            </a:solidFill>
            <a:prstDash val="solid"/>
          </a:ln>
        </p:spPr>
      </p:sp>
      <p:sp>
        <p:nvSpPr>
          <p:cNvPr id="3" name="Shape 1"/>
          <p:cNvSpPr/>
          <p:nvPr/>
        </p:nvSpPr>
        <p:spPr>
          <a:xfrm>
            <a:off x="8686800" y="-547200"/>
            <a:ext cx="2926800" cy="2926800"/>
          </a:xfrm>
          <a:prstGeom prst="ellipse">
            <a:avLst/>
          </a:prstGeom>
          <a:solidFill>
            <a:srgbClr val="00B4D8">
              <a:alpha val="35000"/>
            </a:srgbClr>
          </a:solidFill>
          <a:ln w="12700">
            <a:solidFill>
              <a:srgbClr val="00B4D8">
                <a:alpha val="35000"/>
              </a:srgbClr>
            </a:solidFill>
            <a:prstDash val="solid"/>
          </a:ln>
        </p:spPr>
      </p:sp>
      <p:sp>
        <p:nvSpPr>
          <p:cNvPr id="4" name="Shape 2"/>
          <p:cNvSpPr/>
          <p:nvPr/>
        </p:nvSpPr>
        <p:spPr>
          <a:xfrm>
            <a:off x="9874800" y="4572000"/>
            <a:ext cx="2559600" cy="2559600"/>
          </a:xfrm>
          <a:prstGeom prst="ellipse">
            <a:avLst/>
          </a:prstGeom>
          <a:solidFill>
            <a:srgbClr val="FFB703">
              <a:alpha val="30000"/>
            </a:srgbClr>
          </a:solidFill>
          <a:ln w="12700">
            <a:solidFill>
              <a:srgbClr val="FFB703">
                <a:alpha val="30000"/>
              </a:srgbClr>
            </a:solidFill>
            <a:prstDash val="solid"/>
          </a:ln>
        </p:spPr>
      </p:sp>
      <p:sp>
        <p:nvSpPr>
          <p:cNvPr id="5" name="Shape 3"/>
          <p:cNvSpPr/>
          <p:nvPr/>
        </p:nvSpPr>
        <p:spPr>
          <a:xfrm>
            <a:off x="-367200" y="5029200"/>
            <a:ext cx="2012400" cy="2012400"/>
          </a:xfrm>
          <a:prstGeom prst="ellipse">
            <a:avLst/>
          </a:prstGeom>
          <a:solidFill>
            <a:srgbClr val="FFB703">
              <a:alpha val="25000"/>
            </a:srgbClr>
          </a:solidFill>
          <a:ln w="12700">
            <a:solidFill>
              <a:srgbClr val="FFB703">
                <a:alpha val="25000"/>
              </a:srgbClr>
            </a:solidFill>
            <a:prstDash val="solid"/>
          </a:ln>
        </p:spPr>
      </p:sp>
      <p:sp>
        <p:nvSpPr>
          <p:cNvPr id="6" name="Shape 4"/>
          <p:cNvSpPr/>
          <p:nvPr/>
        </p:nvSpPr>
        <p:spPr>
          <a:xfrm>
            <a:off x="547200" y="1098000"/>
            <a:ext cx="5040000" cy="306000"/>
          </a:xfrm>
          <a:prstGeom prst="roundRect">
            <a:avLst>
              <a:gd name="adj" fmla="val 14941"/>
            </a:avLst>
          </a:prstGeom>
          <a:solidFill>
            <a:srgbClr val="00B4D8"/>
          </a:solidFill>
          <a:ln w="12700">
            <a:solidFill>
              <a:srgbClr val="00B4D8"/>
            </a:solidFill>
            <a:prstDash val="solid"/>
          </a:ln>
        </p:spPr>
      </p:sp>
      <p:sp>
        <p:nvSpPr>
          <p:cNvPr id="7" name="Text 5"/>
          <p:cNvSpPr/>
          <p:nvPr/>
        </p:nvSpPr>
        <p:spPr>
          <a:xfrm>
            <a:off x="547200" y="1098000"/>
            <a:ext cx="5040000" cy="30600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RBPP · Visites en Présence d'un Tiers — HAS 2026</a:t>
            </a:r>
            <a:endParaRPr lang="en-US" sz="1300" dirty="0"/>
          </a:p>
        </p:txBody>
      </p:sp>
      <p:sp>
        <p:nvSpPr>
          <p:cNvPr id="8" name="Shape 6"/>
          <p:cNvSpPr/>
          <p:nvPr/>
        </p:nvSpPr>
        <p:spPr>
          <a:xfrm>
            <a:off x="547200" y="2952000"/>
            <a:ext cx="6858000" cy="0"/>
          </a:xfrm>
          <a:prstGeom prst="line">
            <a:avLst/>
          </a:prstGeom>
          <a:noFill/>
          <a:ln w="25400">
            <a:solidFill>
              <a:srgbClr val="FFB703"/>
            </a:solidFill>
            <a:prstDash val="solid"/>
          </a:ln>
        </p:spPr>
      </p:sp>
      <p:sp>
        <p:nvSpPr>
          <p:cNvPr id="9" name="Text 7"/>
          <p:cNvSpPr/>
          <p:nvPr/>
        </p:nvSpPr>
        <p:spPr>
          <a:xfrm>
            <a:off x="547200" y="1512000"/>
            <a:ext cx="7200000" cy="1260000"/>
          </a:xfrm>
          <a:prstGeom prst="rect">
            <a:avLst/>
          </a:prstGeom>
          <a:noFill/>
          <a:ln/>
        </p:spPr>
        <p:txBody>
          <a:bodyPr wrap="square"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Visites en Présence</a:t>
            </a:r>
            <a:endParaRPr lang="en-US" sz="3400" dirty="0"/>
          </a:p>
          <a:p>
            <a:pPr algn="l" indent="0" marL="0">
              <a:buNone/>
            </a:pPr>
            <a:r>
              <a:rPr lang="en-US" sz="3400" b="1" dirty="0">
                <a:solidFill>
                  <a:srgbClr val="FFFFFF"/>
                </a:solidFill>
                <a:latin typeface="Calibri" pitchFamily="34" charset="0"/>
                <a:ea typeface="Calibri" pitchFamily="34" charset="-122"/>
                <a:cs typeface="Calibri" pitchFamily="34" charset="-120"/>
              </a:rPr>
              <a:t>d'un Tiers</a:t>
            </a:r>
            <a:endParaRPr lang="en-US" sz="3400" dirty="0"/>
          </a:p>
        </p:txBody>
      </p:sp>
      <p:sp>
        <p:nvSpPr>
          <p:cNvPr id="10" name="Text 8"/>
          <p:cNvSpPr/>
          <p:nvPr/>
        </p:nvSpPr>
        <p:spPr>
          <a:xfrm>
            <a:off x="547200" y="2664000"/>
            <a:ext cx="7200000" cy="288000"/>
          </a:xfrm>
          <a:prstGeom prst="rect">
            <a:avLst/>
          </a:prstGeom>
          <a:noFill/>
          <a:ln/>
        </p:spPr>
        <p:txBody>
          <a:bodyPr wrap="square" rtlCol="0" anchor="ctr"/>
          <a:lstStyle/>
          <a:p>
            <a:pPr algn="l" indent="0" marL="0">
              <a:buNone/>
            </a:pPr>
            <a:r>
              <a:rPr lang="en-US" sz="1700" dirty="0">
                <a:solidFill>
                  <a:srgbClr val="00B4D8"/>
                </a:solidFill>
                <a:latin typeface="Calibri" pitchFamily="34" charset="0"/>
                <a:ea typeface="Calibri" pitchFamily="34" charset="-122"/>
                <a:cs typeface="Calibri" pitchFamily="34" charset="-120"/>
              </a:rPr>
              <a:t>Recommandations de bonnes pratiques — HAS 2026</a:t>
            </a:r>
            <a:endParaRPr lang="en-US" sz="1700" dirty="0"/>
          </a:p>
        </p:txBody>
      </p:sp>
      <p:sp>
        <p:nvSpPr>
          <p:cNvPr id="11" name="Text 9"/>
          <p:cNvSpPr/>
          <p:nvPr/>
        </p:nvSpPr>
        <p:spPr>
          <a:xfrm>
            <a:off x="547200" y="3168000"/>
            <a:ext cx="3600000" cy="360000"/>
          </a:xfrm>
          <a:prstGeom prst="rect">
            <a:avLst/>
          </a:prstGeom>
          <a:noFill/>
          <a:ln/>
        </p:spPr>
        <p:txBody>
          <a:bodyPr wrap="square" rtlCol="0" anchor="ctr"/>
          <a:lstStyle/>
          <a:p>
            <a:pPr indent="0" marL="0">
              <a:buNone/>
            </a:pPr>
            <a:r>
              <a:rPr lang="en-US" sz="2800" b="1" dirty="0">
                <a:solidFill>
                  <a:srgbClr val="FFB703"/>
                </a:solidFill>
                <a:latin typeface="Calibri" pitchFamily="34" charset="0"/>
                <a:ea typeface="Calibri" pitchFamily="34" charset="-122"/>
                <a:cs typeface="Calibri" pitchFamily="34" charset="-120"/>
              </a:rPr>
              <a:t>69 questions</a:t>
            </a:r>
            <a:endParaRPr lang="en-US" sz="2800" dirty="0"/>
          </a:p>
        </p:txBody>
      </p:sp>
      <p:sp>
        <p:nvSpPr>
          <p:cNvPr id="12" name="Text 10"/>
          <p:cNvSpPr/>
          <p:nvPr/>
        </p:nvSpPr>
        <p:spPr>
          <a:xfrm>
            <a:off x="547200" y="3546000"/>
            <a:ext cx="6480000" cy="252000"/>
          </a:xfrm>
          <a:prstGeom prst="rect">
            <a:avLst/>
          </a:prstGeom>
          <a:noFill/>
          <a:ln/>
        </p:spPr>
        <p:txBody>
          <a:bodyPr wrap="square" rtlCol="0" anchor="ctr"/>
          <a:lstStyle/>
          <a:p>
            <a:pPr indent="0" marL="0">
              <a:buNone/>
            </a:pPr>
            <a:r>
              <a:rPr lang="en-US" sz="1400" dirty="0">
                <a:solidFill>
                  <a:srgbClr val="8BAEC8"/>
                </a:solidFill>
                <a:latin typeface="Calibri" pitchFamily="34" charset="0"/>
                <a:ea typeface="Calibri" pitchFamily="34" charset="-122"/>
                <a:cs typeface="Calibri" pitchFamily="34" charset="-120"/>
              </a:rPr>
              <a:t>Niveau professionnel médico-social</a:t>
            </a:r>
            <a:endParaRPr lang="en-US" sz="1400" dirty="0"/>
          </a:p>
        </p:txBody>
      </p:sp>
      <p:sp>
        <p:nvSpPr>
          <p:cNvPr id="13" name="Shape 11"/>
          <p:cNvSpPr/>
          <p:nvPr/>
        </p:nvSpPr>
        <p:spPr>
          <a:xfrm>
            <a:off x="547200" y="5760000"/>
            <a:ext cx="172800" cy="172800"/>
          </a:xfrm>
          <a:prstGeom prst="ellipse">
            <a:avLst/>
          </a:prstGeom>
          <a:solidFill>
            <a:srgbClr val="00B4D8"/>
          </a:solidFill>
          <a:ln w="12700">
            <a:solidFill>
              <a:srgbClr val="00B4D8"/>
            </a:solidFill>
            <a:prstDash val="solid"/>
          </a:ln>
        </p:spPr>
      </p:sp>
      <p:sp>
        <p:nvSpPr>
          <p:cNvPr id="14" name="Shape 12"/>
          <p:cNvSpPr/>
          <p:nvPr/>
        </p:nvSpPr>
        <p:spPr>
          <a:xfrm>
            <a:off x="907200" y="5760000"/>
            <a:ext cx="172800" cy="172800"/>
          </a:xfrm>
          <a:prstGeom prst="ellipse">
            <a:avLst/>
          </a:prstGeom>
          <a:solidFill>
            <a:srgbClr val="FFB703"/>
          </a:solidFill>
          <a:ln w="12700">
            <a:solidFill>
              <a:srgbClr val="FFB703"/>
            </a:solidFill>
            <a:prstDash val="solid"/>
          </a:ln>
        </p:spPr>
      </p:sp>
      <p:sp>
        <p:nvSpPr>
          <p:cNvPr id="15" name="Shape 13"/>
          <p:cNvSpPr/>
          <p:nvPr/>
        </p:nvSpPr>
        <p:spPr>
          <a:xfrm>
            <a:off x="1267200" y="5760000"/>
            <a:ext cx="172800" cy="172800"/>
          </a:xfrm>
          <a:prstGeom prst="ellipse">
            <a:avLst/>
          </a:prstGeom>
          <a:solidFill>
            <a:srgbClr val="E63946"/>
          </a:solidFill>
          <a:ln w="12700">
            <a:solidFill>
              <a:srgbClr val="E63946"/>
            </a:solidFill>
            <a:prstDash val="solid"/>
          </a:ln>
        </p:spPr>
      </p:sp>
      <p:sp>
        <p:nvSpPr>
          <p:cNvPr id="16" name="Shape 14"/>
          <p:cNvSpPr/>
          <p:nvPr/>
        </p:nvSpPr>
        <p:spPr>
          <a:xfrm>
            <a:off x="1627200" y="5760000"/>
            <a:ext cx="172800" cy="172800"/>
          </a:xfrm>
          <a:prstGeom prst="ellipse">
            <a:avLst/>
          </a:prstGeom>
          <a:solidFill>
            <a:srgbClr val="06D6A0"/>
          </a:solidFill>
          <a:ln w="12700">
            <a:solidFill>
              <a:srgbClr val="06D6A0"/>
            </a:solidFill>
            <a:prstDash val="solid"/>
          </a:ln>
        </p:spPr>
      </p:sp>
      <p:sp>
        <p:nvSpPr>
          <p:cNvPr id="17" name="Text 15"/>
          <p:cNvSpPr/>
          <p:nvPr/>
        </p:nvSpPr>
        <p:spPr>
          <a:xfrm>
            <a:off x="547200" y="6192000"/>
            <a:ext cx="7200000" cy="252000"/>
          </a:xfrm>
          <a:prstGeom prst="rect">
            <a:avLst/>
          </a:prstGeom>
          <a:noFill/>
          <a:ln/>
        </p:spPr>
        <p:txBody>
          <a:bodyPr wrap="square" rtlCol="0" anchor="ctr"/>
          <a:lstStyle/>
          <a:p>
            <a:pPr indent="0" marL="0">
              <a:buNone/>
            </a:pPr>
            <a:r>
              <a:rPr lang="en-US" sz="1100" i="1" dirty="0">
                <a:solidFill>
                  <a:srgbClr val="8BAEC8"/>
                </a:solidFill>
                <a:latin typeface="Calibri" pitchFamily="34" charset="0"/>
                <a:ea typeface="Calibri" pitchFamily="34" charset="-122"/>
                <a:cs typeface="Calibri" pitchFamily="34" charset="-120"/>
              </a:rPr>
              <a:t>Source : HAS — Recommandations de bonnes pratiques VPT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signifie l'acronyme VPT dans le contexte de la RBPP HAS 2026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Visite de Protection du Territoire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Visite en Présence d'un Tiers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Visite de Placement Temporaire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Visite des Personnes en Tutelle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Visite en Présence d'un Tiers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VPT désigne la Visite en Présence d'un Tiers, une mesure judiciaire d'assistance éducative permettant à un enfant confié à l'ASE de rencontrer ses parents encadrée par un professionnel.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nature juridique des visites en présence d'un tiers selon la HAS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mesure administrative de l'ASE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mesure judiciaire d'assistance éducative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décision médicale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mesure volontaire des familles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mesure judiciaire d'assistance éducative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VPT sont des mesures judiciaires d'assistance éducative, ordonnées par le juge des enfants dans le cadre de la protection de l'enfance.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constat principal motive la publication de la RBPP HAS 2026 sur les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diminution du nombre de VPT en France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forte hétérogénéité des pratiques et l'absence de cadre standardisé</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L'excès de standardisation des pratiques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formation insuffisante des juges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forte hétérogénéité des pratiques et l'absence de cadre standardisé</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constate une forte hétérogénéité des pratiques d'un territoire à l'autre, une absence de données nationales fiables et un manque de cadre commun, motivant la publication de ces recommandations.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tendance observée dans le recours aux VPT a conduit la HAS à publier ces recommandations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diminution progressive du recours aux VPT</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augmentation significative du recours aux VPT, notamment pour les très jeunes enfants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stabilité du nombre de VPT sur 10 ans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recours limité aux très grands adolescents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augmentation significative du recours aux VPT, notamment pour les très jeunes enfants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observe une augmentation significative du recours aux VPT, particulièrement pour les très jeunes enfants confiés à l'ASE, justifiant la nécessité d'un cadre de référence.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5</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l'Aide Sociale à l'Enfance (ASE)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service hospitalier pédiatrique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service départemental chargé de la protection des enfants en danger</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association caritative de soutien aux familles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organisme de formation professionnelle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service départemental chargé de la protection des enfants en danger</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L'ASE est un service du département chargé de la protection des enfants en danger ou en risque de l'être, pouvant décider de leur placement ou de mesures d'accompagnement familial.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6</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Quels professionnels interviennent principalement comme tiers lors des VPT selon la RBPP HAS 2026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Médecins et infirmiers uniquement</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Travailleurs sociaux, éducateurs, psychologues, TISF</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Gendarmes et forces de l'ordre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Enseignants et directeurs d'école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Travailleurs sociaux, éducateurs, psychologues, TISF</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professionnel tiers sont principalement des travailleurs sociaux, éducateurs, psychologues et TISF (Technicien de l'Intervention Sociale et Familiale).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7</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l'objectif principal des VPT selon la RBPP HAS 2026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Surveiller les parents lors des rencontres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Protéger l'enfant tout en évaluant et soutenant la relation parent-enfant</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Préparer le retour de l'enfant dans sa famille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Documenter les défaillances parentales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7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Protéger l'enfant tout en évaluant et soutenant la relation parent-enfant</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VPT visent à protéger l'enfant tout en évaluant la relation parent-enfant et en soutenant son développement, dans une optique à la fois de protection et de maintien du lien familial.</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8</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problème la RBPP HAS 2026 identifie-t-elle concernant l'articulation entre acteurs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articulation trop rigide nuisant à la flexibilité</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articulation insuffisante entre les acteurs impliqués (ASE, justice, structures)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sur-coordination chronophage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excès de réunions de concertation</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8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articulation insuffisante entre les acteurs impliqués (ASE, justice, structures)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identifie une articulation insuffisante entre les acteurs impliqués : le professionnel tiers, l'ASE, la structure d'accueil et la justice ne communiquent pas suffisamment.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9</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qu'un TISF (Technicien de l'Intervention Sociale et Familiale)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technicien informatique au service de l'ASE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professionnel du travail social intervenant à domicile pour soutenir les familles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agent administratif de la MDPH</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conseiller juridique spécialisé en droit de la famille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9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professionnel du travail social intervenant à domicile pour soutenir les familles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TISF est un professionnel du travail social qui intervient principalement à domicile pour soutenir les familles dans leur vie quotidienne et leurs fonctions parentales.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10</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Pourquoi la charge émotionnelle des professionnels tiers est-elle mentionnée dans la RBPP HAS 2026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négligeable et sans impact sur les pratiques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importante et nécessite un soutien institutionnel adapté</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est uniquement liée aux situations de violence physique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 concerne seulement les jeunes professionnels</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10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Elle est importante et nécessite un soutien institutionnel adapté</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charge émotionnelle et psychique des VPT est importante pour les professionnels tiers qui sont exposés à des situations familiales complexes, douloureuses et à fort enjeu pour l'enfant.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11</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la RBPP HAS 2026 définit-elle le rôle du professionnel tiers lors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simple surveillant garant de l'absence de danger</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acteur central à triple rôle : garant de sécurité, observateur des interactions, soutien de la relation</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médiateur uniquement entre les parents et l'enfant</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expert judiciaire mandaté par le juge</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11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acteur central à triple rôle : garant de sécurité, observateur des interactions, soutien de la relation</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RBPP HAS reconnaît que le professionnel tiers occupe un rôle central et complexe : il est simultanément garant de la sécurité, observateur des interactions et soutien de la relation parent-enfant.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12</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12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Qu'implique le rôle de 'garant de la sécurité' du professionnel tiers lors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Surveiller uniquement les comportements agressifs des parents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S'assurer que l'enfant est en sécurité physique et émotionnelle tout au long de la visite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Prévenir les forces de l'ordre en cas de risque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Enregistrer la visite pour le tribunal</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12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S'assurer que l'enfant est en sécurité physique et émotionnelle tout au long de la visite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Être garant de la sécurité implique de s'assurer que l'enfant est en sécurité physique et émotionnelle pendant toute la visite, et d'interrompre la visite si nécessaire.</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13</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13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le professionnel tiers soutient-il la relation parent-enfant lors des VPT selon la HAS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intervenant le moins possible pour ne pas perturber la relation</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facilitant les échanges, valorisant les interactions positives et soutenant les compétences parentales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remplaçant le parent défaillant pendant la visite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documentant uniquement les échecs relationnels</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13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facilitant les échanges, valorisant les interactions positives et soutenant les compétences parentales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soutien de la relation implique de faciliter les échanges, valoriser les interactions positives et soutenir les compétences parentales observées, dans une posture bienveillante.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14</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14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le risque de réduire le rôle du professionnel tiers à celui de 'simple surveillant'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Cela simplifie le travail et réduit le stress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Cela appauvrit la qualité de l'intervention et prive la famille d'un soutien professionnel essentiel</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Cela améliore l'objectivité de l'observation</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n'y a pas de risque identifié</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14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Cela appauvrit la qualité de l'intervention et prive la famille d'un soutien professionnel essentiel</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Réduire le rôle à la simple surveillance prive les familles d'un accompagnement professionnel essentiel et limite la portée de la mesure, qui dépasse la seule fonction de contrôle.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15</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15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outil professionnel le professionnel tiers doit-il utiliser pour structurer ses observations lors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formulaire judiciaire standardisé national</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Des outils d'observation structurés adaptés à la situation de l'enfant et de la famille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grille d'évaluation médicale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questionnaire de satisfaction des parents</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15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Des outils d'observation structurés adaptés à la situation de l'enfant et de la famille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l'utilisation d'outils d'observation structurés adaptés à chaque situation, permettant une documentation rigoureuse des interactions pour les comptes rendus.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16</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16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première phase de l'intervention lors d'une VPT selon la RBPP HAS 2026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L'observation des interactions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préparation de la mesure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L'évaluation des effets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rédaction du compte rendu judiciaire</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16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préparation de la mesure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préparation de la mesure est la première phase : elle inclut la clarification des objectifs, du cadre légal et des modalités pratiques (lieu, durée, fréquence) avant toute VPT.</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17</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17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doit clarifier le professionnel tiers avant de débuter les VPT selon la HAS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situation financière de la famille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objectifs, le cadre d'intervention, la durée, la fréquence et le lieu</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passé judiciaire des parents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préférences alimentaires de l'enfant</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17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objectifs, le cadre d'intervention, la durée, la fréquence et le lieu</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de clarifier systématiquement les objectifs de la mesure, le cadre d'intervention, les modalités pratiques (durée, fréquence, lieu) avant toute VPT.</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18</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18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Qui fixe les modalités pratiques des VPT (durée, fréquence, lieu) selon la RBPP HAS 2026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les parents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décision judiciaire, adaptée en lien avec l'ASE et le professionnel tiers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professionnel tiers seul</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L'établissement d'accueil de l'enfant uniquement</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18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décision judiciaire, adaptée en lien avec l'ASE et le professionnel tiers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modalités sont fixées par la décision judiciaire, mais doivent être adaptées en lien avec l'ASE et le professionnel tiers selon les besoins spécifiques de l'enfant.</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19</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19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Pourquoi le lieu des VPT est-il important selon la RBPP HAS 2026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des raisons uniquement logistiques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doit être adapté à l'enfant et favorable au développement de la relation parent-enfant dans la sécurité</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lieu n'a pas d'impact sur la qualité de la VPT</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doit être choisi par les parents</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19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Il doit être adapté à l'enfant et favorable au développement de la relation parent-enfant dans la sécurité</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lieu des VPT doit être adapté à l'enfant (non anxiogène, favorable aux interactions) et permettre le déroulement de la visite dans des conditions de sécurité et de bienveillance.</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20</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20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préparer l'enfant à la VPT selon les recommandations HAS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Ne pas l'informer à l'avance pour éviter l'anxiété</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L'informer de manière adaptée à son âge et lui permettre d'exprimer ses émotions et questions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laisser découvrir la situation le jour J</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préparer uniquement s'il en fait la demande</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20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L'informer de manière adaptée à son âge et lui permettre d'exprimer ses émotions et questions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L'enfant doit être informé de manière adaptée à son âge et développement, avec l'occasion d'exprimer ses émotions et de poser des questions avant la visite.</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21</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21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Quelles modalités spécifiques la RBPP HAS 2026 recommande-t-elle pour les VPT de nourrissons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Visites longues et peu fréquentes pour minimiser les déplacements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Visites courtes, fréquentes et fortement encadrées avec évaluation régulière des effets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Visites identiques à celles des enfants plus grands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Présence des deux parents obligatoire</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21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Visites courtes, fréquentes et fortement encadrées avec évaluation régulière des effets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Pour les nourrissons, la HAS recommande des visites courtes et fréquentes, fortement encadrées par le professionnel tiers, avec une évaluation régulière des effets sur l'enfant.</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22</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22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aspect spécifique la RBPP HAS 2026 souligne-t-elle pour les VPT avec les adolescents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adolescents ne nécessitent pas d'encadrement par un professionnel tiers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Prise en compte du point de vue de l'adolescent et préservation de son intimité</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VPT sont contre-indiquées pour les adolescents de plus de 15 ans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L'accord des parents prime sur celui de l'adolescent</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22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Prise en compte du point de vue de l'adolescent et préservation de son intimité</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Pour les adolescents, la HAS insiste sur la prise en compte de leur point de vue et le respect de leur intimité, avec une approche moins directive que pour les jeunes enfants.</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23</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23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Pourquoi adapter le cadre des VPT selon l'âge de l'enfant est-il essentiel selon la HAS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réduire les coûts de prise en charge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Parce que les besoins de sécurité, d'attachement et d'autonomie évoluent avec le développement</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simplifier le travail du professionnel tiers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satisfaire les préférences des parents</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23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Parce que les besoins de sécurité, d'attachement et d'autonomie évoluent avec le développement</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besoins de l'enfant évoluent avec le développement : sécurité et attachement priment pour le nourrisson, autonomie et respect du point de vue sont essentiels pour l'adolescent.</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24</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24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tenir compte du point de vue de l'enfant lors des VPT selon la RBPP HAS 2026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n'est pas nécessaire de recueillir le point de vue de l'enfant</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recueillant son avis de manière adaptée à son âge et en l'intégrant dans la conduite de la mesure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pour les enfants de plus de 12 ans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laissant les parents exprimer les besoins de l'enfant</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24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recueillant son avis de manière adaptée à son âge et en l'intégrant dans la conduite de la mesure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de recueillir le point de vue de l'enfant de manière adaptée à son âge et développement, et d'en tenir compte dans la conduite et l'évaluation de la mesure.</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25</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25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théorie de l'attachement et pourquoi est-elle importante dans le contexte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théorie économique sans lien avec les VPT</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théorie psychologique décrivant les liens affectifs entre l'enfant et ses figures d'attachement, essentielle pour comprendre les enjeux des VPT</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outil de diagnostic psychiatrique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technique d'intervention comportementale</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25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théorie psychologique décrivant les liens affectifs entre l'enfant et ses figures d'attachement, essentielle pour comprendre les enjeux des VPT</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théorie de l'attachement (Bowlby) décrit les liens affectifs fondamentaux entre l'enfant et ses figures d'attachement. Elle est centrale pour comprendre les enjeux relationnels des VPT et guider l'observation.</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26</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26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phase 3 de l'intervention lors des VPT selon la RBPP HAS 2026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préparation de la mesure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mise en oeuvre des visites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L'observation et l'évaluation continue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compte rendu judiciaire final</a:t>
            </a:r>
            <a:endParaRPr lang="en-US" sz="13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26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L'observation et l'évaluation continue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phase 3 est l'observation et l'évaluation continue : observation des interactions parent-enfant, documentation des observations et évaluation régulière des effets sur l'enfant.</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27</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27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doit observer le professionnel tiers lors des interactions parent-enfant pendant les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les comportements violents ou dangereux</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qualité des interactions, les réponses aux besoins de l'enfant, les compétences parentales et les effets sur l'enfant</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aspects administratifs de la visite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présentation physique des parents</a:t>
            </a:r>
            <a:endParaRPr lang="en-US" sz="13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27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qualité des interactions, les réponses aux besoins de l'enfant, les compétences parentales et les effets sur l'enfant</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professionnel tiers observe la qualité des interactions (réponses aux besoins, accordage émotionnel), les compétences parentales et les effets de la visite sur l'enfant.</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28</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28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À quelle fréquence l'évaluation des effets de la mesure VPT doit-elle être réalisée selon la HAS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en fin de mesure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Régulièrement, de manière continue tout au long de la mesure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fois par an</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en cas de signalement</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28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Régulièrement, de manière continue tout au long de la mesure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une évaluation régulière et continue des effets de la mesure sur l'enfant et la relation parent-enfant, permettant l'ajustement de la mesure si nécessaire.</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29</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29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les observations lors des VPT doivent-elles être documentées selon la RBPP HAS 2026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une note informelle non transmise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une documentation rigoureuse et structurée permettant la rédaction de comptes rendus pour le juge ou l'ASE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à la demande du juge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enregistrement vidéo systématique</a:t>
            </a:r>
            <a:endParaRPr lang="en-US" sz="13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29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 une documentation rigoureuse et structurée permettant la rédaction de comptes rendus pour le juge ou l'ASE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une documentation rigoureuse et structurée des observations lors des VPT, constituant la base des comptes rendus transmis au juge des enfants ou à l'ASE.</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30</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30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différence entre 'évaluation' et 'observation' dans le cadre des VPT selon la HAS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 sont des synonymes dans ce contexte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L'observation est immédiate et descriptive, l'évaluation intègre l'observation dans une analyse globale de la situation</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L'observation est réservée aux psychologues, l'évaluation aux travailleurs sociaux</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L'évaluation précède toujours l'observation</a:t>
            </a:r>
            <a:endParaRPr lang="en-US" sz="13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30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L'observation est immédiate et descriptive, l'évaluation intègre l'observation dans une analyse globale de la situation</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L'observation est immédiate et descriptive (ce qui se passe pendant la visite), tandis que l'évaluation intègre les observations dans une analyse globale de l'évolution de la situation et des effets de la mesure.</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31</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31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quatrième et dernière phase de l'intervention VPT selon la RBPP HAS 2026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préparation de la mesure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mise en oeuvre des visites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L'observation continue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L'ajustement et le compte rendu</a:t>
            </a:r>
            <a:endParaRPr lang="en-US" sz="13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31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L'ajustement et le compte rendu</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quatrième phase est l'ajustement et le compte rendu : adaptation de la mesure si nécessaire, rédaction des comptes rendus à destination du juge ou de l'ASE.</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32</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32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À qui les comptes rendus de VPT sont-ils généralement transmis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Aux parents uniquement</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 juge des enfants et à l'ASE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À la MDPH</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 directeur de l'établissement d'accueil uniquement</a:t>
            </a:r>
            <a:endParaRPr lang="en-US" sz="13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32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Au juge des enfants et à l'ASE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comptes rendus de VPT sont transmis au juge des enfants et à l'ASE, constituant des éléments essentiels pour l'évaluation de la situation et les décisions judiciaires.</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33</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33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Dans quelles circonstances la RBPP HAS 2026 recommande-t-elle d'ajuster la mesure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à la demande des parents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Lorsque l'évaluation régulière révèle que les modalités ne sont plus adaptées aux besoins de l'enfant</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Automatiquement après 6 mois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en cas d'incident lors d'une visite</a:t>
            </a:r>
            <a:endParaRPr lang="en-US" sz="13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33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Lorsque l'évaluation régulière révèle que les modalités ne sont plus adaptées aux besoins de l'enfant</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d'ajuster la mesure lorsque l'évaluation régulière révèle que les modalités ne répondent plus aux besoins de l'enfant ou que la situation évolue significativement.</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34</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34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 doit contenir un compte rendu de VPT selon les bonnes pratiques HAS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un bilan positif des interactions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description factuelle des observations, l'évaluation des interactions et l'avis professionnel sur l'évolution de la mesure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informations personnelles des parents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jugement sur les compétences parentales</a:t>
            </a:r>
            <a:endParaRPr lang="en-US" sz="13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34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description factuelle des observations, l'évaluation des interactions et l'avis professionnel sur l'évolution de la mesure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compte rendu doit contenir la description factuelle des observations lors de la visite, l'évaluation des interactions parent-enfant et l'avis professionnel sur l'évolution de la mesure.</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35</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35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principe éthique la RBPP HAS 2026 rappelle-t-elle concernant les écrits professionnels sur les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confidentialité absolue, même vis-à-vis du juge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rigueur, l'objectivité factuelle et la distinction entre faits observés et interprétations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rapidité de rédaction primant sur la précision</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L'évitement de tout jugement sur les parents</a:t>
            </a:r>
            <a:endParaRPr lang="en-US" sz="13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35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rigueur, l'objectivité factuelle et la distinction entre faits observés et interprétations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rappelle l'importance de la rigueur dans les écrits professionnels : distinction entre faits observés et interprétations, objectivité factuelle et protection de la dignité des personnes.</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36</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36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type de soutien la RBPP HAS 2026 recommande-t-elle pour les professionnels intervenant lors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Aucun soutien spécifique n'est nécessaire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Formation spécifique aux VPT et soutien psychologique institutionnel</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une supervision administrative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accompagnement médical systématique</a:t>
            </a:r>
            <a:endParaRPr lang="en-US" sz="13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36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Formation spécifique aux VPT et soutien psychologique institutionnel</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une formation spécifique aux pratiques des VPT et un soutien psychologique institutionnel adapté à la charge émotionnelle de cette mission.</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37</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37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Pourquoi la supervision des pratiques est-elle recommandée pour les professionnels tiers selon la HAS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contrôler la qualité du travail des professionnels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soutenir les professionnels face à la complexité et à la charge émotionnelle des situations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réduire les coûts de formation continue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documenter les incidents lors des VPT</a:t>
            </a:r>
            <a:endParaRPr lang="en-US" sz="13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37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Pour soutenir les professionnels face à la complexité et à la charge émotionnelle des situations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supervision des pratiques est recommandée pour soutenir les professionnels face à la complexité des situations et à la charge émotionnelle importante des VPT, favorisant une pratique réflexive.</a:t>
            </a:r>
            <a:endParaRPr lang="en-US"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38</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38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Quels sont les risques identifiés par la HAS pour les professionnels tiers non soutenus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Aucun risque spécifique n'est identifié</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Épuisement professionnel, pratiques défensives et altération de la qualité de l'intervention</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Risque uniquement administratif</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Risque de conflit avec les familles uniquement</a:t>
            </a:r>
            <a:endParaRPr lang="en-US" sz="13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38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Épuisement professionnel, pratiques défensives et altération de la qualité de l'intervention</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Sans soutien adapté, les professionnels exposés à la charge émotionnelle des VPT risquent l'épuisement professionnel, des pratiques défensives et une altération de la qualité de leur intervention.</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39</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39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'burn-out' ou épuisement professionnel dans le contexte du travail social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syndrome physique lié aux conditions de travail</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syndrome d'épuisement émotionnel, de dépersonnalisation et de perte du sentiment d'accomplissement lié à l'exposition prolongée au stress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trouble psychiatrique grave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simple fatigue temporaire</a:t>
            </a:r>
            <a:endParaRPr lang="en-US" sz="13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39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syndrome d'épuisement émotionnel, de dépersonnalisation et de perte du sentiment d'accomplissement lié à l'exposition prolongée au stress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burn-out est un syndrome caractérisé par l'épuisement émotionnel, la dépersonnalisation et la perte du sentiment d'accomplissement, particulièrement présent chez les professionnels du travail social exposés à des situations complexes.</a:t>
            </a:r>
            <a:endParaRPr 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40</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40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différence entre supervision et analyse de pratiques professionnelles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Ce sont des termes strictement synonymes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supervision est généralement centrée sur une situation clinique précise, l'analyse de pratiques sur la réflexivité et le développement professionnel</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supervision est administrative, l'analyse de pratiques est clinique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n'y a pas de différence opérationnelle</a:t>
            </a:r>
            <a:endParaRPr lang="en-US" sz="13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40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supervision est généralement centrée sur une situation clinique précise, l'analyse de pratiques sur la réflexivité et le développement professionnel</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supervision est souvent centrée sur une situation clinique précise, animée par un superviseur externe. L'analyse de pratiques vise la réflexivité et le développement professionnel collectif, animée par un professionnel formé.</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41</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41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la RBPP HAS 2026 recommande-t-elle d'organiser l'articulation entre acteurs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un transfert complet de responsabilité au professionnel tiers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une coordination structurée entre professionnel tiers, ASE, structure d'accueil de l'enfant et justice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des réunions annuelles uniquement</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limitant les échanges pour préserver la confidentialité</a:t>
            </a:r>
            <a:endParaRPr lang="en-US" sz="13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41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 une coordination structurée entre professionnel tiers, ASE, structure d'accueil de l'enfant et justice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une coordination structurée entre tous les acteurs : professionnel tiers, ASE, structure d'accueil de l'enfant, justice, pour assurer la cohérence et la continuité de la mesure.</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42</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42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le rôle du juge des enfants dans le dispositif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assiste aux visites pour les superviser</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ordonne la mesure, en fixe les modalités générales et est destinataire des comptes rendus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remplace le professionnel tiers en cas d'absence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évalue directement les compétences parentales</a:t>
            </a:r>
            <a:endParaRPr lang="en-US" sz="13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42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Il ordonne la mesure, en fixe les modalités générales et est destinataire des comptes rendus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juge des enfants ordonne la mesure VPT, en fixe les modalités générales et est l'un des destinataires des comptes rendus permettant l'évaluation et la réévaluation de la situation.</a:t>
            </a:r>
            <a:endParaRPr lang="en-US" sz="1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43</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43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le professionnel tiers doit-il communiquer avec la structure d'accueil de l'enfant selon la HAS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ne doit pas communiquer pour préserver la neutralité</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De manière régulière pour assurer la cohérence de l'accompagnement global de l'enfant</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en cas d'incident lors d'une visite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écrit uniquement, sans contact direct</a:t>
            </a:r>
            <a:endParaRPr lang="en-US" sz="13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43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De manière régulière pour assurer la cohérence de l'accompagnement global de l'enfant</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Une communication régulière entre le professionnel tiers et la structure d'accueil de l'enfant est nécessaire pour assurer la cohérence de l'accompagnement global et intégrer les observations dans le suivi de l'enfant.</a:t>
            </a:r>
            <a:endParaRPr lang="en-US" sz="1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44</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44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qu'une réunion de synthèse dans le contexte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réunion administrative de planification des visites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réunion pluriprofessionnelle permettant de faire le point sur la situation de l'enfant et l'évolution de la mesure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réunion avec les parents uniquement</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réunion de formation des professionnels</a:t>
            </a:r>
            <a:endParaRPr lang="en-US" sz="13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44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réunion pluriprofessionnelle permettant de faire le point sur la situation de l'enfant et l'évolution de la mesure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réunion de synthèse est une réunion pluriprofessionnelle (ASE, structure d'accueil, professionnel tiers, etc.) permettant de faire le bilan de la situation de l'enfant et de l'évolution de la mesure VPT.</a:t>
            </a:r>
            <a:endParaRPr lang="en-US" sz="1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45</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45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Pourquoi la RBPP HAS 2026 insiste-t-elle sur la nécessité d'éviter la standardisation excessive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réduire les coûts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Parce que chaque situation familiale est unique et ne peut être traitée par un protocole unique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faciliter le travail des professionnels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augmenter le nombre de VPT possibles</a:t>
            </a:r>
            <a:endParaRPr lang="en-US" sz="13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45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Parce que chaque situation familiale est unique et ne peut être traitée par un protocole unique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souligne qu'aucune organisation standard ne peut répondre à toutes les situations : chaque famille, chaque enfant, chaque contexte est unique et nécessite une adaptation individualisée de la mesure.</a:t>
            </a:r>
            <a:endParaRPr lang="en-US" sz="1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46</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46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le principe directeur de la protection de l'enfance en France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placement systématique en cas de risque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L'intérêt supérieur de l'enfant, qui prime sur tout autre considération</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préservation du lien familial à tout prix</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neutralité de l'État dans les affaires familiales</a:t>
            </a:r>
            <a:endParaRPr lang="en-US" sz="13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46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L'intérêt supérieur de l'enfant, qui prime sur tout autre considération</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L'intérêt supérieur de l'enfant est le principe directeur de la protection de l'enfance, consacré par la Convention Internationale des Droits de l'Enfant et la législation française.</a:t>
            </a:r>
            <a:endParaRPr lang="en-US" sz="14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47</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47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l'assistance éducative dans le droit français de la protection de l'enfance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dispositif volontaire de soutien aux familles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mesure judiciaire ordonnée par le juge des enfants lorsque la santé, la sécurité ou la moralité d'un mineur sont en danger</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service de l'Éducation Nationale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programme de formation parentale</a:t>
            </a:r>
            <a:endParaRPr lang="en-US" sz="13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47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mesure judiciaire ordonnée par le juge des enfants lorsque la santé, la sécurité ou la moralité d'un mineur sont en danger</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L'assistance éducative est une mesure judiciaire ordonnée par le juge des enfants lorsque la santé, la sécurité, la moralité ou les conditions d'éducation d'un mineur sont en danger.</a:t>
            </a:r>
            <a:endParaRPr lang="en-US" sz="14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48</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48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loi constitue le cadre principal de la protection de l'enfance en France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loi de 2002 sur les droits des usagers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loi du 5 mars 2007 réformant la protection de l'enfance, complétée par la loi du 14 mars 2016</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loi de 1975 sur les institutions sociales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loi de 2005 sur le handicap</a:t>
            </a:r>
            <a:endParaRPr lang="en-US" sz="13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48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loi du 5 mars 2007 réformant la protection de l'enfance, complétée par la loi du 14 mars 2016</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loi du 5 mars 2007 réformant la protection de l'enfance, complétée par la loi du 14 mars 2016 relative à la protection de l'enfant, constitue le cadre législatif principal.</a:t>
            </a:r>
            <a:endParaRPr lang="en-US" sz="1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49</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49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qu'un placement judiciaire dans le système de protection de l'enfance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séjour de vacances encadré pour les enfants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mesure judiciaire confiant l'enfant à l'ASE ou à une famille d'accueil lorsque son maintien dans sa famille est impossible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programme de réinsertion pour adolescents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placement en institution médicale</a:t>
            </a:r>
            <a:endParaRPr lang="en-US" sz="13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49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mesure judiciaire confiant l'enfant à l'ASE ou à une famille d'accueil lorsque son maintien dans sa famille est impossible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placement judiciaire est une mesure ordonnée par le juge des enfants qui confie l'enfant à l'ASE ou à une famille d'accueil lorsque son maintien dans sa famille n'est pas possible sans mettre en danger sa sécurité.</a:t>
            </a:r>
            <a:endParaRPr lang="en-US" sz="1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50</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50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CRIP (Cellule de Recueil des Informations Préoccupantes)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service médical hospitalier pédiatrique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service départemental qui centralise et évalue les informations préoccupantes concernant des mineurs en danger</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organisme de formation des professionnels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comité de protection de l'enfance au niveau national</a:t>
            </a:r>
            <a:endParaRPr lang="en-US" sz="13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50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service départemental qui centralise et évalue les informations préoccupantes concernant des mineurs en danger</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CRIP est un service départemental qui centralise, évalue et traite les informations préoccupantes concernant des mineurs en danger ou en risque de l'être, orientant vers les mesures adaptées.</a:t>
            </a:r>
            <a:endParaRPr lang="en-US" sz="1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51</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51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définir une 'information préoccupante' dans le cadre de la protection de l'enfance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Tout signalement concernant un mineur</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Tout élément qui laisse craindre une situation de danger ou de risque de danger pour un mineur</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les situations de maltraitance physique avérée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informations issues uniquement de professionnels mandatés</a:t>
            </a:r>
            <a:endParaRPr lang="en-US" sz="13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51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Tout élément qui laisse craindre une situation de danger ou de risque de danger pour un mineur</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Une information préoccupante est tout élément qui laisse craindre une situation de danger ou de risque de danger pour la santé, la sécurité, la moralité ou les conditions d'éducation d'un mineur.</a:t>
            </a:r>
            <a:endParaRPr lang="en-US" sz="14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52</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52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droit de visite et d'hébergement dans le contexte de la protection de l'enfance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droit administratif des établissements d'accueil</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droit des parents à maintenir un contact avec leur enfant placé, dont les modalités sont fixées par le juge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droit absolu et inconditionnel des parents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service proposé uniquement aux familles adoptantes</a:t>
            </a:r>
            <a:endParaRPr lang="en-US" sz="13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52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droit des parents à maintenir un contact avec leur enfant placé, dont les modalités sont fixées par le juge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droit de visite et d'hébergement est le droit des parents à maintenir un lien avec leur enfant placé ; ses modalités (VPT ou droit de visite libre) sont fixées par le juge selon la situation.</a:t>
            </a:r>
            <a:endParaRPr lang="en-US" sz="1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53</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53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posture éthique le professionnel tiers doit-il adopter selon la RBPP HAS 2026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posture de contrôle et de surveillance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posture bienveillante, neutre et centrée sur l'intérêt de l'enfant</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posture militante en faveur du maintien du lien familial</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posture d'expertise judiciaire</a:t>
            </a:r>
            <a:endParaRPr lang="en-US" sz="13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53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posture bienveillante, neutre et centrée sur l'intérêt de l'enfant</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professionnel tiers adopte une posture bienveillante et neutre, centrée sur l'intérêt de l'enfant, à équidistance entre les deux parties (enfant et parents), sans jugement ni prise de parti.</a:t>
            </a:r>
            <a:endParaRPr lang="en-US" sz="1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54</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54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la RBPP HAS 2026 recommande-t-elle de traiter la question de la confidentialité lors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Tout doit être confidentiel, y compris vis-à-vis du juge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informations sont partagées avec les acteurs légitimes (juge, ASE) dans le respect du cadre légal</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Aucune information ne peut être transmise sans accord des parents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confidentialité ne s'applique pas dans les VPT</a:t>
            </a:r>
            <a:endParaRPr lang="en-US" sz="13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54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informations sont partagées avec les acteurs légitimes (juge, ASE) dans le respect du cadre légal</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informations recueillies lors des VPT sont partagées avec les acteurs légitimes (juge, ASE) dans le respect du cadre légal, avec une distinction entre confidentialité et secret professionnel partagé.</a:t>
            </a:r>
            <a:endParaRPr lang="en-US" sz="14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55</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55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le secret professionnel partagé dans le travail social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partage de toutes les informations entre tous les professionnels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partage d'informations confidentielles entre professionnels d'une même équipe ou réseau pour assurer la continuité de l'accompagnement</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L'obligation de tout transmettre au juge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suppression de toute confidentialité dans les équipes</a:t>
            </a:r>
            <a:endParaRPr lang="en-US" sz="13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55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partage d'informations confidentielles entre professionnels d'une même équipe ou réseau pour assurer la continuité de l'accompagnement</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secret professionnel partagé permet le partage d'informations confidentielles entre professionnels d'une même équipe ou réseau, dans la limite strictement nécessaire à la continuité et la qualité de l'accompagnement.</a:t>
            </a:r>
            <a:endParaRPr lang="en-US" sz="1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56</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56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éviter la maltraitance institutionnelle dans le dispositif des VPT selon la HAS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réduisant le nombre de VPT</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centrant les pratiques sur l'intérêt de l'enfant, en adaptant les modalités à ses besoins et en assurant la bientraitance de chaque intervenant</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n'impliquant pas les parents dans le processus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Par une surveillance accrue des professionnels</a:t>
            </a:r>
            <a:endParaRPr lang="en-US" sz="13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56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centrant les pratiques sur l'intérêt de l'enfant, en adaptant les modalités à ses besoins et en assurant la bientraitance de chaque intervenant</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prévention de la maltraitance institutionnelle passe par le centrage sur l'intérêt de l'enfant, l'adaptation des modalités à ses besoins, la formation des professionnels et la promotion d'une culture de bientraitance.</a:t>
            </a:r>
            <a:endParaRPr lang="en-US" sz="14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57</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57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neutralité bienveillante dans le contexte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indifférence aux situations rencontrées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posture professionnelle qui combine neutralité (pas de jugement) et bienveillance (attitude positive et soutenante) envers toutes les parties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soutien prioritaire aux parents dans leurs démarches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L'absence d'engagement émotionnel du professionnel</a:t>
            </a:r>
            <a:endParaRPr lang="en-US" sz="13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57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posture professionnelle qui combine neutralité (pas de jugement) et bienveillance (attitude positive et soutenante) envers toutes les parties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neutralité bienveillante combine la neutralité (ne pas prendre parti, ne pas juger) et la bienveillance (attitude positive, soutien actif) envers l'enfant, les parents et la relation qu'ils partagent.</a:t>
            </a:r>
            <a:endParaRPr lang="en-US" sz="14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58</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58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qu'un espace de rencontre dans le contexte de la protection de l'enfance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espace de jeux pour enfants dans les tribunaux</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lieu neutre et sécurisé facilitant les rencontres entre enfants et parents dans le cadre de mesures judiciaires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salle de médiation familiale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 centre d'hébergement d'urgence</a:t>
            </a:r>
            <a:endParaRPr lang="en-US" sz="13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58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 lieu neutre et sécurisé facilitant les rencontres entre enfants et parents dans le cadre de mesures judiciaires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L'espace de rencontre est un lieu neutre et sécurisé qui facilite les rencontres entre des enfants et leurs parents dans le cadre de mesures judiciaires, avec la présence d'un professionnel tiers.</a:t>
            </a:r>
            <a:endParaRPr lang="en-US" sz="14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59</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59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droit fondamental de l'enfant est au coeur du dispositif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droit à l'éducation</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droit à maintenir des relations personnelles et des contacts directs avec ses parents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droit à la protection de sa vie privée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droit à un logement adapté</a:t>
            </a:r>
            <a:endParaRPr lang="en-US" sz="13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59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droit à maintenir des relations personnelles et des contacts directs avec ses parents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droit de l'enfant à maintenir des relations personnelles et des contacts directs avec ses deux parents, consacré par la CIDE (article 9), est au coeur du dispositif des VPT, même en cas de placement.</a:t>
            </a:r>
            <a:endParaRPr lang="en-US" sz="14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60</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60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est la différence entre une VPT et un droit de visite libre dans le contexte de l'ASE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Il n'y a pas de différence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VPT implique la présence d'un professionnel tiers, le droit de visite libre se déroule sans encadrement professionnel</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droit de visite libre est plus restrictif que la VPT</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VPT est réservée aux parents violents uniquement</a:t>
            </a:r>
            <a:endParaRPr lang="en-US" sz="13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60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VPT implique la présence d'un professionnel tiers, le droit de visite libre se déroule sans encadrement professionnel</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VPT se déroule en présence d'un professionnel tiers qui joue un rôle actif, tandis que le droit de visite libre se déroule sans encadrement professionnel, selon les modalités fixées par le juge.</a:t>
            </a:r>
            <a:endParaRPr lang="en-US" sz="14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61</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61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la RBPP HAS 2026 recommande-t-elle d'impliquer les parents dans les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les excluant de la préparation pour préserver la neutralité</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les informant des objectifs, du cadre et du rôle du professionnel tiers, et en recueillant leur accord</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leur donnant un rôle de co-animateur des visites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En réduisant leur rôle à une simple présence passive</a:t>
            </a:r>
            <a:endParaRPr lang="en-US" sz="13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61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les informant des objectifs, du cadre et du rôle du professionnel tiers, et en recueillant leur accord</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HAS recommande d'informer les parents des objectifs et du cadre de la mesure, du rôle du professionnel tiers, et de recueillir leur compréhension (sans que leur accord soit nécessaire, la mesure étant judiciaire).</a:t>
            </a:r>
            <a:endParaRPr lang="en-US" sz="14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62</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62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est l'impact attendu de la mise en oeuvre de la RBPP HAS 2026 sur les pratiques de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Réduction du nombre de VPT réalisées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Harmonisation des pratiques, amélioration de la qualité des interventions et meilleure protection des enfants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Augmentation des placements judiciaires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Remplacement des professionnels tiers par des bénévoles</a:t>
            </a:r>
            <a:endParaRPr lang="en-US" sz="13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62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Harmonisation des pratiques, amélioration de la qualité des interventions et meilleure protection des enfants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mise en oeuvre de la RBPP HAS vise l'harmonisation des pratiques sur l'ensemble du territoire, l'amélioration de la qualité des interventions et, in fine, une meilleure protection des enfants concernés.</a:t>
            </a:r>
            <a:endParaRPr lang="en-US" sz="14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63</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63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quoi les recommandations sur les VPT concernent-elles les ESSMS accueillant des enfants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Elles ne concernent pas les ESSMS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ESSMS peuvent être lieu de VPT et leurs professionnels peuvent être désignés comme tiers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Uniquement les établissements spécialisés en protection de l'enfance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Seulement les structures hébergeant des adultes TSA</a:t>
            </a:r>
            <a:endParaRPr lang="en-US" sz="13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63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ESSMS peuvent être lieu de VPT et leurs professionnels peuvent être désignés comme tiers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ESSMS accueillant des enfants peuvent être désignés comme lieux de VPT, et leurs professionnels (éducateurs, TISF, etc.) peuvent être désignés comme professionnels tiers.</a:t>
            </a:r>
            <a:endParaRPr lang="en-US" sz="14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64</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64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articuler le projet personnalisé d'un enfant en ESSMS avec les VPT dont il bénéficie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projet personnalisé ne tient pas compte des VPT</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observations lors des VPT sont intégrées dans le suivi de l'enfant et peuvent influencer l'ajustement du projet personnalisé</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Les VPT remplacent le projet personnalisé pendant leur durée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projet personnalisé est suspendu pendant les VPT</a:t>
            </a:r>
            <a:endParaRPr lang="en-US" sz="13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64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Les observations lors des VPT sont intégrées dans le suivi de l'enfant et peuvent influencer l'ajustement du projet personnalisé</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Les observations lors des VPT constituent des éléments précieux pour le projet personnalisé de l'enfant : elles éclairent la relation familiale et peuvent orienter les objectifs de l'accompagnement.</a:t>
            </a:r>
            <a:endParaRPr lang="en-US" sz="14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65</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65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 professionnel d'un ESSMS est le plus souvent désigné comme professionnel tiers lors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directeur de l'établissement</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L'éducateur référent de l'enfant ou un autre professionnel formé à cet effet</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Le médecin de l'établissement</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L'agent administratif</a:t>
            </a:r>
            <a:endParaRPr lang="en-US" sz="13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65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L'éducateur référent de l'enfant ou un autre professionnel formé à cet effet</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L'éducateur référent de l'enfant ou un autre professionnel formé à cet effet (travailleur social, TISF, psychologue) est généralement désigné comme professionnel tiers lors des VPT.</a:t>
            </a:r>
            <a:endParaRPr lang="en-US" sz="14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66</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66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Pourquoi est-il parfois déconseillé que le référent de l'enfant soit le professionnel tiers lors des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des raisons de disponibilité uniquement</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éviter les conflits de rôle : le référent de l'enfant et le professionnel tiers ont des fonctions différentes qui peuvent être incompatibles</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Pour des raisons de coût</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HAS le recommande systématiquement</a:t>
            </a:r>
            <a:endParaRPr lang="en-US" sz="13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66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Pour éviter les conflits de rôle : le référent de l'enfant et le professionnel tiers ont des fonctions différentes qui peuvent être incompatibles</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Le référent de l'enfant porte un regard sur l'ensemble de son accompagnement, tandis que le professionnel tiers doit maintenir une posture de neutralité relative entre l'enfant et ses parents, ce qui peut créer des conflits de rôle.</a:t>
            </a:r>
            <a:endParaRPr lang="en-US" sz="14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67</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67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Quelle compétence spécifique la RBPP HAS 2026 identifie-t-elle comme essentielle pour les professionnels tiers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maîtrise du droit de la famille</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capacité d'observation professionnelle structurée et la posture bienveillante et neutre</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formation médicale en pédiatrie</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maîtrise des outils numériques</a:t>
            </a:r>
            <a:endParaRPr lang="en-US" sz="13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67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capacité d'observation professionnelle structurée et la posture bienveillante et neutre</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capacité d'observation professionnelle structurée (distinguer faits et interprétations) et la posture bienveillante et neutre sont identifiées comme des compétences essentielles pour les professionnels tiers.</a:t>
            </a:r>
            <a:endParaRPr lang="en-US" sz="14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68</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68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Qu'est-ce que la bientraitance appliquée aux VPT selon la HAS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L'absence de comportements agressifs lors des visites</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Une démarche proactive centrée sur le bien-être de l'enfant, le respect de sa dignité et le soutien de ses liens familiaux dans la sécurité</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 satisfaction des parents lors des visites</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L'application stricte du protocole de visite</a:t>
            </a:r>
            <a:endParaRPr lang="en-US" sz="13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68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Une démarche proactive centrée sur le bien-être de l'enfant, le respect de sa dignité et le soutien de ses liens familiaux dans la sécurité</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La bientraitance appliquée aux VPT est une démarche proactive centrée sur le bien-être de l'enfant, le respect de sa dignité, le soutien de ses liens familiaux dans un cadre sécurisant et bienveillant.</a:t>
            </a:r>
            <a:endParaRPr lang="en-US" sz="14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B4D8"/>
          </a:solidFill>
          <a:ln w="12700">
            <a:solidFill>
              <a:srgbClr val="00B4D8"/>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165600" y="201600"/>
            <a:ext cx="1022400" cy="1022400"/>
          </a:xfrm>
          <a:prstGeom prst="ellipse">
            <a:avLst/>
          </a:prstGeom>
          <a:solidFill>
            <a:srgbClr val="FFB703"/>
          </a:solidFill>
          <a:ln w="12700">
            <a:solidFill>
              <a:srgbClr val="FFB703"/>
            </a:solidFill>
            <a:prstDash val="solid"/>
          </a:ln>
        </p:spPr>
      </p:sp>
      <p:sp>
        <p:nvSpPr>
          <p:cNvPr id="5" name="Text 3"/>
          <p:cNvSpPr/>
          <p:nvPr/>
        </p:nvSpPr>
        <p:spPr>
          <a:xfrm>
            <a:off x="165600" y="201600"/>
            <a:ext cx="1022400" cy="273600"/>
          </a:xfrm>
          <a:prstGeom prst="rect">
            <a:avLst/>
          </a:prstGeom>
          <a:noFill/>
          <a:ln/>
        </p:spPr>
        <p:txBody>
          <a:bodyPr wrap="square" rtlCol="0" anchor="b"/>
          <a:lstStyle/>
          <a:p>
            <a:pPr algn="ctr" indent="0" marL="0">
              <a:buNone/>
            </a:pPr>
            <a:r>
              <a:rPr lang="en-US" sz="1100" dirty="0">
                <a:solidFill>
                  <a:srgbClr val="111D3C"/>
                </a:solidFill>
                <a:latin typeface="Calibri" pitchFamily="34" charset="0"/>
                <a:ea typeface="Calibri" pitchFamily="34" charset="-122"/>
                <a:cs typeface="Calibri" pitchFamily="34" charset="-120"/>
              </a:rPr>
              <a:t>Q</a:t>
            </a:r>
            <a:endParaRPr lang="en-US" sz="1100" dirty="0"/>
          </a:p>
        </p:txBody>
      </p:sp>
      <p:sp>
        <p:nvSpPr>
          <p:cNvPr id="6" name="Text 4"/>
          <p:cNvSpPr/>
          <p:nvPr/>
        </p:nvSpPr>
        <p:spPr>
          <a:xfrm>
            <a:off x="165600" y="475200"/>
            <a:ext cx="1022400" cy="720000"/>
          </a:xfrm>
          <a:prstGeom prst="rect">
            <a:avLst/>
          </a:prstGeom>
          <a:noFill/>
          <a:ln/>
        </p:spPr>
        <p:txBody>
          <a:bodyPr wrap="square" rtlCol="0" anchor="t"/>
          <a:lstStyle/>
          <a:p>
            <a:pPr algn="ctr" indent="0" marL="0">
              <a:buNone/>
            </a:pPr>
            <a:r>
              <a:rPr lang="en-US" sz="2800" b="1" dirty="0">
                <a:solidFill>
                  <a:srgbClr val="FFFFFF"/>
                </a:solidFill>
                <a:latin typeface="Calibri" pitchFamily="34" charset="0"/>
                <a:ea typeface="Calibri" pitchFamily="34" charset="-122"/>
                <a:cs typeface="Calibri" pitchFamily="34" charset="-120"/>
              </a:rPr>
              <a:t>69</a:t>
            </a:r>
            <a:endParaRPr lang="en-US" sz="2800" dirty="0"/>
          </a:p>
        </p:txBody>
      </p:sp>
      <p:sp>
        <p:nvSpPr>
          <p:cNvPr id="7" name="Text 5"/>
          <p:cNvSpPr/>
          <p:nvPr/>
        </p:nvSpPr>
        <p:spPr>
          <a:xfrm>
            <a:off x="10080000" y="183600"/>
            <a:ext cx="1980000" cy="2556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69 / 69</a:t>
            </a:r>
            <a:endParaRPr lang="en-US" sz="1100" dirty="0"/>
          </a:p>
        </p:txBody>
      </p:sp>
      <p:sp>
        <p:nvSpPr>
          <p:cNvPr id="8" name="Text 6"/>
          <p:cNvSpPr/>
          <p:nvPr/>
        </p:nvSpPr>
        <p:spPr>
          <a:xfrm>
            <a:off x="1353600" y="183600"/>
            <a:ext cx="10440000" cy="1573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Comment la RBPP HAS 2026 recommande-t-elle de gérer une situation de danger identifiée lors d'une VPT ?</a:t>
            </a:r>
            <a:endParaRPr lang="en-US" sz="1700" dirty="0"/>
          </a:p>
        </p:txBody>
      </p:sp>
      <p:sp>
        <p:nvSpPr>
          <p:cNvPr id="9" name="Shape 7"/>
          <p:cNvSpPr/>
          <p:nvPr/>
        </p:nvSpPr>
        <p:spPr>
          <a:xfrm>
            <a:off x="165600" y="1864800"/>
            <a:ext cx="11862000" cy="28800"/>
          </a:xfrm>
          <a:prstGeom prst="rect">
            <a:avLst/>
          </a:prstGeom>
          <a:solidFill>
            <a:srgbClr val="FFB703">
              <a:alpha val="70000"/>
            </a:srgbClr>
          </a:solidFill>
          <a:ln w="12700">
            <a:solidFill>
              <a:srgbClr val="FFB703">
                <a:alpha val="70000"/>
              </a:srgbClr>
            </a:solidFill>
            <a:prstDash val="solid"/>
          </a:ln>
        </p:spPr>
      </p:sp>
      <p:sp>
        <p:nvSpPr>
          <p:cNvPr id="10" name="Shape 8"/>
          <p:cNvSpPr/>
          <p:nvPr/>
        </p:nvSpPr>
        <p:spPr>
          <a:xfrm>
            <a:off x="0" y="1958400"/>
            <a:ext cx="12193200" cy="1177200"/>
          </a:xfrm>
          <a:prstGeom prst="rect">
            <a:avLst/>
          </a:prstGeom>
          <a:solidFill>
            <a:srgbClr val="1A2F5E"/>
          </a:solidFill>
          <a:ln w="6350">
            <a:solidFill>
              <a:srgbClr val="00B4D8"/>
            </a:solidFill>
            <a:prstDash val="solid"/>
          </a:ln>
        </p:spPr>
      </p:sp>
      <p:sp>
        <p:nvSpPr>
          <p:cNvPr id="11" name="Shape 9"/>
          <p:cNvSpPr/>
          <p:nvPr/>
        </p:nvSpPr>
        <p:spPr>
          <a:xfrm>
            <a:off x="0" y="1958400"/>
            <a:ext cx="72000" cy="1177200"/>
          </a:xfrm>
          <a:prstGeom prst="rect">
            <a:avLst/>
          </a:prstGeom>
          <a:solidFill>
            <a:srgbClr val="00B4D8"/>
          </a:solidFill>
          <a:ln w="12700">
            <a:solidFill>
              <a:srgbClr val="00B4D8"/>
            </a:solidFill>
            <a:prstDash val="solid"/>
          </a:ln>
        </p:spPr>
      </p:sp>
      <p:sp>
        <p:nvSpPr>
          <p:cNvPr id="12" name="Shape 10"/>
          <p:cNvSpPr/>
          <p:nvPr/>
        </p:nvSpPr>
        <p:spPr>
          <a:xfrm>
            <a:off x="144000" y="2131200"/>
            <a:ext cx="640800" cy="640800"/>
          </a:xfrm>
          <a:prstGeom prst="ellipse">
            <a:avLst/>
          </a:prstGeom>
          <a:solidFill>
            <a:srgbClr val="00B4D8"/>
          </a:solidFill>
          <a:ln w="12700">
            <a:solidFill>
              <a:srgbClr val="00B4D8"/>
            </a:solidFill>
            <a:prstDash val="solid"/>
          </a:ln>
        </p:spPr>
      </p:sp>
      <p:sp>
        <p:nvSpPr>
          <p:cNvPr id="13" name="Text 11"/>
          <p:cNvSpPr/>
          <p:nvPr/>
        </p:nvSpPr>
        <p:spPr>
          <a:xfrm>
            <a:off x="144000" y="21312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4" name="Text 12"/>
          <p:cNvSpPr/>
          <p:nvPr/>
        </p:nvSpPr>
        <p:spPr>
          <a:xfrm>
            <a:off x="1008000" y="20304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Continuer la visite sans interrompre pour ne pas traumatiser l'enfant</a:t>
            </a:r>
            <a:endParaRPr lang="en-US" sz="1350" dirty="0"/>
          </a:p>
        </p:txBody>
      </p:sp>
      <p:sp>
        <p:nvSpPr>
          <p:cNvPr id="15" name="Shape 13"/>
          <p:cNvSpPr/>
          <p:nvPr/>
        </p:nvSpPr>
        <p:spPr>
          <a:xfrm>
            <a:off x="0" y="3153600"/>
            <a:ext cx="12193200" cy="1177200"/>
          </a:xfrm>
          <a:prstGeom prst="rect">
            <a:avLst/>
          </a:prstGeom>
          <a:solidFill>
            <a:srgbClr val="1A2F5E"/>
          </a:solidFill>
          <a:ln w="6350">
            <a:solidFill>
              <a:srgbClr val="FFB703"/>
            </a:solidFill>
            <a:prstDash val="solid"/>
          </a:ln>
        </p:spPr>
      </p:sp>
      <p:sp>
        <p:nvSpPr>
          <p:cNvPr id="16" name="Shape 14"/>
          <p:cNvSpPr/>
          <p:nvPr/>
        </p:nvSpPr>
        <p:spPr>
          <a:xfrm>
            <a:off x="0" y="3153600"/>
            <a:ext cx="72000" cy="1177200"/>
          </a:xfrm>
          <a:prstGeom prst="rect">
            <a:avLst/>
          </a:prstGeom>
          <a:solidFill>
            <a:srgbClr val="FFB703"/>
          </a:solidFill>
          <a:ln w="12700">
            <a:solidFill>
              <a:srgbClr val="FFB703"/>
            </a:solidFill>
            <a:prstDash val="solid"/>
          </a:ln>
        </p:spPr>
      </p:sp>
      <p:sp>
        <p:nvSpPr>
          <p:cNvPr id="17" name="Shape 15"/>
          <p:cNvSpPr/>
          <p:nvPr/>
        </p:nvSpPr>
        <p:spPr>
          <a:xfrm>
            <a:off x="144000" y="3326400"/>
            <a:ext cx="640800" cy="640800"/>
          </a:xfrm>
          <a:prstGeom prst="ellipse">
            <a:avLst/>
          </a:prstGeom>
          <a:solidFill>
            <a:srgbClr val="FFB703"/>
          </a:solidFill>
          <a:ln w="12700">
            <a:solidFill>
              <a:srgbClr val="FFB703"/>
            </a:solidFill>
            <a:prstDash val="solid"/>
          </a:ln>
        </p:spPr>
      </p:sp>
      <p:sp>
        <p:nvSpPr>
          <p:cNvPr id="18" name="Text 16"/>
          <p:cNvSpPr/>
          <p:nvPr/>
        </p:nvSpPr>
        <p:spPr>
          <a:xfrm>
            <a:off x="144000" y="33264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19" name="Text 17"/>
          <p:cNvSpPr/>
          <p:nvPr/>
        </p:nvSpPr>
        <p:spPr>
          <a:xfrm>
            <a:off x="1008000" y="32256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Interrompre la visite immédiatement et procéder aux signalements nécessaires selon le cadre légal</a:t>
            </a:r>
            <a:endParaRPr lang="en-US" sz="1350" dirty="0"/>
          </a:p>
        </p:txBody>
      </p:sp>
      <p:sp>
        <p:nvSpPr>
          <p:cNvPr id="20" name="Shape 18"/>
          <p:cNvSpPr/>
          <p:nvPr/>
        </p:nvSpPr>
        <p:spPr>
          <a:xfrm>
            <a:off x="0" y="4348800"/>
            <a:ext cx="12193200" cy="1177200"/>
          </a:xfrm>
          <a:prstGeom prst="rect">
            <a:avLst/>
          </a:prstGeom>
          <a:solidFill>
            <a:srgbClr val="1A2F5E"/>
          </a:solidFill>
          <a:ln w="6350">
            <a:solidFill>
              <a:srgbClr val="E63946"/>
            </a:solidFill>
            <a:prstDash val="solid"/>
          </a:ln>
        </p:spPr>
      </p:sp>
      <p:sp>
        <p:nvSpPr>
          <p:cNvPr id="21" name="Shape 19"/>
          <p:cNvSpPr/>
          <p:nvPr/>
        </p:nvSpPr>
        <p:spPr>
          <a:xfrm>
            <a:off x="0" y="4348800"/>
            <a:ext cx="72000" cy="1177200"/>
          </a:xfrm>
          <a:prstGeom prst="rect">
            <a:avLst/>
          </a:prstGeom>
          <a:solidFill>
            <a:srgbClr val="E63946"/>
          </a:solidFill>
          <a:ln w="12700">
            <a:solidFill>
              <a:srgbClr val="E63946"/>
            </a:solidFill>
            <a:prstDash val="solid"/>
          </a:ln>
        </p:spPr>
      </p:sp>
      <p:sp>
        <p:nvSpPr>
          <p:cNvPr id="22" name="Shape 20"/>
          <p:cNvSpPr/>
          <p:nvPr/>
        </p:nvSpPr>
        <p:spPr>
          <a:xfrm>
            <a:off x="144000" y="4521600"/>
            <a:ext cx="640800" cy="640800"/>
          </a:xfrm>
          <a:prstGeom prst="ellipse">
            <a:avLst/>
          </a:prstGeom>
          <a:solidFill>
            <a:srgbClr val="E63946"/>
          </a:solidFill>
          <a:ln w="12700">
            <a:solidFill>
              <a:srgbClr val="E63946"/>
            </a:solidFill>
            <a:prstDash val="solid"/>
          </a:ln>
        </p:spPr>
      </p:sp>
      <p:sp>
        <p:nvSpPr>
          <p:cNvPr id="23" name="Text 21"/>
          <p:cNvSpPr/>
          <p:nvPr/>
        </p:nvSpPr>
        <p:spPr>
          <a:xfrm>
            <a:off x="144000" y="45216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24" name="Text 22"/>
          <p:cNvSpPr/>
          <p:nvPr/>
        </p:nvSpPr>
        <p:spPr>
          <a:xfrm>
            <a:off x="1008000" y="44208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Attendre la fin de la visite pour évaluer la situation</a:t>
            </a:r>
            <a:endParaRPr lang="en-US" sz="1350" dirty="0"/>
          </a:p>
        </p:txBody>
      </p:sp>
      <p:sp>
        <p:nvSpPr>
          <p:cNvPr id="25" name="Shape 23"/>
          <p:cNvSpPr/>
          <p:nvPr/>
        </p:nvSpPr>
        <p:spPr>
          <a:xfrm>
            <a:off x="0" y="5544000"/>
            <a:ext cx="12193200" cy="1177200"/>
          </a:xfrm>
          <a:prstGeom prst="rect">
            <a:avLst/>
          </a:prstGeom>
          <a:solidFill>
            <a:srgbClr val="1A2F5E"/>
          </a:solidFill>
          <a:ln w="6350">
            <a:solidFill>
              <a:srgbClr val="06D6A0"/>
            </a:solidFill>
            <a:prstDash val="solid"/>
          </a:ln>
        </p:spPr>
      </p:sp>
      <p:sp>
        <p:nvSpPr>
          <p:cNvPr id="26" name="Shape 24"/>
          <p:cNvSpPr/>
          <p:nvPr/>
        </p:nvSpPr>
        <p:spPr>
          <a:xfrm>
            <a:off x="0" y="5544000"/>
            <a:ext cx="72000" cy="1177200"/>
          </a:xfrm>
          <a:prstGeom prst="rect">
            <a:avLst/>
          </a:prstGeom>
          <a:solidFill>
            <a:srgbClr val="06D6A0"/>
          </a:solidFill>
          <a:ln w="12700">
            <a:solidFill>
              <a:srgbClr val="06D6A0"/>
            </a:solidFill>
            <a:prstDash val="solid"/>
          </a:ln>
        </p:spPr>
      </p:sp>
      <p:sp>
        <p:nvSpPr>
          <p:cNvPr id="27" name="Shape 25"/>
          <p:cNvSpPr/>
          <p:nvPr/>
        </p:nvSpPr>
        <p:spPr>
          <a:xfrm>
            <a:off x="144000" y="5716800"/>
            <a:ext cx="640800" cy="640800"/>
          </a:xfrm>
          <a:prstGeom prst="ellipse">
            <a:avLst/>
          </a:prstGeom>
          <a:solidFill>
            <a:srgbClr val="06D6A0"/>
          </a:solidFill>
          <a:ln w="12700">
            <a:solidFill>
              <a:srgbClr val="06D6A0"/>
            </a:solidFill>
            <a:prstDash val="solid"/>
          </a:ln>
        </p:spPr>
      </p:sp>
      <p:sp>
        <p:nvSpPr>
          <p:cNvPr id="28" name="Text 26"/>
          <p:cNvSpPr/>
          <p:nvPr/>
        </p:nvSpPr>
        <p:spPr>
          <a:xfrm>
            <a:off x="144000" y="5716800"/>
            <a:ext cx="640800" cy="6408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29" name="Text 27"/>
          <p:cNvSpPr/>
          <p:nvPr/>
        </p:nvSpPr>
        <p:spPr>
          <a:xfrm>
            <a:off x="1008000" y="5616000"/>
            <a:ext cx="10980000" cy="103320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Contacter les parents pour expliquer la situation</a:t>
            </a:r>
            <a:endParaRPr lang="en-US" sz="13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111D3C"/>
        </a:solidFill>
      </p:bgPr>
    </p:bg>
    <p:spTree>
      <p:nvGrpSpPr>
        <p:cNvPr id="1" name=""/>
        <p:cNvGrpSpPr/>
        <p:nvPr/>
      </p:nvGrpSpPr>
      <p:grpSpPr>
        <a:xfrm>
          <a:off x="0" y="0"/>
          <a:ext cx="0" cy="0"/>
          <a:chOff x="0" y="0"/>
          <a:chExt cx="0" cy="0"/>
        </a:xfrm>
      </p:grpSpPr>
      <p:sp>
        <p:nvSpPr>
          <p:cNvPr id="2" name="Shape 0"/>
          <p:cNvSpPr/>
          <p:nvPr/>
        </p:nvSpPr>
        <p:spPr>
          <a:xfrm>
            <a:off x="0" y="0"/>
            <a:ext cx="12193200" cy="118800"/>
          </a:xfrm>
          <a:prstGeom prst="rect">
            <a:avLst/>
          </a:prstGeom>
          <a:solidFill>
            <a:srgbClr val="00C897"/>
          </a:solidFill>
          <a:ln w="12700">
            <a:solidFill>
              <a:srgbClr val="00C897"/>
            </a:solidFill>
            <a:prstDash val="solid"/>
          </a:ln>
        </p:spPr>
      </p:sp>
      <p:sp>
        <p:nvSpPr>
          <p:cNvPr id="3" name="Shape 1"/>
          <p:cNvSpPr/>
          <p:nvPr/>
        </p:nvSpPr>
        <p:spPr>
          <a:xfrm>
            <a:off x="0" y="6739200"/>
            <a:ext cx="12193200" cy="118800"/>
          </a:xfrm>
          <a:prstGeom prst="rect">
            <a:avLst/>
          </a:prstGeom>
          <a:solidFill>
            <a:srgbClr val="FFB703"/>
          </a:solidFill>
          <a:ln w="12700">
            <a:solidFill>
              <a:srgbClr val="FFB703"/>
            </a:solidFill>
            <a:prstDash val="solid"/>
          </a:ln>
        </p:spPr>
      </p:sp>
      <p:sp>
        <p:nvSpPr>
          <p:cNvPr id="4" name="Shape 2"/>
          <p:cNvSpPr/>
          <p:nvPr/>
        </p:nvSpPr>
        <p:spPr>
          <a:xfrm>
            <a:off x="0" y="0"/>
            <a:ext cx="201600" cy="6858000"/>
          </a:xfrm>
          <a:prstGeom prst="rect">
            <a:avLst/>
          </a:prstGeom>
          <a:solidFill>
            <a:srgbClr val="00C897"/>
          </a:solidFill>
          <a:ln w="12700">
            <a:solidFill>
              <a:srgbClr val="00C897"/>
            </a:solidFill>
            <a:prstDash val="solid"/>
          </a:ln>
        </p:spPr>
      </p:sp>
      <p:sp>
        <p:nvSpPr>
          <p:cNvPr id="5" name="Shape 3"/>
          <p:cNvSpPr/>
          <p:nvPr/>
        </p:nvSpPr>
        <p:spPr>
          <a:xfrm>
            <a:off x="320400" y="183600"/>
            <a:ext cx="547200" cy="547200"/>
          </a:xfrm>
          <a:prstGeom prst="ellipse">
            <a:avLst/>
          </a:prstGeom>
          <a:solidFill>
            <a:srgbClr val="00C897"/>
          </a:solidFill>
          <a:ln w="12700">
            <a:solidFill>
              <a:srgbClr val="00C897"/>
            </a:solidFill>
            <a:prstDash val="solid"/>
          </a:ln>
        </p:spPr>
      </p:sp>
      <p:sp>
        <p:nvSpPr>
          <p:cNvPr id="6" name="Text 4"/>
          <p:cNvSpPr/>
          <p:nvPr/>
        </p:nvSpPr>
        <p:spPr>
          <a:xfrm>
            <a:off x="320400" y="183600"/>
            <a:ext cx="547200" cy="54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004400" y="237600"/>
            <a:ext cx="5400000" cy="324000"/>
          </a:xfrm>
          <a:prstGeom prst="rect">
            <a:avLst/>
          </a:prstGeom>
          <a:noFill/>
          <a:ln/>
        </p:spPr>
        <p:txBody>
          <a:bodyPr wrap="square" rtlCol="0" anchor="ctr"/>
          <a:lstStyle/>
          <a:p>
            <a:pPr indent="0" marL="0">
              <a:buNone/>
            </a:pPr>
            <a:r>
              <a:rPr lang="en-US" sz="1400" b="1" spc="200" kern="0" dirty="0">
                <a:solidFill>
                  <a:srgbClr val="00C897"/>
                </a:solidFill>
                <a:latin typeface="Calibri" pitchFamily="34" charset="0"/>
                <a:ea typeface="Calibri" pitchFamily="34" charset="-122"/>
                <a:cs typeface="Calibri" pitchFamily="34" charset="-120"/>
              </a:rPr>
              <a:t>BONNE RÉPONSE</a:t>
            </a:r>
            <a:endParaRPr lang="en-US" sz="1400" dirty="0"/>
          </a:p>
        </p:txBody>
      </p:sp>
      <p:sp>
        <p:nvSpPr>
          <p:cNvPr id="8" name="Text 6"/>
          <p:cNvSpPr/>
          <p:nvPr/>
        </p:nvSpPr>
        <p:spPr>
          <a:xfrm>
            <a:off x="10515600" y="237600"/>
            <a:ext cx="1440000" cy="252000"/>
          </a:xfrm>
          <a:prstGeom prst="rect">
            <a:avLst/>
          </a:prstGeom>
          <a:noFill/>
          <a:ln/>
        </p:spPr>
        <p:txBody>
          <a:bodyPr wrap="square" rtlCol="0" anchor="ctr"/>
          <a:lstStyle/>
          <a:p>
            <a:pPr algn="r" indent="0" marL="0">
              <a:buNone/>
            </a:pPr>
            <a:r>
              <a:rPr lang="en-US" sz="1100" dirty="0">
                <a:solidFill>
                  <a:srgbClr val="5A7BA8"/>
                </a:solidFill>
                <a:latin typeface="Calibri" pitchFamily="34" charset="0"/>
                <a:ea typeface="Calibri" pitchFamily="34" charset="-122"/>
                <a:cs typeface="Calibri" pitchFamily="34" charset="-120"/>
              </a:rPr>
              <a:t>Q 69 / 69</a:t>
            </a:r>
            <a:endParaRPr lang="en-US" sz="1100" dirty="0"/>
          </a:p>
        </p:txBody>
      </p:sp>
      <p:sp>
        <p:nvSpPr>
          <p:cNvPr id="9" name="Shape 7"/>
          <p:cNvSpPr/>
          <p:nvPr/>
        </p:nvSpPr>
        <p:spPr>
          <a:xfrm>
            <a:off x="201600" y="720000"/>
            <a:ext cx="11880000" cy="1080000"/>
          </a:xfrm>
          <a:prstGeom prst="rect">
            <a:avLst/>
          </a:prstGeom>
          <a:solidFill>
            <a:srgbClr val="044E3A"/>
          </a:solidFill>
          <a:ln w="9525">
            <a:solidFill>
              <a:srgbClr val="00C897"/>
            </a:solidFill>
            <a:prstDash val="solid"/>
          </a:ln>
        </p:spPr>
      </p:sp>
      <p:sp>
        <p:nvSpPr>
          <p:cNvPr id="10" name="Shape 8"/>
          <p:cNvSpPr/>
          <p:nvPr/>
        </p:nvSpPr>
        <p:spPr>
          <a:xfrm>
            <a:off x="349200" y="900000"/>
            <a:ext cx="640800" cy="640800"/>
          </a:xfrm>
          <a:prstGeom prst="ellipse">
            <a:avLst/>
          </a:prstGeom>
          <a:solidFill>
            <a:srgbClr val="00C897"/>
          </a:solidFill>
          <a:ln w="12700">
            <a:solidFill>
              <a:srgbClr val="00C897"/>
            </a:solidFill>
            <a:prstDash val="solid"/>
          </a:ln>
        </p:spPr>
      </p:sp>
      <p:sp>
        <p:nvSpPr>
          <p:cNvPr id="11" name="Text 9"/>
          <p:cNvSpPr/>
          <p:nvPr/>
        </p:nvSpPr>
        <p:spPr>
          <a:xfrm>
            <a:off x="349200" y="900000"/>
            <a:ext cx="640800" cy="64080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
          <p:cNvSpPr/>
          <p:nvPr/>
        </p:nvSpPr>
        <p:spPr>
          <a:xfrm>
            <a:off x="1116000" y="774000"/>
            <a:ext cx="10800000" cy="9720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Interrompre la visite immédiatement et procéder aux signalements nécessaires selon le cadre légal</a:t>
            </a:r>
            <a:endParaRPr lang="en-US" sz="1700" dirty="0"/>
          </a:p>
        </p:txBody>
      </p:sp>
      <p:sp>
        <p:nvSpPr>
          <p:cNvPr id="13" name="Text 11"/>
          <p:cNvSpPr/>
          <p:nvPr/>
        </p:nvSpPr>
        <p:spPr>
          <a:xfrm>
            <a:off x="349200" y="1944000"/>
            <a:ext cx="2880000" cy="216000"/>
          </a:xfrm>
          <a:prstGeom prst="rect">
            <a:avLst/>
          </a:prstGeom>
          <a:noFill/>
          <a:ln/>
        </p:spPr>
        <p:txBody>
          <a:bodyPr wrap="square" rtlCol="0" anchor="ctr"/>
          <a:lstStyle/>
          <a:p>
            <a:pPr indent="0" marL="0">
              <a:buNone/>
            </a:pPr>
            <a:r>
              <a:rPr lang="en-US" sz="1000" b="1" spc="200" kern="0" dirty="0">
                <a:solidFill>
                  <a:srgbClr val="00C897"/>
                </a:solidFill>
                <a:latin typeface="Calibri" pitchFamily="34" charset="0"/>
                <a:ea typeface="Calibri" pitchFamily="34" charset="-122"/>
                <a:cs typeface="Calibri" pitchFamily="34" charset="-120"/>
              </a:rPr>
              <a:t>EXPLICATION</a:t>
            </a:r>
            <a:endParaRPr lang="en-US" sz="1000" dirty="0"/>
          </a:p>
        </p:txBody>
      </p:sp>
      <p:sp>
        <p:nvSpPr>
          <p:cNvPr id="14" name="Shape 12"/>
          <p:cNvSpPr/>
          <p:nvPr/>
        </p:nvSpPr>
        <p:spPr>
          <a:xfrm>
            <a:off x="201600" y="2232000"/>
            <a:ext cx="11880000" cy="4388400"/>
          </a:xfrm>
          <a:prstGeom prst="rect">
            <a:avLst/>
          </a:prstGeom>
          <a:solidFill>
            <a:srgbClr val="1C2F5A"/>
          </a:solidFill>
          <a:ln w="12700">
            <a:solidFill>
              <a:srgbClr val="1C2F5A"/>
            </a:solidFill>
            <a:prstDash val="solid"/>
          </a:ln>
        </p:spPr>
      </p:sp>
      <p:sp>
        <p:nvSpPr>
          <p:cNvPr id="15" name="Shape 13"/>
          <p:cNvSpPr/>
          <p:nvPr/>
        </p:nvSpPr>
        <p:spPr>
          <a:xfrm>
            <a:off x="201600" y="2232000"/>
            <a:ext cx="54000" cy="4388400"/>
          </a:xfrm>
          <a:prstGeom prst="rect">
            <a:avLst/>
          </a:prstGeom>
          <a:solidFill>
            <a:srgbClr val="FFB703"/>
          </a:solidFill>
          <a:ln w="12700">
            <a:solidFill>
              <a:srgbClr val="FFB703"/>
            </a:solidFill>
            <a:prstDash val="solid"/>
          </a:ln>
        </p:spPr>
      </p:sp>
      <p:sp>
        <p:nvSpPr>
          <p:cNvPr id="16" name="Text 14"/>
          <p:cNvSpPr/>
          <p:nvPr/>
        </p:nvSpPr>
        <p:spPr>
          <a:xfrm>
            <a:off x="396000" y="2304000"/>
            <a:ext cx="11556000" cy="428040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Face à une situation de danger identifiée lors d'une VPT, la HAS recommande d'interrompre immédiatement la visite et de procéder aux signalements nécessaires selon le cadre légal (CRIP, juge).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139</Slides>
  <Notes>139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139</vt:i4>
      </vt:variant>
    </vt:vector>
  </HeadingPairs>
  <TitlesOfParts>
    <vt:vector size="1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2026-04-07T19:46:40Z</dcterms:created>
  <dcterms:modified xsi:type="dcterms:W3CDTF">2026-04-07T19:46:40Z</dcterms:modified>
</cp:coreProperties>
</file>