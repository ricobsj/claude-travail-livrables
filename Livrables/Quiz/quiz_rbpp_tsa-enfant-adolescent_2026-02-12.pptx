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</p:sldIdLst>
  <p:notesMasterIdLst>
    <p:notesMasterId r:id="rId19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notesMaster" Target="notesMasters/notesMaster1.xml"/><Relationship Id="rId192" Type="http://schemas.openxmlformats.org/officeDocument/2006/relationships/presProps" Target="presProps.xml"/><Relationship Id="rId193" Type="http://schemas.openxmlformats.org/officeDocument/2006/relationships/viewProps" Target="viewProps.xml"/><Relationship Id="rId194" Type="http://schemas.openxmlformats.org/officeDocument/2006/relationships/theme" Target="theme/theme1.xml"/><Relationship Id="rId19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20800" cy="685800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547200"/>
            <a:ext cx="2926800" cy="2926800"/>
          </a:xfrm>
          <a:prstGeom prst="ellipse">
            <a:avLst/>
          </a:prstGeom>
          <a:solidFill>
            <a:srgbClr val="00B4D8">
              <a:alpha val="35000"/>
            </a:srgbClr>
          </a:solidFill>
          <a:ln w="1270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4800" y="4572000"/>
            <a:ext cx="2559600" cy="2559600"/>
          </a:xfrm>
          <a:prstGeom prst="ellipse">
            <a:avLst/>
          </a:prstGeom>
          <a:solidFill>
            <a:srgbClr val="FFB703">
              <a:alpha val="30000"/>
            </a:srgbClr>
          </a:solidFill>
          <a:ln w="12700">
            <a:solidFill>
              <a:srgbClr val="FFB70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7200" y="5029200"/>
            <a:ext cx="2012400" cy="2012400"/>
          </a:xfrm>
          <a:prstGeom prst="ellipse">
            <a:avLst/>
          </a:prstGeom>
          <a:solidFill>
            <a:srgbClr val="FFB703">
              <a:alpha val="25000"/>
            </a:srgbClr>
          </a:solidFill>
          <a:ln w="12700">
            <a:solidFill>
              <a:srgbClr val="FFB703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200" y="1098000"/>
            <a:ext cx="5040000" cy="306000"/>
          </a:xfrm>
          <a:prstGeom prst="roundRect">
            <a:avLst>
              <a:gd name="adj" fmla="val 1494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7200" y="1098000"/>
            <a:ext cx="5040000" cy="30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· TSA Enfant et Adolescent — HAS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7200" y="2952000"/>
            <a:ext cx="685800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200" y="1512000"/>
            <a:ext cx="7200000" cy="1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Enfant et Adolescent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7200" y="2664000"/>
            <a:ext cx="7200000" cy="28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de bonnes pratiques — HAS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7200" y="3168000"/>
            <a:ext cx="36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questions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7200" y="3546000"/>
            <a:ext cx="648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professionnel médico-social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7200" y="5760000"/>
            <a:ext cx="172800" cy="172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200" y="5760000"/>
            <a:ext cx="172800" cy="172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7200" y="5760000"/>
            <a:ext cx="172800" cy="172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27200" y="5760000"/>
            <a:ext cx="172800" cy="172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200" y="6192000"/>
            <a:ext cx="720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Recommandations de bonnes pratiques TSA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est préconisée pour évaluer le fonctionnement d'un enfant avec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uniquement médicale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multidimensionnelle et pluriprofessionnelle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par les seuls parents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Auto-évaluation par l'enfant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multidimensionnelle et pluriprofessionnelle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une approche multidimensionnelle, pluriprofessionnelle et régulière, avec des observations partagées entre parents et professionnels.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fréquence doit être réalisée l'évaluation du fonctionnement d'un enfant TSA selon la RBPP HAS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fois au diagnostic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5 ans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Régulièrement, tout au long du parcours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en cas de comportements-problèmes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Régulièrement, tout au long du parcours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doit être régulière et continue pour adapter l'accompagnement à l'évolution de l'enfant.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doit participer aux observations partagées lors de l'évaluation d'un 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médecins spécialistes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professionnels uniquement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et les professionnels conjointement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enseignants exclusivement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parents et les professionnels conjointement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observations partagées entre parents et professionnels sont essentielles : les familles détiennent une connaissance irremplaçable de leur enfant.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principal de l'évaluation du fonctionnement dans la RBPP TSA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un diagnostic médical définitif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l'accompagnement de l'enfant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vers une structure institutionnelle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Prescrire des médicaments adaptés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Personnaliser l'accompagnement de l'enfant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L'évaluation constitue la base essentielle pour personnaliser l'accompagnement de chaque enfant ou adolescent autiste.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 HAS 2026 sur le TSA, à quel moment doit-on commencer les interventions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le diagnostic formel établi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l'âge de 6 ans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les premières interrogations diagnostiques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l'entrée en établissement médico-social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les premières interrogations diagnostiques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de ne pas attendre le diagnostic formel : les interventions doivent démarrer dès les interrogations diagnostiques pour maximiser l'efficacité.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modalité de soutien aux familles est recommandée par la HAS pour les parents d'enfants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des parents des réunions cliniques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et psychoéducation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par les seuls établissements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soutien spécifique n'est préconisé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parentale et psychoéducation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guidance parentale, la psychoéducation, les groupes d'entraide et la pair-aidance sont des modalités recommandées pour soutenir les familles.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pair-aidance dans le cadre de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de soins médicaux spécialisés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soutien par des personnes ayant vécu une expérience similaire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technique d'intervention comportementale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d'évaluation standardisé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soutien par des personnes ayant vécu une expérience similaire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pair-aidance repose sur le soutien apporté par des personnes ayant une expérience similaire (parents d'enfants TSA ou adultes autistes eux-mêmes).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dispositifs de répit pour les familles d'enfants TSA sont-ils recommandés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Non, ils sont contraires au maintien du lien familial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ils sont explicitement recommandés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pour les familles en grande précarité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pour les enfants avec autisme sévère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ils sont explicitement recommandés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dispositifs de répit sont explicitement recommandés pour préserver l'équilibre des familles et leur capacité d'accompagnement sur le long terme.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RBPP TSA 2026, comment les familles doivent-elles être impliquées dans les décisions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sont informées en fin de processus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participent activement à tous les processus de décision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Leur rôle se limite aux soins à domicile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interviennent uniquement lors des réunions annuelles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 participent activement à tous les processus de décision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L'implication active des familles dans tous les processus de décision et d'accompagnement est une recommandation centrale de la HAS.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de la psychoéducation dans le contexte des familles d'enfants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psychologique de l'enfant autiste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information des parents sur le TSA pour mieux comprendre et accompagner leur enfant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Thérapie cognitive pour les parents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spécialisée en milieu scolaire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information des parents sur le TSA pour mieux comprendre et accompagner leur enfant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psychoéducation vise à former et informer les familles sur le TSA, ses manifestations et les stratégies d'accompagnement adaptées.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est recommandée comme base des interventions auprès des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exclusivement médicamenteuses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développementales et comportementales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psychanalytiques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uniquement éducatives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Approches développementales et comportementales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approches développementales et comportementales constituent la base recommandée des interventions, à commencer le plus tôt possible.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Quels domaines sont couverts par les interventions précoces recommandées pour les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la communication verbale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Exclusivement les apprentissages scolaires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Autonomie, communication, habiletés sociales, sensorialité, motricité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comportements-problèmes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Autonomie, communication, habiletés sociales, sensorialité, motricité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interventions précoces doivent couvrir l'autonomie, la communication, les habiletés sociales, la sensorialité et la motricité de manière globale et personnalisée.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CAA (Communication Alternative et Améliorée) dans le contexte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médicament pour améliorer la communication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alternatif à la parole utilisant des outils de communication augmentée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technique d'intervention comportementale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complémentaire au TSA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alternatif à la parole utilisant des outils de communication augmentée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désigne l'ensemble des moyens alternatifs ou complémentaires à la parole : pictogrammes, tableaux de communication, outils numériques, langue des signes adaptée.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statut la RBPP HAS 2026 accorde-t-elle à la CAA dans le projet global de l'enfant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secondaire à envisager en dernier recours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essentiel du projet global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uniquement pour les enfants non verbaux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réservé aux structures spécialisées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essentiel du projet global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désigne la CAA comme 'pilier essentiel du projet global', à proposer systématiquement dès que la communication verbale est limitée.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espaces et la temporalité doivent-ils être adaptés pour les enfants TSA selon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adaptation spécifique n'est nécessaire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selon les besoins sensoriels et cognitifs de chaque enfant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des environnements pour tous les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uniquement pour les autismes sévères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 selon les besoins sensoriels et cognitifs de chaque enfant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L'adaptation environnementale des espaces et de la temporalité aux besoins sensoriels et cognitifs de chaque enfant est recommandée par la HAS.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recommandation HAS concernant la scolarisation des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 systématique vers des classes spécialisées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étroite professionnels-soins-parents et accès aux activités ordinaires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uniquement en établissement médico-social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à domicile exclusive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étroite professionnels-soins-parents et accès aux activités ordinaires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préconise une coordination étroite entre professionnels de l'accompagnement, du soin et les parents, avec un accès favorisé aux activités ordinaires.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soutien est recommandé pour les acteurs scolaires travaillant avec des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soutien spécifique n'est nécessaire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soutien des acteurs scolaires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à des spécialistes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par des AESH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et soutien des acteurs scolaires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et le soutien des acteurs scolaires sont recommandés pour améliorer l'inclusion scolaire des enfants TSA.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place accordent les recommandations HAS 2026 aux activités physiques, sportives et culturelles pour les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Contre-indiquées pour les enfants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Accessoires, non prioritaires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Intégrées au projet personnalisé et encouragées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Réservées aux enfants TSA sans comportements-problèmes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Intégrées au projet personnalisé et encouragées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aux loisirs, à la culture et aux activités physiques/sportives doit être intégré dans les projets personnalisés et activement encouragé.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envisage-t-elle le recours aux outils numériques dans les interventions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déconseillés pour les enfants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autorisés et peuvent inclure la téléexpertise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Réservés uniquement aux adultes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Utilisables uniquement en milieu hospitalier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autorisés et peuvent inclure la téléexpertise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téléexpertise et les outils numériques sont autorisés par la HAS comme modalités complémentaires d'intervention et de coordination.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AESH et quel est son rôle auprès des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Auxiliaire de vie scolaire, accompagnant l'enfant TSA en milieu scolaire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Médecin spécialiste en autisme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Éducateur en établissement médico-social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Conseiller orientation scolaire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Auxiliaire de vie scolaire, accompagnant l'enfant TSA en milieu scolaire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L'AESH (Accompagnant des Élèves en Situation de Handicap) accompagne les enfants TSA en milieu scolaire, favorisant leur inclusion et leur apprentissage.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comorbidités doivent faire l'objet d'une vigilance accrue dans le suivi médical des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les troubles du comportement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Épilepsie, troubles du sommeil, troubles alimentaires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les troubles psychiatriques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les infections courantes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Épilepsie, troubles du sommeil, troubles alimentaires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insiste sur la vigilance aux comorbidités fréquentes : épilepsie, troubles du sommeil et troubles de l'alimentation sont particulièrement à surveiller.</a:t>
            </a:r>
            <a:endParaRPr lang="en-US" sz="1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encadre-t-elle la prescription de psychotropes chez les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Recommandée en première intention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Strictement encadrée, documentée et surveillée régulièrement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Interdite pour les enfants de moins de 12 ans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Laissée à la libre appréciation du médecin traitant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Strictement encadrée, documentée et surveillée régulièrement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prescription de psychotropes est strictement encadrée par la HAS : elle doit être documentée, justifiée cliniquement et faire l'objet d'une surveillance régulière.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niveau de suivi médical est recommandé pour les enfants TSA en soins primaires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en cas de crise ou comportement-problème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régulier pour prévention et prise en charge précoce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Annuel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Délégué entièrement aux spécialistes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régulier pour prévention et prise en charge précoce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régulier en soins primaires est recommandé pour la prévention et la prise en charge précoce des comorbidités.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sensibilisation de tous les professionnels de santé au TSA est-elle recommandée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remplacer les spécialistes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 la détection des comorbidités et éviter les soins inadaptés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établir les diagnostics TSA en soins primaires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réduire les hospitalisations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améliorer la détection des comorbidités et éviter les soins inadaptés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sensibilisation de tous les professionnels de santé vise à améliorer la détection des comorbidités et à garantir des soins adaptés aux spécificités du TSA.</a:t>
            </a:r>
            <a:endParaRPr lang="en-US" sz="1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risque principal d'une prescription non encadrée de psychotropes chez un 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rapide des comportements-problèmes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indésirables importants et masquage des besoins réels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systématique du comportement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risque particulier</a:t>
            </a:r>
            <a:endParaRPr lang="en-US" sz="13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 indésirables importants et masquage des besoins réels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prescription non encadrée de psychotropes peut entraîner des effets indésirables importants et masquer les besoins réels nécessitant d'autres formes d'intervention.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l'enjeu principal de la période de l'adolescence pour les jeunes TSA selon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spontanée des symptômes autistiques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des comorbidités psychiatriques à surveiller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des besoins d'accompagnement spécialisé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direct à l'autonomie complète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des comorbidités psychiatriques à surveiller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L'adolescence est une période de vigilance renforcée en raison de l'augmentation des comorbidités psychiatriques (anxiété, dépression, etc.).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doit-on commencer à préparer la transition vers les structures adultes pour un adolescent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majorité (18 ans)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l'adolescence, bien avant la majorité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à la demande de la famille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comportements-problèmes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l'adolescence, bien avant la majorité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d'anticiper et préparer activement la transition dès l'adolescence, bien avant la majorité, pour assurer la continuité du parcours.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Qu'implique la 'transmission coordonnée des informations' lors de la transition adolescent/adulte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d'un simple courrier médical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structuré de toutes les informations pertinentes entre structures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complète du projet personnalisé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uniquement du diagnostic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structuré de toutes les informations pertinentes entre structures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transmission coordonnée implique le partage structuré de toutes les informations pertinentes (projet personnalisé, évaluations, interventions efficaces) entre les structures d'accueil.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diagnostic de TSA à l'adolescence est-il qualifié d'importance capitale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permet de bénéficier d'allocations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explique des difficultés longtemps incomprises et ouvre l'accès à un accompagnement adapté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d'impact sur le parcours de vie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justifie l'orientation en IME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29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explique des difficultés longtemps incomprises et ouvre l'accès à un accompagnement adapté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à l'adolescence permet d'expliquer des difficultés longtemps incomprises, de réduire la souffrance et d'ouvrir l'accès à un accompagnement réellement adapté.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recommandation la HAS formule-t-elle concernant la vie relationnelle, affective et sexuelle des adolescents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sujet est hors champ de la RBPP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éducation adaptée aux spécificités de chaque adolescent doit être proposée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la vie affective est contre-indiqué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domaine est réservé aux psychologues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éducation adaptée aux spécificités de chaque adolescent doit être proposée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une éducation adaptée aux spécificités de chaque adolescent concernant la vie relationnelle, affective et sexuelle, pour favoriser l'autodétermination.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première étape recommandée face à un comportement-problème chez un 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immédiate de psychotropes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temporaire de l'enfant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médical approfondi pour écarter une cause somatique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à la protection de l'enfance</a:t>
            </a:r>
            <a:endParaRPr lang="en-US" sz="13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médical approfondi pour écarter une cause somatique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à un comportement-problème, la HAS recommande en premier lieu un bilan médical approfondi pour identifier et traiter une éventuelle cause somatique sous-jacente.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l'analyse fonctionnelle dans la gestion des comportements-problèmes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fonction cérébrale par imagerie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antécédents, comportements et conséquences pour comprendre la fonction du comportement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neuropsychologique standardisée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projet personnalisé</a:t>
            </a:r>
            <a:endParaRPr lang="en-US" sz="13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antécédents, comportements et conséquences pour comprendre la fonction du comportement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fonctionnelle identifie les antécédents (déclencheurs), les comportements et leurs conséquences pour comprendre la fonction que remplit le comportement pour l'enfant.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la HAS recommande-t-elle pour les interventions comportementales face aux comportements-problèmes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punitive et restrictive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structurée, fonctionnelle et bientraitante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Exclusivement médicamenteuse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Isolement thérapeutique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structurée, fonctionnelle et bientraitante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une approche structurée combinant bilan médical, analyse fonctionnelle et interventions comportementales dans le respect de la bientraitance.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PBS (Positive Behavior Support) s'inscrit-il dans les recommandations HAS sur les comportements-problèmes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explicitement déconseillé par la HAS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s'inscrit dans l'approche comportementale positive recommandée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réservé aux adultes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n'est pas mentionné dans les RBPP HAS</a:t>
            </a:r>
            <a:endParaRPr lang="en-US" sz="13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s'inscrit dans l'approche comportementale positive recommandée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PBS (Soutien Comportemental Positif) s'inscrit pleinement dans l'approche comportementale positive et fonctionnelle recommandée par la HAS pour la gestion des comportements-problèmes.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ne doit-on pas recourir immédiatement aux psychotropes face à un comportement-problème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psychotropes sont interdits pour les enfants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peuvent masquer les besoins réels et n'agissent pas sur la cause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trop coûteux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ne sont disponibles qu'en milieu hospitalier</a:t>
            </a:r>
            <a:endParaRPr lang="en-US" sz="13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peuvent masquer les besoins réels et n'agissent pas sur la cause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psychotropes ne traitent pas la cause des comportements-problèmes. Leur usage non encadré peut masquer des besoins réels et exposer l'enfant à des effets indésirables importants.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'Profound Autism' tel que défini dans la RBPP HAS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autisme diagnostiqué avant l'âge de 2 ans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profil TSA avec des besoins d'accompagnement spécifiques, intensifs, constants et globaux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TSA associé à une déficience intellectuelle légère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autisme survenant à l'âge adulte</a:t>
            </a:r>
            <a:endParaRPr lang="en-US" sz="13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profil TSA avec des besoins d'accompagnement spécifiques, intensifs, constants et globaux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'Profound Autism' désigne un profil TSA caractérisé par des besoins d'accompagnement spécifiques, intensifs, constants et globaux, nécessitant des ressources adaptées.</a:t>
            </a:r>
            <a:endParaRPr lang="en-US" sz="1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adaptation des ressources est recommandée pour les personnes avec autisme sévère (Profound Autism)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ressources que pour tout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ressources spécifiquement adaptées à l'intensité et à la globalité des besoins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institutionnalisation systématique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suivi uniquement médical</a:t>
            </a:r>
            <a:endParaRPr lang="en-US" sz="13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ressources spécifiquement adaptées à l'intensité et à la globalité des besoins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reconnaît la spécificité des besoins liés au Profound Autism et recommande d'adapter les ressources à leur intensité et leur globalité.</a:t>
            </a:r>
            <a:endParaRPr lang="en-US" sz="1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la formation des équipes Protection de l'enfance au TSA est-elle recommandée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établir des diagnostics TSA dans ces équipes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éviter les signalements injustifiés liés aux comportements autistiques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remplacer les équipes spécialisées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gérer les comportements-problèmes</a:t>
            </a:r>
            <a:endParaRPr lang="en-US" sz="13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éviter les signalements injustifiés liés aux comportements autistiques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la formation des équipes Protection de l'enfance pour éviter que des comportements autistiques soient interprétés à tort comme des signaux de maltraitance.</a:t>
            </a:r>
            <a:endParaRPr 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coordination est recommandée entre le secteur médico-social et la Protection de l'enfance pour les 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coordination n'est nécessaire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coordination interinstitutionnelle en réseau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via le médecin traitant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transfert complet de responsabilité</a:t>
            </a:r>
            <a:endParaRPr lang="en-US" sz="13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coordination interinstitutionnelle en réseau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une coordination interinstitutionnelle en réseau entre le secteur médico-social, la Protection de l'enfance et les autres acteurs du parcours.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qui s'appliquent les recommandations de formation au TSA formulées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aux psychologues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toutes les formations initiales et continues des professionnels concernés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Exclusivement aux médecins spécialistes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seuls professionnels en ESSMS</a:t>
            </a:r>
            <a:endParaRPr lang="en-US" sz="13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toutes les formations initiales et continues des professionnels concernés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recommandations s'appliquent à toutes les formations initiales et continues, quel que soit le secteur ou la profession concernée.</a:t>
            </a:r>
            <a:endParaRPr lang="en-US" sz="14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outil est recommandé par la HAS comme levier de formation continue pour les professionnels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certification obligatoire annuelle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des pratiques professionnelles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conférences nationales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L'auto-formation en ligne</a:t>
            </a:r>
            <a:endParaRPr lang="en-US" sz="13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des pratiques professionnelles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des pratiques professionnelles est identifiée par la HAS comme un levier essentiel de formation continue et de bientraitance.</a:t>
            </a:r>
            <a:endParaRPr lang="en-US" sz="14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approche de la formation est préconisée par la RBPP HAS 2026 sur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disciplinaire cloisonnée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multidisciplinaire et coordonnée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individuelle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uniquement théorique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multidisciplinaire et coordonnée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préconise une approche multidisciplinaire et coordonnée de la formation, reflétant la complexité et la globalité des besoins des personnes avec TSA.</a:t>
            </a:r>
            <a:endParaRPr lang="en-US" sz="14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de Santé Spécialisé en Maladies Somatiques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ou Service Social ou Médico-Social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Spécialisée en Soins Médicaux Spéciaux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Sanitaire et Social de Moyenne Structure</a:t>
            </a:r>
            <a:endParaRPr lang="en-US" sz="13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 ou Service Social ou Médico-Social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ESSMS signifie Établissement ou Service Social ou Médico-Social : foyers de vie, FAM, MAS, SAVS, SAMSAH, IME, ESAT, etc.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projet personnalisé d'accompagnement dans le contexte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de soins médicaux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co-construit avec la personne et sa famille définissant les objectifs et modalités d'accompagnement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bilan neuropsychologique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administrative d'orientation</a:t>
            </a:r>
            <a:endParaRPr lang="en-US" sz="13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co-construit avec la personne et sa famille définissant les objectifs et modalités d'accompagnement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est un document co-construit avec la personne accompagnée et sa famille, définissant les objectifs, les modalités et les ressources de l'accompagnement.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principe de l'autodétermination dans le contexte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vivre sans aide professionnelle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de la personne à faire des choix éclairés concernant sa propre vie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L'autonomie financière complète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L'indépendance résidentielle</a:t>
            </a:r>
            <a:endParaRPr lang="en-US" sz="13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de la personne à faire des choix éclairés concernant sa propre vie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désigne le droit fondamental de la personne, même avec TSA, à faire des choix éclairés concernant sa propre vie, ses activités et son 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un FAM et une MAS dans le secteur médico-social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différence significative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FAM accueille des personnes nécessitant des soins médicaux constants, la MAS accueille des personnes avec des soins moins lourds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 accueille des personnes avec handicap moteur, le FAM des personnes avec handicap psychique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FAM dépend de la MDPH, la MAS de l'ARS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MAS accueille des personnes avec handicap moteur, le FAM des personnes avec handicap psychique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Schématiquement : la MAS (Maison d'Accueil Spécialisée) accueille des personnes nécessitant des soins constants, le FAM (Foyer d'Accueil Médicalisé) des personnes nécessitant des soins importants mais moins lourds.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qu'une analyse fonctionnelle du comportement et à quoi sert-elle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administrative du fonctionnement de l'établissement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d'évaluation des comportements pour identifier leur fonction et proposer des interventions ciblées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compétences professionnelles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de la qualité de l'établissement</a:t>
            </a:r>
            <a:endParaRPr lang="en-US" sz="13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d'évaluation des comportements pour identifier leur fonction et proposer des interventions ciblées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fonctionnelle identifie les antécédents et conséquences des comportements pour en comprendre la fonction et proposer des interventions adaptées et bientraitantes.</a:t>
            </a:r>
            <a:endParaRPr lang="en-US" sz="1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signifie l'inclusion scolaire pour un enfant TSA selon la RBPP HAS 2026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obligatoire dans une classe ordinaire sans soutien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l'école ordinaire avec les aménagements et soutiens nécessaires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Éducation exclusivement en établissement spécialisé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à domicile supervisé</a:t>
            </a:r>
            <a:endParaRPr lang="en-US" sz="135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l'école ordinaire avec les aménagements et soutiens nécessaires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L'inclusion scolaire implique l'accès à l'école ordinaire avec les aménagements pédagogiques, les soutiens humains (AESH) et les adaptations nécessaires aux besoins de l'enfant.</a:t>
            </a:r>
            <a:endParaRPr lang="en-US" sz="14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l'MDPH dans le parcours d'un 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Prescrire les médicaments psychotropes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besoins et attribuer les droits et orientations nécessaires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établissements médico-sociaux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les professionnels au TSA</a:t>
            </a:r>
            <a:endParaRPr lang="en-US" sz="13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les besoins et attribuer les droits et orientations nécessaires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MDPH (Maison Départementale des Personnes Handicapées) évalue les besoins des enfants TSA et attribue les droits (AEEH, AVS, orientation vers ESSMS, etc.).</a:t>
            </a:r>
            <a:endParaRPr lang="en-US" sz="14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sens du 'parcours de vie' mentionné dans le titre de la RBPP HAS 2026 sur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soins hospitaliers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dimensions de la vie de la personne (santé, éducation, social, loisirs, affectif)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trajectoire diagnostique de l'autisme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L'orientation institutionnelle successives</a:t>
            </a:r>
            <a:endParaRPr lang="en-US" sz="13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dimensions de la vie de la personne (santé, éducation, social, loisirs, affectif)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de vie désigne l'ensemble des dimensions de la vie de la personne (santé, éducation, social, loisirs, vie affective), opposé à la vision uniquement centrée sur les soins.</a:t>
            </a:r>
            <a:endParaRPr lang="en-US" sz="14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définit-elle le rôle des groupes d'entraide pour les familles d'enfants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sont déconseillés car non encadrés médicalement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constituent une modalité de soutien reconnue et recommandée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Réservés aux familles en crise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Optionnels et non prioritaires</a:t>
            </a:r>
            <a:endParaRPr lang="en-US" sz="13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constituent une modalité de soutien reconnue et recommandée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d'entraide constituent une modalité de soutien aux familles reconnue et recommandée par la HAS, complémentaire des accompagnements professionnels.</a:t>
            </a:r>
            <a:endParaRPr lang="en-US" sz="14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l'éducation thérapeutique dans le contexte de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scolaire adapté pour enfants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structuré permettant aux parents de mieux comprendre et gérer la maladie/handicap au quotidien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thérapie comportementale intensive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traitement médical par l'éducation</a:t>
            </a:r>
            <a:endParaRPr lang="en-US" sz="13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structuré permettant aux parents de mieux comprendre et gérer la maladie/handicap au quotidien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L'éducation thérapeutique est un programme structuré qui aide les familles à mieux comprendre le TSA et à développer des compétences pour accompagner leur enfant au quotidien.</a:t>
            </a:r>
            <a:endParaRPr lang="en-US" sz="14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prévalence est évalué le TSA en France selon les données récentes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1000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100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36 (données internationales récentes)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500</a:t>
            </a:r>
            <a:endParaRPr lang="en-US" sz="13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enfant sur 36 (données internationales récentes)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internationales récentes (CDC 2023) estiment la prévalence du TSA à environ 1 enfant sur 36, bien que les chiffres varient selon les méthodologies de détection.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sex-ratio habituel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Autant de filles que de garçons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4 garçons pour 1 fille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de filles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différence de genre significative</a:t>
            </a:r>
            <a:endParaRPr lang="en-US" sz="13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4 garçons pour 1 fille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TSA touche environ 4 garçons pour 1 fille, bien que ce ratio soit questionné : les filles sont souvent diagnostiquées plus tardivement car leur profil diffère.</a:t>
            </a:r>
            <a:endParaRPr lang="en-US" sz="14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'camouflage' ou 'masking' fréquemment observé chez les filles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d'aller à l'école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imiter les comportements sociaux attendus, masquant les difficultés autistiques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agressifs cachés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communication</a:t>
            </a:r>
            <a:endParaRPr lang="en-US" sz="13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à imiter les comportements sociaux attendus, masquant les difficultés autistiques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'camouflage' désigne la capacité de certaines filles TSA à imiter les comportements sociaux attendus, masquant leurs difficultés autistiques et retardant souvent le diagnostic.</a:t>
            </a:r>
            <a:endParaRPr lang="en-US" sz="14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l'hypersensibilité sensorielle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hypersensibilité aux infections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exacerbée à certains stimuli sensoriels (sons, lumières, textures, odeurs)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allergie sensorielle médicale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sensibilité émotionnelle excessive</a:t>
            </a:r>
            <a:endParaRPr lang="en-US" sz="13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réponse exacerbée à certains stimuli sensoriels (sons, lumières, textures, odeurs)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L'hypersensibilité sensorielle désigne une réponse exacerbée à certains stimuli (sons forts, lumières vives, textures, odeurs) qui peut être source de grande détresse pour les personnes TSA.</a:t>
            </a:r>
            <a:endParaRPr lang="en-US" sz="14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'rigidité cognitive' caractéristique du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rigidité physique des membres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difficulté à s'adapter aux changements et aux transitions, avec besoin de routines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refus de communiquer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hyperactivité importante</a:t>
            </a:r>
            <a:endParaRPr lang="en-US" sz="13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difficulté à s'adapter aux changements et aux transitions, avec besoin de routines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rigidité cognitive se manifeste par une forte adhérence aux routines, une difficulté à s'adapter aux changements inattendus et une pensée parfois très catégorielle.</a:t>
            </a:r>
            <a:endParaRPr lang="en-US" sz="1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définir les 'intérêts restreints et intenses'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toute activité nouvelle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d'intérêt focalisés sur un domaine précis avec une intensité et une connaissance souvent remarquables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 de l'attention sans objet précis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Comportements répétitifs moteurs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d'intérêt focalisés sur un domaine précis avec une intensité et une connaissance souvent remarquables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intérêts restreints et intenses désignent des centres d'intérêt très focalisés sur un domaine précis, avec souvent une maîtrise et une passion remarquables, pouvant devenir des leviers pédagogiques.</a:t>
            </a:r>
            <a:endParaRPr lang="en-US" sz="1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les 'stéréotypies' dans le contexte du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erreurs de langage répétées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mouvements ou comportements répétitifs (balancement, flapping) souvent à fonction autorégulatrice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hallucinations visuelles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comportements d'imitation</a:t>
            </a:r>
            <a:endParaRPr lang="en-US" sz="13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mouvements ou comportements répétitifs (balancement, flapping) souvent à fonction autorégulatrice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stéréotypies sont des mouvements ou comportements répétitifs (balancement, agitation des mains, etc.) qui ont souvent une fonction autorégulatrice face au stress ou à la surcharge sensorielle.</a:t>
            </a:r>
            <a:endParaRPr lang="en-US" sz="14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l'alexithymie fréquemment associée au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Incapacité à lire l'alphabet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identifier et exprimer ses propres émotions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de communiquer par écrit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 de la mémoire des visages</a:t>
            </a:r>
            <a:endParaRPr lang="en-US" sz="13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à identifier et exprimer ses propres émotions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L'alexithymie désigne la difficulté à identifier, différencier et exprimer ses propres émotions, fréquemment rencontrée dans le TSA et source de difficultés relationnelles.</a:t>
            </a:r>
            <a:endParaRPr lang="en-US" sz="14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théorie de l'esprit (ToM) et pourquoi est-elle importante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théorie philosophique sans lien avec le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comprendre que les autres ont des pensées et croyances différentes des siennes, souvent difficile dans le TSA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diagnostic du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thérapie cognitive pour les TSA</a:t>
            </a:r>
            <a:endParaRPr lang="en-US" sz="13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à comprendre que les autres ont des pensées et croyances différentes des siennes, souvent difficile dans le TSA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théorie de l'esprit (ToM) est la capacité à attribuer des états mentaux aux autres. Les difficultés dans ce domaine expliquent certains défis dans les interactions sociales des personnes TSA.</a:t>
            </a:r>
            <a:endParaRPr lang="en-US" sz="14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'déficience intellectuelle associée' au TSA et quelle proportion de personnes TSA est concernée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TSA ont une déficience intellectuelle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30 à 40% des personnes TSA ont une déficience intellectuelle associée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personne TSA n'a de déficience intellectuelle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déficience intellectuelle est systématique dans l'autisme sévère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30 à 40% des personnes TSA ont une déficience intellectuelle associée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 30 à 40% des personnes TSA ont une déficience intellectuelle associée. Le TSA sans déficience intellectuelle (anciennement Asperger) représente la majorité des cas.</a:t>
            </a:r>
            <a:endParaRPr 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ESSMS doit-il organiser l'accueil d'un nouvel enfant TSA selon les recommandations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même protocole d'accueil que tout autre résident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période d'adaptation individualisée, une évaluation initiale pluriprofessionnelle et une rencontre avec la famille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priorité par une consultation psychiatrique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 bilan médical complet en hospitalisation</a:t>
            </a:r>
            <a:endParaRPr lang="en-US" sz="13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période d'adaptation individualisée, une évaluation initiale pluriprofessionnelle et une rencontre avec la famille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L'accueil doit être individualisé, avec une période d'adaptation, une évaluation pluriprofessionnelle initiale et une rencontre approfondie avec la famille pour recueillir leurs connaissances de l'enfant.</a:t>
            </a:r>
            <a:endParaRPr lang="en-US" sz="14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durée maximale recommandée pour un projet personnalisé avant réévaluation en ESSMS pour un enfant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ans sans réévaluation nécessaire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réévalué régulièrement selon l'évolution de l'enfant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mois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mois strictement</a:t>
            </a:r>
            <a:endParaRPr lang="en-US" sz="13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réévalué régulièrement selon l'évolution de l'enfant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personnalisé doit être réévalué régulièrement selon l'évolution des besoins et du fonctionnement de l'enfant, sans délai fixe mais de manière continue et documentée.</a:t>
            </a:r>
            <a:endParaRPr lang="en-US" sz="14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ESSMS peut-il soutenir la communication d'un enfant TSA non verbal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insistant sur la communication verbale pour l'encourager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proposant des outils de CAA adaptés : pictogrammes, PECS, outils numériques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lui apprenant la langue des signes française standard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attendant le développement spontané du langage</a:t>
            </a:r>
            <a:endParaRPr lang="en-US" sz="13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proposant des outils de CAA adaptés : pictogrammes, PECS, outils numériques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 enfant TSA non verbal, l'ESSMS doit proposer des outils de CAA adaptés : systèmes PECS, tableaux de pictogrammes, communication par échange d'images, applications numériques.</a:t>
            </a:r>
            <a:endParaRPr lang="en-US" sz="14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PECS (Picture Exchange Communication System)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de rémunération pour les familles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de communication par échange d'images pour les personnes à communication verbale limitée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logiciel de gestion des projets personnalisés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d'éducation scolaire spécialisé</a:t>
            </a:r>
            <a:endParaRPr lang="en-US" sz="13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de communication par échange d'images pour les personnes à communication verbale limitée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PECS est un système de communication par échange d'images, permettant aux personnes avec communication verbale limitée d'exprimer leurs besoins et désirs via des pictogrammes.</a:t>
            </a:r>
            <a:endParaRPr lang="en-US" sz="14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les professionnels d'un ESSMS doivent-ils documenter les comportements-problèmes d'un résident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note informelle dans le dossier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documentation structurée incluant les antécédents, la nature du comportement, les conséquences et les interventions réalisées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lors des réunions d'équipe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déclaration systématique aux autorités</a:t>
            </a:r>
            <a:endParaRPr lang="en-US" sz="13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une documentation structurée incluant les antécédents, la nature du comportement, les conséquences et les interventions réalisées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documentation structurée des comportements-problèmes (antécédents, comportement, conséquences, interventions) est essentielle pour l'analyse fonctionnelle et le suivi de l'efficacité des interventions.</a:t>
            </a:r>
            <a:endParaRPr lang="en-US" sz="14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du référent TSA dans un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l'équipe pluridisciplinaire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la personne ressource interne sur le TSA, coordonner les interventions et soutenir les collègues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les diagnostics TSA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administrativement les dossiers</a:t>
            </a:r>
            <a:endParaRPr lang="en-US" sz="13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Être la personne ressource interne sur le TSA, coordonner les interventions et soutenir les collègues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référent TSA dans un ESSMS est la personne ressource interne : il/elle coordonne les interventions, soutient les collègues sur les aspects spécifiques du TSA et assure le lien avec les familles.</a:t>
            </a:r>
            <a:endParaRPr lang="en-US" sz="14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aborde-t-elle les droits de l'enfant TSA à l'autodétermination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considère que l'enfant TSA ne peut pas exprimer de préférences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reconnaît le droit de l'enfant à faire des choix et à être impliqué dans les décisions le concernant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délègue entièrement aux parents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traite pas de ce sujet</a:t>
            </a:r>
            <a:endParaRPr lang="en-US" sz="135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69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reconnaît le droit de l'enfant à faire des choix et à être impliqué dans les décisions le concernant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reconnaît le droit de l'enfant TSA à l'autodétermination : ses préférences doivent être recueillies, respectées et intégrées dans les décisions, quel que soit son niveau de communication.</a:t>
            </a:r>
            <a:endParaRPr lang="en-US" sz="14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consentement éclairé dans le contexte de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document administratif signé par les parents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compréhensible donnée à la personne et/ou sa famille permettant un choix libre sur les interventions proposées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obligation uniquement pour les actes médicaux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accord verbal suffit</a:t>
            </a:r>
            <a:endParaRPr lang="en-US" sz="13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compréhensible donnée à la personne et/ou sa famille permettant un choix libre sur les interventions proposées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éclairé implique une information accessible et compréhensible pour la personne et/ou sa famille, permettant un choix libre et éclairé sur les interventions proposées.</a:t>
            </a:r>
            <a:endParaRPr lang="en-US" sz="14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prévoit la loi de 2005 pour les droits des enfants TSA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hébergement obligatoire en institution spécialisée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à la compensation du handicap et l'obligation d'un projet personnalisé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gratuité des soins médicaux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L'orientation systématique en IME</a:t>
            </a:r>
            <a:endParaRPr lang="en-US" sz="13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à la compensation du handicap et l'obligation d'un projet personnalisé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du 11 février 2005 pour l'égalité des droits et des chances garantit le droit à la compensation du handicap et impose l'élaboration d'un projet personnalisé dans les ESSMS.</a:t>
            </a:r>
            <a:endParaRPr lang="en-US" sz="14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principe éthique fonde la recommandation d'implication des familles dans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de précaution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de respect de la personne et de son entourage comme partenaires de soin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d'économie des ressources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de standardisation des pratiques</a:t>
            </a:r>
            <a:endParaRPr lang="en-US" sz="13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de respect de la personne et de son entourage comme partenaires de soin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L'implication des familles repose sur le principe éthique de respect de la personne et de son entourage : les proches sont des partenaires indispensables, détenteurs d'une connaissance irremplaçable.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bientraitance dans le contexte de l'accompagnement TSA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de maltraitance physique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culture institutionnelle positive visant le bien-être, le respect de la dignité et le développement des potentialités de chaque personne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satisfaction des besoins primaires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L'aimabilité des professionnels</a:t>
            </a:r>
            <a:endParaRPr lang="en-US" sz="13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culture institutionnelle positive visant le bien-être, le respect de la dignité et le développement des potentialités de chaque personne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bientraitance est une culture institutionnelle qui vise le bien-être, le respect de la dignité, l'autodétermination et le développement des potentialités de chaque personne accompagnée.</a:t>
            </a:r>
            <a:endParaRPr lang="en-US" sz="14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remplace la RBPP HAS 2026 sur le TSA chez l'enfant et l'adolescent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circulaire ministérielle de 2010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recommandation HAS de 2012 sur les interventions éducatives et thérapeutiques pour l'autisme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 autisme 2018-2022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recommandation de l'OMS</a:t>
            </a:r>
            <a:endParaRPr lang="en-US" sz="13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recommandation HAS de 2012 sur les interventions éducatives et thérapeutiques pour l'autisme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2026 est une actualisation de la recommandation HAS publiée en 2012 sur les interventions éducatives et thérapeutiques pour l'autisme chez l'enfant et l'adolescent.</a:t>
            </a:r>
            <a:endParaRPr lang="en-US" sz="14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organisme a validé la RBPP HAS 2026 sur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Ministère de la Santé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Commission en charge du Social et du Médico-Social (CSMS) de la HAS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L'ANESM (dissoute)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CNSA</a:t>
            </a:r>
            <a:endParaRPr lang="en-US" sz="13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Commission en charge du Social et du Médico-Social (CSMS) de la HAS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 été validée par la Commission en charge du Social et du Médico-Social (CSMS) de la HAS, le 8 janvier 2026, avant publication le 12 février 2026.</a:t>
            </a:r>
            <a:endParaRPr lang="en-US" sz="14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niveau de preuve généralement associé aux RBPP HAS pour le secteur médico-social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Essais cliniques randomisés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d'experts, études observationnelles et bonnes pratiques professionnelles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Méta-analyses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Études en double aveugle</a:t>
            </a:r>
            <a:endParaRPr lang="en-US" sz="13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d'experts, études observationnelles et bonnes pratiques professionnelles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du secteur médico-social reposent sur un niveau de preuve combinant consensus d'experts, études observationnelles et bonnes pratiques professionnelles, en raison de la spécificité du champ.</a:t>
            </a:r>
            <a:endParaRPr lang="en-US" sz="14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cadre national la RBPP HAS 2026 sur le TSA s'inscrit-elle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Cancer 2025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Nationale pour l'Autisme au sein des Troubles du Neurodéveloppement (TND)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maternité 2024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nationale de prévention du handicap</a:t>
            </a:r>
            <a:endParaRPr lang="en-US" sz="13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Nationale pour l'Autisme au sein des Troubles du Neurodéveloppement (TND)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s'inscrit dans la Stratégie Nationale pour l'Autisme au sein des Troubles du Neurodéveloppement (TND), initiée en 2018, visant à améliorer le parcours de vie des personnes autistes.</a:t>
            </a:r>
            <a:endParaRPr lang="en-US" sz="14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TND (Troubles du Neurodéveloppement) et comment le TSA s'y inscrit-il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et TND sont synonymes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TND regroupe plusieurs troubles dont le TSA, le TDAH, la DI et les troubles des apprentissages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TND désigne uniquement les troubles moteurs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TSA est distinct du TND</a:t>
            </a:r>
            <a:endParaRPr lang="en-US" sz="13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TND regroupe plusieurs troubles dont le TSA, le TDAH, la DI et les troubles des apprentissages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TND regroupe le TSA, le TDAH, la Déficience Intellectuelle (DI), les troubles des apprentissages (dyslexie, etc.) et les troubles développementaux de la coordination (TDC).</a:t>
            </a:r>
            <a:endParaRPr lang="en-US" sz="14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du 'repérage précoce' du TSA recommandé par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un diagnostic formel avant 1 an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 plus tôt possible les signes de TSA pour initier des interventions précoces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Orienter rapidement vers un établissement médico-social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Prescrire précocement des médicaments</a:t>
            </a:r>
            <a:endParaRPr lang="en-US" sz="13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79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 plus tôt possible les signes de TSA pour initier des interventions précoces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repérage précoce vise à détecter le plus tôt possible les signes de TSA (idéalement avant 2 ans) pour initier des interventions précoces qui améliorent significativement le pronostic.</a:t>
            </a:r>
            <a:endParaRPr lang="en-US" sz="14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les 'signes d'alerte précoce' du TSA à rechercher dans les 18-24 premiers mois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moteur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pointage proto-déclaratif, absence de jeu symbolique, peu de sourire social, perte de compétences acquises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Pleurs excessifs et troubles du sommeil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alimentaire et troubles digestifs</a:t>
            </a:r>
            <a:endParaRPr lang="en-US" sz="13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pointage proto-déclaratif, absence de jeu symbolique, peu de sourire social, perte de compétences acquises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signes d'alerte précoces incluent l'absence de pointage proto-déclaratif, l'absence de jeu symbolique, peu de sourire social et toute perte de compétences acquises (régression).</a:t>
            </a:r>
            <a:endParaRPr lang="en-US" sz="14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professionnel coordonne généralement le bilan diagnostique TSA selon les recommandations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médecin généraliste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médecin spécialiste coordinateur (pédopsychiatre ou neuropédiatre) dans le cadre d'une équipe pluridisciplinaire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L'éducateur référent de l'ESSMS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directeur de l'établissement</a:t>
            </a:r>
            <a:endParaRPr lang="en-US" sz="13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médecin spécialiste coordinateur (pédopsychiatre ou neuropédiatre) dans le cadre d'une équipe pluridisciplinaire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diagnostique TSA est coordonné par un médecin spécialiste (pédopsychiatre ou neuropédiatre) dans le cadre d'une équipe pluridisciplinaire incluant psychologue, orthophoniste, etc.</a:t>
            </a:r>
            <a:endParaRPr lang="en-US" sz="14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l'ADI-R et pourquoi est-il utilisé dans le diagnostic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traitement médicamenteux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entretien semi-structuré avec les parents pour recueillir l'histoire développementale et les comportements TSA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neurologique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de gestion des établissements</a:t>
            </a:r>
            <a:endParaRPr lang="en-US" sz="13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entretien semi-structuré avec les parents pour recueillir l'histoire développementale et les comportements TSA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L'ADI-R (Autism Diagnostic Interview-Revised) est un entretien semi-structuré avec les parents permettant de recueillir des informations sur l'histoire développementale et les comportements caractéristiques du TSA.</a:t>
            </a:r>
            <a:endParaRPr lang="en-US" sz="14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rôle de l'orthophoniste dans l'accompagnement d'un enfant TSA en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traiter les troubles de la déglutition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et accompagner la communication, le langage, la pragmatique et parfois l'alimentation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comportements-problèmes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Coordonner le projet personnalisé</a:t>
            </a:r>
            <a:endParaRPr lang="en-US" sz="135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et accompagner la communication, le langage, la pragmatique et parfois l'alimentation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L'orthophoniste évalue et accompagne la communication (verbale et non verbale), le langage, la pragmatique (usage social du langage) et peut intervenir sur les troubles de l'alimentation associés au TSA.</a:t>
            </a:r>
            <a:endParaRPr lang="en-US" sz="14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s'appelle la technique d'intervention précoce intensive recommandée dans les TSA, développée par Lovaas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(Positive Behavior Support)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(Applied Behavior Analysis)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TEACCH (Treatment and Education of Autistic and Related Communication Handicapped Children)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Snoezelen</a:t>
            </a:r>
            <a:endParaRPr lang="en-US" sz="135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(Applied Behavior Analysis)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L'ABA (Analyse Appliquée du Comportement), développée par Ivar Lovaas, est une méthode d'intervention comportementale intensive, parmi les mieux documentées dans les TSA chez l'enfant jeune.</a:t>
            </a:r>
            <a:endParaRPr lang="en-US" sz="14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méthode TEACCH et quelle est sa spécificité dans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méthode médicamenteuse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structuré axé sur l'enseignement structuré et l'organisation de l'environnement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technique de relaxation sensorielle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de formation des parents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85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technique de relaxation sensorielle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TEACCH est un programme d'accompagnement basé sur l'enseignement structuré : organisation visuelle de l'environnement, emploi du temps visuel, travail en zones définies, pour favoriser l'autonomie.</a:t>
            </a:r>
            <a:endParaRPr lang="en-US" sz="14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cadre légal les RBPP HAS s'appliquent-elles aux ESSMS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optionnelles sans valeur légale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opposables dans le cadre des évaluations externes imposées par le code de l'action sociale et des familles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dans le cadre d'une certification volontaire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directrices sans opposabilité</a:t>
            </a:r>
            <a:endParaRPr lang="en-US" sz="135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86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Référentiels opposables dans le cadre des évaluations externes imposées par le code de l'action sociale et des familles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RBPP HAS constituent des référentiels utilisés dans les évaluations des ESSMS imposées par le code de l'action sociale et des familles (CASF), notamment dans le cadre de l'évaluation HAS.</a:t>
            </a:r>
            <a:endParaRPr lang="en-US" sz="14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'parcours coordonné' pour un enfant TSA selon la HAS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itinéraire géographique entre établissements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organisation cohérente des interventions et des acteurs autour de la personne, sans rupture de prise en charge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programme de soins hospitaliers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scolaire individualisé</a:t>
            </a:r>
            <a:endParaRPr lang="en-US" sz="13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87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organisation cohérente des interventions et des acteurs autour de la personne, sans rupture de prise en charge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coordonné désigne l'organisation cohérente et fluide des interventions et des acteurs (santé, médico-social, éducation) autour de l'enfant, pour éviter les ruptures de prise en charge.</a:t>
            </a:r>
            <a:endParaRPr lang="en-US" sz="14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différence entre intervention 'précoce' et intervention 'intensive'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synonymes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Précoce signifie démarrer tôt dans le développement, intensive signifie un nombre d'heures élevé d'interventions par semaine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Intensive signifie médicamenteuse, précoce signifie éducative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différence clinique</a:t>
            </a:r>
            <a:endParaRPr lang="en-US" sz="135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88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Précoce signifie démarrer tôt dans le développement, intensive signifie un nombre d'heures élevé d'interventions par semaine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Précoce signifie initier l'intervention tôt dans le développement (idéalement avant 3 ans), intensive désigne un volume horaire élevé (souvent ≥20h/semaine), ces deux dimensions peuvent se combiner.</a:t>
            </a:r>
            <a:endParaRPr lang="en-US" sz="14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positionne-t-elle les approches psychanalytiques dans l'accompagnement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les recommande en première intention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les retient pas parmi les approches fondées sur des preuves pour le TSA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les recommande uniquement pour les adultes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les considère équivalentes aux approches comportementales</a:t>
            </a:r>
            <a:endParaRPr lang="en-US" sz="135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89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les retient pas parmi les approches fondées sur des preuves pour le TSA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HAS, conformément à ses recommandations depuis 2012 et confirmées en 2026, ne retient pas les approches psychanalytiques parmi les approches fondées sur des preuves pour l'accompagnement du TSA.</a:t>
            </a:r>
            <a:endParaRPr lang="en-US" sz="14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GEM (Groupe d'Entraide Mutuelle) et quel lien avec les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de soins médicaux spécialisés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médico-social de soutien par les pairs permettant à des personnes handicapées de s'entraider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groupe thérapeutique encadré par des médecins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association de parents uniquement</a:t>
            </a:r>
            <a:endParaRPr lang="en-US" sz="135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90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dispositif médico-social de soutien par les pairs permettant à des personnes handicapées de s'entraider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GEM est un dispositif médico-social de soutien par les pairs, permettant à des personnes en situation de handicap (dont TSA) de s'entraider, développer des activités sociales et rompre l'isolement.</a:t>
            </a:r>
            <a:endParaRPr lang="en-US" sz="14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l'objectif du Plan National Maladies Rares en lien avec les comorbidités du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Financer la recherche sur les maladies orphelines uniquement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 diagnostic et l'accompagnement des maladies rares pouvant être associées au TSA (syndromes génétiques)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Interdire la prescription de psychotropes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RBPP HAS</a:t>
            </a:r>
            <a:endParaRPr lang="en-US" sz="135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91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 diagnostic et l'accompagnement des maladies rares pouvant être associées au TSA (syndromes génétiques)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TSA sont associés à des syndromes génétiques rares (X fragile, tubérosclérose, syndrome d'Angelman). Le Plan National Maladies Rares vise à améliorer leur diagnostic et accompagnement.</a:t>
            </a:r>
            <a:endParaRPr lang="en-US" sz="14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l'évaluation ADOS-2 dans le cadre diagnostique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questionnaire parental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d'observation standardisé des comportements sociaux et de communication permettant d'appuyer le diagnostic TSA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de QI pour enfants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bilan neurologique</a:t>
            </a:r>
            <a:endParaRPr lang="en-US" sz="13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92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outil d'observation standardisé des comportements sociaux et de communication permettant d'appuyer le diagnostic TSA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L'ADOS-2 (Autism Diagnostic Observation Schedule) est un outil d'observation standardisé des comportements sociaux et de communication, constituant l'un des outils de référence dans le diagnostic TSA.</a:t>
            </a:r>
            <a:endParaRPr lang="en-US" sz="14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est la définition du 'trouble du comportement' ou 'comportement-problème' dans le TSA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comportement différent de la norme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comportement qui met en danger la personne ou autrui, ou qui entrave significativement son intégration et son développement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comportement non verbal uniquement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comportement survenant uniquement en établissement</a:t>
            </a:r>
            <a:endParaRPr lang="en-US" sz="13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93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comportement qui met en danger la personne ou autrui, ou qui entrave significativement son intégration et son développement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comportement-problème est un comportement qui met en danger la personne elle-même ou autrui, ou qui entrave significativement son intégration sociale, son développement ou sa qualité de vie.</a:t>
            </a:r>
            <a:endParaRPr lang="en-US" sz="14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5600" y="201600"/>
            <a:ext cx="1022400" cy="10224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5600" y="201600"/>
            <a:ext cx="1022400" cy="273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5600" y="475200"/>
            <a:ext cx="1022400" cy="7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80000" y="183600"/>
            <a:ext cx="1980000" cy="255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600" y="183600"/>
            <a:ext cx="10440000" cy="157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la RBPP HAS 2026 recommande-t-elle de traiter la douleur chez un enfant TSA non communicant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65600" y="1864800"/>
            <a:ext cx="11862000" cy="288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19584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1958400"/>
            <a:ext cx="72000" cy="117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4000" y="2131200"/>
            <a:ext cx="640800" cy="6408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4000" y="21312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8000" y="20304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 même évaluation standard qu'un enfant sans TSA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0" y="31536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153600"/>
            <a:ext cx="72000" cy="11772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000" y="3326400"/>
            <a:ext cx="640800" cy="6408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000" y="33264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8000" y="32256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 outils d'évaluation adaptés aux personnes avec difficultés de communication (grilles comportementales)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0" y="43488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E63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348800"/>
            <a:ext cx="72000" cy="117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000" y="4521600"/>
            <a:ext cx="640800" cy="6408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4000" y="45216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8000" y="44208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 basant uniquement sur l'observation des parents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5544000"/>
            <a:ext cx="12193200" cy="1177200"/>
          </a:xfrm>
          <a:prstGeom prst="rect">
            <a:avLst/>
          </a:prstGeom>
          <a:solidFill>
            <a:srgbClr val="1A2F5E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544000"/>
            <a:ext cx="72000" cy="117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4000" y="5716800"/>
            <a:ext cx="640800" cy="6408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4000" y="57168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08000" y="5616000"/>
            <a:ext cx="10980000" cy="103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prescription préventive systématique d'antalgiques</a:t>
            </a:r>
            <a:endParaRPr lang="en-US" sz="135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11D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3200" cy="1188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39200"/>
            <a:ext cx="12193200" cy="1188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600" cy="6858000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400" y="183600"/>
            <a:ext cx="547200" cy="5472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400" y="183600"/>
            <a:ext cx="547200" cy="54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4400" y="237600"/>
            <a:ext cx="5400000" cy="3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REPONSE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0" y="237600"/>
            <a:ext cx="1440000" cy="25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94 / 94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600" y="720000"/>
            <a:ext cx="11880000" cy="1080000"/>
          </a:xfrm>
          <a:prstGeom prst="rect">
            <a:avLst/>
          </a:prstGeom>
          <a:solidFill>
            <a:srgbClr val="044E3A"/>
          </a:solidFill>
          <a:ln w="9525">
            <a:solidFill>
              <a:srgbClr val="00C89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9200" y="900000"/>
            <a:ext cx="640800" cy="64080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200" y="900000"/>
            <a:ext cx="640800" cy="64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6000" y="774000"/>
            <a:ext cx="10800000" cy="9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 outils d'évaluation adaptés aux personnes avec difficultés de communication (grilles comportementales)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9200" y="1944000"/>
            <a:ext cx="288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8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1600" y="2232000"/>
            <a:ext cx="11880000" cy="4388400"/>
          </a:xfrm>
          <a:prstGeom prst="rect">
            <a:avLst/>
          </a:prstGeom>
          <a:solidFill>
            <a:srgbClr val="1C2F5A"/>
          </a:solidFill>
          <a:ln w="12700">
            <a:solidFill>
              <a:srgbClr val="1C2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600" y="2232000"/>
            <a:ext cx="54000" cy="438840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6000" y="2304000"/>
            <a:ext cx="11556000" cy="428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recommande des outils d'évaluation de la douleur adaptés aux personnes avec difficultés de communication, comme les grilles comportementales (DESS, FLACC adaptée), pour ne pas méconnaître la douleur.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189</Slides>
  <Notes>189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189</vt:i4>
      </vt:variant>
    </vt:vector>
  </HeadingPairs>
  <TitlesOfParts>
    <vt:vector size="19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2026-04-07T19:46:35Z</dcterms:created>
  <dcterms:modified xsi:type="dcterms:W3CDTF">2026-04-07T19:46:35Z</dcterms:modified>
</cp:coreProperties>
</file>