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</p:sldIdLst>
  <p:notesMasterIdLst>
    <p:notesMasterId r:id="rId20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notesMaster" Target="notesMasters/notesMaster1.xml"/><Relationship Id="rId203" Type="http://schemas.openxmlformats.org/officeDocument/2006/relationships/presProps" Target="presProps.xml"/><Relationship Id="rId204" Type="http://schemas.openxmlformats.org/officeDocument/2006/relationships/viewProps" Target="viewProps.xml"/><Relationship Id="rId205" Type="http://schemas.openxmlformats.org/officeDocument/2006/relationships/theme" Target="theme/theme1.xml"/><Relationship Id="rId2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Q1. Que signifie le sigle PPA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Projet Personnalisé d'Accompagnement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Plan Programmé d'Activités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Protocole Personnalisé d'Aide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Projet Pédagogique Adapté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PPA = Projet Personnalisé d'Accompagnement.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Q2. Que signifie le sigle DUI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Dossier Unique d'Information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Dossier Usager Informatisé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Document Universel d'Intervention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Données d'Usage Internes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DUI = Dossier Usager Informatisé.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Q3. Quelle loi fonde le droit au projet personnalisé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Loi 2002-2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Loi 2005-102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Loi HPST 2009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Loi 2015-1776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 loi 2002-2 rénovant l'action sociale et médico-sociale fonde la personnalisation de l'accompagnement.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Q4. Le PPA est avant tout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Un formulaire administratif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Une démarche dynamique et participative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Un document figé annuel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Une obligation comptable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insiste : le PPA est un processus dynamique et participatif, pas un simple document.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Q5. Dans le PPA, la personne accompagnée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Un destinataire passif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Co-auteure de son projet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Informée après coup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Représentée uniquement par sa famille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 co-construction place la personne comme actrice/co-auteure de son projet.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Q6. L'autodétermination consiste à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Décider à la place de la personne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Permettre à la personne d'agir sur sa propre vie et ses choix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Limiter les choix pour la sécurité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Déléguer au représentant légal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Autodétermination = capacité d'agir sur sa propre vie ; le guide vise à la développer.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Q7. Quel est l'organe émetteur de ce guide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ANESM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HAS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CNSA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ARS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est publié par la HAS (qui a intégré les missions de l'ex-ANESM).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Q8. La date de publication du guide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24 juin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12 mai 2025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1 janvier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2 août 2026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Publication le 24 juin 2026 (validation 12 mai 2026).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Q9. Le numérique, dans le PPA,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Une fin en soi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 moyen au service de la personnalisation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Optionnel et secondaire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Réservé à la direction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DUI est un MOYEN ; la finalité reste la personnalisation centrée sur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Q10. Le guide s'adresse notamment à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Uniquement les médecins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Gouvernance, professionnels ESSMS, éditeurs DUI, acteurs du numérique en santé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Uniquement les familles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Uniquement les ARS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Public large : directions, professionnels, éditeurs DUI, acteurs nationaux du numérique en santé.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Q11. La première étape d'élaboration du PPA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Fixer le budget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Recueillir les attentes et besoins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Choisir le logiciel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Archiver l'ancien projet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On part des attentes et besoins exprimés par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Q12. Un objectif de PPA doit être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Vague et général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Réaliste et évaluable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Décidé sans la personne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Permanent et non révisable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Objectifs réalistes, atteignables et évaluables.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Q13. L'actualisation du PPA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Inutile une fois signé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Régulière et en fonction de l'évolution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Tous les 5 ans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À la seule initiative de la direction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PPA s'actualise régulièrement et selon l'évolution de la situation.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Q14. La RBPP socle du projet personnalisé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« Les attentes de la personne et le projet personnalisé »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« Bientraitance »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« Qualité de vie en MAS-FAM 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« Conduites à risque »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RBPP HAS/ANESM « Les attentes de la personne et le projet personnalisé ».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Q15. La co-construction implique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La personne (et son représentant légal le cas échéant) et l'équipe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Uniquement l'équipe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Uniquement la famille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Uniquement le référent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Co-construction avec la personne, son entourage/représentant et les professionnels.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Q16. Le consentement de la personne au PPA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Facultatif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Recherché et tracé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Présumé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Donné par l'établissement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recueil et la traçabilité du consentement sont des bonnes pratiques.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Q17. Un PPA centré sur la personne privilégie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Le vocabulaire administratif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Une écriture compréhensible et respectueuse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Le jargon médical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Les abréviations internes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Écriture centrée sur la personne, accessible et respectueuse.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Q18. Les moyens du PPA désignent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Les ressources et actions mobilisées pour atteindre les objectifs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Le budget de l'établissement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Le matériel informatique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Les effectifs RH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Moyens = ressources/actions au service des objectifs.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Q19. Le PPA articule attentes, besoins, objectifs et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Sanctions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Moyens et échéances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Tarifs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Effectifs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 logique : attentes/besoins → objectifs → moyens → échéances → évaluation.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Q20. La participation de la personne se mesure notamment par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Sa signature uniquement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Sa contribution effective aux choix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Sa présence passive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L'avis de la famille seule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Participation = contribution réelle aux décisions, pas seulement une signature.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Q21. La structuration des données du PPA vise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À complexifier la saisie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Une harmonisation facilitant partage et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À restreindre l'accès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À supprimer le texte libre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Structuration harmonisée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Q22. L'interopérabilité du DUI permet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D'isoler les données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L'échange de données entre systèmes/acteurs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De ralentir les parcours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D'éviter tout partage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Interopérabilité = capacité des systèmes à échanger des données.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Q23. La traçabilité des versions du PPA sert à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Encombrer le dossier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Suivre l'évolution et garantir la fiabilité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Masquer les changements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Réduire les droits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Tracer les versions documente l'évolution du projet et fiabilise l'information.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Q24. Le bon principe d'accès aux données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Tout le monde voit tout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Accès gradué selon le besoin d'en connaître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Accès réservé à la direction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Accès public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Habilitations selon le besoin d'en connaître (minimisation).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Q25. Les données du PPA relèvent souvent de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Données anodines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Données de santé sensibles (art. 9 RGPD)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Données publiques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Données commerciales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Données sensibles → protection renforcée (art. 9 RGPD).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Q26. L'hébergement des données de santé doit être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Libre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Certifié HDS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Sur clé USB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Sur messagerie personnelle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Hébergeur de Données de Santé (HDS) certifié.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Q27. La qualité de saisie dans le DUI conditionne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Rien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La fiabilité et l'utilité de l'information partagée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Uniquement l'esthétique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 budget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Une saisie fiable conditionne l'utilité de l'information pour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Q28. La structuration ne doit pas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Faciliter le partage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Standardiser au point d'effacer la parole singulière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Tracer les versions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Sécuriser l'accès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Vigilance : ne pas réduire le projet à des « cases » au détriment du projet réel.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Q29. Le DUI facilite la coordination car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Il cloisonne l'information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Il rend l'information utile accessible au bon professionnel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Il supprime les échanges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Il remplace l'équipe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Information disponible au bon professionnel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Q30. La minimisation des données signifie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Collecter le maximum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Ne traiter que les données nécessaires à la finalité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Supprimer toutes les données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Anonymiser systématiquement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Principe RGPD de minimisation : seules les données nécessaires.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Q31. La formation des professionnels porte sur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L'outil DUI uniquement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La démarche PPA ET l'outil DUI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Le droit du travail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La comptabilité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Double montée en compétences : démarche PPA et usage du DUI.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Q32. Une posture éthique implique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De décider pour la personne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De respecter ses choix et sa parole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D'ignorer le consentement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De standardiser le projet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Éthique : respect des choix, du consentement et de la parole.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Q33. L'écriture professionnelle du PPA doit être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Stigmatisante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Factuelle, respectueuse et centrée sur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Anonyme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Exclusivement médicale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Écriture factuelle, non stigmatisante, centrée sur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Q34. Un usage raisonné du numérique signifie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Tout informatiser sans réflexion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Mobiliser l'outil au service de la relation, pas l'inverse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Supprimer les échanges humains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Réserver l'outil à la direction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numérique soutient la relation, il ne la remplace pas.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Q35. La conduite du changement vise à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Imposer l'outil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Accompagner les équipes vers de nouvelles pratiques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Réduire la formation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Éviter l'évaluation</a:t>
            </a:r>
            <a:endParaRPr lang="en-US" sz="1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Accompagner les équipes (formation, sens, soutien).</a:t>
            </a:r>
            <a:endParaRPr lang="en-US" sz="16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Q36. Une perspective d'évolution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Le cloisonnement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L'harmonisation nationale et l'interopérabilité accrue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La suppression du PPA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 retour au papier exclusif</a:t>
            </a:r>
            <a:endParaRPr lang="en-US" sz="16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Perspectives : harmonisation et interopérabilité.</a:t>
            </a:r>
            <a:endParaRPr lang="en-US" sz="16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Q37. Le PPA structuré dans le DUI est un atout pour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Rien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L'évaluation HAS (preuves) et SERAFIN-PH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Réduire les droits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Augmenter les tarifs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PPA tracé fournit des preuves pour l'évaluation et s'articule avec SERAFIN-PH.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Q38. Le PPA s'articule avec le numérique en santé via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L'isolement des données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L'interopérabilité et les référentiels nationaux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La messagerie personnelle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 papier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Articulation avec les référentiels et l'écosystème du numérique en santé.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Q39. L'objectif final du PPA reste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Remplir le logiciel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La qualité de l'accompagnement centré sur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Satisfaire l'éditeur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Réduire les coûts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Finalité : qualité de l'accompagnement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Q40. Le rôle de l'éditeur DUI est de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Définir le projet de la personne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Aligner la structuration de l'outil sur le guide HAS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Remplacer les professionnels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Décider des objectifs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L'éditeur outille ; il aligne la structuration sur les recommandations.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Q41. Le PPA doit être révisé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Jamais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À échéances définies et lors d'évolutions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Tous les 10 ans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Sur demande de l'ARS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Révision à échéances et lors d'évolutions de la situation.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Q42. Le représentant légal intervient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Toujours à la place de la personne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En appui, sans effacer l'expression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Jamais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Uniquement pour signer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appuie sans se substituer à l'expression de la personne quand elle est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Q43. La finalité du partage d'informations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La surveillance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La continuité et la sécurité de l'accompagnement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La publicité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La réduction d'effectifs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Partage au service de la continuité et de la sécurité du parcours.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Q44. Un item structuré commun permet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De diverger entre structures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La comparabilité et l'interopérabilité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De masquer l'information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D'augmenter la saisie libre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Items communs → comparabilité et interopérabilité.</a:t>
            </a:r>
            <a:endParaRPr lang="en-US" sz="16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Q45. La durée de conservation des données doit être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Illimitée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Définie et proportionnée à la finalité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Décidée par l'éditeur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Nulle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Durées définies et proportionnées (RGPD).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Q46. L'accès au PPA par la personne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Interdit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 droit (information et accès)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Soumis à paiement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Réservé à la famille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 personne a droit à l'information et à l'accès à son projet.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Q47. Le consentement au partage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Présumé global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Éclairé et tracé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Donné par l'établissement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Inutile</a:t>
            </a:r>
            <a:endParaRPr lang="en-US" sz="16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Consentement éclairé et tracé pour le partage.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Q48. La sécurité du DUI repose notamment sur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Des mots de passe partagés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L'authentification et la gestion des habilitations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L'absence de contrôle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 papier</a:t>
            </a:r>
            <a:endParaRPr lang="en-US" sz="16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Authentification forte et habilitations gérées.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Q49. Le PPA est piloté par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L'éditeur du logiciel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L'équipe avec la personne, sous responsabilité de l'ESSMS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L'ARS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La CNSA</a:t>
            </a:r>
            <a:endParaRPr lang="en-US" sz="16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L'ESSMS et l'équipe pilotent, avec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Q50. Une bonne pratique de saisie est :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Le copier-coller massif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Une information à jour, datée et fiable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Les abréviations privées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Le texte illisible</a:t>
            </a:r>
            <a:endParaRPr lang="en-US" sz="16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Information à jour, datée, fiable et compréhensible.</a:t>
            </a:r>
            <a:endParaRPr lang="en-US" sz="16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Q51. Concernant la structuration dans le DUI,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Q52. Concernant le respect du RGPD,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Q53. Concernant la formation des professionnels,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Q54. Concernant l'évaluation et l'actualisation,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Q55. Concernant la coordination des parcours,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Q56. Concernant l'écriture centrée sur la personne, quelle affirmation est correcte (cas 7)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Q57. Concernant la co-construction du PPA,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Q58. Concernant l'autodétermination,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Q59. Concernant la structuration dans le DUI,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Q60. Concernant le respect du RGPD,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Q61. Concernant la formation des professionnels,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Q62. Concernant l'évaluation et l'actualisation,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Q63. Concernant la coordination des parcours,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Q64. Concernant l'écriture centrée sur la personne, quelle affirmation est correcte (cas 8)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Q65. Concernant la co-construction du PPA,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Q66. Concernant l'autodétermination,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Q67. Concernant la structuration dans le DUI,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Q68. Concernant le respect du RGPD,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Q69. Concernant la formation des professionnels,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Q70. Concernant l'évaluation et l'actualisation,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Q71. Concernant la coordination des parcours,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Q72. Concernant l'écriture centrée sur la personne, quelle affirmation est correcte (cas 9)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Q73. Concernant la co-construction du PPA,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Q74. Concernant l'autodétermination,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Q75. Concernant la structuration dans le DUI,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Q76. Concernant le respect du RGPD,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Q77. Concernant la formation des professionnels,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Q78. Concernant l'évaluation et l'actualisation,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Q79. Concernant la coordination des parcours,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Q80. Concernant l'écriture centrée sur la personne, quelle affirmation est correcte (cas 10)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Q81. Concernant la co-construction du PPA,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Q82. Concernant l'autodétermination,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Q83. Concernant la structuration dans le DUI,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Q84. Concernant le respect du RGPD,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Q85. Concernant la formation des professionnels,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Q86. Concernant l'évaluation et l'actualisation,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Q87. Concernant la coordination des parcours,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Q88. Concernant l'écriture centrée sur la personne, quelle affirmation est correcte (cas 11)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Q89. Concernant la co-construction du PPA,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Q90. Concernant l'autodétermination,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Q91. Concernant la structuration dans le DUI,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Q92. Concernant le respect du RGPD,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Q93. Concernant la formation des professionnels,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monter en compétence sur la démarche et l'outil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monter en compétence sur la démarche et l'outil.</a:t>
            </a:r>
            <a:endParaRPr lang="en-US" sz="16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Q94. Concernant l'évaluation et l'actualisation,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réviser le projet selon l'évolution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réviser le projet selon l'évolution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Q95. Concernant la coordination des parcours,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rendre l'information utile accessible au bon moment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rendre l'information utile accessible au bon moment.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Q96. Concernant l'écriture centrée sur la personne, quelle affirmation est correcte (cas 12)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rédiger de façon factuelle, claire et non stigmatisante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rédiger de façon factuelle, claire et non stigmatisante.</a:t>
            </a:r>
            <a:endParaRPr lang="en-US" sz="16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Q97. Concernant la co-construction du PPA, quelle affirmation est correcte (cas 13)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associer la personne à chaque étape de décision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associer la personne à chaque étape de décision.</a:t>
            </a:r>
            <a:endParaRPr lang="en-US" sz="16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Q98. Concernant l'autodétermination, quelle affirmation est correcte (cas 13)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soutenir les choix et le pouvoir d'agir de la personne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soutenir les choix et le pouvoir d'agir de la personne.</a:t>
            </a:r>
            <a:endParaRPr lang="en-US" sz="16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Q99. Concernant la structuration dans le DUI, quelle affirmation est correcte (cas 13)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harmoniser les données pour le partage et la coordination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harmoniser les données pour le partage et la coordination.</a:t>
            </a:r>
            <a:endParaRPr lang="en-US" sz="16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16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Q100. Concernant le respect du RGPD, quelle affirmation est correcte (cas 13) 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A. Elle est secondaire dans le guide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B. Bonne pratique : minimiser, sécuriser et tracer les données sensibles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C. Elle ne concerne pas les ESSMS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D. Elle relève uniquement de l'éditeur</a:t>
            </a:r>
            <a:endParaRPr lang="en-US" sz="16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FF99"/>
                </a:solidFill>
              </a:rPr>
              <a:t>✅ Réponse : 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166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Le guide HAS retient comme bonne pratique : minimiser, sécuriser et tracer les données sensibles.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200</Slides>
  <Notes>200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2026-06-27T12:49:07Z</dcterms:created>
  <dcterms:modified xsi:type="dcterms:W3CDTF">2026-06-27T12:49:07Z</dcterms:modified>
</cp:coreProperties>
</file>