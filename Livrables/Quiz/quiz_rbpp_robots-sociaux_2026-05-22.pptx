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</p:sldIdLst>
  <p:notesMasterIdLst>
    <p:notesMasterId r:id="rId20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notesMaster" Target="notesMasters/notesMaster1.xml"/><Relationship Id="rId204" Type="http://schemas.openxmlformats.org/officeDocument/2006/relationships/presProps" Target="presProps.xml"/><Relationship Id="rId205" Type="http://schemas.openxmlformats.org/officeDocument/2006/relationships/viewProps" Target="viewProps.xml"/><Relationship Id="rId206" Type="http://schemas.openxmlformats.org/officeDocument/2006/relationships/theme" Target="theme/theme1.xml"/><Relationship Id="rId2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14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HAS — 100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dits « sociaux » — Rapport d'analyse prospective HAS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cadres et équipes du secteur médico-social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2026-05-22  ·  Source : HAS, publication 19/05/2026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terminologie la HAS retient-elle volontairement dans son rapport 2026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« Robots sociaux 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« Robots dits sociaux 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« Robots compagnons 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« Robots conversationnels 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1/100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« Robots dits sociaux 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considère que les relations sociales sont strictement humaines et préfère l'expression « robots dits sociaux ».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1/100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HAS définit-elle un robot dit social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programme conversationnel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IA générative dédiée à la santé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machine autonome conçue pour interagir avec les humains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assistant vocal médical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2/100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machine autonome conçue pour interagir avec les humains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autonomes capables d'interactions verbales et non verbales avec les humains.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2/100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catégorie appartiennent les robots dits sociaux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Robots industriels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Robots de service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Robots militaires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Robots agricoles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3/100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Robots de service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font partie des robots de service, par opposition aux robots industriels.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3/100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pays est historiquement à l'origine des robots dits sociaux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États-Unis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Allemagne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Japon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Corée du Sud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4/100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Japon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sont quasiment nés au Japon ; la Chine rattrape avec 60 % de la conception actuelle.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4/100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du marché mondial la Chine représente-t-elle aujourd'hui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20 %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40 %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60 %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80 %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5/100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60 %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rapport World Robotics 2025 de la Fédération internationale de robotique.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5/100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formes principales de robots dits sociaux la HAS distingue-t-elle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6/100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Anthropomorphes, animaloïdes et formes abstraites.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6/100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appelle-t-on un robot imitant l'apparence humaine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Animaloïde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Anthropomorphe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Abstrait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Humanoïde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7/100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Anthropomorphe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anthropomorphes ou humanoïdes imitent l'apparence humaine.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7/100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l'exemple emblématique du robot animaloïde thérapeutique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Aibo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Pepper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8/100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Paro, le phoque thérapeutique, est l'exemple le plus connu en thérapeutique.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8/100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entreprise a lancé le chien robot Aibo en 1999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Honda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Sony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Toshiba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Panasonic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9/100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Sony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 est le chien robot lancé par Sony en 1999.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9/100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Paro est-il remboursé par l'Assurance maladie en France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Oui, totalement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partiellement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en EHPAD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10/100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 ne figure pas dans la liste des produits remboursés par l'Assurance maladie française.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10/100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technologie sous-tend principalement les robots dits sociaux modernes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Algorithmes simples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Modèles de langage (LLM) et modèles multimodaux (LMM)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Réseaux neuronaux convolutifs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Capteurs mécaniques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11/100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Modèles de langage (LLM) et modèles multimodaux (LMM)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modernes utilisent des LLM et LMM pour interagir en langage naturel.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11/100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méthode « Magicien d'Oz » (Wizard of Oz)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test de fiabilité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certification HAS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protocole où le robot paraît autonome alors qu'il est contrôlé à distance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méthode de maintenance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12/100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protocole où le robot paraît autonome alors qu'il est contrôlé à distance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permettant d'évaluer des comportements complexes avant implémentation autonome.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12/100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France, les robots dits sociaux sont principalement utilisés dans quels champs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Cardiologie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Pédiatrie et gériatrie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Chirurgie et oncologie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Maternité et urgences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13/100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Pédiatrie et gériatrie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L'usage en France est principalement circonscrit aux champs pédiatriques et gériatriques.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13/100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quelle pathologie les robots gériatriques sont-ils majoritairement utilisés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AVC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Maladie d'Alzheimer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Diabète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Insuffisance rénale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14/100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Maladie d'Alzheimer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Majoritairement utilisés pour la stimulation cognitive des personnes atteintes de troubles cognitifs, dont Alzheimer.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14/100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bénéfice les robots dits sociaux apportent-ils aux personnes avec TSA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Amélioration de la motricité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Amélioration de la communication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Réduction des douleurs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Amélioration du sommeil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15/100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Amélioration de la communication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documentés sur l'amélioration de la communication chez les personnes avec TSA.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15/100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soutien les robots apportent-ils en gériatrie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Diagnostic médical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Soutien émotionnel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Prescription médicamenteuse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Chirurgie assistée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16/100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Soutien émotionnel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émotionnel et régulation des troubles comportementaux.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16/100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aujourd'hui un robot capable d'assister une personne handicapée pour TOUTES les tâches du quotidien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Oui, déjà en service en EHPAD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en phase de commercialisation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Non, pas encore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en Asie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17/100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Non, pas encore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(encore) de robot capable d'assister une personne handicapée pour toutes les tâches du quotidien.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17/100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principale limite des évaluations actuelles des robots dits sociaux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Trop d'évaluations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Échantillons restreints et protocoles hétérogènes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Absence d'évaluation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Coût des évaluations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18/100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Échantillons restreints et protocoles hétérogènes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revues systématiques pointent des échantillons restreints et des protocoles hétérogènes.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18/100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évaluations actuelles sont souvent centrées sur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impacts éthiques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impacts humains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performance technique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coûts globaux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19/100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performance technique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évaluations sont souvent centrées sur la performance technique plutôt que sur les impacts humains, sociaux, organisationnels ou éthiques.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19/100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fonction d'automatisation les robots d'assistance peuvent-ils assurer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Prescription médicamenteuse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Diagnostic médical autonome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Collecte automatisée de paramètres vitaux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Décision d'hospitalisation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20/100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Collecte automatisée de paramètres vitaux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d'assistance peuvent automatiser la collecte de paramètres vitaux et de signaux d'alerte.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20/100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risques les robots peuvent-ils détecter automatiquement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Cancers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Risques de chute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Allergies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Infections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21/100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Risques de chute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peuvent surveiller les risques de chute pour déclencher une alerte.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21/100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robot soutient le maintien du lien social à distance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Robot anthropomorphe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Robot animaloïde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Robot de téléprésence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Robot industriel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22/100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Robot de téléprésence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de téléprésence permettent des interactions à distance, par exemple entre élèves malades et leur classe.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22/100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population peut bénéficier d'un soutien contre la solitude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personnes âgées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Uniquement les personnes avec TSA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Personnes âgées isolées, personnes avec TSA, personnes marginalisées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les enfants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23/100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Personnes âgées isolées, personnes avec TSA, personnes marginalisées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âgées isolées, TSA, marginalisées — tous concernés par la lutte contre l'isolement.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23/100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peuvent-ils reconnaître les émotions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certains modèles le proposent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la joie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la tristesse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24/100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certains modèles le proposent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robots reconnaissent les émotions, créant un environnement plus empathique.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24/100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doit guider l'usage des robots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Substitution à l'humain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Complémentarité avec les interventions humaines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Remplacement progressif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Économie maximale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25/100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Complémentarité avec les interventions humaines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doivent être utilisés en complément, jamais en substitution des interventions humaines.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25/100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contexte Paro est-il utilisé thérapeutiquement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Soins quotidiens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Soins très douloureux nécessitant forte mobilisation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Diagnostic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Chirurgie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26/100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Soins très douloureux nécessitant forte mobilisation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 joue un rôle apaisant lors de soins très douloureux nécessitant une forte mobilisation.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26/100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l'enjeu d'évaluation rappelé par la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Tout évaluer techniquement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Objectiver l'utilité au-delà du besoin clinique strict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Refuser toute évaluation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Réserver l'évaluation aux industriels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27/100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Objectiver l'utilité au-delà du besoin clinique strict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 peut ne pas répondre à un besoin clinique mais être utile pour la personne et/ou les professionnels — il faut pouvoir l'objectiver.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27/100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peut alimenter un robot d'assistance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dossier patient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dossier de suivi intelligent pour ajuster l'accompagnement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dossier de l'assurance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compte personnel de 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28/100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dossier de suivi intelligent pour ajuster l'accompagnement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de suivi intelligent permettant aux professionnels d'ajuster plus rapidement l'accompagnement.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28/100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recueil d'observations sur les habitudes peut-il alimenter un projet personnalisé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Oui, exclusivement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mais cela pose des questions éthiques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Non, jamais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Oui, sans encadrement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29/100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mais cela pose des questions éthiques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pose des questions sur les conditions d'élaboration : peut-on élaborer un projet personnalisé uniquement à partir d'un recueil automatisé 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29/100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empathiques peuvent-ils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Diagnostiquer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Engager des conversations, raconter des histoires, reconnaître des émotions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Pratiquer des actes médicaux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Remplacer un médecin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30/100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Engager des conversations, raconter des histoires, reconnaître des émotions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engagent des conversations, proposent des jeux, racontent des histoires, reconnaissent les émotions.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30/100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impact les robots ont-ils sur le travail des professionnels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Allègement de tâches mais augmentation des besoins de maintenance/formation/supervision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Suppression du métier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Augmentation pure de la charge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31/100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Allègement de tâches mais augmentation des besoins de maintenance/formation/supervision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Allègement de certaines tâches mais augmentation des besoins de maintenance, formation et supervision.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31/100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inquiétude peut susciter l'introduction des robots chez les professionnels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Inquiétude budgétaire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Inquiétude identitaire sur le métier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Inquiétude environnementale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Inquiétude juridique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32/100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Inquiétude identitaire sur le métier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Inquiétude identitaire et perturbation possible de la relation de soin.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32/100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des maladies professionnelles du sanitaire/médico-social est lié aux TMS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55 %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75 %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85 %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95 %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33/100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95 %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selon l'Assurance maladie 2023 — d'où l'intérêt des robots d'assistance physique pour la QVT.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33/100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métiers les robots font-ils émerger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Maintenance, supervision, ergothérapie spécialisée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Médecins seulement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nouveau métier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34/100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Maintenance, supervision, ergothérapie spécialisée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paramétrage, médiation d'usage, support — de nouveaux métiers à reconnaître et accompagner.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34/100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doit-on intégrer dès la conception des robots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rentabilité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Durabilité, réparabilité, maintenance et mise à jour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L'esthétique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performance seule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35/100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Durabilité, réparabilité, maintenance et mise à jour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Durabilité, réparabilité, maintenance et mise à jour doivent être intégrées dès la conception.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35/100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supervise idéalement les robots dans les ESSMS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familles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ergothérapeutes, techniciens et professionnels dédiés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usagers seuls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Personne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36/100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ergothérapeutes, techniciens et professionnels dédiés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Ergothérapeutes, techniciens et professionnels dédiés supervisent et ajustent les protocoles.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36/100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l'enjeu pour les fonctions d'adaptation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automatiser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reconnaître et accompagner (paramétrage, personnalisation, médiation)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externaliser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supprimer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37/100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reconnaître et accompagner (paramétrage, personnalisation, médiation)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et accompagner les fonctions d'adaptation aux besoins.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37/100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faut-il assurer pour l'acceptabilité des robots par les professionnels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Imposer leur usage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Disponibilité de maintenance et de support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Réduire la formation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Éviter les évaluations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38/100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Disponibilité de maintenance et de support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disponibilité de maintenance et de support conditionnera l'acceptabilité.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38/100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pèse sur l'appropriation par les professionnels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Résistance au changement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Trop d'enthousiasme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Substitution rapide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39/100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Résistance au changement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résistance au changement chez certains professionnels peut freiner l'appropriation et la diffusion.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39/100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structure permet l'évaluation continue des impacts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L'industriel seul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suivi des usages, incidents et effets psychoaffectifs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marché libre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suivi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40/100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suivi des usages, incidents et effets psychoaffectifs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usages, incidents et effets, notamment psychoaffectifs — pour évaluation continue.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40/100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recueil d'usage doit porter sur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fréquence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Fréquence, contextes d'utilisation, conditions de déploiement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prix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Aucune donnée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41/100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Fréquence, contextes d'utilisation, conditions de déploiement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régulier d'usage : fréquence, contextes, conditions de déploiement.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41/100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remontées d'effets ressentis doivent inclure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professionnels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Usagers, proches, professionnels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les usagers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les directions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42/100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Usagers, proches, professionnels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effets ressentis par les usagers, les proches, les professionnels.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42/100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jouent les Gérontopôles et Living Labs dans le scénario responsable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Ambassadeurs et têtes de pont pour l'évaluation et la diffusion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Fournisseurs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Acheteurs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43/100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Ambassadeurs et têtes de pont pour l'évaluation et la diffusion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jouent le rôle d'ambassadeurs et têtes de pont, coordonnant l'évaluation et la diffusion.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43/100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favorise la conception de bons robots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Design industriel pur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Design participatif (Living Lab)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Design rapide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Design coûteux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44/100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Design participatif (Living Lab)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design participatif (Living Lab) inclut les utilisateurs dès la conception.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44/100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peut être la conséquence positive d'un robot dans un établissement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Signe de distinction positive valorisant l'établissement et la qualité des soins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Augmentation des charges seules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Baisse des effectifs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45/100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Signe de distinction positive valorisant l'établissement et la qualité des soins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présence peut devenir un signe de distinction positive.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45/100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concept philosophique reste central selon la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rentabilité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L'éthique du care et la présence humaine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L'efficacité technique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profit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46/100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L'éthique du care et la présence humaine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L'éthique du care et la question de la présence humaine demeurent centrales.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46/100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psychologique les robots posent-ils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Illusion anthropomorphique, attachement excessif, dépendance affective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Hyperactivité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Insomnie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47/100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Illusion anthropomorphique, attachement excessif, dépendance affective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d'illusion anthropomorphique, d'attachement ou de dépendance affective.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47/100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sont les « deuils technologiques » mentionnés dans le rapport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Décès en présence de robots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Phénomènes apparaissant lors du retrait d'un robot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Pannes définitives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Erreurs d'IA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48/100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Phénomènes apparaissant lors du retrait d'un robot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phénomènes apparaissant lors du retrait d'un robot — perte d'un compagnon.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48/100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protection est centrale dans le rapport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protection des intérêts industriels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protection des données sensibles (comportementales, médicales, émotionnelles)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protection des actionnaires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protection des fabricants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49/100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protection des données sensibles (comportementales, médicales, émotionnelles)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sensibles comme enjeu éthique majeur.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49/100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Qu'entend-on par « illusion anthropomorphique »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L'illusion d'un humain devant un robot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robot pense être humain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robot ressemble à un humain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L'humain attribue au robot des qualités humaines qu'il n'a pas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50/100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L'humain attribue au robot des qualités humaines qu'il n'a pas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d'attribuer au robot des qualités humaines (empathie, conscience) qu'il ne possède pas.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50/100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l'éthique du care est-elle si importante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Question budgétaire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robot ne peut se substituer aux interactions humaines essentielles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robots sont chers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Pour les évaluations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51/100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robot ne peut se substituer aux interactions humaines essentielles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ne doivent ni se substituer aux interactions humaines, ni les diluer.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51/100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droit doit toujours être garanti à l'utilisateur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droit de modifier le robot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droit d'éteindre ou désactiver le robot à tout moment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droit de revendre le robot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droit d'exporter le robot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52/100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droit d'éteindre ou désactiver le robot à tout moment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personne peut éteindre ou désactiver le robot à tout moment.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52/100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mécanisme protège juridiquement les usagers dans le scénario favorable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Consentement systématique et explicite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Décision familiale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Décision médicale exclusive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53/100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Consentement systématique et explicite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des utilisateurs est systématique dans le scénario d'introduction responsable.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53/100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pointe le risque de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Trop d'humanité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Marchandisation du soin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Trop de présence humaine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Trop d'évaluations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54/100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Marchandisation du soin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majeur : marchandisation du soin.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54/100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doit fonder la régulation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marché libre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protection des droits fondamentaux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L'innovation à tout prix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L'autorégulation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55/100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protection des droits fondamentaux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régulation doit être protectrice des droits fondamentaux (scénario 3).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55/100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dimension éthique est rappelée par la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L'efficacité productive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dignité et l'autonomie des personnes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rendement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profit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56/100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dignité et l'autonomie des personnes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dignité et l'autonomie des personnes sont au cœur des enjeux éthiques.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56/100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dérive est mise en garde dans le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Sous-utilisation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Dérives éthiques liées à des IA simulant l'affection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Sur-évaluation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Sous-investissement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57/100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Dérives éthiques liées à des IA simulant l'affection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simulant l'affection, confusions affectives, dérives éthiques.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57/100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peut entraîner une régulation trop légère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Innovation forte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Sélection implicite des publics par les complémentaires santé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Augmentation des coûts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effet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58/100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Sélection implicite des publics par les complémentaires santé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sélection implicite des publics par les complémentaires santé.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58/100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la HAS rappelle-t-elle sur l'humain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L'humain est un être de production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L'être humain est fondamentalement un être de relation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L'humain est remplaçable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L'humain est dépassé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59/100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L'être humain est fondamentalement un être de relation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rappelle que l'être humain est fondamentalement un être de relation.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59/100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notion de « promesse sociotechnique »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garantie commerciale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L'espoir de relations plus humaines via la technologie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contrat industriel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certification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60/100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L'espoir de relations plus humaines via la technologie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robotique sociale nourrit l'espoir de relations plus « humaines » — c'est la promesse sociotechnique.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60/100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horizon temporel le rapport HAS retient-il pour ses scénarios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 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10-15 ans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30 ans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50 ans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61/100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10-15 ans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scénarios sont projetés à un horizon relativement proche (10-15 ans), permettant de rester dans la configuration actuelle du système de santé.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61/100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scénarios prospectifs la HAS développe-t-elle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62/100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scénarios : technogérée, luxe→bas de gamme, introduction progressive responsable.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62/100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 du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vieillesse technogérée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Introduction progressive responsable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Robotisation totale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63/100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vieillesse technogérée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1 : une vieillesse technogérée.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63/100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 du scénario 2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vieillesse technogérée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Introduction progressive responsable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Innovation accélérée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64/100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2 : du luxe au bas de gamme.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64/100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 du scénario 3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vieillesse technogérée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introduction progressive et responsable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Vieillesse choisie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65/100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introduction progressive et responsable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3 : une introduction progressive et responsable.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65/100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scénario le robot devient-il l'interlocuteur central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Scénario 1 (technogérée)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Scénario 2 (luxe→bas)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Scénario 3 (progressif)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66/100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Scénario 1 (technogérée)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1, le robot s'impose comme interlocuteur central, parfois ultime compagnon de vie.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66/100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régulation caractérise le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Forte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Marginale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Absente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Européenne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67/100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Absente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absente dans le scénario 1 — d'où les dérives potentielles.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67/100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1, quelles données deviennent ressource stratégique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Données médicales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Données comportementales monétisées à grande échelle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Données financières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Données démographiques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68/100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Données comportementales monétisées à grande échelle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comportementales deviennent une ressource stratégique monétisée à grande échelle.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68/100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acteur favorise le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associations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complémentaires santé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usagers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69/100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complémentaires santé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des complémentaires santé sont favorisés par une régulation trop légère.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69/100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2, l'accès est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Égalitaire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Élitiste avec fracture sociale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Universel et gratuit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Réservé aux jeunes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70/100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Élitiste avec fracture sociale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élitiste — seule une minorité aisée accède à des dispositifs humanisés haut de gamme.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70/100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métaphore définit le scénario 2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Robots pour tous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 : technologies inégalitaires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Innovation gratuite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Technologie universelle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71/100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luxe au bas de gamme : technologies inégalitaires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inégalitaires entre luxe et bas de gamme.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71/100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2, que se passe-t-il en zones périphériques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Innovation forte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Bricolage technologique et isolement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Excellence des soins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Robots haut de gamme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72/100</a:t>
            </a:r>
            <a:endParaRPr lang="en-US" sz="1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Bricolage technologique et isolement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Bricolage technologique avec robots basiques, mises à jour aléatoires, isolement renforcé.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72/100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profil de régulation du scénario 3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Absente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Marginale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Forte et protectrice des droits fondamentaux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Industrielle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73/100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Forte et protectrice des droits fondamentaux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forte, protectrice des droits fondamentaux.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73/100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3, comment se déroulent les expérimentations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 secret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 manière transparente avec évaluations régulières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Sans évaluation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Sans usagers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74/100</a:t>
            </a:r>
            <a:endParaRPr lang="en-US" sz="1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 manière transparente avec évaluations régulières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Expérimentations transparentes avec évaluations régulières de l'impact.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74/100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3, comment les retours d'expérience sont-ils traités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Privés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Partagés publiquement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Vendus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Détruits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75/100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Partagés publiquement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Partagés publiquement, pour adapter la conception et orienter la réglementation.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75/100</a:t>
            </a:r>
            <a:endParaRPr lang="en-US" sz="1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3, l'accès aux robots est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Élitiste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Équitable et transparent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Aléatoire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Géographique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76/100</a:t>
            </a:r>
            <a:endParaRPr lang="en-US" sz="1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Équitable et transparent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équitable et transparent — priorisation des plus isolés et démunis.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76/100</a:t>
            </a:r>
            <a:endParaRPr lang="en-US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3, le consentement est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Implicite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Systématique avec possibilité d'éteindre à tout moment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Familial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Médical seulement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77/100</a:t>
            </a:r>
            <a:endParaRPr lang="en-US" sz="1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Systématique avec possibilité d'éteindre à tout moment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systématique avec possibilité d'éteindre le robot à tout moment.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77/100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scénario est jugé le plus complexe à mettre en œuvre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Scénario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Scénario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Scénario 3 (chronophage et complexe)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78/100</a:t>
            </a:r>
            <a:endParaRPr lang="en-US" sz="1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Scénario 3 (chronophage et complexe)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scénario 3 est plus chronophage et complexe à mettre en œuvre, mobilise différentes organisations.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78/100</a:t>
            </a:r>
            <a:endParaRPr lang="en-US" sz="1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acteur peut développer des « robots souverains » selon le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associations seules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consortiums publics-privés européens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industriels seuls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usagers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79/100</a:t>
            </a:r>
            <a:endParaRPr lang="en-US" sz="1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consortiums publics-privés européens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États européens créent des consortiums publics-privés pour des robots souverains.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79/100</a:t>
            </a:r>
            <a:endParaRPr lang="en-US" sz="1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pays sont cités comme membres potentiels du consortium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UK, USA, Canada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France, Danemark, Allemagne, Belgique, Espagne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Russie, Chine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Japon, Corée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80/100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France, Danemark, Allemagne, Belgique, Espagne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Danemark, Allemagne, Belgique, Espagne — consortium européen pour robots souverains.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80/100</a:t>
            </a:r>
            <a:endParaRPr lang="en-US" sz="1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vulnérabilité majeure pointe le scénario 1 sur les données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Perte de souveraineté sur les données sensibles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Trop de transparence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Surinvestissement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81/100</a:t>
            </a:r>
            <a:endParaRPr lang="en-US" sz="1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Perte de souveraineté sur les données sensibles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aux géants asiatiques ou américains, perte de souveraineté sur les données sensibles.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81/100</a:t>
            </a:r>
            <a:endParaRPr lang="en-US" sz="1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cyber pointe le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Risques de cyberattaques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Risques de pannes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Risques mécaniques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82/100</a:t>
            </a:r>
            <a:endParaRPr lang="en-US" sz="1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Risques de cyberattaques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de cyberattaques et marchandisation accrue du soin.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82/100</a:t>
            </a:r>
            <a:endParaRPr lang="en-US" sz="1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1, comment évoluent les assurances santé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Pas d'évolution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Modèles adaptatifs avec couvertures dynamiques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Suppression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Standardisation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83/100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Modèles adaptatifs avec couvertures dynamiques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adaptant les couvertures aux informations remontées en temps réel par les systèmes.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83/100</a:t>
            </a:r>
            <a:endParaRPr lang="en-US" sz="1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sont les « assurances adaptatives et dynamiques » du scénario 1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Cotisations stables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Cotisations évoluant selon les comportements des adhérents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Couverture universelle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Suppression de cotisations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84/100</a:t>
            </a:r>
            <a:endParaRPr lang="en-US" sz="1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Cotisations évoluant selon les comportements des adhérents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qui évoluent en fonction des comportements des adhérents.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84/100</a:t>
            </a:r>
            <a:endParaRPr lang="en-US" sz="12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politique le rapport identifie-t-il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Choix de soutenir (ou non) la place des humains dans les soins de proximité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Surveillance des prix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Achat de robots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85/100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Choix de soutenir (ou non) la place des humains dans les soins de proximité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politique : soutenir ou non la place des humains dans les soins de proximité.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85/100</a:t>
            </a:r>
            <a:endParaRPr lang="en-US" sz="12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recommande la HAS pour les fonctions d'adaptation et de maintenance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Externaliser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Reconnaître et accompagner ces nouveaux métiers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Supprimer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Sous-traiter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86/100</a:t>
            </a:r>
            <a:endParaRPr lang="en-US" sz="1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Reconnaître et accompagner ces nouveaux métiers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et accompagner les fonctions de paramétrage, personnalisation, médiation, maintenance.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86/100</a:t>
            </a:r>
            <a:endParaRPr lang="en-US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exigence doit être opposable aux fabricants selon la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Durabilité, réparabilité, maintenance, mise à jour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Performance seule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Marketing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87/100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Durabilité, réparabilité, maintenance, mise à jour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exigences doivent être portées par des obligations opposables aux fabricants et aux distributeurs.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87/100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doit s'organiser le suivi des usages selon la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Suivi unique annuel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Recueil régulier d'usage, remontées d'effets, retours d'expérience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Pas de suivi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Suivi industriel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88/100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Recueil régulier d'usage, remontées d'effets, retours d'expérience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régulier d'usage + remontée d'effets + retours d'expérience.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88/100</a:t>
            </a:r>
            <a:endParaRPr lang="en-US" sz="12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coût-clé à anticiper selon le rapport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Acquisition seule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Coût total : acquisition + maintenance + formation + supervision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Marketing seul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R&amp;D seule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89/100</a:t>
            </a:r>
            <a:endParaRPr lang="en-US" sz="12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Coût total : acquisition + maintenance + formation + supervision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de possession sur la durée (acquisition + maintenance + formation + supervision).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89/100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faut-il créer pour favoriser l'acceptabilité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Des publicités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communautés d'utilisateurs et d'échanges entre concepteurs, opérateurs et bénéficiaires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Des certifications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Des brevets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90/100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communautés d'utilisateurs et d'échanges entre concepteurs, opérateurs et bénéficiaires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 d'utilisateurs et d'échanges — utiles pour les évaluations et retours d'expérience continus.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90/100</a:t>
            </a:r>
            <a:endParaRPr lang="en-US" sz="12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conclusion centrale du rapport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robots vont remplacer les soignants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robotique sociale n'a de sens que si elle contribue à préserver et renforcer la qualité du lien humain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robots sont à éviter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robots sont neutres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91/100</a:t>
            </a:r>
            <a:endParaRPr lang="en-US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robotique sociale n'a de sens que si elle contribue à préserver et renforcer la qualité du lien humain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robotique sociale n'a de sens que si elle contribue à préserver et renforcer la qualité du lien humain.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91/100</a:t>
            </a:r>
            <a:endParaRPr lang="en-US" sz="12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positionnement la HAS donne-t-elle aux robots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Substituts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Compléments aux interactions humaines, jamais substituts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Remplaçants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Concurrents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92/100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Compléments aux interactions humaines, jamais substituts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robots ne doivent ni se substituer aux interactions humaines, ni les diluer.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92/100</a:t>
            </a:r>
            <a:endParaRPr lang="en-US" sz="1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cadre la HAS souhaite-t-elle pour le déploiement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Libre marché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Strict cadre éthique et règlementaire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Privé exclusivement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Spontané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93/100</a:t>
            </a:r>
            <a:endParaRPr lang="en-US" sz="12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Strict cadre éthique et règlementaire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cadre éthique et règlementaire.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93/100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peuvent jouer les robots pour le maintien à domicile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S'inscrire en appui des politiques publiques de soutien au maintien à domicile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rendre obsolète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complexifier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94/100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S'inscrire en appui des politiques publiques de soutien au maintien à domicile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en appui des politiques publiques de soutien au maintien à domicile.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94/100</a:t>
            </a:r>
            <a:endParaRPr lang="en-US" sz="12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foyer d'hébergement handicap mental et psychique, quel livrable préparer en priorité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Achat immédiat de robots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charte d'usage robotique + IA en lien avec CVS, CSE et DPO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appel d'offres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suppression de personnel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95/100</a:t>
            </a:r>
            <a:endParaRPr lang="en-US" sz="12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charte d'usage robotique + IA en lien avec CVS, CSE et DPO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interne : charte d'usage en lien avec CVS, CSE, DPO — anticipation 2027.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95/100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acteur interne associer en priorité à un projet robotique en ESSMS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L'industriel seul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CVS, CSE, DPO et équipes terrain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direction générale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Personne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96/100</a:t>
            </a:r>
            <a:endParaRPr lang="en-US" sz="12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CVS, CSE, DPO et équipes terrain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CVS, avis CSE, DPO impliqué, équipes terrain consultées.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96/100</a:t>
            </a:r>
            <a:endParaRPr lang="en-US" sz="12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levier QVT majeur les robots d'assistance physique pourraient-ils représenter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Réduction des TMS (95 % des maladies pro)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Suppression de la formation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Augmentation des effectifs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97/100</a:t>
            </a:r>
            <a:endParaRPr lang="en-US" sz="12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Réduction des TMS (95 % des maladies pro)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QVT prioritaire pour réduire les TMS qui représentent 95 % des maladies pro du secteur.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97/100</a:t>
            </a:r>
            <a:endParaRPr lang="en-US" sz="12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démarche qualité doit accompagner tout déploiement robotique en ESSMS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Inscription dans la démarche qualité avec preuves d'efficacité et respect des droits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Démarche industrielle seule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Démarche commerciale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98/100</a:t>
            </a:r>
            <a:endParaRPr lang="en-US" sz="1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Inscription dans la démarche qualité avec preuves d'efficacité et respect des droits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déploiement doit s'inscrire dans la démarche qualité avec preuves d'efficacité et respect des droits.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98/100</a:t>
            </a:r>
            <a:endParaRPr lang="en-US" sz="1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institutionnel un déploiement non cadré présente-t-il pour l'évaluation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Non-conformité aux RBPP et au référentiel HAS 2022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Avantage concurrentiel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Innovation reconnue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99/100</a:t>
            </a:r>
            <a:endParaRPr lang="en-US" sz="12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Non-conformité aux RBPP et au référentiel HAS 2022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non-conformité aux RBPP et au référentiel HAS 2022 sur la dignité, l'autonomie et la traçabilité.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99/100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posture stratégique adopter aujourd'hui en ESSMS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Acheter immédiatement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Veille active + cadrage interne + expérimentation possible en mode pilote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Refuser tout débat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Ignorer le sujet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100/100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Veille active + cadrage interne + expérimentation possible en mode pilote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active sur l'évolution du secteur + cadrage interne + expérimentation possible en mode pilote contrôlé.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100/100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201</Slides>
  <Notes>201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201</vt:i4>
      </vt:variant>
    </vt:vector>
  </HeadingPairs>
  <TitlesOfParts>
    <vt:vector size="20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2026-05-22T14:50:24Z</dcterms:created>
  <dcterms:modified xsi:type="dcterms:W3CDTF">2026-05-22T14:50:24Z</dcterms:modified>
</cp:coreProperties>
</file>