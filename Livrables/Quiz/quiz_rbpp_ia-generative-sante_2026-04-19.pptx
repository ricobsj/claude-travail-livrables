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Lst>
  <p:notesMasterIdLst>
    <p:notesMasterId r:id="rId20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notesMaster" Target="notesMasters/notesMaster1.xml"/><Relationship Id="rId206" Type="http://schemas.openxmlformats.org/officeDocument/2006/relationships/presProps" Target="presProps.xml"/><Relationship Id="rId207" Type="http://schemas.openxmlformats.org/officeDocument/2006/relationships/viewProps" Target="viewProps.xml"/><Relationship Id="rId208" Type="http://schemas.openxmlformats.org/officeDocument/2006/relationships/theme" Target="theme/theme1.xml"/><Relationship Id="rId20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347472" cy="6858000"/>
          </a:xfrm>
          <a:prstGeom prst="rect">
            <a:avLst/>
          </a:prstGeom>
          <a:solidFill>
            <a:srgbClr val="0B1A30"/>
          </a:solidFill>
          <a:ln w="12700">
            <a:solidFill>
              <a:srgbClr val="0B1A30"/>
            </a:solidFill>
            <a:prstDash val="solid"/>
          </a:ln>
        </p:spPr>
      </p:sp>
      <p:sp>
        <p:nvSpPr>
          <p:cNvPr id="3" name="Shape 1"/>
          <p:cNvSpPr/>
          <p:nvPr/>
        </p:nvSpPr>
        <p:spPr>
          <a:xfrm>
            <a:off x="0" y="0"/>
            <a:ext cx="201168" cy="6858000"/>
          </a:xfrm>
          <a:prstGeom prst="rect">
            <a:avLst/>
          </a:prstGeom>
          <a:solidFill>
            <a:srgbClr val="4A6FA5"/>
          </a:solidFill>
          <a:ln w="12700">
            <a:solidFill>
              <a:srgbClr val="4A6FA5"/>
            </a:solidFill>
            <a:prstDash val="solid"/>
          </a:ln>
        </p:spPr>
      </p:sp>
      <p:sp>
        <p:nvSpPr>
          <p:cNvPr id="4" name="Shape 2"/>
          <p:cNvSpPr/>
          <p:nvPr/>
        </p:nvSpPr>
        <p:spPr>
          <a:xfrm>
            <a:off x="365760" y="365760"/>
            <a:ext cx="3200400" cy="3200400"/>
          </a:xfrm>
          <a:prstGeom prst="ellipse">
            <a:avLst/>
          </a:prstGeom>
          <a:solidFill>
            <a:srgbClr val="0B1A30"/>
          </a:solidFill>
          <a:ln w="12700">
            <a:solidFill>
              <a:srgbClr val="0B1A30"/>
            </a:solidFill>
            <a:prstDash val="solid"/>
          </a:ln>
        </p:spPr>
      </p:sp>
      <p:sp>
        <p:nvSpPr>
          <p:cNvPr id="5" name="Shape 3"/>
          <p:cNvSpPr/>
          <p:nvPr/>
        </p:nvSpPr>
        <p:spPr>
          <a:xfrm>
            <a:off x="548640" y="548640"/>
            <a:ext cx="2834640" cy="2834640"/>
          </a:xfrm>
          <a:prstGeom prst="ellipse">
            <a:avLst/>
          </a:prstGeom>
          <a:solidFill>
            <a:srgbClr val="071525"/>
          </a:solidFill>
          <a:ln w="12700">
            <a:solidFill>
              <a:srgbClr val="071525"/>
            </a:solidFill>
            <a:prstDash val="solid"/>
          </a:ln>
        </p:spPr>
      </p:sp>
      <p:sp>
        <p:nvSpPr>
          <p:cNvPr id="6" name="Shape 4"/>
          <p:cNvSpPr/>
          <p:nvPr/>
        </p:nvSpPr>
        <p:spPr>
          <a:xfrm>
            <a:off x="8686800" y="4114800"/>
            <a:ext cx="4114800" cy="4114800"/>
          </a:xfrm>
          <a:prstGeom prst="ellipse">
            <a:avLst/>
          </a:prstGeom>
          <a:solidFill>
            <a:srgbClr val="0B1A30"/>
          </a:solidFill>
          <a:ln w="12700">
            <a:solidFill>
              <a:srgbClr val="0B1A30"/>
            </a:solidFill>
            <a:prstDash val="solid"/>
          </a:ln>
        </p:spPr>
      </p:sp>
      <p:sp>
        <p:nvSpPr>
          <p:cNvPr id="7" name="Shape 5"/>
          <p:cNvSpPr/>
          <p:nvPr/>
        </p:nvSpPr>
        <p:spPr>
          <a:xfrm>
            <a:off x="8961120" y="4389120"/>
            <a:ext cx="3566160" cy="3566160"/>
          </a:xfrm>
          <a:prstGeom prst="ellipse">
            <a:avLst/>
          </a:prstGeom>
          <a:solidFill>
            <a:srgbClr val="071525"/>
          </a:solidFill>
          <a:ln w="12700">
            <a:solidFill>
              <a:srgbClr val="071525"/>
            </a:solidFill>
            <a:prstDash val="solid"/>
          </a:ln>
        </p:spPr>
      </p:sp>
      <p:sp>
        <p:nvSpPr>
          <p:cNvPr id="8" name="Shape 6"/>
          <p:cNvSpPr/>
          <p:nvPr/>
        </p:nvSpPr>
        <p:spPr>
          <a:xfrm>
            <a:off x="347472" y="0"/>
            <a:ext cx="11841480" cy="109728"/>
          </a:xfrm>
          <a:prstGeom prst="rect">
            <a:avLst/>
          </a:prstGeom>
          <a:solidFill>
            <a:srgbClr val="22D3EE"/>
          </a:solidFill>
          <a:ln w="12700">
            <a:solidFill>
              <a:srgbClr val="22D3EE"/>
            </a:solidFill>
            <a:prstDash val="solid"/>
          </a:ln>
        </p:spPr>
      </p:sp>
      <p:sp>
        <p:nvSpPr>
          <p:cNvPr id="9" name="Shape 7"/>
          <p:cNvSpPr/>
          <p:nvPr/>
        </p:nvSpPr>
        <p:spPr>
          <a:xfrm>
            <a:off x="548640" y="365760"/>
            <a:ext cx="3291840" cy="502920"/>
          </a:xfrm>
          <a:prstGeom prst="rect">
            <a:avLst/>
          </a:prstGeom>
          <a:solidFill>
            <a:srgbClr val="0B1A30"/>
          </a:solidFill>
          <a:ln w="12700">
            <a:solidFill>
              <a:srgbClr val="0B1A30"/>
            </a:solidFill>
            <a:prstDash val="solid"/>
          </a:ln>
        </p:spPr>
      </p:sp>
      <p:sp>
        <p:nvSpPr>
          <p:cNvPr id="10" name="Text 8"/>
          <p:cNvSpPr/>
          <p:nvPr/>
        </p:nvSpPr>
        <p:spPr>
          <a:xfrm>
            <a:off x="548640" y="365760"/>
            <a:ext cx="3291840" cy="502920"/>
          </a:xfrm>
          <a:prstGeom prst="rect">
            <a:avLst/>
          </a:prstGeom>
          <a:noFill/>
          <a:ln/>
        </p:spPr>
        <p:txBody>
          <a:bodyPr wrap="square" rtlCol="0" anchor="ctr"/>
          <a:lstStyle/>
          <a:p>
            <a:pPr algn="ctr" indent="0" marL="0">
              <a:buNone/>
            </a:pPr>
            <a:r>
              <a:rPr lang="en-US" sz="1400" b="1" dirty="0">
                <a:solidFill>
                  <a:srgbClr val="22D3EE"/>
                </a:solidFill>
                <a:latin typeface="Calibri" pitchFamily="34" charset="0"/>
                <a:ea typeface="Calibri" pitchFamily="34" charset="-122"/>
                <a:cs typeface="Calibri" pitchFamily="34" charset="-120"/>
              </a:rPr>
              <a:t>HAS • Octobre 2025</a:t>
            </a:r>
            <a:endParaRPr lang="en-US" sz="1400" dirty="0"/>
          </a:p>
        </p:txBody>
      </p:sp>
      <p:sp>
        <p:nvSpPr>
          <p:cNvPr id="11" name="Text 9"/>
          <p:cNvSpPr/>
          <p:nvPr/>
        </p:nvSpPr>
        <p:spPr>
          <a:xfrm>
            <a:off x="548640" y="1280160"/>
            <a:ext cx="10972800" cy="1005840"/>
          </a:xfrm>
          <a:prstGeom prst="rect">
            <a:avLst/>
          </a:prstGeom>
          <a:noFill/>
          <a:ln/>
        </p:spPr>
        <p:txBody>
          <a:bodyPr wrap="square" rtlCol="0" anchor="ctr"/>
          <a:lstStyle/>
          <a:p>
            <a:pPr indent="0" marL="0">
              <a:buNone/>
            </a:pPr>
            <a:r>
              <a:rPr lang="en-US" sz="4400" b="1" spc="300" kern="0" dirty="0">
                <a:solidFill>
                  <a:srgbClr val="FFFFFF"/>
                </a:solidFill>
                <a:latin typeface="Calibri" pitchFamily="34" charset="0"/>
                <a:ea typeface="Calibri" pitchFamily="34" charset="-122"/>
                <a:cs typeface="Calibri" pitchFamily="34" charset="-120"/>
              </a:rPr>
              <a:t>IA GÉNÉRATIVE EN SANTÉ</a:t>
            </a:r>
            <a:endParaRPr lang="en-US" sz="4400" dirty="0"/>
          </a:p>
        </p:txBody>
      </p:sp>
      <p:sp>
        <p:nvSpPr>
          <p:cNvPr id="12" name="Text 10"/>
          <p:cNvSpPr/>
          <p:nvPr/>
        </p:nvSpPr>
        <p:spPr>
          <a:xfrm>
            <a:off x="548640" y="2286000"/>
            <a:ext cx="10972800" cy="640080"/>
          </a:xfrm>
          <a:prstGeom prst="rect">
            <a:avLst/>
          </a:prstGeom>
          <a:noFill/>
          <a:ln/>
        </p:spPr>
        <p:txBody>
          <a:bodyPr wrap="square" rtlCol="0" anchor="ctr"/>
          <a:lstStyle/>
          <a:p>
            <a:pPr indent="0" marL="0">
              <a:buNone/>
            </a:pPr>
            <a:r>
              <a:rPr lang="en-US" sz="2600" dirty="0">
                <a:solidFill>
                  <a:srgbClr val="22D3EE"/>
                </a:solidFill>
                <a:latin typeface="Calibri" pitchFamily="34" charset="0"/>
                <a:ea typeface="Calibri" pitchFamily="34" charset="-122"/>
                <a:cs typeface="Calibri" pitchFamily="34" charset="-120"/>
              </a:rPr>
              <a:t>Premières clefs d'usage</a:t>
            </a:r>
            <a:endParaRPr lang="en-US" sz="2600" dirty="0"/>
          </a:p>
        </p:txBody>
      </p:sp>
      <p:sp>
        <p:nvSpPr>
          <p:cNvPr id="13" name="Text 11"/>
          <p:cNvSpPr/>
          <p:nvPr/>
        </p:nvSpPr>
        <p:spPr>
          <a:xfrm>
            <a:off x="548640" y="2834640"/>
            <a:ext cx="10972800" cy="502920"/>
          </a:xfrm>
          <a:prstGeom prst="rect">
            <a:avLst/>
          </a:prstGeom>
          <a:noFill/>
          <a:ln/>
        </p:spPr>
        <p:txBody>
          <a:bodyPr wrap="square" rtlCol="0" anchor="ctr"/>
          <a:lstStyle/>
          <a:p>
            <a:pPr indent="0" marL="0">
              <a:buNone/>
            </a:pPr>
            <a:r>
              <a:rPr lang="en-US" sz="2000" dirty="0">
                <a:solidFill>
                  <a:srgbClr val="7BA8D8"/>
                </a:solidFill>
                <a:latin typeface="Calibri" pitchFamily="34" charset="0"/>
                <a:ea typeface="Calibri" pitchFamily="34" charset="-122"/>
                <a:cs typeface="Calibri" pitchFamily="34" charset="-120"/>
              </a:rPr>
              <a:t>Guide HAS – Argumentaire</a:t>
            </a:r>
            <a:endParaRPr lang="en-US" sz="2000" dirty="0"/>
          </a:p>
        </p:txBody>
      </p:sp>
      <p:sp>
        <p:nvSpPr>
          <p:cNvPr id="14" name="Shape 12"/>
          <p:cNvSpPr/>
          <p:nvPr/>
        </p:nvSpPr>
        <p:spPr>
          <a:xfrm>
            <a:off x="548640" y="3840480"/>
            <a:ext cx="2651760" cy="658368"/>
          </a:xfrm>
          <a:prstGeom prst="rect">
            <a:avLst/>
          </a:prstGeom>
          <a:solidFill>
            <a:srgbClr val="0B1A30"/>
          </a:solidFill>
          <a:ln w="12700">
            <a:solidFill>
              <a:srgbClr val="0B1A30"/>
            </a:solidFill>
            <a:prstDash val="solid"/>
          </a:ln>
        </p:spPr>
      </p:sp>
      <p:sp>
        <p:nvSpPr>
          <p:cNvPr id="15" name="Shape 13"/>
          <p:cNvSpPr/>
          <p:nvPr/>
        </p:nvSpPr>
        <p:spPr>
          <a:xfrm>
            <a:off x="548640" y="3840480"/>
            <a:ext cx="73152" cy="658368"/>
          </a:xfrm>
          <a:prstGeom prst="rect">
            <a:avLst/>
          </a:prstGeom>
          <a:solidFill>
            <a:srgbClr val="22D3EE"/>
          </a:solidFill>
          <a:ln w="12700">
            <a:solidFill>
              <a:srgbClr val="22D3EE"/>
            </a:solidFill>
            <a:prstDash val="solid"/>
          </a:ln>
        </p:spPr>
      </p:sp>
      <p:sp>
        <p:nvSpPr>
          <p:cNvPr id="16" name="Text 14"/>
          <p:cNvSpPr/>
          <p:nvPr/>
        </p:nvSpPr>
        <p:spPr>
          <a:xfrm>
            <a:off x="694944" y="3840480"/>
            <a:ext cx="457200" cy="658368"/>
          </a:xfrm>
          <a:prstGeom prst="rect">
            <a:avLst/>
          </a:prstGeom>
          <a:noFill/>
          <a:ln/>
        </p:spPr>
        <p:txBody>
          <a:bodyPr wrap="square" rtlCol="0" anchor="ctr"/>
          <a:lstStyle/>
          <a:p>
            <a:pPr indent="0" marL="0">
              <a:buNone/>
            </a:pPr>
            <a:r>
              <a:rPr lang="en-US" sz="2400" b="1" dirty="0">
                <a:solidFill>
                  <a:srgbClr val="22D3EE"/>
                </a:solidFill>
                <a:latin typeface="Calibri" pitchFamily="34" charset="0"/>
                <a:ea typeface="Calibri" pitchFamily="34" charset="-122"/>
                <a:cs typeface="Calibri" pitchFamily="34" charset="-120"/>
              </a:rPr>
              <a:t>A</a:t>
            </a:r>
            <a:endParaRPr lang="en-US" sz="2400" dirty="0"/>
          </a:p>
        </p:txBody>
      </p:sp>
      <p:sp>
        <p:nvSpPr>
          <p:cNvPr id="17" name="Text 15"/>
          <p:cNvSpPr/>
          <p:nvPr/>
        </p:nvSpPr>
        <p:spPr>
          <a:xfrm>
            <a:off x="1207008" y="3840480"/>
            <a:ext cx="1920240" cy="658368"/>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Apprendre</a:t>
            </a:r>
            <a:endParaRPr lang="en-US" sz="1600" dirty="0"/>
          </a:p>
        </p:txBody>
      </p:sp>
      <p:sp>
        <p:nvSpPr>
          <p:cNvPr id="18" name="Shape 16"/>
          <p:cNvSpPr/>
          <p:nvPr/>
        </p:nvSpPr>
        <p:spPr>
          <a:xfrm>
            <a:off x="3346704" y="3840480"/>
            <a:ext cx="2651760" cy="658368"/>
          </a:xfrm>
          <a:prstGeom prst="rect">
            <a:avLst/>
          </a:prstGeom>
          <a:solidFill>
            <a:srgbClr val="0B1A30"/>
          </a:solidFill>
          <a:ln w="12700">
            <a:solidFill>
              <a:srgbClr val="0B1A30"/>
            </a:solidFill>
            <a:prstDash val="solid"/>
          </a:ln>
        </p:spPr>
      </p:sp>
      <p:sp>
        <p:nvSpPr>
          <p:cNvPr id="19" name="Shape 17"/>
          <p:cNvSpPr/>
          <p:nvPr/>
        </p:nvSpPr>
        <p:spPr>
          <a:xfrm>
            <a:off x="3346704" y="3840480"/>
            <a:ext cx="73152" cy="658368"/>
          </a:xfrm>
          <a:prstGeom prst="rect">
            <a:avLst/>
          </a:prstGeom>
          <a:solidFill>
            <a:srgbClr val="A855F7"/>
          </a:solidFill>
          <a:ln w="12700">
            <a:solidFill>
              <a:srgbClr val="A855F7"/>
            </a:solidFill>
            <a:prstDash val="solid"/>
          </a:ln>
        </p:spPr>
      </p:sp>
      <p:sp>
        <p:nvSpPr>
          <p:cNvPr id="20" name="Text 18"/>
          <p:cNvSpPr/>
          <p:nvPr/>
        </p:nvSpPr>
        <p:spPr>
          <a:xfrm>
            <a:off x="3493008" y="3840480"/>
            <a:ext cx="457200" cy="658368"/>
          </a:xfrm>
          <a:prstGeom prst="rect">
            <a:avLst/>
          </a:prstGeom>
          <a:noFill/>
          <a:ln/>
        </p:spPr>
        <p:txBody>
          <a:bodyPr wrap="square" rtlCol="0" anchor="ctr"/>
          <a:lstStyle/>
          <a:p>
            <a:pPr indent="0" marL="0">
              <a:buNone/>
            </a:pPr>
            <a:r>
              <a:rPr lang="en-US" sz="2400" b="1" dirty="0">
                <a:solidFill>
                  <a:srgbClr val="A855F7"/>
                </a:solidFill>
                <a:latin typeface="Calibri" pitchFamily="34" charset="0"/>
                <a:ea typeface="Calibri" pitchFamily="34" charset="-122"/>
                <a:cs typeface="Calibri" pitchFamily="34" charset="-120"/>
              </a:rPr>
              <a:t>V</a:t>
            </a:r>
            <a:endParaRPr lang="en-US" sz="2400" dirty="0"/>
          </a:p>
        </p:txBody>
      </p:sp>
      <p:sp>
        <p:nvSpPr>
          <p:cNvPr id="21" name="Text 19"/>
          <p:cNvSpPr/>
          <p:nvPr/>
        </p:nvSpPr>
        <p:spPr>
          <a:xfrm>
            <a:off x="4005072" y="3840480"/>
            <a:ext cx="1920240" cy="658368"/>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Vérifier</a:t>
            </a:r>
            <a:endParaRPr lang="en-US" sz="1600" dirty="0"/>
          </a:p>
        </p:txBody>
      </p:sp>
      <p:sp>
        <p:nvSpPr>
          <p:cNvPr id="22" name="Shape 20"/>
          <p:cNvSpPr/>
          <p:nvPr/>
        </p:nvSpPr>
        <p:spPr>
          <a:xfrm>
            <a:off x="6144768" y="3840480"/>
            <a:ext cx="2651760" cy="658368"/>
          </a:xfrm>
          <a:prstGeom prst="rect">
            <a:avLst/>
          </a:prstGeom>
          <a:solidFill>
            <a:srgbClr val="0B1A30"/>
          </a:solidFill>
          <a:ln w="12700">
            <a:solidFill>
              <a:srgbClr val="0B1A30"/>
            </a:solidFill>
            <a:prstDash val="solid"/>
          </a:ln>
        </p:spPr>
      </p:sp>
      <p:sp>
        <p:nvSpPr>
          <p:cNvPr id="23" name="Shape 21"/>
          <p:cNvSpPr/>
          <p:nvPr/>
        </p:nvSpPr>
        <p:spPr>
          <a:xfrm>
            <a:off x="6144768" y="3840480"/>
            <a:ext cx="73152" cy="658368"/>
          </a:xfrm>
          <a:prstGeom prst="rect">
            <a:avLst/>
          </a:prstGeom>
          <a:solidFill>
            <a:srgbClr val="F43F5E"/>
          </a:solidFill>
          <a:ln w="12700">
            <a:solidFill>
              <a:srgbClr val="F43F5E"/>
            </a:solidFill>
            <a:prstDash val="solid"/>
          </a:ln>
        </p:spPr>
      </p:sp>
      <p:sp>
        <p:nvSpPr>
          <p:cNvPr id="24" name="Text 22"/>
          <p:cNvSpPr/>
          <p:nvPr/>
        </p:nvSpPr>
        <p:spPr>
          <a:xfrm>
            <a:off x="6291072" y="3840480"/>
            <a:ext cx="457200" cy="658368"/>
          </a:xfrm>
          <a:prstGeom prst="rect">
            <a:avLst/>
          </a:prstGeom>
          <a:noFill/>
          <a:ln/>
        </p:spPr>
        <p:txBody>
          <a:bodyPr wrap="square" rtlCol="0" anchor="ctr"/>
          <a:lstStyle/>
          <a:p>
            <a:pPr indent="0" marL="0">
              <a:buNone/>
            </a:pPr>
            <a:r>
              <a:rPr lang="en-US" sz="2400" b="1" dirty="0">
                <a:solidFill>
                  <a:srgbClr val="F43F5E"/>
                </a:solidFill>
                <a:latin typeface="Calibri" pitchFamily="34" charset="0"/>
                <a:ea typeface="Calibri" pitchFamily="34" charset="-122"/>
                <a:cs typeface="Calibri" pitchFamily="34" charset="-120"/>
              </a:rPr>
              <a:t>E</a:t>
            </a:r>
            <a:endParaRPr lang="en-US" sz="2400" dirty="0"/>
          </a:p>
        </p:txBody>
      </p:sp>
      <p:sp>
        <p:nvSpPr>
          <p:cNvPr id="25" name="Text 23"/>
          <p:cNvSpPr/>
          <p:nvPr/>
        </p:nvSpPr>
        <p:spPr>
          <a:xfrm>
            <a:off x="6803136" y="3840480"/>
            <a:ext cx="1920240" cy="658368"/>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Estimer</a:t>
            </a:r>
            <a:endParaRPr lang="en-US" sz="1600" dirty="0"/>
          </a:p>
        </p:txBody>
      </p:sp>
      <p:sp>
        <p:nvSpPr>
          <p:cNvPr id="26" name="Shape 24"/>
          <p:cNvSpPr/>
          <p:nvPr/>
        </p:nvSpPr>
        <p:spPr>
          <a:xfrm>
            <a:off x="8942832" y="3840480"/>
            <a:ext cx="2651760" cy="658368"/>
          </a:xfrm>
          <a:prstGeom prst="rect">
            <a:avLst/>
          </a:prstGeom>
          <a:solidFill>
            <a:srgbClr val="0B1A30"/>
          </a:solidFill>
          <a:ln w="12700">
            <a:solidFill>
              <a:srgbClr val="0B1A30"/>
            </a:solidFill>
            <a:prstDash val="solid"/>
          </a:ln>
        </p:spPr>
      </p:sp>
      <p:sp>
        <p:nvSpPr>
          <p:cNvPr id="27" name="Shape 25"/>
          <p:cNvSpPr/>
          <p:nvPr/>
        </p:nvSpPr>
        <p:spPr>
          <a:xfrm>
            <a:off x="8942832" y="3840480"/>
            <a:ext cx="73152" cy="658368"/>
          </a:xfrm>
          <a:prstGeom prst="rect">
            <a:avLst/>
          </a:prstGeom>
          <a:solidFill>
            <a:srgbClr val="10B981"/>
          </a:solidFill>
          <a:ln w="12700">
            <a:solidFill>
              <a:srgbClr val="10B981"/>
            </a:solidFill>
            <a:prstDash val="solid"/>
          </a:ln>
        </p:spPr>
      </p:sp>
      <p:sp>
        <p:nvSpPr>
          <p:cNvPr id="28" name="Text 26"/>
          <p:cNvSpPr/>
          <p:nvPr/>
        </p:nvSpPr>
        <p:spPr>
          <a:xfrm>
            <a:off x="9089136" y="3840480"/>
            <a:ext cx="457200" cy="658368"/>
          </a:xfrm>
          <a:prstGeom prst="rect">
            <a:avLst/>
          </a:prstGeom>
          <a:noFill/>
          <a:ln/>
        </p:spPr>
        <p:txBody>
          <a:bodyPr wrap="square" rtlCol="0" anchor="ctr"/>
          <a:lstStyle/>
          <a:p>
            <a:pPr indent="0" marL="0">
              <a:buNone/>
            </a:pPr>
            <a:r>
              <a:rPr lang="en-US" sz="2400" b="1" dirty="0">
                <a:solidFill>
                  <a:srgbClr val="10B981"/>
                </a:solidFill>
                <a:latin typeface="Calibri" pitchFamily="34" charset="0"/>
                <a:ea typeface="Calibri" pitchFamily="34" charset="-122"/>
                <a:cs typeface="Calibri" pitchFamily="34" charset="-120"/>
              </a:rPr>
              <a:t>C</a:t>
            </a:r>
            <a:endParaRPr lang="en-US" sz="2400" dirty="0"/>
          </a:p>
        </p:txBody>
      </p:sp>
      <p:sp>
        <p:nvSpPr>
          <p:cNvPr id="29" name="Text 27"/>
          <p:cNvSpPr/>
          <p:nvPr/>
        </p:nvSpPr>
        <p:spPr>
          <a:xfrm>
            <a:off x="9601200" y="3840480"/>
            <a:ext cx="1920240" cy="658368"/>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Communiquer</a:t>
            </a:r>
            <a:endParaRPr lang="en-US" sz="1600" dirty="0"/>
          </a:p>
        </p:txBody>
      </p:sp>
      <p:sp>
        <p:nvSpPr>
          <p:cNvPr id="30" name="Shape 28"/>
          <p:cNvSpPr/>
          <p:nvPr/>
        </p:nvSpPr>
        <p:spPr>
          <a:xfrm>
            <a:off x="347472" y="6309360"/>
            <a:ext cx="11841480" cy="82296"/>
          </a:xfrm>
          <a:prstGeom prst="rect">
            <a:avLst/>
          </a:prstGeom>
          <a:solidFill>
            <a:srgbClr val="22D3EE"/>
          </a:solidFill>
          <a:ln w="12700">
            <a:solidFill>
              <a:srgbClr val="22D3EE"/>
            </a:solidFill>
            <a:prstDash val="solid"/>
          </a:ln>
        </p:spPr>
      </p:sp>
      <p:sp>
        <p:nvSpPr>
          <p:cNvPr id="31" name="Text 29"/>
          <p:cNvSpPr/>
          <p:nvPr/>
        </p:nvSpPr>
        <p:spPr>
          <a:xfrm>
            <a:off x="548640" y="6355080"/>
            <a:ext cx="10972800" cy="411480"/>
          </a:xfrm>
          <a:prstGeom prst="rect">
            <a:avLst/>
          </a:prstGeom>
          <a:noFill/>
          <a:ln/>
        </p:spPr>
        <p:txBody>
          <a:bodyPr wrap="square" rtlCol="0" anchor="ctr"/>
          <a:lstStyle/>
          <a:p>
            <a:pPr algn="ctr" indent="0" marL="0">
              <a:buNone/>
            </a:pPr>
            <a:r>
              <a:rPr lang="en-US" sz="1300" dirty="0">
                <a:solidFill>
                  <a:srgbClr val="7BA8D8"/>
                </a:solidFill>
                <a:latin typeface="Calibri" pitchFamily="34" charset="0"/>
                <a:ea typeface="Calibri" pitchFamily="34" charset="-122"/>
                <a:cs typeface="Calibri" pitchFamily="34" charset="-120"/>
              </a:rPr>
              <a:t>100 questions QCM • Formation professionnelle médico-social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organisme a produit le guide « Premières clefs d'usage de l'IA générative en santé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Ministère de la Santé</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Haute Autorité de santé (HAS)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CNAM (Assurance Maladie)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Agence nationale de sécurité du médicament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Haute Autorité de santé (HAS)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C'est la Haute Autorité de santé (HAS) qui a produit ce guide dans le cadre d'une auto-saisine, adopté par le Collège le 23 octobre 2025.</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mode de saisine ayant conduit à l'élaboration de ce guide HAS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Saisine ministérielle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Saisine parlementaire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Auto-saisine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Saisine par une société savante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Auto-saisine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Il s'agit d'une auto-saisine : la HAS s'est saisie elle-même du sujet de l'IA générative en santé, sans demande externe.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mission interne à la HAS a piloté ce projet sur l'IA générative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Service Documentation Veille (SDV)</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Mission numérique en santé (MNS)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Commission nationale d'éthique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Département évaluation des actes professionnels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Mission numérique en santé (MNS)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Mission numérique en santé (MNS) a piloté ce projet. Paul VALOIS en était le chef de projet et Corinne COLLIGNON la cheffe de service.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À quelle date le Collège de la HAS a-t-il adopté ce guide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15 juin 2025</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23 octobre 2025</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1er janvier 2025</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30 mars 2025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23 octobre 2025</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guide a été adopté par le Collège de la HAS le 23 octobre 2025, avec une version finale datée de ce même jour.</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Quels secteurs professionnels sont ciblés par ce guide sur l'IA générative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Secteur sanitaire uniquement</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Secteurs sanitaire et médico-social</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Secteurs sanitaire, social et médico-social</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Secteur social uniquement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Secteurs sanitaire, social et médico-social</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guide cible explicitement les professionnels du secteur sanitaire, social ET médico-social, avec une volonté d'appropriation transversale.</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Qui est le chef de projet du guide « Premières clefs d'usage de l'IA générative en santé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Corinne COLLIGNON</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Frédérique PAGES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Paul VALOIS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Julie MARC</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Paul VALOIS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Paul VALOIS est le chef de projet. Julie MARC est adjointe à la cheffe de service, et Corinne COLLIGNON est cheffe de service.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sigle mnémotechnique structure les lignes directrices du guide HAS sur l'IA générative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AVEC</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ATOME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SMART</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LEARN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A. AVEC</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L'acrostiche A.V.E.C. (Apprendre, Vérifier, Estimer, Communiquer) structure les 4 lignes directrices du guide. Il a été explicitement apprécié par les relecteurs.</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vocation principale du guide « Premières clefs d'usage de l'IA générative en santé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Évaluer les performances des 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Accompagner les professionnels dans un premier usage responsable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Réguler le marché des IA en santé</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Former les ingénieurs en IA</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Accompagner les professionnels dans un premier usage responsable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guide est à vocation pédagogique, court et simple, pour favoriser sa diffusion et son appropriation par les professionnels non experts de l'IA.</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outil visuel a été élaboré avec le service Communication information (SCI) de la HAS pour illustrer le processus de génération d'un contenu IA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tableau de bord interactif</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schéma pédagogique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Une vidéo de démonstration</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Une fiche réflexe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Un schéma pédagogique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Un schéma pédagogique illustre le processus de génération d'un contenu à partir d'une requête. Il inclut un exemple de requête pertinente avec une bonne pratique de déprescription.</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L'infographie de synthèse du guide HAS sur l'IA générative reprend quel contenu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références bibliographiques sélectionnées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lignes directrices A.V.E.C. et les clefs d'usage proposées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statistiques d'usage de l'IA en France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calendrier de déploiement du guide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lignes directrices A.V.E.C. et les clefs d'usage proposées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L'infographie de synthèse reprend les lignes directrices A.V.E.C. et résume les clefs d'usage proposées, pour permettre une prise de connaissance rapide en une seule page.</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attention particulière a été portée à l'illustration du schéma pédagogique du guide HAS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Utiliser uniquement des pictogrammes neutres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Représenter la diversité de genre et d'origine dans les personnages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Ne pas illustrer pour rester universel</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Utiliser des photos de professionnels réels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Représenter la diversité de genre et d'origine dans les personnages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schéma introduit de la diversité de personnage : un professionnel du secteur médical/social/médico-social féminin et de type non caucasien.</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la gestion des liens d'intérêts est-elle décrite dans ce guide HAS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 n'est pas abordée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 est conforme à la charte déontologique de la HAS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 repose sur une déclaration volontaire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 est sous-traitée à un organisme externe</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Elle est conforme à la charte déontologique de la HAS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guide précise explicitement que « la gestion des liens d'intérêts est conforme à la charte déontologique de la HAS ».</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Combien de références ont été identifiées par l'équation de recherche documentaire initiale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129</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1 482</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8 991</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148</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8 991</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8 991 références ont été identifiées à partir de l'équation de recherche initiale sur les bases de données Medline et les sites d'organismes et sociétés savantes.</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Combien de références ont été retenues après le filtre sur le titre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8 991</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129</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17</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148</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129</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Après application d'un filtre sur le titre portant sur les recommandations, guides ou préconisations pour l'usage des IA génératives en santé, 129 références ont été retenues.</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Combien de références complémentaires ont été ajoutées par la veille bibliographique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7</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17</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19</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30</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19</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19 références complémentaires ont été identifiées par la veille bibliographique poursuivie jusqu'à septembre 2025, portant le total à 148 références.</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nombre total de références bibliographiques identifiées avant exclusion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129</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148</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17</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8 991</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148</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recherche documentaire a permis d'identifier 148 références bibliographiques au total : 129 (filtre titre) + 19 (veille bibliographique complémentaire).</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Combien de références ont finalement été sélectionnées pour l'analyse critique de la littérature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17</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30</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129</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148</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A. 17</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Après exclusion de 131 références, 17 ont finalement été sélectionnées pour l'analyse critique, toutes positionnées comme guides pour le bon usage de l'IA générative en santé.</a:t>
            </a:r>
            <a:endParaRPr lang="en-US" sz="1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période couverte par la recherche documentaire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Janvier 2000 – décembre 2024</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Avril 2020 – avril 2025</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Janvier 2023 – septembre 2025</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Janvier 2010 – octobre 2025</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Avril 2020 – avril 2025</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recherche documentaire a porté sur la période allant d'avril 2020 à avril 2025, complétée par une veille bibliographique jusqu'en septembre 2025.</a:t>
            </a:r>
            <a:endParaRPr lang="en-US" sz="1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base de données bibliographique principale a été consultée pour cette recherche documentaire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Embase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Cochrane Library</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Medline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Web of Science</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Medline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Medline est citée comme base de données principale consultée, en complément des sites internet d'organismes et de sociétés savantes compétentes dans le domaine.</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Dans quelles langues les publications ont-elles été recherchées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Anglais uniquement</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Anglais et français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Anglais, français et espagnol</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Toutes langues confondues</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Anglais et français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recherche a été limitée aux publications en langues anglaise et française. Aucun type de document n'a été exclu a priori de cette recherche.</a:t>
            </a:r>
            <a:endParaRPr lang="en-US" sz="1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proportion des références identifiées traitait uniquement des performances de l'IA (et a donc été exclue)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11 %</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30 %</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50 %</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72 %</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D. 72 %</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72 % des références identifiées par la recherche documentaire traitaient uniquement de l'évaluation des performances de l'IA et ont donc été exclues de l'analyse.</a:t>
            </a:r>
            <a:endParaRPr lang="en-US" sz="1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proportion des références identifiées portait sur des guides d'usage des systèmes d'IA générative en santé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72 %</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30 %</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11 %</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5 %</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11 %</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Seulement 11 % des références identifiées portaient sur des guides pour l'usage des systèmes d'IA générative en santé, reflétant le déficit de production sur ce sujet.</a:t>
            </a:r>
            <a:endParaRPr lang="en-US" sz="1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proportion des 17 références retenues ne s'adressait pas directement aux professionnels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10 %</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20 %</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30 %</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50 %</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30 %</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30 % des documents retenus n'ont pas vocation à s'adresser directement aux professionnels, mais ont été conservés car certains éléments pouvaient être généralisés ou transposés.</a:t>
            </a:r>
            <a:endParaRPr lang="en-US" sz="1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Combien des 17 références sélectionnées indiquent avoir mobilisé des groupes de travail ou des experts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Aucune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5</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10</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Toutes les 17</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5</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Seulement 5 des 17 références indiquent avoir mis en œuvre des groupes de travail ou des échanges avec des experts.</a:t>
            </a:r>
            <a:endParaRPr lang="en-US" sz="1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Combien des 17 références retenues présentent une description de leur méthodologie de revue de littérature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Aucune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7</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Toutes</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A. Aucune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Aucune des 17 références ne présente d'élément décrivant la méthodologie mise en œuvre pour la revue de la littérature réalisée.</a:t>
            </a:r>
            <a:endParaRPr lang="en-US" sz="1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Parmi les 17 références retenues, combien sont des guides visant l'ensemble des professionnels de santé, social et médico-social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5</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7</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10</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7</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7 références sont des guides ayant vocation à s'appliquer à l'ensemble des professionnels du secteur sanitaire, social ou médico-social, dont 4 sont des articles d'opinion.</a:t>
            </a:r>
            <a:endParaRPr lang="en-US" sz="1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Quels éléments sont systématiquement reportés en annexe 3 à partir des références sélectionnées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résultats des essais cliniques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cas d'usages, limites, critères de qualité et actions pratiques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biographies des auteurs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données de coût-efficacité</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cas d'usages, limites, critères de qualité et actions pratiques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L'annexe 3 reporte les éléments portant sur : les cas d'usages/opportunités, les limites/risques, les critères de qualité et les actions pratiques issues des références sélectionnées.</a:t>
            </a:r>
            <a:endParaRPr lang="en-US" sz="1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principale conclusion de l'analyse de la littérature sur les guides d'usage de l'IA en santé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guides existants sont nombreux et de bonne qualité</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guides sont peu développés, peu pratiques et peu robustes méthodologiquement</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guides ne concernent que les médecins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guides sont réservés aux établissements hospitaliers</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guides sont peu développés, peu pratiques et peu robustes méthodologiquement</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L'analyse met en évidence que les guides pour l'usage de l'IA générative en santé sont peu développés, majoritairement théoriques et de robustesse méthodologique limitée.</a:t>
            </a:r>
            <a:endParaRPr lang="en-US" sz="1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l'analyse de la littérature identifie comme besoin central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Une réglementation plus stricte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guide pratique robuste avec des actions concrètes pour les professionnels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Plus de recherche sur les performances des IA</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restrictions sur l'usage de l'IA en santé</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29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Un guide pratique robuste avec des actions concrètes pour les professionnels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L'analyse critique met en évidence le besoin : de visibilité des usages effectifs, d'un guide pratique élaboré avec une méthodologie robuste, et d'actions concrètes à mettre en œuvre.</a:t>
            </a:r>
            <a:endParaRPr lang="en-US" sz="1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Selon l'analyse de la littérature, quel est l'intérêt potentiel majeur des systèmes d'IA générative en santé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Remplacer les professionnels de santé</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Améliorer la qualité et la sécurité des soins et des accompagnements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Réduire les coûts de formation</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Automatiser la gestion administrative</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Améliorer la qualité et la sécurité des soins et des accompagnements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systèmes d'IA générative représentent un levier potentiel important pour améliorer la qualité et la sécurité des soins, des parcours et des accompagnements au bénéfice des personnes.</a:t>
            </a:r>
            <a:endParaRPr lang="en-US" sz="1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limite majeure des références sélectionnées est soulignée par l'analyse critique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Elles ne citent aucune source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Elles proposent peu d'actions pratiques concrètes pour vérifier les critères de qualité</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Elles sont toutes en anglais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Elles datent d'avant 2020</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Elles proposent peu d'actions pratiques concrètes pour vérifier les critères de qualité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majorité des références se limitent à donner des explications sur l'IA et proposer des critères de qualité théoriques, mais donnent peu de pistes d'actions pratiques ou concrètes.</a:t>
            </a:r>
            <a:endParaRPr lang="en-US" sz="1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Combien d'entretiens ont été conduits dans le cadre de l'élaboration du guide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17</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31</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44</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95</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31</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Au total, 31 entretiens ont été conduits avec des acteurs variés de l'écosystème de l'IA en santé.</a:t>
            </a:r>
            <a:endParaRPr lang="en-US" sz="1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les entretiens ont-ils été menés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En groupe de travail collectif</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Par questionnaire en ligne uniquement</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 façon semi-directive et individuelle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Par observation des pratiques</a:t>
            </a:r>
            <a:endParaRPr 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De façon semi-directive et individuelle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entretiens ont été semi-directifs et conduits individuellement, pour tenir compte des possibles conflits d'intérêts et du partage éventuel d'éléments confidentiels.</a:t>
            </a:r>
            <a:endParaRPr lang="en-US" sz="1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était la nature des positions formulées par les contributeurs lors des entretiens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positions institutionnelles officielles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positions n'engageant que leur avis propre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consensus collectifs validés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décisions contraignantes</a:t>
            </a:r>
            <a:endParaRPr lang="en-US" sz="1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Des positions n'engageant que leur avis propre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contributeurs ont été sollicités à titre individuel pour formuler des positions n'engageant que leur avis propre, afin d'assurer l'indépendance de chaque contribution.</a:t>
            </a:r>
            <a:endParaRPr lang="en-US" sz="1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Quels types d'acteurs ont participé aux entretiens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des professionnels de santé</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industriels, professionnels, établissements, institutions, associations de patients, syndicats et acheteurs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des industriels du secteur</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des régulateurs publics</a:t>
            </a:r>
            <a:endParaRPr lang="en-US"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Des industriels, professionnels, établissements, institutions, associations de patients, syndicats et acheteurs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entretiens ont impliqué des industriels du secteur, des professionnels de santé utilisateurs, des établissements, des institutions, des associations de patients et d'usagers, des syndicats et des acheteurs hospitaliers.</a:t>
            </a:r>
            <a:endParaRPr lang="en-US" sz="1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question fermée était systématiquement posée en fin d'entretien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Quel système d'IA générative utilisez-vous ?</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HAS devrait-elle s'emparer du sujet de l'IA générative en santé ?</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Combien de fois utilisez-vous l'IA par semaine ?</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Avez-vous déjà subi un incident lié à l'IA ?</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La HAS devrait-elle s'emparer du sujet de l'IA générative en santé ?</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Deux questions fermées clôturaient chaque entretien : la pertinence de la saisine HAS (oui/non) et le public prioritaire pour un premier travail de la HAS.</a:t>
            </a:r>
            <a:endParaRPr lang="en-US" sz="1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proportion des contributeurs aux entretiens a estimé pertinent que la HAS s'empare du sujet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moitié</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tiers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quasi-totalité</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Aucun</a:t>
            </a:r>
            <a:endParaRPr lang="en-US" sz="1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La quasi-totalité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quasi-totalité des contributeurs a exprimé qu'il est pertinent que la HAS s'empare du sujet de l'IA générative en santé.</a:t>
            </a:r>
            <a:endParaRPr lang="en-US" sz="1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public a été priorisé par les contributeurs pour le premier travail de la HAS sur l'IA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patients et usagers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industriels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professionnels des secteurs sanitaire, social et médico-social</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établissements de santé</a:t>
            </a: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Les professionnels des secteurs sanitaire, social et médico-social</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majorité des contributeurs (62 % des votes de priorisation) a exprimé qu'il est pertinent de prioriser un premier travail à destination des professionnels des 3 secteurs.</a:t>
            </a:r>
            <a:endParaRPr lang="en-US" sz="1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besoin spécifique ressort de l'analyse des entretiens concernant le type de guide attendu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guide très technique destiné aux experts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guide simple et pédagogique compréhensible pour des non-connaisseurs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guide réglementaire obligatoire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guide statistique</a:t>
            </a:r>
            <a:endParaRPr lang="en-US"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39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Un guide simple et pédagogique compréhensible pour des non-connaisseurs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besoin d'un guide simple, pédagogique et compréhensible pour des professionnels non connaisseurs de l'IA a été particulièrement souligné lors des entretiens.</a:t>
            </a:r>
            <a:endParaRPr lang="en-US" sz="1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constat les contributeurs font-ils sur l'adoption des systèmes d'IA générative par les professionnels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L'adoption est massive et homogène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L'utilisation semble encore à ses débuts et le niveau de connaissance est très hétérogène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L'IA est déjà intégrée dans toutes les pratiques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professionnels refusent majoritairement l'IA</a:t>
            </a:r>
            <a:endParaRPr lang="en-US" sz="1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L'utilisation semble encore à ses débuts et le niveau de connaissance est très hétérogène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majorité des acteurs interrogés fait état que l'utilisation des systèmes d'IA générative par les professionnels semble encore à ses débuts, avec un niveau de connaissance très hétérogène.</a:t>
            </a:r>
            <a:endParaRPr lang="en-US" sz="1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limite majeure des systèmes d'IA générative est identifiée lors des entretiens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coût trop élevé pour les établissements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manque de pertinence vis-à-vis des besoins réels des professionnels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L'absence de systèmes en français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lenteur de traitement des données</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 manque de pertinence vis-à-vis des besoins réels des professionnels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manque de cohérence entre les systèmes d'IA générative développés et les besoins réels des professionnels est identifié comme une limite majeure par la majorité des contributeurs.</a:t>
            </a:r>
            <a:endParaRPr lang="en-US" sz="1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recommandent les contributeurs pour améliorer la pertinence des systèmes d'IA générative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Interdire les systèmes développés par des industriels étrangers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Impliquer les professionnels dès la définition des cas d'usages jusqu'à l'évaluation</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Créer une agence nationale dédiée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Limiter l'usage à un seul système validé par l'État</a:t>
            </a:r>
            <a:endParaRPr lang="en-US" sz="1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Impliquer les professionnels dès la définition des cas d'usages jusqu'à l'évaluation</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Impliquer les professionnels dès la définition des cas d'usages et jusqu'à leur évaluation dans la pratique réelle favoriserait les usages pertinents, les adhésions et les déploiements pertinents.</a:t>
            </a:r>
            <a:endParaRPr lang="en-US" sz="1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manque général est identifié par les contributeurs en matière d'accompagnement à l'IA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Absence de réglementation</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Manque d'accompagnement à l'implémentation, d'aide à la mise en place et de système qualité</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Absence de formation universitaire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Manque de financement public</a:t>
            </a:r>
            <a:endParaRPr lang="en-US" sz="1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Manque d'accompagnement à l'implémentation, d'aide à la mise en place et de système qualité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contributeurs font état d'un manque et d'un besoin général d'accompagnement à l'implémentation, d'aide à la mise en place et de système qualité pour les systèmes d'IA générative.</a:t>
            </a:r>
            <a:endParaRPr lang="en-US" sz="1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défaut est pointé par les contributeurs concernant les évaluations des systèmes d'IA en santé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évaluations sont trop sévères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évaluations sont menées dans des contextes simplifiés, sans mesure standardisée ni données patients réelles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évaluations sont trop nombreuses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évaluations ne concernent que les performances techniques</a:t>
            </a:r>
            <a:endParaRPr lang="en-US" sz="1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évaluations sont menées dans des contextes simplifiés, sans mesure standardisée ni données patients réelles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évaluations semblent menées dans des contextes simples, sur des cas théoriques, avec inclusion limitée de données patients, sans identification de biais ni mesure standardisée.</a:t>
            </a:r>
            <a:endParaRPr lang="en-US" sz="1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développement positif est néanmoins signalé dans les entretiens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consensus international sur une IA unique en santé</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expérimentations structurées se mettent en place dans des tiers lieux et établissements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financement européen massif de l'IA en santé</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L'obligation légale d'utiliser l'IA dans les ESSMS</a:t>
            </a:r>
            <a:endParaRPr lang="en-US" sz="1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Des expérimentations structurées se mettent en place dans des tiers lieux et établissements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Des tiers lieux d'expérimentation et des établissements de santé mettent en place des protocoles d'expérimentations pour évaluer sur le long terme la pertinence des usages de l'IA.</a:t>
            </a:r>
            <a:endParaRPr lang="en-US" sz="1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Combien de personnes ont été sollicitées pour la relecture du guide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17</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31</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44</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95</a:t>
            </a:r>
            <a:endParaRPr lang="en-US" sz="1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44</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44 personnes ont été sollicitées pour la relecture : 31 contributeurs externes et 13 agents HAS.</a:t>
            </a:r>
            <a:endParaRPr lang="en-US" sz="1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Combien de contributions à la relecture ont effectivement été reçues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17</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31</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32</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44</a:t>
            </a:r>
            <a:endParaRPr lang="en-US" sz="1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32</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32 contributions ont été reçues : 21 réalisées par des contributeurs externes et 11 par des agents HAS. À noter que certains contributeurs ont collaboré pour des retours conjoints.</a:t>
            </a:r>
            <a:endParaRPr lang="en-US" sz="1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taux de participation à la relecture suite aux sollicitations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72 %</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80 %</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90 %</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95 %</a:t>
            </a:r>
            <a:endParaRPr lang="en-US" sz="1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D. 95 %</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Sur 44 personnes sollicitées, seules 2 n'ont pas participé, soit un taux de participation de 95 %.</a:t>
            </a:r>
            <a:endParaRPr lang="en-US" sz="1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a été la durée moyenne de remplissage du questionnaire de relecture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30 minutes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 heure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2 heures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4 heures</a:t>
            </a:r>
            <a:endParaRPr lang="en-US" sz="1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49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D. 4 heures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durée moyenne de remplissage du questionnaire par les contributeurs a été de 4 heures, témoignant de leur investissement général sur le sujet.</a:t>
            </a:r>
            <a:endParaRPr lang="en-US" sz="1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élément du guide a été explicitement apprécié par la majorité des relecteurs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longueur du document</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L'acrostiche A.V.E.C. et les exemples concrets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annexes bibliographiques détaillées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liste des participants</a:t>
            </a:r>
            <a:endParaRPr lang="en-US" sz="1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L'acrostiche A.V.E.C. et les exemples concrets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L'analyse des contributions a mis en lumière que l'utilisation de l'acronyme AVEC et des exemples concrets a été explicitement appréciée par la majorité des contributeurs.</a:t>
            </a:r>
            <a:endParaRPr lang="en-US" sz="1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Suite aux relectures, quelle modification a été apportée aux exemples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Suppression des exemples jugés trop techniques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Complétion des exemples pour renforcer leur pertinence au secteur médico-social et social</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Remplacement des exemples par des cas cliniques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Ajout d'exemples en langue anglaise</a:t>
            </a:r>
            <a:endParaRPr lang="en-US" sz="1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Complétion des exemples pour renforcer leur pertinence au secteur médico-social et social</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exemples ont été complétés afin de renforcer leur pertinence et de favoriser leur applicabilité au secteur médico-social et au secteur social.</a:t>
            </a:r>
            <a:endParaRPr lang="en-US" sz="1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proposition de modification n'a pas été retenue suite aux relectures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clarification du périmètre du guide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L'ajout de précisions avancées sur le fonctionnement théorique des IA</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reformulation des lignes directrices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L'ajustement de la forme générale</a:t>
            </a:r>
            <a:endParaRPr lang="en-US" sz="18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L'ajout de précisions avancées sur le fonctionnement théorique des IA</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L'ajout de précisions et explications avancées autour du fonctionnement et de la théorie des systèmes d'IA n'a pas été retenu, pour maintenir le caractère simple et accessible du guide.</a:t>
            </a:r>
            <a:endParaRPr lang="en-US" sz="1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était le caractère des contributions reçues lors de la relecture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Contraignant — devaient être intégrées obligatoirement</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Consultatif — n'avaient pas vocation à être intégrées de manière exhaustive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Officiel — engageaient les institutions des contributeurs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Décisionnel — imposaient les modifications finales</a:t>
            </a:r>
            <a:endParaRPr lang="en-US" sz="1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Consultatif — n'avaient pas vocation à être intégrées de manière exhaustive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contributions avaient un but consultatif et n'avaient donc pas vocation à être intégrées de manière exhaustive dans la version finale du guide.</a:t>
            </a:r>
            <a:endParaRPr lang="en-US" sz="1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des agents HAS internes ont-ils également participé à la relecture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Par obligation réglementaire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mettre à profit les expertises internes et assurer l'applicabilité à tous les secteurs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valider les aspects juridiques du guide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réduire le nombre de relecteurs externes</a:t>
            </a:r>
            <a:endParaRPr lang="en-US" sz="18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Pour mettre à profit les expertises internes et assurer l'applicabilité à tous les secteurs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agents HAS (13) ont participé pour mettre à profit les expertises internes, favoriser la transversalité, renforcer la compréhensibilité et assurer l'applicabilité à tous les secteurs.</a:t>
            </a:r>
            <a:endParaRPr lang="en-US" sz="1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a été transmise la version provisoire du guide aux contributeurs externes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En réunion collective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Par conférence publique en ligne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Individuellement, deux semaines après une information préalable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Via un portail public de consultation</a:t>
            </a:r>
            <a:endParaRPr lang="en-US" sz="18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Individuellement, deux semaines après une information préalable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version provisoire a été transmise individuellement à chaque contributeur deux semaines après une information préalable, sauf demande contraire de sa part.</a:t>
            </a:r>
            <a:endParaRPr lang="en-US" sz="1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signifie le « A » dans l'acrostiche A.V.E.C.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Analyser</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Apprendre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Anticiper</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Adapter</a:t>
            </a:r>
            <a:endParaRPr lang="en-US" sz="1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Apprendre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 A » de A.V.E.C. signifie « Apprendre ». Cette ligne directrice correspond aux critères liés aux besoins de compréhension des systèmes d'IA générative.</a:t>
            </a:r>
            <a:endParaRPr lang="en-US" sz="1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ligne directrice A.V.E.C. correspond aux besoins de compréhension des systèmes d'IA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Vérifier</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Estimer</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Communiquer</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Apprendre</a:t>
            </a:r>
            <a:endParaRPr lang="en-US" sz="18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D. Apprendre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 Apprendre » correspond aux critères liés aux besoins de compréhension : formations initiales et continues, échanges avec les développeurs, informations institutionnelles.</a:t>
            </a:r>
            <a:endParaRPr lang="en-US" sz="1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organisme est cité comme acteur d'accompagnement des professionnels à l'appropriation de l'IA (ligne Apprendre)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CPAM (Caisse primaire d'assurance maladie)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GRADeS (Groupements Régionaux d'Appui au Développement de la e-Santé)</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ANAP (Agence nationale d'appui à la performance)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HAS elle-même uniquement</a:t>
            </a:r>
            <a:endParaRPr lang="en-US" sz="1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GRADeS (Groupements Régionaux d'Appui au Développement de la e-Santé)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GRADeS (Groupements Régionaux d'Appui au Développement de la e-Santé) sont cités comme acteurs d'accompagnement dans la ligne directrice « Apprendre ».</a:t>
            </a:r>
            <a:endParaRPr lang="en-US" sz="1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Quels domaines sont couverts par les formations citées dans la ligne « Apprendre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les aspects techniques de programmation</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Fonctionnement, potentialités, limites, utilisation, contrôle, enjeux réglementaires et évolutions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Exclusivement la cybersécurité</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gestion des données administratives</a:t>
            </a:r>
            <a:endParaRPr lang="en-US" sz="18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59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Fonctionnement, potentialités, limites, utilisation, contrôle, enjeux réglementaires et évolutions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formations initiales et continues couvrent : les principes de fonctionnement, les potentialités, les limites, l'utilisation, les modalités de contrôle, les enjeux réglementaires et les évolutions technologiques.</a:t>
            </a:r>
            <a:endParaRPr lang="en-US" sz="1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Outre les GRADeS, quels acteurs sont cités pour la ligne directrice « Apprendre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syndicats et les mutuelles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développeurs et les instances institutionnelles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universités et les grandes écoles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patients et les usagers</a:t>
            </a:r>
            <a:endParaRPr lang="en-US" sz="18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développeurs et les instances institutionnelles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ligne « Apprendre » cite : les formations (initiales/continues), les échanges avec les développeurs, les informations via des instances institutionnelles, et l'accompagnement par les GRADeS.</a:t>
            </a:r>
            <a:endParaRPr lang="en-US" sz="1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 ligne directrice « Apprendre » s'inscrit dans quel objectif global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Maîtriser techniquement les systèmes d'IA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Comprendre les principes, potentialités et limites de l'IA générative pour un usage éclairé</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Évaluer les performances des IA</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Réduire les risques cyber</a:t>
            </a:r>
            <a:endParaRPr lang="en-US" sz="18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Comprendre les principes, potentialités et limites de l'IA générative pour un usage éclairé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 Apprendre » vise à développer la compréhension des professionnels : principes de fonctionnement, potentialités, limites, modalités de contrôle et enjeux réglementaires.</a:t>
            </a:r>
            <a:endParaRPr lang="en-US" sz="1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la ligne directrice « Apprendre » est-elle fondamentale avant tout usage de l'IA générative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respecter une obligation légale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pouvoir identifier les opportunités et les risques liés aux usages de l'IA en santé</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obtenir une certification professionnelle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accéder aux systèmes d'IA réservés</a:t>
            </a:r>
            <a:endParaRPr lang="en-US" sz="18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Pour pouvoir identifier les opportunités et les risques liés aux usages de l'IA en santé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Comprendre les principes, les potentialités et les limites des systèmes d'IA générative est indispensable pour identifier les opportunités et gérer les risques associés à leur usage en santé.</a:t>
            </a:r>
            <a:endParaRPr lang="en-US" sz="1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Dans le contexte A.V.E.C., qu'entend-on par « échanges avec les développeurs » dans la ligne Apprendre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Participer au codage des algorithmes d'IA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Interagir avec les concepteurs des systèmes pour comprendre leurs fonctionnements et leurs limites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Télécharger les codes sources des IA</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Former les ingénieurs aux usages médicaux</a:t>
            </a:r>
            <a:endParaRPr lang="en-US" sz="18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Interagir avec les concepteurs des systèmes pour comprendre leurs fonctionnements et leurs limites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échanges avec les développeurs visent à permettre aux professionnels de mieux comprendre le fonctionnement, les limites et les conditions d'usage des systèmes d'IA générative.</a:t>
            </a:r>
            <a:endParaRPr lang="en-US" sz="1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signifie le « V » dans l'acrostiche A.V.E.C.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Valider</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Vérifier</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Veiller</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Valoriser</a:t>
            </a:r>
            <a:endParaRPr lang="en-US" sz="18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Vérifier</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 V » signifie « Vérifier ». Cette ligne directrice correspond aux critères liés aux besoins de contrôle des contenus générés par l'IA.</a:t>
            </a:r>
            <a:endParaRPr lang="en-US" sz="1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action de protection des données est citée en premier dans la ligne directrice « Vérifier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Chiffrement des fichiers envoyés à l'IA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Suppression des informations personnelles des demandes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Utilisation d'un VPN sécurisé</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Désactivation de la mémoire des conversations</a:t>
            </a:r>
            <a:endParaRPr lang="en-US" sz="18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Suppression des informations personnelles des demandes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suppression des informations personnelles des demandes (prompts) est la première action pratique citée dans la ligne directrice « Vérifier ».</a:t>
            </a:r>
            <a:endParaRPr lang="en-US" sz="1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Selon la ligne « Vérifier », que doit faire le professionnel concernant les sources citées par l'IA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ignorer et se fier au résultat final</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identifier, y accéder et les consulter</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transmettre aux développeurs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archiver sans les lire</a:t>
            </a:r>
            <a:endParaRPr lang="en-US" sz="18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identifier, y accéder et les consulter</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ligne « Vérifier » préconise d'identifier les sources, d'y accéder, de les consulter et d'analyser les citations indiquées par le système d'IA.</a:t>
            </a:r>
            <a:endParaRPr lang="en-US" sz="1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pratique est explicitement recommandée dans la ligne « Vérifier » concernant le contenu généré par l'IA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publier directement sans modification</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traduire dans une autre langue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relire rigoureusement et le valider de façon humaine systématique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L'archiver sans le diffuser</a:t>
            </a:r>
            <a:endParaRPr lang="en-US" sz="18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Le relire rigoureusement et le valider de façon humaine systématique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relecture rigoureuse systématique et la validation humaine systématique font partie des actions clefs de la ligne « Vérifier ».</a:t>
            </a:r>
            <a:endParaRPr lang="en-US" sz="1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pratique est déconseillée par la ligne directrice « Vérifier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relecture attentive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validation humaine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copier-coller du contenu généré sans réécriture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L'accès aux sources</a:t>
            </a:r>
            <a:endParaRPr lang="en-US" sz="18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Le copier-coller du contenu généré sans réécriture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limitation du copier-coller est explicitement citée comme action pratique dans « Vérifier ». Le contenu généré doit être réécrit, pas simplement copié-collé.</a:t>
            </a:r>
            <a:endParaRPr lang="en-US" sz="1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la validation humaine systématique est-elle si importante dans la ligne « Vérifier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respecter une obligation légale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compenser les risques d'erreurs, d'hallucinations et de biais des systèmes d'IA</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des raisons de confidentialité</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accélérer le traitement des données</a:t>
            </a:r>
            <a:endParaRPr lang="en-US" sz="18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69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Pour compenser les risques d'erreurs, d'hallucinations et de biais des systèmes d'IA</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systèmes d'IA générative peuvent produire des erreurs, des hallucinations et des biais. La validation humaine systématique est indispensable pour garantir la qualité et la sécurité du contenu.</a:t>
            </a:r>
            <a:endParaRPr lang="en-US" sz="1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préconise la ligne « Vérifier » concernant les demandes (prompts) adressées à l'IA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formuler le plus brièvement possible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Vérifier qu'elles ne contiennent pas de données personnelles ou confidentielles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rédiger en anglais pour plus d'efficacité</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sauvegarder automatiquement</a:t>
            </a:r>
            <a:endParaRPr lang="en-US" sz="18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Vérifier qu'elles ne contiennent pas de données personnelles ou confidentielles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Avant d'adresser toute demande à un système d'IA générative, le professionnel doit s'assurer qu'aucune information personnelle ou confidentielle ne figure dans sa requête.</a:t>
            </a:r>
            <a:endParaRPr lang="en-US" sz="1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 ligne « Vérifier » s'applique de façon systématique à quels moments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lors de la première utilisation d'un système d'IA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À chaque usage de l'IA générative en santé</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Une fois par an lors de l'audit interne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pour les usages cliniques</a:t>
            </a:r>
            <a:endParaRPr lang="en-US" sz="18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À chaque usage de l'IA générative en santé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actions de la ligne « Vérifier » (relecture rigoureuse, validation humaine, limitation du copier-coller) doivent être appliquées de façon systématique à chaque usage.</a:t>
            </a:r>
            <a:endParaRPr lang="en-US" sz="1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Qu'implique la réécriture du contenu généré par l'IA (ligne Vérifier)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Reformuler entièrement le contenu avec ses propres mots professionnels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Corriger uniquement les fautes de frappe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Traduire le contenu dans la langue du patient</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Résumer le contenu en 3 lignes maximum</a:t>
            </a:r>
            <a:endParaRPr lang="en-US" sz="18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A. Reformuler entièrement le contenu avec ses propres mots professionnels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réécriture du contenu généré signifie le reformuler avec ses propres mots professionnels, ce qui évite le copier-coller et permet une validation active du contenu produit par l'IA.</a:t>
            </a:r>
            <a:endParaRPr lang="en-US" sz="1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Parmi ces actions, laquelle appartient à la ligne directrice « Vérifier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Définir des critères d'évaluation qualitatifs et quantitatifs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Informer les patients des usages de l'IA</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Demander et vérifier des citations issues des sources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Participer à des formations institutionnelles</a:t>
            </a:r>
            <a:endParaRPr lang="en-US" sz="18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Demander et vérifier des citations issues des sources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 Demander et vérifier des citations issues des sources » est une action pratique de la ligne « Vérifier ». Les autres appartiennent à Estimer, Communiquer et Apprendre respectivement.</a:t>
            </a:r>
            <a:endParaRPr lang="en-US" sz="1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signifie le « E » dans l'acrostiche A.V.E.C.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Évaluer</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Estimer</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Encadrer</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Expérimenter</a:t>
            </a:r>
            <a:endParaRPr lang="en-US" sz="18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Estimer</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 E » signifie « Estimer ». Cette ligne directrice correspond aux critères liés aux besoins d'analyse et de suivi de la pertinence de l'IA vis-à-vis des pratiques.</a:t>
            </a:r>
            <a:endParaRPr lang="en-US" sz="1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À quoi correspond la ligne directrice « Estimer » dans le cadre A.V.E.C.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Aux critères liés aux besoins de contrôle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Aux critères liés aux besoins d'analyse et de suivi de la pertinence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Aux critères liés aux besoins de compréhension</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Aux critères liés aux besoins de partage d'informations</a:t>
            </a:r>
            <a:endParaRPr lang="en-US" sz="18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Aux critères liés aux besoins d'analyse et de suivi de la pertinence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 Estimer » correspond aux critères liés aux besoins d'analyse et de suivi de la pertinence vis-à-vis des pratiques professionnelles.</a:t>
            </a:r>
            <a:endParaRPr lang="en-US" sz="1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Quels types de critères d'évaluation sont préconisés par la ligne « Estimer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des critères quantitatifs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des critères qualitatifs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critères qualitatifs et quantitatifs combinés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critères réglementaires uniquement</a:t>
            </a:r>
            <a:endParaRPr lang="en-US" sz="18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Des critères qualitatifs et quantitatifs combinés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ligne « Estimer » préconise de définir des critères d'évaluation qualitatifs ET quantitatifs pour apprécier la pertinence des usages de l'IA générative.</a:t>
            </a:r>
            <a:endParaRPr lang="en-US" sz="1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doit-on suivre selon la ligne directrice « Estimer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performances des concurrents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usages, les demandes, les générations, les erreurs et les correctifs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coûts informatiques uniquement</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tendances du marché de l'IA</a:t>
            </a:r>
            <a:endParaRPr lang="en-US" sz="18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usages, les demandes, les générations, les erreurs et les correctifs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ligne « Estimer » préconise : suivi des usages, suivi et contrôle des demandes et des générations, et suivi des erreurs et des mesures correctives.</a:t>
            </a:r>
            <a:endParaRPr lang="en-US" sz="1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est-il important de suivre les erreurs et les correctifs (ligne Estimer)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poursuivre les développeurs en justice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améliorer la pertinence des usages et identifier les mesures correctives à mettre en place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fournir des statistiques au Ministère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justifier l'achat de nouveaux systèmes</a:t>
            </a:r>
            <a:endParaRPr lang="en-US" sz="18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Pour améliorer la pertinence des usages et identifier les mesures correctives à mettre en place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suivi des erreurs et des correctifs permet d'améliorer progressivement la pertinence des usages de l'IA générative et d'identifier les mesures correctives à mettre en œuvre.</a:t>
            </a:r>
            <a:endParaRPr lang="en-US" sz="1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doit-on intégrer dans une démarche qualité institutionnelle selon les contributions des entretiens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réglementation européenne sur l'IA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gestion des utilisations des systèmes d'IA générative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budget informatique annuel</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contrats avec les fournisseurs d'IA</a:t>
            </a:r>
            <a:endParaRPr lang="en-US" sz="18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79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La gestion des utilisations des systèmes d'IA générative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entretiens mentionnent que des établissements de santé intègrent la gestion des utilisations des systèmes d'IA générative dans une démarche qualité institutionnelle.</a:t>
            </a:r>
            <a:endParaRPr lang="en-US" sz="1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Parmi ces actions, laquelle appartient à la ligne directrice « Estimer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Relecture rigoureuse systématique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Signaler les biais et hallucinations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Suivi et contrôle des générations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Informer les patients</a:t>
            </a:r>
            <a:endParaRPr lang="en-US" sz="18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Suivi et contrôle des générations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 suivi et contrôle des générations » appartient à la ligne « Estimer ». Les autres appartiennent à Vérifier, Communiquer et Communiquer respectivement.</a:t>
            </a:r>
            <a:endParaRPr lang="en-US" sz="1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enjeu sous-tend la ligne directrice « Estimer » pour les ESSMS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conformité RGPD uniquement</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L'évaluation continue de la pertinence et de l'impact réel de l'IA sur les pratiques professionnelles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réduction des effectifs grâce à l'IA</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L'optimisation du budget informatique</a:t>
            </a:r>
            <a:endParaRPr lang="en-US" sz="18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L'évaluation continue de la pertinence et de l'impact réel de l'IA sur les pratiques professionnelles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 Estimer » vise à évaluer en continu la pertinence et l'impact réel de l'IA sur les pratiques professionnelles, afin d'orienter les usages et les investissements de façon éclairée.</a:t>
            </a:r>
            <a:endParaRPr lang="en-US" sz="1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signifie le « C » dans l'acrostiche A.V.E.C.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Contrôler</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Certifier</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Communiquer</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Collaborer</a:t>
            </a:r>
            <a:endParaRPr lang="en-US" sz="18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Communiquer</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 C » signifie « Communiquer ». Cette ligne directrice correspond aux critères liés aux besoins de partage d'informations aux personnes, aux gouvernances, aux développeurs et aux utilisateurs.</a:t>
            </a:r>
            <a:endParaRPr lang="en-US" sz="1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À qui le professionnel doit-il communiquer sur ses usages de l'IA générative, selon cette ligne directrice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aux autorités de contrôle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Aux patients/personnes accompagnées, aux gouvernances, aux développeurs et aux autres utilisateurs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aux développeurs des systèmes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aux collègues de l'équipe</a:t>
            </a:r>
            <a:endParaRPr lang="en-US" sz="18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Aux patients/personnes accompagnées, aux gouvernances, aux développeurs et aux autres utilisateurs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ligne « Communiquer » implique : informer les patients des usages faits, partager des retours d'expérience, signaler les biais/erreurs/hallucinations, et échanger avec les développeurs et d'autres utilisateurs.</a:t>
            </a:r>
            <a:endParaRPr lang="en-US" sz="1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Quelles informations doivent être communiquées aux patients concernant l'usage de l'IA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performances techniques du système d'IA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usages faits, les risques, les données partagées et la gestion des générations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coût du système d'IA utilisé</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marque et le fournisseur du système</a:t>
            </a:r>
            <a:endParaRPr lang="en-US" sz="18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usages faits, les risques, les données partagées et la gestion des générations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ligne « Communiquer » préconise d'informer les patients de façon adaptée sur les usages faits de l'IA, les risques, les données partagées et la gestion des générations.</a:t>
            </a:r>
            <a:endParaRPr lang="en-US" sz="1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type de retour d'expérience est attendu dans la ligne « Communiquer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des retours positifs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retours qualitatifs et quantitatifs sur les usages des systèmes d'IA</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retours uniquement à destination des développeurs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 retours confidentiels réservés à la direction</a:t>
            </a:r>
            <a:endParaRPr lang="en-US" sz="18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Des retours qualitatifs et quantitatifs sur les usages des systèmes d'IA</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ligne « Communiquer » préconise des retours d'expérience utilisateurs qualitatifs ET quantitatifs, partagés avec les développeurs et les autres utilisateurs.</a:t>
            </a:r>
            <a:endParaRPr lang="en-US" sz="1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doit faire le professionnel lorsqu'il détecte des biais, des erreurs ou des hallucinations dans les générations de l'IA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ignorer si le résultat global est satisfaisant</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signaler et les analyser dans le cadre de la ligne Communiquer</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corriger sans le signaler</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archiver sans action</a:t>
            </a:r>
            <a:endParaRPr lang="en-US" sz="18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signaler et les analyser dans le cadre de la ligne Communiquer</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ligne « Communiquer » inclut explicitement : les signalements et analyses des biais, des erreurs et des hallucinations, à destination des développeurs et des autres utilisateurs.</a:t>
            </a:r>
            <a:endParaRPr lang="en-US" sz="1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les échanges avec d'autres utilisateurs sont-ils inclus dans la ligne « Communiquer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créer des groupes de lobbying</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partager les expériences, les erreurs identifiées et les bonnes pratiques entre professionnels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commercialiser les données d'usage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former les développeurs</a:t>
            </a:r>
            <a:endParaRPr lang="en-US" sz="18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Pour partager les expériences, les erreurs identifiées et les bonnes pratiques entre professionnels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Les échanges entre utilisateurs permettent de partager les expériences, d'identifier collectivement les erreurs et les hallucinations, et de faire progresser les bonnes pratiques d'usage.</a:t>
            </a:r>
            <a:endParaRPr lang="en-US" sz="19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 ligne « Communiquer » s'applique dans quel sens de communication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de l'institution vers les patients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 façon multidirectionnelle : professionnels, patients, gouvernances, développeurs et autres utilisateurs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des professionnels vers les développeurs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Uniquement entre professionnels de la même équipe</a:t>
            </a:r>
            <a:endParaRPr lang="en-US" sz="18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De façon multidirectionnelle : professionnels, patients, gouvernances, développeurs et autres utilisateurs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 Communiquer » est multidirectionnel : vers les patients (information adaptée), vers les gouvernances et développeurs (retours d'expérience, signalements), et vers les pairs (échanges d'expériences).</a:t>
            </a:r>
            <a:endParaRPr lang="en-US" sz="19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obligation éthique sous-tend l'information des patients dans la ligne « Communiquer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facturation des actes réalisés avec l'IA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droit des personnes accompagnées à être informées des usages de l'IA qui les concernent</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conformité au droit de la propriété intellectuelle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protection du secret industriel du fournisseur d'IA</a:t>
            </a:r>
            <a:endParaRPr lang="en-US" sz="18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89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 droit des personnes accompagnées à être informées des usages de l'IA qui les concernent</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Informer les patients sur les usages de l'IA qui les concernent répond au droit fondamental des personnes accompagnées à l'information, particulièrement important dans les secteurs sanitaire et médico-social.</a:t>
            </a:r>
            <a:endParaRPr lang="en-US" sz="19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permet le signalement des hallucinations des IA dans la dynamique « Communiquer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D'obtenir un remboursement du système défaillant</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D'améliorer progressivement la fiabilité des systèmes d'IA en remontant les erreurs aux développeurs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 suspendre automatiquement l'usage du système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D'alerter les autorités judiciaires</a:t>
            </a:r>
            <a:endParaRPr lang="en-US" sz="18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D'améliorer progressivement la fiabilité des systèmes d'IA en remontant les erreurs aux développeurs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Signaler les hallucinations et erreurs permet de remonter aux développeurs des informations concrètes pour améliorer progressivement la fiabilité des systèmes d'IA.</a:t>
            </a:r>
            <a:endParaRPr lang="en-US" sz="19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Parmi ces actions, laquelle appartient exclusivement à la ligne directrice « Communiquer »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Suivi des usages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Suppression des données personnelles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Information adaptée des patients sur les usages de l'IA</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Définition de critères d'évaluation</a:t>
            </a:r>
            <a:endParaRPr lang="en-US" sz="18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C. Information adaptée des patients sur les usages de l'IA</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L'information adaptée des patients sur les usages faits de l'IA, les risques et les données partagées appartient exclusivement à la ligne « Communiquer ».</a:t>
            </a:r>
            <a:endParaRPr lang="en-US" sz="1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92</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phénomène spécifique aux IA génératives désigne la production de contenus faux présentés comme vrais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biais algorithmique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L'hallucination de l'IA</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L'overfitting</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dérive de modèle</a:t>
            </a:r>
            <a:endParaRPr lang="en-US" sz="18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92</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L'hallucination de l'IA</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L'hallucination désigne la production par une IA générative de contenus faux (citations, faits, sources inventées) présentés avec la même assurance que des informations vraies.</a:t>
            </a:r>
            <a:endParaRPr lang="en-US" sz="1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93</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risque est lié au copier-coller direct d'un contenu généré par l'IA dans un document professionnel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risque de plagiat envers l'IA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risque de propagation d'erreurs, d'hallucinations ou de biais sans validation</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risque de violation du RGPD</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risque de panne du système</a:t>
            </a:r>
            <a:endParaRPr lang="en-US" sz="18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93</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Un risque de propagation d'erreurs, d'hallucinations ou de biais sans validation</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copier-coller sans relecture ni réécriture risque de propager des erreurs ou des hallucinations de l'IA dans des documents professionnels utilisés en contexte de soins ou d'accompagnement.</a:t>
            </a:r>
            <a:endParaRPr lang="en-US" sz="19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94</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risque est spécifiquement lié à l'introduction de données personnelles dans une requête adressée à un système d'IA générative grand public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ralentissement du système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Une violation potentielle de la confidentialité et de la protection des données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Une réponse moins précise de l'IA</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coût supplémentaire de traitement</a:t>
            </a:r>
            <a:endParaRPr lang="en-US" sz="18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94</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Une violation potentielle de la confidentialité et de la protection des données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Introduire des données personnelles dans une requête adressée à un système d'IA grand public expose à des risques de violation de la confidentialité et de non-conformité au RGPD.</a:t>
            </a:r>
            <a:endParaRPr lang="en-US" sz="19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95</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le guide HAS qualifie-t-il le niveau actuel de développement des guides d'usage de l'IA générative en santé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Très avancé et complet</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Encore peu développé</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Suffisant mais perfectible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Déjà trop abondant</a:t>
            </a:r>
            <a:endParaRPr lang="en-US" sz="18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95</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Encore peu développé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guide HAS souligne que les guides pour l'usage des systèmes d'IA générative en santé à destination des professionnels sont encore peu développés.</a:t>
            </a:r>
            <a:endParaRPr lang="en-US" sz="19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96</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limite structurelle des références sélectionnées est identifiée par l'analyse critique de la littérature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Elles sont trop récentes pour être utiles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majorité ne relève pas des principes de l'evidence-based medicine</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Elles sont écrites dans des langues peu accessibles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Elles sont payantes et inaccessibles</a:t>
            </a:r>
            <a:endParaRPr lang="en-US" sz="18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96</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La majorité ne relève pas des principes de l'evidence-based medicine</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majorité des références ne présente pas d'éléments permettant d'affirmer qu'elles ont été élaborées selon les principes de l'evidence-based medicine (EBM).</a:t>
            </a:r>
            <a:endParaRPr lang="en-US" sz="19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97</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cadre est identifié par la littérature et les entretiens comme nécessaire pour accompagner l'usage de l'IA en santé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cadre purement technique et informatique</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cadre de confiance pour éclairer les choix, développer les usages pertinents et assurer la qualité</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cadre purement réglementaire et restrictif</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cadre commercial géré par les industriels</a:t>
            </a:r>
            <a:endParaRPr lang="en-US" sz="18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97</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Un cadre de confiance pour éclairer les choix, développer les usages pertinents et assurer la qualité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L'analyse met en lumière le besoin d'un cadre de confiance pour accompagner l'usage de l'IA en santé, afin d'éclairer les choix technologiques et d'assurer que l'IA améliore la qualité des soins.</a:t>
            </a:r>
            <a:endParaRPr lang="en-US" sz="19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98</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Vers quel public un futur travail de la HAS est-il envisagé à la suite de ce guide sur l'IA générative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industriels du numérique en santé</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personnes et usagers du système de santé</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institutions européennes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directeurs d'établissements uniquement</a:t>
            </a:r>
            <a:endParaRPr lang="en-US" sz="18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98</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Les personnes et usagers du système de santé</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Suite à ce premier guide pour les professionnels, l'élaboration de préconisations pour le bon usage de l'IA générative par les personnes et usagers du système de santé est envisagée.</a:t>
            </a:r>
            <a:endParaRPr lang="en-US" sz="19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99</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méthode en 3 piliers a structuré l'élaboration du guide HAS sur l'IA générative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Essais cliniques, méta-analyses, consensus d'experts</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Analyse critique de la littérature, entretiens avec des acteurs, relecture par des experts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Sondage en ligne, groupes de travail, vote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Benchmarking international, audits terrain, évaluation économique</a:t>
            </a:r>
            <a:endParaRPr lang="en-US" sz="18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99</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Analyse critique de la littérature, entretiens avec des acteurs, relecture par des experts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La méthode repose sur 3 piliers : une analyse critique de la littérature scientifique, des entretiens avec des acteurs de l'écosystème, et une relecture par des acteurs ciblés de l'écosystème.</a:t>
            </a:r>
            <a:endParaRPr lang="en-US" sz="19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100</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principale valeur ajoutée du guide HAS par rapport aux références scientifiques existantes sur l'IA en santé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Il propose des données de performance des IA</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Il offre un cadre pratique, pédagogique, fondé sur la littérature et les retours de terrain, avec des actions concrètes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Il liste les systèmes d'IA autorisés en France</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Il propose des critères de remboursement pour les IA</a:t>
            </a:r>
            <a:endParaRPr lang="en-US" sz="18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100</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Il offre un cadre pratique, pédagogique, fondé sur la littérature et les retours de terrain, avec des actions concrètes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guide apporte ce qui manquait dans la littérature : un cadre pratique et pédagogique (A.V.E.C.) avec des actions concrètes, élaboré avec une méthodologie robuste et ancré dans les réalités de terrain.</a:t>
            </a:r>
            <a:endParaRPr lang="en-US" sz="19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22D3EE"/>
          </a:solidFill>
          <a:ln w="12700">
            <a:solidFill>
              <a:srgbClr val="22D3EE"/>
            </a:solidFill>
            <a:prstDash val="solid"/>
          </a:ln>
        </p:spPr>
      </p:sp>
      <p:sp>
        <p:nvSpPr>
          <p:cNvPr id="4" name="Shape 2"/>
          <p:cNvSpPr/>
          <p:nvPr/>
        </p:nvSpPr>
        <p:spPr>
          <a:xfrm>
            <a:off x="201168" y="0"/>
            <a:ext cx="11987784" cy="1828800"/>
          </a:xfrm>
          <a:prstGeom prst="rect">
            <a:avLst/>
          </a:prstGeom>
          <a:solidFill>
            <a:srgbClr val="0B1A30"/>
          </a:solidFill>
          <a:ln w="12700">
            <a:solidFill>
              <a:srgbClr val="0B1A30"/>
            </a:solidFill>
            <a:prstDash val="solid"/>
          </a:ln>
        </p:spPr>
      </p:sp>
      <p:sp>
        <p:nvSpPr>
          <p:cNvPr id="5" name="Shape 3"/>
          <p:cNvSpPr/>
          <p:nvPr/>
        </p:nvSpPr>
        <p:spPr>
          <a:xfrm>
            <a:off x="201168" y="0"/>
            <a:ext cx="11987784" cy="50292"/>
          </a:xfrm>
          <a:prstGeom prst="rect">
            <a:avLst/>
          </a:prstGeom>
          <a:solidFill>
            <a:srgbClr val="22D3EE"/>
          </a:solidFill>
          <a:ln w="12700">
            <a:solidFill>
              <a:srgbClr val="22D3EE"/>
            </a:solidFill>
            <a:prstDash val="solid"/>
          </a:ln>
        </p:spPr>
      </p:sp>
      <p:sp>
        <p:nvSpPr>
          <p:cNvPr id="6" name="Shape 4"/>
          <p:cNvSpPr/>
          <p:nvPr/>
        </p:nvSpPr>
        <p:spPr>
          <a:xfrm>
            <a:off x="143561" y="172822"/>
            <a:ext cx="640994" cy="640994"/>
          </a:xfrm>
          <a:prstGeom prst="ellipse">
            <a:avLst/>
          </a:prstGeom>
          <a:solidFill>
            <a:srgbClr val="22D3EE"/>
          </a:solidFill>
          <a:ln w="12700">
            <a:solidFill>
              <a:srgbClr val="22D3EE"/>
            </a:solidFill>
            <a:prstDash val="solid"/>
          </a:ln>
        </p:spPr>
      </p:sp>
      <p:sp>
        <p:nvSpPr>
          <p:cNvPr id="7" name="Text 5"/>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101</a:t>
            </a:r>
            <a:endParaRPr lang="en-US" sz="1800" dirty="0"/>
          </a:p>
        </p:txBody>
      </p:sp>
      <p:sp>
        <p:nvSpPr>
          <p:cNvPr id="8" name="Text 6"/>
          <p:cNvSpPr/>
          <p:nvPr/>
        </p:nvSpPr>
        <p:spPr>
          <a:xfrm>
            <a:off x="914400" y="109728"/>
            <a:ext cx="11064240" cy="16642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En quoi le guide HAS sur l'IA générative est-il particulièrement adapté aux professionnels des ESSMS ?</a:t>
            </a:r>
            <a:endParaRPr lang="en-US" sz="2200" dirty="0"/>
          </a:p>
        </p:txBody>
      </p:sp>
      <p:sp>
        <p:nvSpPr>
          <p:cNvPr id="9" name="Shape 7"/>
          <p:cNvSpPr/>
          <p:nvPr/>
        </p:nvSpPr>
        <p:spPr>
          <a:xfrm>
            <a:off x="201168" y="1958645"/>
            <a:ext cx="11987784" cy="1176833"/>
          </a:xfrm>
          <a:prstGeom prst="rect">
            <a:avLst/>
          </a:prstGeom>
          <a:solidFill>
            <a:srgbClr val="071525"/>
          </a:solidFill>
          <a:ln w="12700">
            <a:solidFill>
              <a:srgbClr val="071525"/>
            </a:solidFill>
            <a:prstDash val="solid"/>
          </a:ln>
        </p:spPr>
      </p:sp>
      <p:sp>
        <p:nvSpPr>
          <p:cNvPr id="10" name="Shape 8"/>
          <p:cNvSpPr/>
          <p:nvPr/>
        </p:nvSpPr>
        <p:spPr>
          <a:xfrm>
            <a:off x="201168" y="1958645"/>
            <a:ext cx="72238" cy="1176833"/>
          </a:xfrm>
          <a:prstGeom prst="rect">
            <a:avLst/>
          </a:prstGeom>
          <a:solidFill>
            <a:srgbClr val="22D3EE"/>
          </a:solidFill>
          <a:ln w="12700">
            <a:solidFill>
              <a:srgbClr val="22D3EE"/>
            </a:solidFill>
            <a:prstDash val="solid"/>
          </a:ln>
        </p:spPr>
      </p:sp>
      <p:sp>
        <p:nvSpPr>
          <p:cNvPr id="11" name="Shape 9"/>
          <p:cNvSpPr/>
          <p:nvPr/>
        </p:nvSpPr>
        <p:spPr>
          <a:xfrm>
            <a:off x="320040" y="2178101"/>
            <a:ext cx="640080" cy="640080"/>
          </a:xfrm>
          <a:prstGeom prst="ellipse">
            <a:avLst/>
          </a:prstGeom>
          <a:solidFill>
            <a:srgbClr val="22D3EE"/>
          </a:solidFill>
          <a:ln w="12700">
            <a:solidFill>
              <a:srgbClr val="22D3EE"/>
            </a:solidFill>
            <a:prstDash val="solid"/>
          </a:ln>
        </p:spPr>
      </p:sp>
      <p:sp>
        <p:nvSpPr>
          <p:cNvPr id="12" name="Text 10"/>
          <p:cNvSpPr/>
          <p:nvPr/>
        </p:nvSpPr>
        <p:spPr>
          <a:xfrm>
            <a:off x="320040" y="2178101"/>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a:t>
            </a:r>
            <a:endParaRPr lang="en-US" sz="1600" dirty="0"/>
          </a:p>
        </p:txBody>
      </p:sp>
      <p:sp>
        <p:nvSpPr>
          <p:cNvPr id="13" name="Text 11"/>
          <p:cNvSpPr/>
          <p:nvPr/>
        </p:nvSpPr>
        <p:spPr>
          <a:xfrm>
            <a:off x="1097280" y="2013509"/>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Il est réservé aux établissements médico-sociaux uniquement</a:t>
            </a:r>
            <a:endParaRPr lang="en-US" sz="1800" dirty="0"/>
          </a:p>
        </p:txBody>
      </p:sp>
      <p:sp>
        <p:nvSpPr>
          <p:cNvPr id="14" name="Shape 12"/>
          <p:cNvSpPr/>
          <p:nvPr/>
        </p:nvSpPr>
        <p:spPr>
          <a:xfrm>
            <a:off x="201168" y="3153766"/>
            <a:ext cx="11987784" cy="1176833"/>
          </a:xfrm>
          <a:prstGeom prst="rect">
            <a:avLst/>
          </a:prstGeom>
          <a:solidFill>
            <a:srgbClr val="071525"/>
          </a:solidFill>
          <a:ln w="12700">
            <a:solidFill>
              <a:srgbClr val="071525"/>
            </a:solidFill>
            <a:prstDash val="solid"/>
          </a:ln>
        </p:spPr>
      </p:sp>
      <p:sp>
        <p:nvSpPr>
          <p:cNvPr id="15" name="Shape 13"/>
          <p:cNvSpPr/>
          <p:nvPr/>
        </p:nvSpPr>
        <p:spPr>
          <a:xfrm>
            <a:off x="201168" y="3153766"/>
            <a:ext cx="72238" cy="1176833"/>
          </a:xfrm>
          <a:prstGeom prst="rect">
            <a:avLst/>
          </a:prstGeom>
          <a:solidFill>
            <a:srgbClr val="A855F7"/>
          </a:solidFill>
          <a:ln w="12700">
            <a:solidFill>
              <a:srgbClr val="A855F7"/>
            </a:solidFill>
            <a:prstDash val="solid"/>
          </a:ln>
        </p:spPr>
      </p:sp>
      <p:sp>
        <p:nvSpPr>
          <p:cNvPr id="16" name="Shape 14"/>
          <p:cNvSpPr/>
          <p:nvPr/>
        </p:nvSpPr>
        <p:spPr>
          <a:xfrm>
            <a:off x="320040" y="3373222"/>
            <a:ext cx="640080" cy="640080"/>
          </a:xfrm>
          <a:prstGeom prst="ellipse">
            <a:avLst/>
          </a:prstGeom>
          <a:solidFill>
            <a:srgbClr val="A855F7"/>
          </a:solidFill>
          <a:ln w="12700">
            <a:solidFill>
              <a:srgbClr val="A855F7"/>
            </a:solidFill>
            <a:prstDash val="solid"/>
          </a:ln>
        </p:spPr>
      </p:sp>
      <p:sp>
        <p:nvSpPr>
          <p:cNvPr id="17" name="Text 15"/>
          <p:cNvSpPr/>
          <p:nvPr/>
        </p:nvSpPr>
        <p:spPr>
          <a:xfrm>
            <a:off x="320040" y="337322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a:t>
            </a:r>
            <a:endParaRPr lang="en-US" sz="1600" dirty="0"/>
          </a:p>
        </p:txBody>
      </p:sp>
      <p:sp>
        <p:nvSpPr>
          <p:cNvPr id="18" name="Text 16"/>
          <p:cNvSpPr/>
          <p:nvPr/>
        </p:nvSpPr>
        <p:spPr>
          <a:xfrm>
            <a:off x="1097280" y="320863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Il est simple, pédagogique, non-expert, avec des exemples adaptés au secteur médico-social, et inclut l'information des personnes accompagnées</a:t>
            </a:r>
            <a:endParaRPr lang="en-US" sz="1800" dirty="0"/>
          </a:p>
        </p:txBody>
      </p:sp>
      <p:sp>
        <p:nvSpPr>
          <p:cNvPr id="19" name="Shape 17"/>
          <p:cNvSpPr/>
          <p:nvPr/>
        </p:nvSpPr>
        <p:spPr>
          <a:xfrm>
            <a:off x="201168" y="4348886"/>
            <a:ext cx="11987784" cy="1176833"/>
          </a:xfrm>
          <a:prstGeom prst="rect">
            <a:avLst/>
          </a:prstGeom>
          <a:solidFill>
            <a:srgbClr val="071525"/>
          </a:solidFill>
          <a:ln w="12700">
            <a:solidFill>
              <a:srgbClr val="071525"/>
            </a:solidFill>
            <a:prstDash val="solid"/>
          </a:ln>
        </p:spPr>
      </p:sp>
      <p:sp>
        <p:nvSpPr>
          <p:cNvPr id="20" name="Shape 18"/>
          <p:cNvSpPr/>
          <p:nvPr/>
        </p:nvSpPr>
        <p:spPr>
          <a:xfrm>
            <a:off x="201168" y="4348886"/>
            <a:ext cx="72238" cy="1176833"/>
          </a:xfrm>
          <a:prstGeom prst="rect">
            <a:avLst/>
          </a:prstGeom>
          <a:solidFill>
            <a:srgbClr val="F43F5E"/>
          </a:solidFill>
          <a:ln w="12700">
            <a:solidFill>
              <a:srgbClr val="F43F5E"/>
            </a:solidFill>
            <a:prstDash val="solid"/>
          </a:ln>
        </p:spPr>
      </p:sp>
      <p:sp>
        <p:nvSpPr>
          <p:cNvPr id="21" name="Shape 19"/>
          <p:cNvSpPr/>
          <p:nvPr/>
        </p:nvSpPr>
        <p:spPr>
          <a:xfrm>
            <a:off x="320040" y="4568342"/>
            <a:ext cx="640080" cy="640080"/>
          </a:xfrm>
          <a:prstGeom prst="ellipse">
            <a:avLst/>
          </a:prstGeom>
          <a:solidFill>
            <a:srgbClr val="F43F5E"/>
          </a:solidFill>
          <a:ln w="12700">
            <a:solidFill>
              <a:srgbClr val="F43F5E"/>
            </a:solidFill>
            <a:prstDash val="solid"/>
          </a:ln>
        </p:spPr>
      </p:sp>
      <p:sp>
        <p:nvSpPr>
          <p:cNvPr id="22" name="Text 20"/>
          <p:cNvSpPr/>
          <p:nvPr/>
        </p:nvSpPr>
        <p:spPr>
          <a:xfrm>
            <a:off x="320040" y="4568342"/>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C</a:t>
            </a:r>
            <a:endParaRPr lang="en-US" sz="1600" dirty="0"/>
          </a:p>
        </p:txBody>
      </p:sp>
      <p:sp>
        <p:nvSpPr>
          <p:cNvPr id="23" name="Text 21"/>
          <p:cNvSpPr/>
          <p:nvPr/>
        </p:nvSpPr>
        <p:spPr>
          <a:xfrm>
            <a:off x="1097280" y="4403750"/>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Il propose des critères de financement spécifiques aux ESSMS</a:t>
            </a:r>
            <a:endParaRPr lang="en-US" sz="1800" dirty="0"/>
          </a:p>
        </p:txBody>
      </p:sp>
      <p:sp>
        <p:nvSpPr>
          <p:cNvPr id="24" name="Shape 22"/>
          <p:cNvSpPr/>
          <p:nvPr/>
        </p:nvSpPr>
        <p:spPr>
          <a:xfrm>
            <a:off x="201168" y="5544007"/>
            <a:ext cx="11987784" cy="1176833"/>
          </a:xfrm>
          <a:prstGeom prst="rect">
            <a:avLst/>
          </a:prstGeom>
          <a:solidFill>
            <a:srgbClr val="071525"/>
          </a:solidFill>
          <a:ln w="12700">
            <a:solidFill>
              <a:srgbClr val="071525"/>
            </a:solidFill>
            <a:prstDash val="solid"/>
          </a:ln>
        </p:spPr>
      </p:sp>
      <p:sp>
        <p:nvSpPr>
          <p:cNvPr id="25" name="Shape 23"/>
          <p:cNvSpPr/>
          <p:nvPr/>
        </p:nvSpPr>
        <p:spPr>
          <a:xfrm>
            <a:off x="201168" y="5544007"/>
            <a:ext cx="72238" cy="1176833"/>
          </a:xfrm>
          <a:prstGeom prst="rect">
            <a:avLst/>
          </a:prstGeom>
          <a:solidFill>
            <a:srgbClr val="10B981"/>
          </a:solidFill>
          <a:ln w="12700">
            <a:solidFill>
              <a:srgbClr val="10B981"/>
            </a:solidFill>
            <a:prstDash val="solid"/>
          </a:ln>
        </p:spPr>
      </p:sp>
      <p:sp>
        <p:nvSpPr>
          <p:cNvPr id="26" name="Shape 24"/>
          <p:cNvSpPr/>
          <p:nvPr/>
        </p:nvSpPr>
        <p:spPr>
          <a:xfrm>
            <a:off x="320040" y="5763463"/>
            <a:ext cx="640080" cy="640080"/>
          </a:xfrm>
          <a:prstGeom prst="ellipse">
            <a:avLst/>
          </a:prstGeom>
          <a:solidFill>
            <a:srgbClr val="10B981"/>
          </a:solidFill>
          <a:ln w="12700">
            <a:solidFill>
              <a:srgbClr val="10B981"/>
            </a:solidFill>
            <a:prstDash val="solid"/>
          </a:ln>
        </p:spPr>
      </p:sp>
      <p:sp>
        <p:nvSpPr>
          <p:cNvPr id="27" name="Text 25"/>
          <p:cNvSpPr/>
          <p:nvPr/>
        </p:nvSpPr>
        <p:spPr>
          <a:xfrm>
            <a:off x="320040" y="5763463"/>
            <a:ext cx="640080" cy="64008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a:t>
            </a:r>
            <a:endParaRPr lang="en-US" sz="1600" dirty="0"/>
          </a:p>
        </p:txBody>
      </p:sp>
      <p:sp>
        <p:nvSpPr>
          <p:cNvPr id="28" name="Text 26"/>
          <p:cNvSpPr/>
          <p:nvPr/>
        </p:nvSpPr>
        <p:spPr>
          <a:xfrm>
            <a:off x="1097280" y="5598871"/>
            <a:ext cx="10881360" cy="1067105"/>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Il remplace les formations obligatoires</a:t>
            </a:r>
            <a:endParaRPr lang="en-US" sz="18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040C1A"/>
        </a:solidFill>
      </p:bgPr>
    </p:bg>
    <p:spTree>
      <p:nvGrpSpPr>
        <p:cNvPr id="1" name=""/>
        <p:cNvGrpSpPr/>
        <p:nvPr/>
      </p:nvGrpSpPr>
      <p:grpSpPr>
        <a:xfrm>
          <a:off x="0" y="0"/>
          <a:ext cx="0" cy="0"/>
          <a:chOff x="0" y="0"/>
          <a:chExt cx="0" cy="0"/>
        </a:xfrm>
      </p:grpSpPr>
      <p:sp>
        <p:nvSpPr>
          <p:cNvPr id="2" name="Shape 0"/>
          <p:cNvSpPr/>
          <p:nvPr/>
        </p:nvSpPr>
        <p:spPr>
          <a:xfrm>
            <a:off x="0" y="0"/>
            <a:ext cx="72238" cy="6858000"/>
          </a:xfrm>
          <a:prstGeom prst="rect">
            <a:avLst/>
          </a:prstGeom>
          <a:solidFill>
            <a:srgbClr val="4A6FA5"/>
          </a:solidFill>
          <a:ln w="12700">
            <a:solidFill>
              <a:srgbClr val="4A6FA5"/>
            </a:solidFill>
            <a:prstDash val="solid"/>
          </a:ln>
        </p:spPr>
      </p:sp>
      <p:sp>
        <p:nvSpPr>
          <p:cNvPr id="3" name="Shape 1"/>
          <p:cNvSpPr/>
          <p:nvPr/>
        </p:nvSpPr>
        <p:spPr>
          <a:xfrm>
            <a:off x="0" y="0"/>
            <a:ext cx="50292" cy="6858000"/>
          </a:xfrm>
          <a:prstGeom prst="rect">
            <a:avLst/>
          </a:prstGeom>
          <a:solidFill>
            <a:srgbClr val="34D399"/>
          </a:solidFill>
          <a:ln w="12700">
            <a:solidFill>
              <a:srgbClr val="34D399"/>
            </a:solidFill>
            <a:prstDash val="solid"/>
          </a:ln>
        </p:spPr>
      </p:sp>
      <p:sp>
        <p:nvSpPr>
          <p:cNvPr id="4" name="Shape 2"/>
          <p:cNvSpPr/>
          <p:nvPr/>
        </p:nvSpPr>
        <p:spPr>
          <a:xfrm>
            <a:off x="201168" y="719633"/>
            <a:ext cx="11879885" cy="1079906"/>
          </a:xfrm>
          <a:prstGeom prst="rect">
            <a:avLst/>
          </a:prstGeom>
          <a:solidFill>
            <a:srgbClr val="064E3B"/>
          </a:solidFill>
          <a:ln w="12700">
            <a:solidFill>
              <a:srgbClr val="064E3B"/>
            </a:solidFill>
            <a:prstDash val="solid"/>
          </a:ln>
        </p:spPr>
      </p:sp>
      <p:sp>
        <p:nvSpPr>
          <p:cNvPr id="5" name="Shape 3"/>
          <p:cNvSpPr/>
          <p:nvPr/>
        </p:nvSpPr>
        <p:spPr>
          <a:xfrm>
            <a:off x="201168" y="719633"/>
            <a:ext cx="72238" cy="1079906"/>
          </a:xfrm>
          <a:prstGeom prst="rect">
            <a:avLst/>
          </a:prstGeom>
          <a:solidFill>
            <a:srgbClr val="34D399"/>
          </a:solidFill>
          <a:ln w="12700">
            <a:solidFill>
              <a:srgbClr val="34D399"/>
            </a:solidFill>
            <a:prstDash val="solid"/>
          </a:ln>
        </p:spPr>
      </p:sp>
      <p:sp>
        <p:nvSpPr>
          <p:cNvPr id="6" name="Shape 4"/>
          <p:cNvSpPr/>
          <p:nvPr/>
        </p:nvSpPr>
        <p:spPr>
          <a:xfrm>
            <a:off x="201168" y="0"/>
            <a:ext cx="11879885" cy="719633"/>
          </a:xfrm>
          <a:prstGeom prst="rect">
            <a:avLst/>
          </a:prstGeom>
          <a:solidFill>
            <a:srgbClr val="0B1A30"/>
          </a:solidFill>
          <a:ln w="12700">
            <a:solidFill>
              <a:srgbClr val="0B1A30"/>
            </a:solidFill>
            <a:prstDash val="solid"/>
          </a:ln>
        </p:spPr>
      </p:sp>
      <p:sp>
        <p:nvSpPr>
          <p:cNvPr id="7" name="Shape 5"/>
          <p:cNvSpPr/>
          <p:nvPr/>
        </p:nvSpPr>
        <p:spPr>
          <a:xfrm>
            <a:off x="201168" y="0"/>
            <a:ext cx="11879885" cy="50292"/>
          </a:xfrm>
          <a:prstGeom prst="rect">
            <a:avLst/>
          </a:prstGeom>
          <a:solidFill>
            <a:srgbClr val="34D399"/>
          </a:solidFill>
          <a:ln w="12700">
            <a:solidFill>
              <a:srgbClr val="34D399"/>
            </a:solidFill>
            <a:prstDash val="solid"/>
          </a:ln>
        </p:spPr>
      </p:sp>
      <p:sp>
        <p:nvSpPr>
          <p:cNvPr id="8" name="Shape 6"/>
          <p:cNvSpPr/>
          <p:nvPr/>
        </p:nvSpPr>
        <p:spPr>
          <a:xfrm>
            <a:off x="143561" y="172822"/>
            <a:ext cx="640994" cy="640994"/>
          </a:xfrm>
          <a:prstGeom prst="ellipse">
            <a:avLst/>
          </a:prstGeom>
          <a:solidFill>
            <a:srgbClr val="34D399"/>
          </a:solidFill>
          <a:ln w="12700">
            <a:solidFill>
              <a:srgbClr val="34D399"/>
            </a:solidFill>
            <a:prstDash val="solid"/>
          </a:ln>
        </p:spPr>
      </p:sp>
      <p:sp>
        <p:nvSpPr>
          <p:cNvPr id="9" name="Text 7"/>
          <p:cNvSpPr/>
          <p:nvPr/>
        </p:nvSpPr>
        <p:spPr>
          <a:xfrm>
            <a:off x="143561" y="172822"/>
            <a:ext cx="640994" cy="640994"/>
          </a:xfrm>
          <a:prstGeom prst="rect">
            <a:avLst/>
          </a:prstGeom>
          <a:noFill/>
          <a:ln/>
        </p:spPr>
        <p:txBody>
          <a:bodyPr wrap="square"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101</a:t>
            </a:r>
            <a:endParaRPr lang="en-US" sz="1800" dirty="0"/>
          </a:p>
        </p:txBody>
      </p:sp>
      <p:sp>
        <p:nvSpPr>
          <p:cNvPr id="10" name="Text 8"/>
          <p:cNvSpPr/>
          <p:nvPr/>
        </p:nvSpPr>
        <p:spPr>
          <a:xfrm>
            <a:off x="914400" y="54864"/>
            <a:ext cx="10789920" cy="621792"/>
          </a:xfrm>
          <a:prstGeom prst="rect">
            <a:avLst/>
          </a:prstGeom>
          <a:noFill/>
          <a:ln/>
        </p:spPr>
        <p:txBody>
          <a:bodyPr wrap="square"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  RÉPONSE CORRECTE</a:t>
            </a:r>
            <a:endParaRPr lang="en-US" sz="1400" dirty="0"/>
          </a:p>
        </p:txBody>
      </p:sp>
      <p:sp>
        <p:nvSpPr>
          <p:cNvPr id="11" name="Text 9"/>
          <p:cNvSpPr/>
          <p:nvPr/>
        </p:nvSpPr>
        <p:spPr>
          <a:xfrm>
            <a:off x="548640" y="749808"/>
            <a:ext cx="11247120" cy="1005840"/>
          </a:xfrm>
          <a:prstGeom prst="rect">
            <a:avLst/>
          </a:prstGeom>
          <a:noFill/>
          <a:ln/>
        </p:spPr>
        <p:txBody>
          <a:bodyPr wrap="square"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B. Il est simple, pédagogique, non-expert, avec des exemples adaptés au secteur médico-social, et inclut l'information des personnes accompagnées</a:t>
            </a:r>
            <a:endParaRPr lang="en-US" sz="2200" dirty="0"/>
          </a:p>
        </p:txBody>
      </p:sp>
      <p:sp>
        <p:nvSpPr>
          <p:cNvPr id="12" name="Shape 10"/>
          <p:cNvSpPr/>
          <p:nvPr/>
        </p:nvSpPr>
        <p:spPr>
          <a:xfrm>
            <a:off x="201168" y="2232050"/>
            <a:ext cx="11879885" cy="4388206"/>
          </a:xfrm>
          <a:prstGeom prst="rect">
            <a:avLst/>
          </a:prstGeom>
          <a:solidFill>
            <a:srgbClr val="071525"/>
          </a:solidFill>
          <a:ln w="12700">
            <a:solidFill>
              <a:srgbClr val="071525"/>
            </a:solidFill>
            <a:prstDash val="solid"/>
          </a:ln>
        </p:spPr>
      </p:sp>
      <p:sp>
        <p:nvSpPr>
          <p:cNvPr id="13" name="Shape 11"/>
          <p:cNvSpPr/>
          <p:nvPr/>
        </p:nvSpPr>
        <p:spPr>
          <a:xfrm>
            <a:off x="201168" y="2232050"/>
            <a:ext cx="72238" cy="4388206"/>
          </a:xfrm>
          <a:prstGeom prst="rect">
            <a:avLst/>
          </a:prstGeom>
          <a:solidFill>
            <a:srgbClr val="7BA8D8"/>
          </a:solidFill>
          <a:ln w="12700">
            <a:solidFill>
              <a:srgbClr val="7BA8D8"/>
            </a:solidFill>
            <a:prstDash val="solid"/>
          </a:ln>
        </p:spPr>
      </p:sp>
      <p:sp>
        <p:nvSpPr>
          <p:cNvPr id="14" name="Text 12"/>
          <p:cNvSpPr/>
          <p:nvPr/>
        </p:nvSpPr>
        <p:spPr>
          <a:xfrm>
            <a:off x="548640" y="2304288"/>
            <a:ext cx="11155680" cy="411480"/>
          </a:xfrm>
          <a:prstGeom prst="rect">
            <a:avLst/>
          </a:prstGeom>
          <a:noFill/>
          <a:ln/>
        </p:spPr>
        <p:txBody>
          <a:bodyPr wrap="square" rtlCol="0" anchor="ctr"/>
          <a:lstStyle/>
          <a:p>
            <a:pPr indent="0" marL="0">
              <a:buNone/>
            </a:pPr>
            <a:r>
              <a:rPr lang="en-US" sz="1300" b="1" spc="200" kern="0" dirty="0">
                <a:solidFill>
                  <a:srgbClr val="7BA8D8"/>
                </a:solidFill>
                <a:latin typeface="Calibri" pitchFamily="34" charset="0"/>
                <a:ea typeface="Calibri" pitchFamily="34" charset="-122"/>
                <a:cs typeface="Calibri" pitchFamily="34" charset="-120"/>
              </a:rPr>
              <a:t>EXPLICATION</a:t>
            </a:r>
            <a:endParaRPr lang="en-US" sz="1300" dirty="0"/>
          </a:p>
        </p:txBody>
      </p:sp>
      <p:sp>
        <p:nvSpPr>
          <p:cNvPr id="15" name="Text 13"/>
          <p:cNvSpPr/>
          <p:nvPr/>
        </p:nvSpPr>
        <p:spPr>
          <a:xfrm>
            <a:off x="548640" y="2788920"/>
            <a:ext cx="11155680" cy="3657600"/>
          </a:xfrm>
          <a:prstGeom prst="rect">
            <a:avLst/>
          </a:prstGeom>
          <a:noFill/>
          <a:ln/>
        </p:spPr>
        <p:txBody>
          <a:bodyPr wrap="square" rtlCol="0" anchor="t"/>
          <a:lstStyle/>
          <a:p>
            <a:pPr indent="0" marL="0">
              <a:buNone/>
            </a:pPr>
            <a:r>
              <a:rPr lang="en-US" sz="1900" dirty="0">
                <a:solidFill>
                  <a:srgbClr val="FFFFFF"/>
                </a:solidFill>
                <a:latin typeface="Calibri" pitchFamily="34" charset="0"/>
                <a:ea typeface="Calibri" pitchFamily="34" charset="-122"/>
                <a:cs typeface="Calibri" pitchFamily="34" charset="-120"/>
              </a:rPr>
              <a:t>Le guide est adapté aux ESSMS : format simple et pédagogique pour non-experts, exemples complétés pour le secteur médico-social, et intégration de l'information des personnes accompagnées (Communiquer).</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203</Slides>
  <Notes>203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203</vt:i4>
      </vt:variant>
    </vt:vector>
  </HeadingPairs>
  <TitlesOfParts>
    <vt:vector size="20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 — IA générative en santé (HAS 2025)</dc:title>
  <dc:subject>Quiz QCM 100 questions</dc:subject>
  <dc:creator>Claude Travail</dc:creator>
  <cp:lastModifiedBy>Claude Travail</cp:lastModifiedBy>
  <cp:revision>1</cp:revision>
  <dcterms:created xsi:type="dcterms:W3CDTF">2026-04-19T20:37:31Z</dcterms:created>
  <dcterms:modified xsi:type="dcterms:W3CDTF">2026-04-19T20:37:31Z</dcterms:modified>
</cp:coreProperties>
</file>