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slideMasters/slideMaster145.xml" ContentType="application/vnd.openxmlformats-officedocument.presentationml.slideMaster+xml"/>
  <Override PartName="/ppt/slides/slide145.xml" ContentType="application/vnd.openxmlformats-officedocument.presentationml.slide+xml"/>
  <Override PartName="/ppt/slideMasters/slideMaster146.xml" ContentType="application/vnd.openxmlformats-officedocument.presentationml.slideMaster+xml"/>
  <Override PartName="/ppt/slides/slide146.xml" ContentType="application/vnd.openxmlformats-officedocument.presentationml.slide+xml"/>
  <Override PartName="/ppt/slideMasters/slideMaster147.xml" ContentType="application/vnd.openxmlformats-officedocument.presentationml.slideMaster+xml"/>
  <Override PartName="/ppt/slides/slide147.xml" ContentType="application/vnd.openxmlformats-officedocument.presentationml.slide+xml"/>
  <Override PartName="/ppt/slideMasters/slideMaster148.xml" ContentType="application/vnd.openxmlformats-officedocument.presentationml.slideMaster+xml"/>
  <Override PartName="/ppt/slides/slide148.xml" ContentType="application/vnd.openxmlformats-officedocument.presentationml.slide+xml"/>
  <Override PartName="/ppt/slideMasters/slideMaster149.xml" ContentType="application/vnd.openxmlformats-officedocument.presentationml.slideMaster+xml"/>
  <Override PartName="/ppt/slides/slide149.xml" ContentType="application/vnd.openxmlformats-officedocument.presentationml.slide+xml"/>
  <Override PartName="/ppt/slideMasters/slideMaster150.xml" ContentType="application/vnd.openxmlformats-officedocument.presentationml.slideMaster+xml"/>
  <Override PartName="/ppt/slides/slide150.xml" ContentType="application/vnd.openxmlformats-officedocument.presentationml.slide+xml"/>
  <Override PartName="/ppt/slideMasters/slideMaster151.xml" ContentType="application/vnd.openxmlformats-officedocument.presentationml.slideMaster+xml"/>
  <Override PartName="/ppt/slides/slide151.xml" ContentType="application/vnd.openxmlformats-officedocument.presentationml.slide+xml"/>
  <Override PartName="/ppt/slideMasters/slideMaster152.xml" ContentType="application/vnd.openxmlformats-officedocument.presentationml.slideMaster+xml"/>
  <Override PartName="/ppt/slides/slide152.xml" ContentType="application/vnd.openxmlformats-officedocument.presentationml.slide+xml"/>
  <Override PartName="/ppt/slideMasters/slideMaster153.xml" ContentType="application/vnd.openxmlformats-officedocument.presentationml.slideMaster+xml"/>
  <Override PartName="/ppt/slides/slide153.xml" ContentType="application/vnd.openxmlformats-officedocument.presentationml.slide+xml"/>
  <Override PartName="/ppt/slideMasters/slideMaster154.xml" ContentType="application/vnd.openxmlformats-officedocument.presentationml.slideMaster+xml"/>
  <Override PartName="/ppt/slides/slide154.xml" ContentType="application/vnd.openxmlformats-officedocument.presentationml.slide+xml"/>
  <Override PartName="/ppt/slideMasters/slideMaster155.xml" ContentType="application/vnd.openxmlformats-officedocument.presentationml.slideMaster+xml"/>
  <Override PartName="/ppt/slides/slide155.xml" ContentType="application/vnd.openxmlformats-officedocument.presentationml.slide+xml"/>
  <Override PartName="/ppt/slideMasters/slideMaster156.xml" ContentType="application/vnd.openxmlformats-officedocument.presentationml.slideMaster+xml"/>
  <Override PartName="/ppt/slides/slide156.xml" ContentType="application/vnd.openxmlformats-officedocument.presentationml.slide+xml"/>
  <Override PartName="/ppt/slideMasters/slideMaster157.xml" ContentType="application/vnd.openxmlformats-officedocument.presentationml.slideMaster+xml"/>
  <Override PartName="/ppt/slides/slide157.xml" ContentType="application/vnd.openxmlformats-officedocument.presentationml.slide+xml"/>
  <Override PartName="/ppt/slideMasters/slideMaster158.xml" ContentType="application/vnd.openxmlformats-officedocument.presentationml.slideMaster+xml"/>
  <Override PartName="/ppt/slides/slide158.xml" ContentType="application/vnd.openxmlformats-officedocument.presentationml.slide+xml"/>
  <Override PartName="/ppt/slideMasters/slideMaster159.xml" ContentType="application/vnd.openxmlformats-officedocument.presentationml.slideMaster+xml"/>
  <Override PartName="/ppt/slides/slide159.xml" ContentType="application/vnd.openxmlformats-officedocument.presentationml.slide+xml"/>
  <Override PartName="/ppt/slideMasters/slideMaster160.xml" ContentType="application/vnd.openxmlformats-officedocument.presentationml.slideMaster+xml"/>
  <Override PartName="/ppt/slides/slide160.xml" ContentType="application/vnd.openxmlformats-officedocument.presentationml.slide+xml"/>
  <Override PartName="/ppt/slideMasters/slideMaster161.xml" ContentType="application/vnd.openxmlformats-officedocument.presentationml.slideMaster+xml"/>
  <Override PartName="/ppt/slides/slide161.xml" ContentType="application/vnd.openxmlformats-officedocument.presentationml.slide+xml"/>
  <Override PartName="/ppt/slideMasters/slideMaster162.xml" ContentType="application/vnd.openxmlformats-officedocument.presentationml.slideMaster+xml"/>
  <Override PartName="/ppt/slides/slide162.xml" ContentType="application/vnd.openxmlformats-officedocument.presentationml.slide+xml"/>
  <Override PartName="/ppt/slideMasters/slideMaster163.xml" ContentType="application/vnd.openxmlformats-officedocument.presentationml.slideMaster+xml"/>
  <Override PartName="/ppt/slides/slide163.xml" ContentType="application/vnd.openxmlformats-officedocument.presentationml.slide+xml"/>
  <Override PartName="/ppt/slideMasters/slideMaster164.xml" ContentType="application/vnd.openxmlformats-officedocument.presentationml.slideMaster+xml"/>
  <Override PartName="/ppt/slides/slide164.xml" ContentType="application/vnd.openxmlformats-officedocument.presentationml.slide+xml"/>
  <Override PartName="/ppt/slideMasters/slideMaster165.xml" ContentType="application/vnd.openxmlformats-officedocument.presentationml.slideMaster+xml"/>
  <Override PartName="/ppt/slides/slide165.xml" ContentType="application/vnd.openxmlformats-officedocument.presentationml.slide+xml"/>
  <Override PartName="/ppt/slideMasters/slideMaster166.xml" ContentType="application/vnd.openxmlformats-officedocument.presentationml.slideMaster+xml"/>
  <Override PartName="/ppt/slides/slide166.xml" ContentType="application/vnd.openxmlformats-officedocument.presentationml.slide+xml"/>
  <Override PartName="/ppt/slideMasters/slideMaster167.xml" ContentType="application/vnd.openxmlformats-officedocument.presentationml.slideMaster+xml"/>
  <Override PartName="/ppt/slides/slide167.xml" ContentType="application/vnd.openxmlformats-officedocument.presentationml.slide+xml"/>
  <Override PartName="/ppt/slideMasters/slideMaster168.xml" ContentType="application/vnd.openxmlformats-officedocument.presentationml.slideMaster+xml"/>
  <Override PartName="/ppt/slides/slide168.xml" ContentType="application/vnd.openxmlformats-officedocument.presentationml.slide+xml"/>
  <Override PartName="/ppt/slideMasters/slideMaster169.xml" ContentType="application/vnd.openxmlformats-officedocument.presentationml.slideMaster+xml"/>
  <Override PartName="/ppt/slides/slide169.xml" ContentType="application/vnd.openxmlformats-officedocument.presentationml.slide+xml"/>
  <Override PartName="/ppt/slideMasters/slideMaster170.xml" ContentType="application/vnd.openxmlformats-officedocument.presentationml.slideMaster+xml"/>
  <Override PartName="/ppt/slides/slide170.xml" ContentType="application/vnd.openxmlformats-officedocument.presentationml.slide+xml"/>
  <Override PartName="/ppt/slideMasters/slideMaster171.xml" ContentType="application/vnd.openxmlformats-officedocument.presentationml.slideMaster+xml"/>
  <Override PartName="/ppt/slides/slide171.xml" ContentType="application/vnd.openxmlformats-officedocument.presentationml.slide+xml"/>
  <Override PartName="/ppt/slideMasters/slideMaster172.xml" ContentType="application/vnd.openxmlformats-officedocument.presentationml.slideMaster+xml"/>
  <Override PartName="/ppt/slides/slide172.xml" ContentType="application/vnd.openxmlformats-officedocument.presentationml.slide+xml"/>
  <Override PartName="/ppt/slideMasters/slideMaster173.xml" ContentType="application/vnd.openxmlformats-officedocument.presentationml.slideMaster+xml"/>
  <Override PartName="/ppt/slides/slide173.xml" ContentType="application/vnd.openxmlformats-officedocument.presentationml.slide+xml"/>
  <Override PartName="/ppt/slideMasters/slideMaster174.xml" ContentType="application/vnd.openxmlformats-officedocument.presentationml.slideMaster+xml"/>
  <Override PartName="/ppt/slides/slide174.xml" ContentType="application/vnd.openxmlformats-officedocument.presentationml.slide+xml"/>
  <Override PartName="/ppt/slideMasters/slideMaster175.xml" ContentType="application/vnd.openxmlformats-officedocument.presentationml.slideMaster+xml"/>
  <Override PartName="/ppt/slides/slide175.xml" ContentType="application/vnd.openxmlformats-officedocument.presentationml.slide+xml"/>
  <Override PartName="/ppt/slideMasters/slideMaster176.xml" ContentType="application/vnd.openxmlformats-officedocument.presentationml.slideMaster+xml"/>
  <Override PartName="/ppt/slides/slide176.xml" ContentType="application/vnd.openxmlformats-officedocument.presentationml.slide+xml"/>
  <Override PartName="/ppt/slideMasters/slideMaster177.xml" ContentType="application/vnd.openxmlformats-officedocument.presentationml.slideMaster+xml"/>
  <Override PartName="/ppt/slides/slide177.xml" ContentType="application/vnd.openxmlformats-officedocument.presentationml.slide+xml"/>
  <Override PartName="/ppt/slideMasters/slideMaster178.xml" ContentType="application/vnd.openxmlformats-officedocument.presentationml.slideMaster+xml"/>
  <Override PartName="/ppt/slides/slide178.xml" ContentType="application/vnd.openxmlformats-officedocument.presentationml.slide+xml"/>
  <Override PartName="/ppt/slideMasters/slideMaster179.xml" ContentType="application/vnd.openxmlformats-officedocument.presentationml.slideMaster+xml"/>
  <Override PartName="/ppt/slides/slide179.xml" ContentType="application/vnd.openxmlformats-officedocument.presentationml.slide+xml"/>
  <Override PartName="/ppt/slideMasters/slideMaster180.xml" ContentType="application/vnd.openxmlformats-officedocument.presentationml.slideMaster+xml"/>
  <Override PartName="/ppt/slides/slide180.xml" ContentType="application/vnd.openxmlformats-officedocument.presentationml.slide+xml"/>
  <Override PartName="/ppt/slideMasters/slideMaster181.xml" ContentType="application/vnd.openxmlformats-officedocument.presentationml.slideMaster+xml"/>
  <Override PartName="/ppt/slides/slide181.xml" ContentType="application/vnd.openxmlformats-officedocument.presentationml.slide+xml"/>
  <Override PartName="/ppt/slideMasters/slideMaster182.xml" ContentType="application/vnd.openxmlformats-officedocument.presentationml.slideMaster+xml"/>
  <Override PartName="/ppt/slides/slide182.xml" ContentType="application/vnd.openxmlformats-officedocument.presentationml.slide+xml"/>
  <Override PartName="/ppt/slideMasters/slideMaster183.xml" ContentType="application/vnd.openxmlformats-officedocument.presentationml.slideMaster+xml"/>
  <Override PartName="/ppt/slides/slide183.xml" ContentType="application/vnd.openxmlformats-officedocument.presentationml.slide+xml"/>
  <Override PartName="/ppt/slideMasters/slideMaster184.xml" ContentType="application/vnd.openxmlformats-officedocument.presentationml.slideMaster+xml"/>
  <Override PartName="/ppt/slides/slide184.xml" ContentType="application/vnd.openxmlformats-officedocument.presentationml.slide+xml"/>
  <Override PartName="/ppt/slideMasters/slideMaster185.xml" ContentType="application/vnd.openxmlformats-officedocument.presentationml.slideMaster+xml"/>
  <Override PartName="/ppt/slides/slide185.xml" ContentType="application/vnd.openxmlformats-officedocument.presentationml.slide+xml"/>
  <Override PartName="/ppt/slideMasters/slideMaster186.xml" ContentType="application/vnd.openxmlformats-officedocument.presentationml.slideMaster+xml"/>
  <Override PartName="/ppt/slides/slide186.xml" ContentType="application/vnd.openxmlformats-officedocument.presentationml.slide+xml"/>
  <Override PartName="/ppt/slideMasters/slideMaster187.xml" ContentType="application/vnd.openxmlformats-officedocument.presentationml.slideMaster+xml"/>
  <Override PartName="/ppt/slides/slide187.xml" ContentType="application/vnd.openxmlformats-officedocument.presentationml.slide+xml"/>
  <Override PartName="/ppt/slideMasters/slideMaster188.xml" ContentType="application/vnd.openxmlformats-officedocument.presentationml.slideMaster+xml"/>
  <Override PartName="/ppt/slides/slide188.xml" ContentType="application/vnd.openxmlformats-officedocument.presentationml.slide+xml"/>
  <Override PartName="/ppt/slideMasters/slideMaster189.xml" ContentType="application/vnd.openxmlformats-officedocument.presentationml.slideMaster+xml"/>
  <Override PartName="/ppt/slides/slide189.xml" ContentType="application/vnd.openxmlformats-officedocument.presentationml.slide+xml"/>
  <Override PartName="/ppt/slideMasters/slideMaster190.xml" ContentType="application/vnd.openxmlformats-officedocument.presentationml.slideMaster+xml"/>
  <Override PartName="/ppt/slides/slide190.xml" ContentType="application/vnd.openxmlformats-officedocument.presentationml.slide+xml"/>
  <Override PartName="/ppt/slideMasters/slideMaster191.xml" ContentType="application/vnd.openxmlformats-officedocument.presentationml.slideMaster+xml"/>
  <Override PartName="/ppt/slides/slide191.xml" ContentType="application/vnd.openxmlformats-officedocument.presentationml.slide+xml"/>
  <Override PartName="/ppt/slideMasters/slideMaster192.xml" ContentType="application/vnd.openxmlformats-officedocument.presentationml.slideMaster+xml"/>
  <Override PartName="/ppt/slides/slide192.xml" ContentType="application/vnd.openxmlformats-officedocument.presentationml.slide+xml"/>
  <Override PartName="/ppt/slideMasters/slideMaster193.xml" ContentType="application/vnd.openxmlformats-officedocument.presentationml.slideMaster+xml"/>
  <Override PartName="/ppt/slides/slide193.xml" ContentType="application/vnd.openxmlformats-officedocument.presentationml.slide+xml"/>
  <Override PartName="/ppt/slideMasters/slideMaster194.xml" ContentType="application/vnd.openxmlformats-officedocument.presentationml.slideMaster+xml"/>
  <Override PartName="/ppt/slides/slide194.xml" ContentType="application/vnd.openxmlformats-officedocument.presentationml.slide+xml"/>
  <Override PartName="/ppt/slideMasters/slideMaster195.xml" ContentType="application/vnd.openxmlformats-officedocument.presentationml.slideMaster+xml"/>
  <Override PartName="/ppt/slides/slide195.xml" ContentType="application/vnd.openxmlformats-officedocument.presentationml.slide+xml"/>
  <Override PartName="/ppt/slideMasters/slideMaster196.xml" ContentType="application/vnd.openxmlformats-officedocument.presentationml.slideMaster+xml"/>
  <Override PartName="/ppt/slides/slide196.xml" ContentType="application/vnd.openxmlformats-officedocument.presentationml.slide+xml"/>
  <Override PartName="/ppt/slideMasters/slideMaster197.xml" ContentType="application/vnd.openxmlformats-officedocument.presentationml.slideMaster+xml"/>
  <Override PartName="/ppt/slides/slide197.xml" ContentType="application/vnd.openxmlformats-officedocument.presentationml.slide+xml"/>
  <Override PartName="/ppt/slideMasters/slideMaster198.xml" ContentType="application/vnd.openxmlformats-officedocument.presentationml.slideMaster+xml"/>
  <Override PartName="/ppt/slides/slide198.xml" ContentType="application/vnd.openxmlformats-officedocument.presentationml.slide+xml"/>
  <Override PartName="/ppt/slideMasters/slideMaster199.xml" ContentType="application/vnd.openxmlformats-officedocument.presentationml.slideMaster+xml"/>
  <Override PartName="/ppt/slides/slide199.xml" ContentType="application/vnd.openxmlformats-officedocument.presentationml.slide+xml"/>
  <Override PartName="/ppt/slideMasters/slideMaster200.xml" ContentType="application/vnd.openxmlformats-officedocument.presentationml.slideMaster+xml"/>
  <Override PartName="/ppt/slides/slide200.xml" ContentType="application/vnd.openxmlformats-officedocument.presentationml.slide+xml"/>
  <Override PartName="/ppt/slideMasters/slideMaster201.xml" ContentType="application/vnd.openxmlformats-officedocument.presentationml.slideMaster+xml"/>
  <Override PartName="/ppt/slides/slide20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Lst>
  <p:notesMasterIdLst>
    <p:notesMasterId r:id="rId20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 Id="rId202" Type="http://schemas.openxmlformats.org/officeDocument/2006/relationships/slide" Target="slides/slide201.xml"/><Relationship Id="rId203" Type="http://schemas.openxmlformats.org/officeDocument/2006/relationships/notesMaster" Target="notesMasters/notesMaster1.xml"/><Relationship Id="rId204" Type="http://schemas.openxmlformats.org/officeDocument/2006/relationships/presProps" Target="presProps.xml"/><Relationship Id="rId205" Type="http://schemas.openxmlformats.org/officeDocument/2006/relationships/viewProps" Target="viewProps.xml"/><Relationship Id="rId206" Type="http://schemas.openxmlformats.org/officeDocument/2006/relationships/theme" Target="theme/theme1.xml"/><Relationship Id="rId20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_rels/notesSlide1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7.xml"/>
		</Relationships>
</file>

<file path=ppt/notesSlides/_rels/notesSlide1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8.xml"/>
		</Relationships>
</file>

<file path=ppt/notesSlides/_rels/notesSlide1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9.xml"/>
		</Relationships>
</file>

<file path=ppt/notesSlides/_rels/notesSlide1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0.xml"/>
		</Relationships>
</file>

<file path=ppt/notesSlides/_rels/notesSlide1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1.xml"/>
		</Relationships>
</file>

<file path=ppt/notesSlides/_rels/notesSlide1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2.xml"/>
		</Relationships>
</file>

<file path=ppt/notesSlides/_rels/notesSlide1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3.xml"/>
		</Relationships>
</file>

<file path=ppt/notesSlides/_rels/notesSlide1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4.xml"/>
		</Relationships>
</file>

<file path=ppt/notesSlides/_rels/notesSlide1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5.xml"/>
		</Relationships>
</file>

<file path=ppt/notesSlides/_rels/notesSlide1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6.xml"/>
		</Relationships>
</file>

<file path=ppt/notesSlides/_rels/notesSlide1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7.xml"/>
		</Relationships>
</file>

<file path=ppt/notesSlides/_rels/notesSlide1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8.xml"/>
		</Relationships>
</file>

<file path=ppt/notesSlides/_rels/notesSlide1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9.xml"/>
		</Relationships>
</file>

<file path=ppt/notesSlides/_rels/notesSlide1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0.xml"/>
		</Relationships>
</file>

<file path=ppt/notesSlides/_rels/notesSlide1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1.xml"/>
		</Relationships>
</file>

<file path=ppt/notesSlides/_rels/notesSlide1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2.xml"/>
		</Relationships>
</file>

<file path=ppt/notesSlides/_rels/notesSlide1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3.xml"/>
		</Relationships>
</file>

<file path=ppt/notesSlides/_rels/notesSlide1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4.xml"/>
		</Relationships>
</file>

<file path=ppt/notesSlides/_rels/notesSlide1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5.xml"/>
		</Relationships>
</file>

<file path=ppt/notesSlides/_rels/notesSlide1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6.xml"/>
		</Relationships>
</file>

<file path=ppt/notesSlides/_rels/notesSlide1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7.xml"/>
		</Relationships>
</file>

<file path=ppt/notesSlides/_rels/notesSlide1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8.xml"/>
		</Relationships>
</file>

<file path=ppt/notesSlides/_rels/notesSlide1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9.xml"/>
		</Relationships>
</file>

<file path=ppt/notesSlides/_rels/notesSlide1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0.xml"/>
		</Relationships>
</file>

<file path=ppt/notesSlides/_rels/notesSlide1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1.xml"/>
		</Relationships>
</file>

<file path=ppt/notesSlides/_rels/notesSlide1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2.xml"/>
		</Relationships>
</file>

<file path=ppt/notesSlides/_rels/notesSlide1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3.xml"/>
		</Relationships>
</file>

<file path=ppt/notesSlides/_rels/notesSlide1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4.xml"/>
		</Relationships>
</file>

<file path=ppt/notesSlides/_rels/notesSlide1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5.xml"/>
		</Relationships>
</file>

<file path=ppt/notesSlides/_rels/notesSlide1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6.xml"/>
		</Relationships>
</file>

<file path=ppt/notesSlides/_rels/notesSlide1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7.xml"/>
		</Relationships>
</file>

<file path=ppt/notesSlides/_rels/notesSlide1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8.xml"/>
		</Relationships>
</file>

<file path=ppt/notesSlides/_rels/notesSlide1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9.xml"/>
		</Relationships>
</file>

<file path=ppt/notesSlides/_rels/notesSlide1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0.xml"/>
		</Relationships>
</file>

<file path=ppt/notesSlides/_rels/notesSlide1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1.xml"/>
		</Relationships>
</file>

<file path=ppt/notesSlides/_rels/notesSlide1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2.xml"/>
		</Relationships>
</file>

<file path=ppt/notesSlides/_rels/notesSlide1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3.xml"/>
		</Relationships>
</file>

<file path=ppt/notesSlides/_rels/notesSlide1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4.xml"/>
		</Relationships>
</file>

<file path=ppt/notesSlides/_rels/notesSlide1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5.xml"/>
		</Relationships>
</file>

<file path=ppt/notesSlides/_rels/notesSlide1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6.xml"/>
		</Relationships>
</file>

<file path=ppt/notesSlides/_rels/notesSlide1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7.xml"/>
		</Relationships>
</file>

<file path=ppt/notesSlides/_rels/notesSlide1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8.xml"/>
		</Relationships>
</file>

<file path=ppt/notesSlides/_rels/notesSlide1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9.xml"/>
		</Relationships>
</file>

<file path=ppt/notesSlides/_rels/notesSlide1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0.xml"/>
		</Relationships>
</file>

<file path=ppt/notesSlides/_rels/notesSlide1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1.xml"/>
		</Relationships>
</file>

<file path=ppt/notesSlides/_rels/notesSlide1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2.xml"/>
		</Relationships>
</file>

<file path=ppt/notesSlides/_rels/notesSlide1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3.xml"/>
		</Relationships>
</file>

<file path=ppt/notesSlides/_rels/notesSlide1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4.xml"/>
		</Relationships>
</file>

<file path=ppt/notesSlides/_rels/notesSlide1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5.xml"/>
		</Relationships>
</file>

<file path=ppt/notesSlides/_rels/notesSlide1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6.xml"/>
		</Relationships>
</file>

<file path=ppt/notesSlides/_rels/notesSlide1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7.xml"/>
		</Relationships>
</file>

<file path=ppt/notesSlides/_rels/notesSlide1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8.xml"/>
		</Relationships>
</file>

<file path=ppt/notesSlides/_rels/notesSlide1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9.xml"/>
		</Relationships>
</file>

<file path=ppt/notesSlides/_rels/notesSlide2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0.xml"/>
		</Relationships>
</file>

<file path=ppt/notesSlides/_rels/notesSlide2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8321040" y="0"/>
            <a:ext cx="3840480" cy="6858000"/>
          </a:xfrm>
          <a:prstGeom prst="rect">
            <a:avLst/>
          </a:prstGeom>
          <a:solidFill>
            <a:srgbClr val="F4A261">
              <a:alpha val="22000"/>
            </a:srgbClr>
          </a:solidFill>
          <a:ln w="12700">
            <a:solidFill>
              <a:srgbClr val="F4A261">
                <a:alpha val="22000"/>
              </a:srgbClr>
            </a:solidFill>
            <a:prstDash val="solid"/>
          </a:ln>
        </p:spPr>
      </p:sp>
      <p:sp>
        <p:nvSpPr>
          <p:cNvPr id="3" name="Shape 1"/>
          <p:cNvSpPr/>
          <p:nvPr/>
        </p:nvSpPr>
        <p:spPr>
          <a:xfrm>
            <a:off x="8686800" y="-548640"/>
            <a:ext cx="2926080" cy="2926080"/>
          </a:xfrm>
          <a:prstGeom prst="ellipse">
            <a:avLst/>
          </a:prstGeom>
          <a:solidFill>
            <a:srgbClr val="F4A261">
              <a:alpha val="35000"/>
            </a:srgbClr>
          </a:solidFill>
          <a:ln w="12700">
            <a:solidFill>
              <a:srgbClr val="F4A261">
                <a:alpha val="35000"/>
              </a:srgbClr>
            </a:solidFill>
            <a:prstDash val="solid"/>
          </a:ln>
        </p:spPr>
      </p:sp>
      <p:sp>
        <p:nvSpPr>
          <p:cNvPr id="4" name="Shape 2"/>
          <p:cNvSpPr/>
          <p:nvPr/>
        </p:nvSpPr>
        <p:spPr>
          <a:xfrm>
            <a:off x="9875520" y="4572000"/>
            <a:ext cx="2560320" cy="2560320"/>
          </a:xfrm>
          <a:prstGeom prst="ellipse">
            <a:avLst/>
          </a:prstGeom>
          <a:solidFill>
            <a:srgbClr val="2EC4B6">
              <a:alpha val="30000"/>
            </a:srgbClr>
          </a:solidFill>
          <a:ln w="12700">
            <a:solidFill>
              <a:srgbClr val="2EC4B6">
                <a:alpha val="30000"/>
              </a:srgbClr>
            </a:solidFill>
            <a:prstDash val="solid"/>
          </a:ln>
        </p:spPr>
      </p:sp>
      <p:sp>
        <p:nvSpPr>
          <p:cNvPr id="5" name="Shape 3"/>
          <p:cNvSpPr/>
          <p:nvPr/>
        </p:nvSpPr>
        <p:spPr>
          <a:xfrm>
            <a:off x="-365760" y="5029200"/>
            <a:ext cx="2011680" cy="2011680"/>
          </a:xfrm>
          <a:prstGeom prst="ellipse">
            <a:avLst/>
          </a:prstGeom>
          <a:solidFill>
            <a:srgbClr val="2EC4B6">
              <a:alpha val="25000"/>
            </a:srgbClr>
          </a:solidFill>
          <a:ln w="12700">
            <a:solidFill>
              <a:srgbClr val="2EC4B6">
                <a:alpha val="25000"/>
              </a:srgbClr>
            </a:solidFill>
            <a:prstDash val="solid"/>
          </a:ln>
        </p:spPr>
      </p:sp>
      <p:sp>
        <p:nvSpPr>
          <p:cNvPr id="6" name="Shape 4"/>
          <p:cNvSpPr/>
          <p:nvPr/>
        </p:nvSpPr>
        <p:spPr>
          <a:xfrm>
            <a:off x="548640" y="3063240"/>
            <a:ext cx="6858000" cy="0"/>
          </a:xfrm>
          <a:prstGeom prst="line">
            <a:avLst/>
          </a:prstGeom>
          <a:noFill/>
          <a:ln w="25400">
            <a:solidFill>
              <a:srgbClr val="2EC4B6"/>
            </a:solidFill>
            <a:prstDash val="solid"/>
          </a:ln>
        </p:spPr>
      </p:sp>
      <p:sp>
        <p:nvSpPr>
          <p:cNvPr id="7" name="Shape 5"/>
          <p:cNvSpPr/>
          <p:nvPr/>
        </p:nvSpPr>
        <p:spPr>
          <a:xfrm>
            <a:off x="548640" y="1234440"/>
            <a:ext cx="2926080" cy="438912"/>
          </a:xfrm>
          <a:prstGeom prst="roundRect">
            <a:avLst>
              <a:gd name="adj" fmla="val 20833"/>
            </a:avLst>
          </a:prstGeom>
          <a:solidFill>
            <a:srgbClr val="F4A261"/>
          </a:solidFill>
          <a:ln w="12700">
            <a:solidFill>
              <a:srgbClr val="F4A261"/>
            </a:solidFill>
            <a:prstDash val="solid"/>
          </a:ln>
        </p:spPr>
      </p:sp>
      <p:sp>
        <p:nvSpPr>
          <p:cNvPr id="8" name="Text 6"/>
          <p:cNvSpPr/>
          <p:nvPr/>
        </p:nvSpPr>
        <p:spPr>
          <a:xfrm>
            <a:off x="548640" y="1234440"/>
            <a:ext cx="2926080"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TNmP · Déficience intellectuelle &amp; TSA</a:t>
            </a:r>
            <a:endParaRPr lang="en-US" sz="1300" dirty="0"/>
          </a:p>
        </p:txBody>
      </p:sp>
      <p:sp>
        <p:nvSpPr>
          <p:cNvPr id="9" name="Text 7"/>
          <p:cNvSpPr/>
          <p:nvPr/>
        </p:nvSpPr>
        <p:spPr>
          <a:xfrm>
            <a:off x="548640" y="1755648"/>
            <a:ext cx="7772400" cy="118872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Thérapies Non Médicamenteuses</a:t>
            </a:r>
            <a:endParaRPr lang="en-US" sz="3400" dirty="0"/>
          </a:p>
        </p:txBody>
      </p:sp>
      <p:sp>
        <p:nvSpPr>
          <p:cNvPr id="10" name="Text 8"/>
          <p:cNvSpPr/>
          <p:nvPr/>
        </p:nvSpPr>
        <p:spPr>
          <a:xfrm>
            <a:off x="548640" y="2944368"/>
            <a:ext cx="7498080" cy="548640"/>
          </a:xfrm>
          <a:prstGeom prst="rect">
            <a:avLst/>
          </a:prstGeom>
          <a:noFill/>
          <a:ln/>
        </p:spPr>
        <p:txBody>
          <a:bodyPr wrap="square" lIns="0" tIns="0" rIns="0" bIns="0" rtlCol="0" anchor="ctr"/>
          <a:lstStyle/>
          <a:p>
            <a:pPr indent="0" marL="0">
              <a:buNone/>
            </a:pPr>
            <a:r>
              <a:rPr lang="en-US" sz="1700" dirty="0">
                <a:solidFill>
                  <a:srgbClr val="F4A261"/>
                </a:solidFill>
                <a:latin typeface="Calibri" pitchFamily="34" charset="0"/>
                <a:ea typeface="Calibri" pitchFamily="34" charset="-122"/>
                <a:cs typeface="Calibri" pitchFamily="34" charset="-120"/>
              </a:rPr>
              <a:t>Approches cliniques en ESSMS — DI &amp; TSA</a:t>
            </a:r>
            <a:endParaRPr lang="en-US" sz="1700" dirty="0"/>
          </a:p>
        </p:txBody>
      </p:sp>
      <p:sp>
        <p:nvSpPr>
          <p:cNvPr id="11" name="Text 9"/>
          <p:cNvSpPr/>
          <p:nvPr/>
        </p:nvSpPr>
        <p:spPr>
          <a:xfrm>
            <a:off x="548640" y="3657600"/>
            <a:ext cx="7315200" cy="640080"/>
          </a:xfrm>
          <a:prstGeom prst="rect">
            <a:avLst/>
          </a:prstGeom>
          <a:noFill/>
          <a:ln/>
        </p:spPr>
        <p:txBody>
          <a:bodyPr wrap="square" lIns="0" tIns="0" rIns="0" bIns="0" rtlCol="0" anchor="ctr"/>
          <a:lstStyle/>
          <a:p>
            <a:pPr indent="0" marL="0">
              <a:buNone/>
            </a:pPr>
            <a:r>
              <a:rPr lang="en-US" sz="2800" b="1" dirty="0">
                <a:solidFill>
                  <a:srgbClr val="2EC4B6"/>
                </a:solidFill>
                <a:latin typeface="Calibri" pitchFamily="34" charset="0"/>
                <a:ea typeface="Calibri" pitchFamily="34" charset="-122"/>
                <a:cs typeface="Calibri" pitchFamily="34" charset="-120"/>
              </a:rPr>
              <a:t>100 questions</a:t>
            </a:r>
            <a:pPr indent="0" marL="0">
              <a:buNone/>
            </a:pPr>
            <a:r>
              <a:rPr lang="en-US" sz="1400" dirty="0">
                <a:solidFill>
                  <a:srgbClr val="8BAEC8"/>
                </a:solidFill>
                <a:latin typeface="Calibri" pitchFamily="34" charset="0"/>
                <a:ea typeface="Calibri" pitchFamily="34" charset="-122"/>
                <a:cs typeface="Calibri" pitchFamily="34" charset="-120"/>
              </a:rPr>
              <a:t>  Niveau professionnel médico-social</a:t>
            </a:r>
            <a:endParaRPr lang="en-US" sz="2800" dirty="0"/>
          </a:p>
        </p:txBody>
      </p:sp>
      <p:sp>
        <p:nvSpPr>
          <p:cNvPr id="12" name="Text 10"/>
          <p:cNvSpPr/>
          <p:nvPr/>
        </p:nvSpPr>
        <p:spPr>
          <a:xfrm>
            <a:off x="548640" y="5074920"/>
            <a:ext cx="7315200" cy="365760"/>
          </a:xfrm>
          <a:prstGeom prst="rect">
            <a:avLst/>
          </a:prstGeom>
          <a:noFill/>
          <a:ln/>
        </p:spPr>
        <p:txBody>
          <a:bodyPr wrap="square" lIns="0" tIns="0" rIns="0" bIns="0" rtlCol="0" anchor="ctr"/>
          <a:lstStyle/>
          <a:p>
            <a:pPr indent="0" marL="0">
              <a:buNone/>
            </a:pPr>
            <a:r>
              <a:rPr lang="en-US" sz="1100" i="1" dirty="0">
                <a:solidFill>
                  <a:srgbClr val="8BAEC8"/>
                </a:solidFill>
                <a:latin typeface="Calibri" pitchFamily="34" charset="0"/>
                <a:ea typeface="Calibri" pitchFamily="34" charset="-122"/>
                <a:cs typeface="Calibri" pitchFamily="34" charset="-120"/>
              </a:rPr>
              <a:t>Source : NPI-ES, CMAI, Snoezelen, CAA, PBS — Pratiques validées</a:t>
            </a:r>
            <a:endParaRPr lang="en-US" sz="1100" dirty="0"/>
          </a:p>
        </p:txBody>
      </p:sp>
      <p:sp>
        <p:nvSpPr>
          <p:cNvPr id="13" name="Shape 11"/>
          <p:cNvSpPr/>
          <p:nvPr/>
        </p:nvSpPr>
        <p:spPr>
          <a:xfrm>
            <a:off x="548640" y="5760720"/>
            <a:ext cx="347472" cy="347472"/>
          </a:xfrm>
          <a:prstGeom prst="ellipse">
            <a:avLst/>
          </a:prstGeom>
          <a:solidFill>
            <a:srgbClr val="F4A261"/>
          </a:solidFill>
          <a:ln w="12700">
            <a:solidFill>
              <a:srgbClr val="F4A261"/>
            </a:solidFill>
            <a:prstDash val="solid"/>
          </a:ln>
        </p:spPr>
      </p:sp>
      <p:sp>
        <p:nvSpPr>
          <p:cNvPr id="14" name="Shape 12"/>
          <p:cNvSpPr/>
          <p:nvPr/>
        </p:nvSpPr>
        <p:spPr>
          <a:xfrm>
            <a:off x="1051560" y="5760720"/>
            <a:ext cx="347472" cy="347472"/>
          </a:xfrm>
          <a:prstGeom prst="ellipse">
            <a:avLst/>
          </a:prstGeom>
          <a:solidFill>
            <a:srgbClr val="9B5DE5"/>
          </a:solidFill>
          <a:ln w="12700">
            <a:solidFill>
              <a:srgbClr val="9B5DE5"/>
            </a:solidFill>
            <a:prstDash val="solid"/>
          </a:ln>
        </p:spPr>
      </p:sp>
      <p:sp>
        <p:nvSpPr>
          <p:cNvPr id="15" name="Shape 13"/>
          <p:cNvSpPr/>
          <p:nvPr/>
        </p:nvSpPr>
        <p:spPr>
          <a:xfrm>
            <a:off x="1554480" y="5760720"/>
            <a:ext cx="347472" cy="347472"/>
          </a:xfrm>
          <a:prstGeom prst="ellipse">
            <a:avLst/>
          </a:prstGeom>
          <a:solidFill>
            <a:srgbClr val="2EC4B6"/>
          </a:solidFill>
          <a:ln w="12700">
            <a:solidFill>
              <a:srgbClr val="2EC4B6"/>
            </a:solidFill>
            <a:prstDash val="solid"/>
          </a:ln>
        </p:spPr>
      </p:sp>
      <p:sp>
        <p:nvSpPr>
          <p:cNvPr id="16" name="Shape 14"/>
          <p:cNvSpPr/>
          <p:nvPr/>
        </p:nvSpPr>
        <p:spPr>
          <a:xfrm>
            <a:off x="2057400" y="5760720"/>
            <a:ext cx="347472" cy="347472"/>
          </a:xfrm>
          <a:prstGeom prst="ellipse">
            <a:avLst/>
          </a:prstGeom>
          <a:solidFill>
            <a:srgbClr val="FF6B6B"/>
          </a:solidFill>
          <a:ln w="12700">
            <a:solidFill>
              <a:srgbClr val="FF6B6B"/>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1</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1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Quelle est la principale visée clinique de la réorientation thérapeutique en ESSMS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Stimuler la mémoire autobiographique par des objets du passé</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Réduire l'anxiété et prévenir la désorganisation comportementale par des repères externes stables</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Traiter les traumatismes par stimulation bilatérale</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Développer les compétences sociales par jeux de rôle</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1</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Réduire l'anxiété et prévenir la désorganisation comportementale par des repères externes stables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réorientation thérapeutique vise à soutenir les capacités de repérage temporel, spatial et identitaire grâce à des repères externes stables (plannings, pictos, routines). Elle réduit l'anxiété et prévient la désorganisation comportementale en offrant un sentiment de sécurité.</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2</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2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Sur quels fondements cognitifs repose la réorientation thérapeutique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Conditionnement opérant et renforcement positif</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Activation des réseaux mnésiques autobiographiques</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Compensation des déficits mnésiques et attentionnels par l'environnement (approche écologique)</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Désactivation de la charge émotionnelle traumatique</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2</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Compensation des déficits mnésiques et attentionnels par l'environnement (approche écologique)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réorientation thérapeutique s'appuie sur une approche écologique : elle compense les déficits cognitifs (mémoire, attention, fonctions exécutives) non pas en les traitant directement, mais en aménageant l'environnement pour en réduire l'impact.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3</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3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Parmi les mises en œuvre suivantes de la réorientation thérapeutique, laquelle est la plus appropriée en foyer de vie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Séances individuelles d'EMDR hebdomadaires</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Albums photos personnels et musiques d'époque</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Structuration des espaces, routines fixes et supports visuels</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Groupes de parole axés sur la verbalisation des émotions</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3</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Structuration des espaces, routines fixes et supports visuels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réorientation thérapeutique se met en œuvre principalement par la structuration des espaces, des routines fixes et des supports visuels (planning, photos, pictogrammes). Ces outils soutiennent le repérage au quotidien.</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4</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4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Une précaution essentielle lors de la mise en œuvre de la réorientation thérapeutique auprès de personnes avec déficience intellectuelle est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De limiter les supports visuels pour éviter la surcharge</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D'assurer la cohérence interprofessionnelle et d'anticiper les changements</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De réserver la technique aux situations de crise</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De l'appliquer uniquement en séances individuelles formelles</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4</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D'assurer la cohérence interprofessionnelle et d'anticiper les changements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En contexte de déficience intellectuelle, la cohérence entre tous les professionnels est essentielle. Les changements doivent être anticipés et expliqués à la personne pour éviter les ruptures de repères qui génèrent anxiété et désorganisation.</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5</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5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La Communication Alternative et Améliorée (CAA) a pour objectif principal de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Retraiter les expériences traumatiques par mouvements oculaires</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Diminuer les troubles du comportement liés à la frustration communicationnelle</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Stimuler les fonctions exécutives par des activités concrètes</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Renforcer l'estime de soi par la valorisation des réussites</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5</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Diminuer les troubles du comportement liés à la frustration communicationnelle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CAA vise à soutenir ou remplacer la communication verbale déficitaire. En facilitant l'expression des besoins et des émotions, elle réduit la frustration communicationnelle qui est souvent à l'origine de troubles du comportement.</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6</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6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Quels supports sont utilisés concrètement dans la CAA en établissement médico-social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Tableaux de réussite et renforcements immédiats</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Espaces sensoriels et stimulations tactiles</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Pictogrammes, photos, gestes et objets référents</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Albums photos et musiques significatives</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6</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Pictogrammes, photos, gestes et objets référents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CAA s'appuie sur des supports variés et adaptés : pictogrammes, photos, gestes codifiés, et objets référents. Ces outils permettent à la personne de s'exprimer même en l'absence ou en l'insuffisance du langage verbal.</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7</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7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Quelle précaution est fondamentale dans l'utilisation de la CAA en contexte de déficience intellectuelle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réserver aux situations de crise pour ne pas banaliser l'outil</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L'intégrer dans le quotidien et pas seulement en situation de crise</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L'utiliser uniquement lors des séances d'orthophonie</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Eviter de l'associer aux gestes pour ne pas créer de confusion</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7</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L'intégrer dans le quotidien et pas seulement en situation de crise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Pour être efficace, la CAA doit être intégrée dans toutes les situations du quotidien. Une utilisation limitée aux crises prive la personne d'un outil de communication habituel et diminue son effet préventif sur les troubles du comportement.</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8</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8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Dans la thérapie par médiation, qu'est-ce qu'un « médiateur »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professionnel formé à la résolution de conflits</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animal, objet, activité ou support utilisé comme intermédiaire dans la relation thérapeutique</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pictogramme permettant la communication alternative</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protocole standardisé d'intervention comportementale</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8</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 animal, objet, activité ou support utilisé comme intermédiaire dans la relation thérapeutique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Dans la thérapie par médiation, le médiateur est tout élément tiers (animal, objet, activité manuelle) qui sert de support pour faciliter l'engagement relationnel et la communication avec la personne accompagnée.</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9</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9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La thérapie par médiation vise principalement à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Renforcer les repères temporels et spatiaux</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Favoriser l'alliance thérapeutique et réduire évitement et opposition</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Retraiter les traumatismes par stimulation sensorielle</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Développer l'autonomie dans les actes de la vie quotidienne</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9</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Favoriser l'alliance thérapeutique et réduire évitement et opposition</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thérapie par médiation utilise un tiers (animal, objet, activité) pour faciliter l'engagement relationnel. Elle vise à instaurer ou renforcer l'alliance thérapeutique et à réduire les comportements d'évitement et d'opposition.</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10</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10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Lors du choix d'un médiateur en déficience intellectuelle, quelle règle s'applique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Privilégier systématiquement la médiation animale</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Choisir le médiateur selon les intérêts et les capacités de la personne</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Utiliser toujours le même médiateur pour toutes les personnes</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Sélectionner le médiateur selon le trouble comportemental dominant</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10</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Choisir le médiateur selon les intérêts et les capacités de la personne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 médiateur doit être choisi en fonction des intérêts et des capacités de la personne accompagnée. Un médiateur inadapté risque de susciter rejet ou désintérêt, ce qui neutralise l'effet thérapeutique.</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11</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11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Les TCC adaptées en contexte de déficience intellectuelle reposent principalement sur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verbalisation des cognitions automatiques</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conditionnement opérant, le renforcement positif et l'apprentissage par répétition</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stimulation de la mémoire autobiographique</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validation des émotions sans confrontation à la réalité</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11</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 conditionnement opérant, le renforcement positif et l'apprentissage par répétition</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Adaptées à la DI, les TCC se centrent sur les comportements observables et leurs fonctions plutôt que sur les cognitions verbalisées. Elles s'appuient sur le conditionnement opérant et le renforcement positif immédiat.</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12</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12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Une particularité des TCC adaptées en déficience intellectuelle est que le travail est centré sur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Les cognitions verbalisées et les schémas de pensée</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comportement observable plutôt que sur les cognitions verbalisées</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remémoration des événements traumatiques passés</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L'exploration de l'inconscient par des techniques projectives</a:t>
            </a:r>
            <a:endParaRPr lang="en-US" sz="13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12</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 comportement observable plutôt que sur les cognitions verbalisées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Contrairement aux TCC classiques, les TCC adaptées à la DI ne travaillent pas sur les cognitions verbalisées (souvent inaccessibles). L'intervention cible directement les comportements observables et leur fonctionnalité.</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13</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13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Parmi les mises en œuvre suivantes, laquelle correspond aux TCC adaptées en ESSMS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Albums photos et musiques d'époque lors de séances de groupe</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Renforcement immédiat, tableaux de réussite, routines comportementales</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Espaces sensoriels avec stimulations lumineuses et tactiles</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Reformulation émotionnelle et attitude contenante</a:t>
            </a:r>
            <a:endParaRPr lang="en-US" sz="13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13</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Renforcement immédiat, tableaux de réussite, routines comportementales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Les TCC adaptées se concrétisent par des outils behavioraux : renforcement positif immédiat après le comportement souhaité, tableaux de réussite visuels et routines comportementales intégrées au quotidien de l'établissement.</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14</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14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L'entraînement aux habiletés sociales vise principalement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réduction de l'anxiété par régulation sensorielle</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L'acquisition des règles sociales implicites et la réduction des malentendus sociaux</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retraitement des traumatismes par stimulation bilatérale</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prévention de la désorganisation comportementale par des repères environnementaux</a:t>
            </a:r>
            <a:endParaRPr lang="en-US" sz="13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14</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L'acquisition des règles sociales implicites et la réduction des malentendus sociaux</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L'entraînement aux habiletés sociales consiste en un apprentissage explicite et structuré des règles sociales implicites. Son objectif clinique est d'améliorer les interactions sociales et de réduire les malentendus qui génèrent conflits et isolement.</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15</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15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Quelle technique est couramment utilisée dans l'entraînement aux habiletés sociales en ESSMS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stimulation bilatérale alternée (tapping)</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Les jeux de rôle simples, les scénarios sociaux imagés et le modeling</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structuration de l'environnement par pictogrammes</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Les séances de relaxation en espace sensoriel</a:t>
            </a:r>
            <a:endParaRPr lang="en-US" sz="13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15</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Les jeux de rôle simples, les scénarios sociaux imagés et le modeling</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Les jeux de rôle simples, les scénarios sociaux imagés et le modeling (observation d'un pair ou d'un professionnel) sont les supports privilégiés. Ils rendent les règles sociales concrètes et accessibles aux personnes avec DI.</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16</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16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Une précaution spécifique de l'entraînement aux habiletés sociales en déficience intellectuelle est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De limiter les séances à des situations fictives en dehors du contexte réel</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D'assurer la répétition et une généralisation progressive dans le quotidien</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De travailler uniquement sur les cognitions pour renforcer la compréhension</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D'éviter le travail en groupe pour prévenir les comparaisons</a:t>
            </a:r>
            <a:endParaRPr lang="en-US" sz="13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16</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D'assurer la répétition et une généralisation progressive dans le quotidien</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En DI, l'apprentissage nécessite de nombreuses répétitions et une généralisation progressive : les habiletés travaillées en séance doivent être transposées étape par étape dans les situations réelles du quotidien de l'établissement.</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17</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17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La méthode Montessori adaptée repose sur quel fondement cognitif principal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désactivation des traces traumatiques par stimulation bilatérale</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stimulation des fonctions exécutives et la motivation intrinsèque</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compensation des déficits par des repères environnementaux stables</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réduction de la charge cognitive par des supports de communication</a:t>
            </a:r>
            <a:endParaRPr lang="en-US" sz="13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17</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La stimulation des fonctions exécutives et la motivation intrinsèque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méthode Montessori adaptée stimule les fonctions exécutives (planification, séquentialisation) et s'appuie sur la motivation intrinsèque en proposant des activités ayant du sens pour la personne, favorisant le sentiment d'auto-efficacité.</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18</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18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 est l'objectif clinique central de la méthode Montessori adaptée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Diminuer les comportements-défis par renforcement positif</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Renforcer l'estime de soi et le sentiment de compétence</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Faciliter l'expression émotionnelle par un médiateur</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Réduire les réactions émotionnelles excessives liées au traumatisme</a:t>
            </a:r>
            <a:endParaRPr lang="en-US" sz="13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18</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Renforcer l'estime de soi et le sentiment de compétence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méthode Montessori adaptée vise le renforcement de l'estime de soi et du sentiment de compétence. En proposant des activités décomposées en étapes réussies, elle permet à la personne d'expérimenter concrètement ses capacités.</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19</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19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Lors de la mise en œuvre de la méthode Montessori adaptée en ESSMS, quelle précaution est primordiale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Proposer des activités suffisamment complexes pour maintenir le niveau de défi</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Adapter le niveau de difficulté et valoriser chaque réussite</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Limiter le matériel concret pour développer l'abstraction</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Éviter de décomposer les tâches pour maintenir l'autonomie</a:t>
            </a:r>
            <a:endParaRPr lang="en-US" sz="13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19</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Adapter le niveau de difficulté et valoriser chaque réussite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En DI, chaque activité doit être calibrée au niveau réel de la personne et chaque réussite valorisée explicitement. Un niveau trop élevé génère frustration et abandon ; un niveau adapté construit progressivement l'auto-efficacité.</a:t>
            </a:r>
            <a:endParaRPr lang="en-US" sz="1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20</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20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La thérapie de réminiscence s'appuie sur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régulation du système nerveux autonome par des stimulations sensorielles</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L'activation des réseaux mnésiques autobiographiques et émotionnels</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conditionnement opérant et le renforcement des comportements adaptés</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compensation des déficits attentionnels par l'environnement</a:t>
            </a:r>
            <a:endParaRPr lang="en-US" sz="13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20</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L'activation des réseaux mnésiques autobiographiques et émotionnels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thérapie de réminiscence active les réseaux de mémoire autobiographique et leurs connexions émotionnelles. En sollicitant les souvenirs personnels, elle soutient la continuité identitaire et procure un effet apaisant.</a:t>
            </a:r>
            <a:endParaRPr lang="en-US" sz="1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21</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21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Quels supports sont typiquement utilisés dans la thérapie de réminiscence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Tableaux de comportement et renforcements visuels</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Albums photos, musiques et objets significatifs de l'histoire personnelle</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Pictogrammes et gestes codifiés pour la communication</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Espaces sensoriels et stimulations tactiles adaptées</a:t>
            </a:r>
            <a:endParaRPr lang="en-US" sz="13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21</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Albums photos, musiques et objets significatifs de l'histoire personnelle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thérapie de réminiscence utilise des supports qui évoquent l'histoire personnelle : albums photos, musiques marquantes, objets ayant appartenu à la personne. Ces déclencheurs mnésiques stimulent la mémoire autobiographique.</a:t>
            </a:r>
            <a:endParaRPr lang="en-US" sz="1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22</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22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En déficience intellectuelle, quelle précaution s'impose dans la thérapie de réminiscence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Encourager la remémoration de toutes les expériences passées sans tri</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Privilégier les souvenirs positifs et sécurisants</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Confronter la personne aux souvenirs douloureux pour les retraiter</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Limiter la durée des séances à cinq minutes maximum</a:t>
            </a:r>
            <a:endParaRPr lang="en-US" sz="13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22</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Privilégier les souvenirs positifs et sécurisants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En DI, la personne peut avoir une moindre capacité à réguler les émotions difficiles activées par la remémoration. Il convient de privilégier les souvenirs positifs et sécurisants pour que la séance procure apaisement et continuité identitaire.</a:t>
            </a:r>
            <a:endParaRPr lang="en-US" sz="1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23</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23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La thérapie sensorielle / Snoezelen agit principalement en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Activant la mémoire autobiographique par des objets du passé</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Régulant le système nerveux autonome par la modulation des entrées sensorielles</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Développant les compétences sociales par des mises en situation</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Compensant les déficits de communication par des supports alternatifs</a:t>
            </a:r>
            <a:endParaRPr lang="en-US" sz="13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23</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Régulant le système nerveux autonome par la modulation des entrées sensorielles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thérapie sensorielle / Snoezelen cible la modulation des entrées sensorielles pour réguler le système nerveux autonome. Elle réduit l'agitation et améliore la régulation émotionnelle en proposant des stimulations sensorielles calibrées.</a:t>
            </a:r>
            <a:endParaRPr lang="en-US" sz="1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24</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24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Quelle précaution est indispensable lors de la mise en œuvre de la thérapie sensorielle en ESSMS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Proposer des stimulations identiques à toutes les personnes pour garantir l'équité</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Adapter les stimulations selon les profils d'hypo et d'hypersensibilités individuelles</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Réserver l'espace sensoriel aux moments de crise uniquement</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Utiliser exclusivement des stimulations visuelles pour limiter les risques</a:t>
            </a:r>
            <a:endParaRPr lang="en-US" sz="13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24</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Adapter les stimulations selon les profils d'hypo et d'hypersensibilités individuelles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Chaque personne présente un profil sensoriel unique avec des zones d'hyper et d'hyposensibilité. Proposer des stimulations inadaptées peut aggraver la détresse. L'évaluation individuelle du profil sensoriel est donc indispensable.</a:t>
            </a:r>
            <a:endParaRPr lang="en-US" sz="1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25</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25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La thérapie par validation (approche empathique) se distingue des autres approches par le fait qu'elle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Confronte la personne à la réalité objective pour corriger ses perceptions</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Reconnaît et valide l'émotion vécue sans confrontation à la réalité</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Propose des stimulations sensorielles pour réduire l'agitation</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Utilise le renforcement positif pour modifier les comportements indésirables</a:t>
            </a:r>
            <a:endParaRPr lang="en-US" sz="13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25</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Reconnaît et valide l'émotion vécue sans confrontation à la réalité</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thérapie par validation ne corrige pas le discours ou les croyances de la personne, mais reconnaît l'émotion qu'elle exprime. Cette reconnaissance empathique réduit l'activation émotionnelle et les mécanismes défensifs.</a:t>
            </a:r>
            <a:endParaRPr lang="en-US" sz="14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26</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26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En déficience intellectuelle, quel principe guide la thérapie par validation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Valider le discours uniquement s'il est cohérent avec la réalité</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Valider l'émotion même si le discours est incohérent</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Corriger avec bienveillance les perceptions erronées</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Différer la validation à une fois que la crise est passée</a:t>
            </a:r>
            <a:endParaRPr lang="en-US" sz="13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26</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Valider l'émotion même si le discours est incohérent</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Dans la thérapie par validation, l'émotion est toujours reconnue et validée, même si le discours de la personne manque de cohérence. C'est l'expérience émotionnelle, et non la logique du discours, qui est au centre de l'intervention.</a:t>
            </a:r>
            <a:endParaRPr lang="en-US" sz="14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27</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27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La thérapie par validation s'appuie sur quelle technique concrète en ESSMS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L'utilisation de pictogrammes et d'objets référents</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reformulation émotionnelle et l'attitude contenante du professionnel</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décomposition des activités en étapes courtes et réussies</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L'utilisation de l'album photos et des souvenirs personnels</a:t>
            </a:r>
            <a:endParaRPr lang="en-US" sz="13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27</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La reformulation émotionnelle et l'attitude contenante du professionnel</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Concrètement, la thérapie par validation se traduit par une reformulation empathique (nommer l'émotion) et une posture corporelle contenante du professionnel. Ces éléments signalent à la personne qu'elle est comprise et en sécurité.</a:t>
            </a:r>
            <a:endParaRPr lang="en-US" sz="14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28</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28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Les thérapies EMDR, Tapping et Brainspotting partagent quel mécanisme d'action commun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restructuration cognitive par dialogue socratique</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désactivation de la charge émotionnelle traumatique via stimulation bilatérale</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régulation sensorielle par modulation de l'environnement</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renforcement des comportements adaptés par conditionnement opérant</a:t>
            </a:r>
            <a:endParaRPr lang="en-US" sz="13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28</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La désactivation de la charge émotionnelle traumatique via stimulation bilatérale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Ces trois thérapies visent le retraitement des expériences émotionnelles perturbantes. Elles utilisent la stimulation bilatérale (mouvements oculaires, tapping alternée) pour désactiver la charge émotionnelle associée aux souvenirs traumatiques.</a:t>
            </a:r>
            <a:endParaRPr lang="en-US" sz="14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29</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29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Quelle précaution spécifique s'impose lors de l'utilisation de l'EMDR / Tapping en déficience intellectuelle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Intensifier les séances en cas de réaction émotionnelle forte</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Procéder avec prudence, dans un cadre sécurisé et avec consentement éclairé</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Appliquer systématiquement le protocole standard sans adaptation</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Éviter tout contact verbal pendant la stimulation bilatérale</a:t>
            </a:r>
            <a:endParaRPr lang="en-US" sz="13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29</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Procéder avec prudence, dans un cadre sécurisé et avec consentement éclairé</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En DI, l'indication doit être prudente et l'indication soigneusement posée. Un cadre sécurisé et le consentement éclairé de la personne (adapté à ses capacités) sont indispensables avant d'engager ce type de retraitement.</a:t>
            </a:r>
            <a:endParaRPr lang="en-US" sz="14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30</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30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Laquelle de ces thérapies est la plus adaptée à un résident qui communique peu verbalement et exprime sa détresse par des crises comportementales répétées liées à la frustration de ne pas être compris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Thérapie de réminiscence</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Communication Alternative et Améliorée (CAA)</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EMDR / Tapping</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Entraînement aux habiletés sociales</a:t>
            </a:r>
            <a:endParaRPr lang="en-US" sz="13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30</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Communication Alternative et Améliorée (CAA)</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Quand les crises comportementales sont liées à l'impossibilité de communiquer ses besoins, la CAA est l'intervention de première ligne. Elle réduit directement la frustration communicationnelle en offrant à la personne des moyens alternatifs d'expression.</a:t>
            </a:r>
            <a:endParaRPr lang="en-US" sz="14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31</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31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Une personne avec TSA présente une intense détresse à chaque changement de routine. Quelle thérapie est la plus directement indiquée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Thérapie de réminiscence</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Thérapie par validation</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Réorientation thérapeutique</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Thérapie sensorielle / Snoezelen</a:t>
            </a:r>
            <a:endParaRPr lang="en-US" sz="13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31</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Réorientation thérapeutique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réorientation thérapeutique, par ses routines fixes, ses supports visuels et l'anticipation des changements, est l'approche la plus directement indiquée pour réduire la détresse liée à l'imprévisibilité de l'environnement chez la personne avec TSA.</a:t>
            </a:r>
            <a:endParaRPr lang="en-US" sz="14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32</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32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 professionnel souhaite renforcer le sentiment de compétence d'un résident présentant une DI légère par des activités quotidiennes valorisantes. Quelle approche correspond le mieux à cet objectif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TCC adaptées</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Méthode Montessori adaptée</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Thérapie sensorielle</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Thérapie par médiation</a:t>
            </a:r>
            <a:endParaRPr lang="en-US" sz="13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32</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Méthode Montessori adaptée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méthode Montessori adaptée est spécifiquement conçue pour renforcer l'estime de soi et le sentiment de compétence, en proposant des activités de la vie quotidienne décomposées et accessibles, valorisant chaque réussite.</a:t>
            </a:r>
            <a:endParaRPr lang="en-US" sz="14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33</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33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Lequel de ces outils thérapeutiques repose directement sur l'analyse fonctionnelle du comportement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Thérapie de réminiscence</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Thérapie sensorielle</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TCC adaptées (approche comportementale)</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Thérapie par validation</a:t>
            </a:r>
            <a:endParaRPr lang="en-US" sz="13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33</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TCC adaptées (approche comportementale)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Les TCC adaptées sont centrées sur l'analyse fonctionnelle : comprendre la fonction du comportement (antécédents, comportement, conséquences) pour intervenir de façon ciblée par le renforcement et la modification des contingences.</a:t>
            </a:r>
            <a:endParaRPr lang="en-US" sz="14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34</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34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Lors d'une séance d'EMDR simplifiée (tapping guidé) avec un résident présentant une DI, le professionnel observe une réaction émotionnelle intense et non anticipée. Quelle est la conduite appropriée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Intensifier le protocole pour achever le retraitement</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Interrompre la séance et contenir la personne dans un cadre sécurisé</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Passer immédiatement à une thérapie de réminiscence</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Demander à la personne de verbaliser ses émotions</a:t>
            </a:r>
            <a:endParaRPr lang="en-US" sz="13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34</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Interrompre la séance et contenir la personne dans un cadre sécurisé</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En cas de réaction émotionnelle intense et non anticipée, la priorité est d'interrompre la technique et de sécuriser la personne. L'indication de l'EMDR en DI requiert un cadre sécurisé et une anticipation de ces réactions.</a:t>
            </a:r>
            <a:endParaRPr lang="en-US" sz="14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35</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35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Lequel de ces items N'est PAS un objectif clinique de la thérapie sensorielle / Snoezelen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Diminution de l'agitation</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Amélioration de la régulation émotionnelle</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Acquisition de comportements sociaux adaptés</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Régulation du système nerveux autonome</a:t>
            </a:r>
            <a:endParaRPr lang="en-US" sz="13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35</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Acquisition de comportements sociaux adaptés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L'acquisition de comportements sociaux adaptés est l'objectif de l'entraînement aux habiletés sociales, pas de la thérapie sensorielle. Cette dernière vise la régulation émotionnelle, la diminution de l'agitation et la régulation du SNA.</a:t>
            </a:r>
            <a:endParaRPr lang="en-US" sz="14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36</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36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Lequel de ces éléments N'est PAS un support de la CAA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Pictogrammes</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Gestes codifiés</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Tableaux de renforcement comportemental</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Objets référents</a:t>
            </a:r>
            <a:endParaRPr lang="en-US" sz="13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36</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Tableaux de renforcement comportemental</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Les tableaux de renforcement comportemental appartiennent aux TCC adaptées. La CAA utilise des supports de communication : pictogrammes, photos, gestes, objets référents, et non des outils de conditionnement comportemental.</a:t>
            </a:r>
            <a:endParaRPr lang="en-US" sz="14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37</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37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Quelle thérapie utilise la stimulation de la mémoire autobiographique comme levier thérapeutique principal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Réorientation thérapeutique</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Thérapie de réminiscence</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Entraînement aux habiletés sociales</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TCC adaptées</a:t>
            </a:r>
            <a:endParaRPr lang="en-US" sz="13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37</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Thérapie de réminiscence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thérapie de réminiscence cible spécifiquement la mémoire autobiographique et les réseaux émotionnels qui y sont associés. Elle vise apaisement, continuité identitaire et valorisation de l'histoire personnelle.</a:t>
            </a:r>
            <a:endParaRPr lang="en-US" sz="14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38</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38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Lequel de ces fondements cognitifs est associé à la thérapie par médiation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Activation des réseaux mnésiques autobiographiques</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Baisse de l'activation anxieuse et facilitation de l'engagement relationnel</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Conditionnement opérant et renforcement positif</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Modulation des entrées sensorielles et régulation du SNA</a:t>
            </a:r>
            <a:endParaRPr lang="en-US" sz="13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38</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Baisse de l'activation anxieuse et facilitation de l'engagement relationnel</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thérapie par médiation agit sur l'anxiété relationnelle : la présence d'un médiateur (animal, objet, activité) abaisse l'activation anxieuse et facilite l'engagement relationnel avec le professionnel.</a:t>
            </a:r>
            <a:endParaRPr lang="en-US" sz="14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39</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39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 professionnel souhaite aider un résident à mieux gérer ses interactions sociales pour éviter les conflits récurrents. Quelle TNmP doit-il prioriser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Thérapie sensorielle</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Entraînement aux habiletés sociales</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Thérapie de réminiscence</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Réorientation thérapeutique</a:t>
            </a:r>
            <a:endParaRPr lang="en-US" sz="13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39</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Entraînement aux habiletés sociales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L'entraînement aux habiletés sociales cible précisément les compétences sociales déficitaires et la cognition sociale. Il réduit les malentendus sociaux à l'origine des conflits par un apprentissage explicite et structuré des règles implicites.</a:t>
            </a:r>
            <a:endParaRPr lang="en-US" sz="14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40</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40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Lequel de ces principes est commun à toutes les TNmP présentées en contexte de déficience intellectuelle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L'adaptation de l'intervention aux caractéristiques individuelles de la personne</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nécessité d'un diagnostic psychiatrique préalable</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mise en œuvre exclusivement par un psychologue clinicien</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L'utilisation obligatoire d'un protocole standardisé et validé</a:t>
            </a:r>
            <a:endParaRPr lang="en-US" sz="135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40</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L'adaptation de l'intervention aux caractéristiques individuelles de la personne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Qu'il s'agisse de la CAA, de la thérapie sensorielle, des TCC adaptées ou de la réminiscence, toutes les TNmP partagent le principe d'adaptation individuelle : choix du médiateur selon les intérêts, profil sensoriel, niveau de difficulté ajusté, souvenirs sécurisants privilégiés.</a:t>
            </a:r>
            <a:endParaRPr lang="en-US" sz="14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41</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41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Parmi les comportements suivants, lequel correspond à l'anhédonie dans le cadre des troubles non perturbateurs de type dépression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Rester au lit longtemps et refuser de se lever</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Se ronger les ongles et se gratter en situation anxiogène</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Refuser les activités habituellement aimées et ne plus jouer</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S'isoler et éviter le regard lors des activités de groupe</a:t>
            </a:r>
            <a:endParaRPr lang="en-US" sz="135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41</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Refuser les activités habituellement aimées et ne plus jouer</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L'anhédonie se définit comme l'absence de plaisir ou d'intérêt pour les activités habituellement appréciées. Elle se traduit concrètement par le refus d'activités aimées, l'absence d'intérêt pour la musique ou la télévision, et le refus de sorties.</a:t>
            </a:r>
            <a:endParaRPr lang="en-US" sz="14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42</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42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La clinophilie est un comportement observable qui appartient à quelle catégorie de trouble non perturbateur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Apathie</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Dépression</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Repli sur soi</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Anxiété</a:t>
            </a:r>
            <a:endParaRPr lang="en-US" sz="135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42</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Dépression</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clinophilie (tendance à rester au lit, à refuser de se lever, à s'allonger dès que possible en journée) est une manifestation de la dépression. Elle se distingue de l'apathie par son caractère actif de recherche du lit.</a:t>
            </a:r>
            <a:endParaRPr lang="en-US" sz="14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43</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43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Lequel de ces comportements observables est caractéristique de l'apathie (manque d'initiation)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Pleurer spontanément lors de petites frustrations</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Rester assis sans activité, ne pas demander, ne pas proposer</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Se figer, se cacher ou se coller à un adulte</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Éviter le regard et refuser les interactions en groupe</a:t>
            </a:r>
            <a:endParaRPr lang="en-US" sz="135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43</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Rester assis sans activité, ne pas demander, ne pas proposer</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 manque d'initiation est la manifestation centrale de l'apathie : la personne ne commence rien seule, attend qu'on lui indique quoi faire, reste passive sans activité spontanée. Ce comportement ne doit pas être confondu avec de la dépression.</a:t>
            </a:r>
            <a:endParaRPr lang="en-US" sz="14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44</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44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Quelle différence principale distingue l'apathie du ralentissement dépressif dans l'observation clinique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L'apathie comprend des pleurs fréquents, le ralentissement non</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L'apathie se caractérise par l'absence d'initiation sans tristesse exprimée ; le ralentissement dépressif s'inscrit dans un tableau de tristesse</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ralentissement dépressif implique un retrait social total, l'apathie non</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L'apathie est toujours perturbatrice pour l'environnement, le ralentissement non</a:t>
            </a:r>
            <a:endParaRPr lang="en-US" sz="135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44</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L'apathie se caractérise par l'absence d'initiation sans tristesse exprimée ; le ralentissement dépressif s'inscrit dans un tableau de tristesse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L'apathie se manifeste par une absence de motivation et d'initiation sans nécessairement de tristesse exprimée. Le ralentissement dépressif est lui associé à une humeur basse, des pleurs et une tristesse visible qui inscrivent le ralentissement dans un tableau dépressif.</a:t>
            </a:r>
            <a:endParaRPr lang="en-US" sz="14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45</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45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Parmi les comportements suivants, lequel correspond au repli sur soi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Gémissements et pleurs fréquents lors de petites frustrations</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Temps de latence prolongé et mouvements lents</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S'isoler, éviter le regard, refuser les interactions en groupe</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Respiration rapide et mains moites lors des changements</a:t>
            </a:r>
            <a:endParaRPr lang="en-US" sz="135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45</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S'isoler, éviter le regard, refuser les interactions en groupe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 repli sur soi se traduit par des comportements d'isolement et d'évitement : la personne reste dans sa chambre, évite les regards, ne répond pas aux sollicitations, se met à l'écart. Il se distingue de la dépression par l'absence nécessaire de tristesse exprimée.</a:t>
            </a:r>
            <a:endParaRPr lang="en-US" sz="14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46</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46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 retrait/mutisme situationnel est classé dans quelle catégorie de trouble non perturbateur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Apathie</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Dépression</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Repli sur soi</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Communication (fréquent TSA/DI)</a:t>
            </a:r>
            <a:endParaRPr lang="en-US" sz="135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46</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D</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Communication (fréquent TSA/DI)</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 retrait et le mutisme situationnel appartiennent à la catégorie des troubles de la communication, fréquents en TSA et DI. La personne ne parle pas dans certains contextes, ne répond pas à son prénom, évite toute demande — sans que cela relève nécessairement d'une dépression.</a:t>
            </a:r>
            <a:endParaRPr lang="en-US" sz="14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47</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47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 résident ne répond plus à son prénom, évite toute demande et ne parle pas lors des activités collectives. À quelle catégorie de trouble non perturbateur ce comportement correspond-il principalement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Dépression / anhédonie</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Apathie / manque d'initiation</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Retrait / mutisme situationnel</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Anxiété / signes discrets</a:t>
            </a:r>
            <a:endParaRPr lang="en-US" sz="135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47</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Retrait / mutisme situationnel</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Ce tableau clinique correspond au retrait/mutisme situationnel, trouble de la communication fréquent en TSA et DI. Il se distingue de l'apathie par sa dimension communicationnelle spécifique : absence de réponse au prénom, mutisme dans certains contextes.</a:t>
            </a:r>
            <a:endParaRPr lang="en-US" sz="14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48</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48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Parmi ces signes, lesquels correspondent à l'anxiété discrète (forme non perturbatrice) en ESSMS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Crier soudainement, lancer des objets, quitter la pièce</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Rester au lit, refuser de se lever, soupirs fréquents</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Se figer, se gratter, se coller à un adulte, éviter une zone</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Insulter, menacer, crier sur quelqu'un lors d'une demande</a:t>
            </a:r>
            <a:endParaRPr lang="en-US" sz="135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48</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 figer, se gratter, se coller à un adulte, éviter une zone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L'anxiété non perturbatrice se manifeste par des signes discrets : se figer, se cacher, mains moites, se ronger les ongles, se gratter, respiration rapide, se coller à un adulte, éviter une zone ou une activité. Ces signaux précoces doivent être repérés avant escalade.</a:t>
            </a:r>
            <a:endParaRPr lang="en-US" sz="14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49</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49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Pourquoi les signes discrets d'anxiété sont-ils particulièrement importants à repérer en ESSMS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Parce qu'ils sont perturbateurs pour le groupe et nécessitent une intervention immédiate</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Parce qu'ils constituent souvent des précurseurs de troubles plus perturbateurs et permettent une intervention précoce</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Parce qu'ils sont facilement confondus avec des comportements adaptatifs et ne requièrent pas d'intervention</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Parce qu'ils signalent uniquement une dépression sous-jacente à traiter médicalement</a:t>
            </a:r>
            <a:endParaRPr lang="en-US" sz="135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49</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Parce qu'ils constituent souvent des précurseurs de troubles plus perturbateurs et permettent une intervention précoce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Les signes discrets d'anxiété (non encore perturbateurs) représentent une fenêtre d'intervention précoce : en les repérant, le professionnel peut intervenir avant l'escalade vers des comportements perturbateurs. Ce repérage précoce est central dans la prévention.</a:t>
            </a:r>
            <a:endParaRPr lang="en-US" sz="14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50</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50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Lequel de ces comportements N'est PAS un signe de dépression chez une personne avec déficience intellectuelle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Pleurs spontanés fréquents</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Refus d'activités habituellement appréciées</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Manipulation répétitive d'objets sans but apparent</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Expression triste et regard dans le vide</a:t>
            </a:r>
            <a:endParaRPr lang="en-US" sz="135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50</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Manipulation répétitive d'objets sans but apparent</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manipulation répétitive d'objets sans but est une stéréotypie, fréquente dans les troubles liés au TSA, mais pas un signe de dépression. La dépression se manifeste par la tristesse, les pleurs, l'anhédonie et la clinophilie.</a:t>
            </a:r>
            <a:endParaRPr lang="en-US" sz="14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51</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51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 professionnel observe qu'un résident présente depuis plusieurs jours un temps de latence prolongé avant de répondre, des mouvements lents et une fatigue apparente. À quelle catégorie de trouble non perturbateur correspond ce tableau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Dépression / clinophilie</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Apathie / ralentissement</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Repli sur soi</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Anxiété / signes discrets</a:t>
            </a:r>
            <a:endParaRPr lang="en-US" sz="135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51</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Apathie / ralentissement</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 ralentissement psychomoteur (mouvements lents, temps de latence prolongé, fatigue apparente) est l'expression de l'apathie dans sa sous-catégorie ralentissement. Il se distingue de la dépression par l'absence de tristesse exprimée.</a:t>
            </a:r>
            <a:endParaRPr lang="en-US" sz="14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52</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52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Lequel de ces comportements représente un trouble non perturbateur à fort impact sur la participation aux activités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L'agitation motrice</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L'anhédonie</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L'hétéro-agressivité verbale</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déambulation nocturne</a:t>
            </a:r>
            <a:endParaRPr lang="en-US" sz="135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52</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L'anhédonie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L'anhédonie (manque d'envie, perte d'intérêt) est un trouble non perturbateur au sens où il ne dérange pas directement l'entourage, mais son impact sur la qualité de vie et la participation est majeur : la personne se coupe de toutes les activités qui lui apportaient satisfaction.</a:t>
            </a:r>
            <a:endParaRPr lang="en-US" sz="14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53</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53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Lequel de ces troubles est classé dans les comportements non perturbateurs mais à fort impact sur la relation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L'agitation verbale</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retrait / mutisme situationnel</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déambulation</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L'opposition active</a:t>
            </a:r>
            <a:endParaRPr lang="en-US" sz="135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53</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 retrait / mutisme situationnel</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 retrait/mutisme situationnel est classé parmi les troubles non perturbateurs car il n'est pas directement envahissant pour l'environnement. Cependant, son impact sur la relation et sur l'accès aux soins est significatif.</a:t>
            </a:r>
            <a:endParaRPr lang="en-US" sz="14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54</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54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Lequel de ces comportements est caractéristique du ralentissement psychomoteur dans le cadre de l'apathie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Se lever souvent et faire les cent pas</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Mettre beaucoup de temps à démarrer une activité avec un temps de latence avant de répondre</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Pleurer spontanément lors de petites frustrations</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Éviter le regard et refuser les interactions</a:t>
            </a:r>
            <a:endParaRPr lang="en-US" sz="135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54</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Mettre beaucoup de temps à démarrer une activité avec un temps de latence avant de répondre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 ralentissement psychomoteur (apathie) se manifeste par des mouvements lents, un temps de latence prolongé avant de répondre aux sollicitations, et une fatigue apparente. Il se distingue de la dépression par l'absence de tristesse visible.</a:t>
            </a:r>
            <a:endParaRPr lang="en-US" sz="14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55</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55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Parmi les comportements suivants, lequel correspond à un signe de dépression (sous-catégorie tristesse/humeur basse)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Rester au lit et se coucher en journée sans dormir</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Voix faible, peu de paroles, soupirs fréquents et regard dans le vide</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Se figer et se coller à un adulte lors des changements</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Mouvements lents et temps de latence prolongé</a:t>
            </a:r>
            <a:endParaRPr lang="en-US" sz="135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55</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Voix faible, peu de paroles, soupirs fréquents et regard dans le vide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tristesse et l'humeur basse se manifestent par une expression triste, un regard dans le vide, une voix faible, peu de paroles, des réponses très courtes et des soupirs fréquents. Ces signes indiquent une souffrance émotionnelle profonde.</a:t>
            </a:r>
            <a:endParaRPr lang="en-US" sz="14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56</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56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 résident ne commence jamais rien seul, attend systématiquement qu'on lui indique quoi faire et ne va pas chercher à boire spontanément. Ce tableau correspond à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dépression avec anhédonie</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repli sur soi</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L'apathie avec manque d'initiation</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L'anxiété avec signes discrets</a:t>
            </a:r>
            <a:endParaRPr lang="en-US" sz="135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56</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L'apathie avec manque d'initiation</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 manque d'initiation est le signe central de l'apathie : la personne ne démarre aucune action spontanément, ne demande rien, ne propose rien et attend passivement les consignes. Ce comportement ne résulte pas d'un refus mais d'une absence de motivation et d'élan.</a:t>
            </a:r>
            <a:endParaRPr lang="en-US" sz="14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57</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57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Lequel de ces comportements illustre le mieux le repli sur soi tel que défini en ESSMS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Pleurer souvent et présenter des gémissements fréquents</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S'isoler dans sa chambre, éviter le regard et ne pas répondre aux sollicitations</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Rester au lit toute la journée et refuser de se lever</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Se ronger les ongles et éviter certaines zones de l'établissement</a:t>
            </a:r>
            <a:endParaRPr lang="en-US" sz="135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57</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S'isoler dans sa chambre, éviter le regard et ne pas répondre aux sollicitations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 repli sur soi se traduit par l'isolement actif : rester dans sa chambre, éviter le regard, ne pas répondre aux sollicitations, se mettre à l'écart en groupe, refuser les interactions. Il se distingue de la clinophilie (rester au lit) et de l'anxiété (signes somatiques).</a:t>
            </a:r>
            <a:endParaRPr lang="en-US" sz="14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58</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58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Quelle catégorie de trouble non perturbateur regroupe des comportements comme se figer, éviter une zone de l'établissement ou se coller à un adulte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Dépression / clinophilie</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Apathie / ralentissement</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Repli sur soi</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Anxiété / signes discrets</a:t>
            </a:r>
            <a:endParaRPr lang="en-US" sz="135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58</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D</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Anxiété / signes discrets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Ces comportements (se figer, se cacher, se coller à un adulte, éviter une zone) sont les signes discrets de l'anxiété. Ils surviennent souvent dans des situations précises et constituent des signaux d'alerte précoces à repérer avant l'escalade comportementale.</a:t>
            </a:r>
            <a:endParaRPr lang="en-US" sz="14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59</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59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Parmi les comportements non perturbateurs suivants, lequel témoigne d'une perte de plaisir (anhédonie) caractéristique de la dépression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Mouvements lents et temps de latence avant réponse</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S'isoler et éviter le regard lors des activités collectives</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Refuser des sorties et ne plus montrer d'intérêt pour la musique ou la télévision</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Se gratter et présenter une respiration rapide dans certains contextes</a:t>
            </a:r>
            <a:endParaRPr lang="en-US" sz="135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59</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Refuser des sorties et ne plus montrer d'intérêt pour la musique ou la télévision</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L'anhédonie est la perte de plaisir pour les activités habituellement aimées. Elle se manifeste par le refus de sorties, l'absence d'intérêt pour des activités jusqu'alors appréciées (musique, TV, jeux). C'est un signe dépressif majeur à distinguer du repli sur soi.</a:t>
            </a:r>
            <a:endParaRPr lang="en-US" sz="140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60</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60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 résident ne parle pas lors des repas, ne répond pas à son prénom et évite toute demande, mais communique normalement dans sa chambre avec ses proches. À quelle catégorie cela correspond-il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Apathie / manque d'initiation</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Retrait / mutisme situationnel</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Dépression / tristesse</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Repli sur soi</a:t>
            </a:r>
            <a:endParaRPr lang="en-US" sz="135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60</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Retrait / mutisme situationnel</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 mutisme situationnel se caractérise par l'absence de communication dans certains contextes précis, alors que la personne peut communiquer dans d'autres situations. Ce trouble de communication, fréquent en TSA et DI, est distinct du repli sur soi généralisé.</a:t>
            </a:r>
            <a:endParaRPr lang="en-US" sz="140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61</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61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Lequel de ces signes discrets d'anxiété est à la fois un signal précoce ET un comportement qui peut être interprété à tort comme une gêne physique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Éviter le regard</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Se ronger les ongles</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Mains moites et respiration rapide</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Se coller à un adulte</a:t>
            </a:r>
            <a:endParaRPr lang="en-US" sz="135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61</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Mains moites et respiration rapide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Les mains moites et la respiration rapide sont des manifestations somatiques de l'anxiété facilement confondues avec une gêne physique (transpiration due à la chaleur, essoufflement dû à l'effort). Leur apparition dans un contexte anxiogène précis est un indicateur diagnostique important.</a:t>
            </a:r>
            <a:endParaRPr lang="en-US" sz="140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62</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62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Lequel de ces comportements N'est PAS classé parmi les troubles non perturbateurs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clinophilie</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L'anhédonie</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ralentissement psychomoteur</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L'hétéro-agressivité verbale</a:t>
            </a:r>
            <a:endParaRPr lang="en-US" sz="135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62</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D</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L'hétéro-agressivité verbale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L'hétéro-agressivité verbale (insultes, menaces, cris sur autrui) est classée parmi les troubles perturbateurs car elle impacte directement l'environnement. Les trois autres (clinophilie, anhédonie, ralentissement) sont des troubles non perturbateurs qui expriment une souffrance intérieure.</a:t>
            </a:r>
            <a:endParaRPr lang="en-US" sz="140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63</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63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 professionnel remarque qu'un résident qui participait activement aux activités ne joue plus, refuse toutes les sorties et n'exprime plus d'intérêt pour rien depuis deux semaines. Quel trouble non perturbateur doit-il évoquer en priorité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Apathie / ralentissement</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Repli sur soi</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Dépression avec anhédonie</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Anxiété / signes discrets</a:t>
            </a:r>
            <a:endParaRPr lang="en-US" sz="135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63</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Dépression avec anhédonie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perte d'intérêt pour des activités habituellement appréciées sur une durée de deux semaines est le signe cardinal de l'anhédonie dépressive. Sa persistance et son contraste avec le comportement habituel doivent alerter l'équipe et déclencher une évaluation clinique.</a:t>
            </a:r>
            <a:endParaRPr lang="en-US" sz="140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64</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64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Parmi les 9 catégories de comportements non perturbateurs, combien appartiennent au registre dépressif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1</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2</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4</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6</a:t>
            </a:r>
            <a:endParaRPr lang="en-US" sz="135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64</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Quatre sous-catégories appartiennent au registre dépressif : les pleurs, la tristesse/humeur basse, la clinophilie et l'anhédonie. Ces quatre manifestations forment le tableau clinique de la dépression en ESSMS.</a:t>
            </a:r>
            <a:endParaRPr lang="en-US" sz="140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65</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65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Pourquoi est-il important de distinguer l'apathie (manque d'initiation) de l'opposition passive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Car l'apathie est plus dangereuse pour la personne que l'opposition passive</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Car la réponse professionnelle est différente : l'apathie appelle une stimulation bienveillante, l'opposition passive une analyse fonctionnelle du refus</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Car l'apathie est toujours secondaire à une dépression et l'opposition à un trouble anxieux</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Car l'opposition passive est réservée aux personnes avec TSA, l'apathie aux personnes avec DI</a:t>
            </a:r>
            <a:endParaRPr lang="en-US" sz="135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65</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Car la réponse professionnelle est différente : l'apathie appelle une stimulation bienveillante, l'opposition passive une analyse fonctionnelle du refus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L'apathie (absence de motivation, manque d'initiation) et l'opposition passive (refus intentionnel, non-réponse active) ont des fonctions très différentes. L'apathie appelle un étayage et une stimulation douce ; l'opposition passive nécessite une analyse fonctionnelle pour comprendre ce que la personne évite ou cherche à obtenir.</a:t>
            </a:r>
            <a:endParaRPr lang="en-US" sz="140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66</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66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L'agitation motrice en ESSMS se caractérise par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Des refus répétés de prendre les médicaments prescrits</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Des mouvements répétitifs sans but, des déambulations et une incapacité à rester en place</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Des cris soudains et des hurlements lors des moments de groupe</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Des actes d'automutilation répétés comme se taper la tête</a:t>
            </a:r>
            <a:endParaRPr lang="en-US" sz="135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66</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Des mouvements répétitifs sans but, des déambulations et une incapacité à rester en place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L'agitation motrice regroupe des comportements tels que faire les cent pas, se balancer, tapoter, ouvrir et fermer des portes, se lever souvent. Ce sont des mouvements répétitifs et sans but apparent qui traduisent un état de tension interne.</a:t>
            </a:r>
            <a:endParaRPr lang="en-US" sz="140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67</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67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Lequel de ces comportements correspond à l'auto-agressivité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Lancer un objet sur un soignant</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Se mordre le bras jusqu'à laisser des marques</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Crier sur quelqu'un lors d'une demande</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Pousser et bousculer d'autres résidents</a:t>
            </a:r>
            <a:endParaRPr lang="en-US" sz="135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67</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 mordre le bras jusqu'à laisser des marques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L'auto-agressivité désigne tout comportement par lequel la personne se blesse elle-même : se mordre, se taper la tête, se griffer, se pincer fort, se tirer les cheveux. Se mordre le bras est un exemple typique d'auto-agressivité.</a:t>
            </a:r>
            <a:endParaRPr lang="en-US" sz="140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68</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68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Parmi les comportements suivants, lequel correspond à l'hétéro-agressivité verbale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Frapper une table avec le poing</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Se gratter jusqu'au sang</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Insulter, menacer ou hurler sur quelqu'un lors d'une demande</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Refuser d'entrer dans la salle d'activité</a:t>
            </a:r>
            <a:endParaRPr lang="en-US" sz="135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68</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Insulter, menacer ou hurler sur quelqu'un lors d'une demande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L'hétéro-agressivité verbale désigne les attaques verbales dirigées vers autrui : insultes, menaces, cris ou hurlements face à quelqu'un, propos agressifs répétitifs. Elle se distingue de l'agressivité sur le matériel et de l'agitation verbale.</a:t>
            </a:r>
            <a:endParaRPr lang="en-US" sz="140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69</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69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L'agressivité envers le matériel se manifeste par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Se taper la tête sur les murs et se griffer</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Jeter des objets, casser du matériel, renverser des chaises ou des tables</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Insulter ou menacer les professionnels</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Errer dans les couloirs et ouvrir toutes les portes</a:t>
            </a:r>
            <a:endParaRPr lang="en-US" sz="135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69</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Jeter des objets, casser du matériel, renverser des chaises ou des tables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L'agressivité envers le matériel comprend des actes comme lancer des objets, casser du matériel, déchirer, frapper des surfaces (table, porte, mur), renverser des meubles. Elle est différente de l'auto et de l'hétéro-agressivité.</a:t>
            </a:r>
            <a:endParaRPr lang="en-US" sz="140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70</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70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En quoi l'opposition active se distingue-t-elle de l'opposition passive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L'opposition active implique des comportements visibles de refus (dire non, se débattre, quitter la pièce), l'opposition passive est un refus muet et immobile</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L'opposition active concerne uniquement les soins, l'opposition passive concerne uniquement les activités</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L'opposition passive est plus dangereuse pour l'équipe que l'opposition active</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L'opposition active est un trouble perturbateur, l'opposition passive est non perturbatrice</a:t>
            </a:r>
            <a:endParaRPr lang="en-US" sz="1350"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70</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L'opposition active implique des comportements visibles de refus (dire non, se débattre, quitter la pièce), l'opposition passive est un refus muet et immobile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L'opposition active se traduit par des actes visibles de refus : dire « non », repousser la main, se débattre, quitter la pièce, bloquer l'accès. L'opposition passive est un refus muet et immobile. Toutes deux sont classées parmi les troubles perturbateurs d'opposition.</a:t>
            </a:r>
            <a:endParaRPr lang="en-US" sz="1400"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71</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71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 résident cache systématiquement le médicament dans sa bouche, crache la prise ou ferme la bouche lors de la distribution. À quelle catégorie d'opposition cela correspond-il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Opposition passive</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Opposition active</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Opposition médication</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Troubles instinctuels / alimentation</a:t>
            </a:r>
            <a:endParaRPr lang="en-US" sz="1350"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71</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Opposition médication</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 refus de prise médicamenteuse (cracher, cacher dans la bouche, jeter le médicament, fermer la bouche, tourner la tête) constitue la sous-catégorie opposition médication. Ce comportement a des implications directes sur la santé de la personne.</a:t>
            </a:r>
            <a:endParaRPr lang="en-US" sz="1400"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72</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72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Lequel de ces comportements N'est PAS une forme de déambulation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Entrer dans des pièces au hasard</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Revenir au même endroit de manière répétitive</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Se lever la nuit pour marcher dans les couloirs</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Rester dans sa chambre et refuser de se lever</a:t>
            </a:r>
            <a:endParaRPr lang="en-US" sz="1350"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72</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D</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Rester dans sa chambre et refuser de se lever</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Rester dans sa chambre et refuser de se lever est caractéristique de la clinophilie, un comportement dépressif non perturbateur. La déambulation implique au contraire des déplacements répétitifs et non ciblés dans les espaces de l'établissement.</a:t>
            </a:r>
            <a:endParaRPr lang="en-US" sz="1400"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73</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73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Lequel de ces comportements alimentaires perturbateurs présente le risque somatique le plus immédiat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tri alimentaire extrême</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réticence à certaines textures</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Avaler sans mâcher et manger des matières non alimentaires</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Voler de la nourriture dans les assiettes des autres résidents</a:t>
            </a:r>
            <a:endParaRPr lang="en-US" sz="1350"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73</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Avaler sans mâcher et manger des matières non alimentaires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Avaler sans mâcher (risque d'étouffement) et manger des matières non alimentaires (pica, risque d'intoxication, d'occlusion) présentent des risques somatiques immédiats. Ces comportements requièrent une surveillance médicale et des adaptations environnementales urgentes.</a:t>
            </a:r>
            <a:endParaRPr lang="en-US" sz="1400"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74</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74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La masturbation en public ou les tentatives de contacts sexuels inadaptés sont classées dans quelle catégorie de troubles perturbateurs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Troubles liés au TSA</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Agitation motrice</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Troubles instinctuels / sexualité</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Opposition active</a:t>
            </a:r>
            <a:endParaRPr lang="en-US" sz="1350"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74</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Troubles instinctuels / sexualité</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Les comportements sexuels publics (masturbation, déshabillage, frottements sur objets, tentatives de contacts inadaptés) appartiennent aux troubles instinctuels dans leur sous-catégorie sexualité. Ils requièrent des réponses professionnelles respectueuses et une éducation affective adaptée.</a:t>
            </a:r>
            <a:endParaRPr lang="en-US" sz="1400"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75</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75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Parmi les comportements suivants, lequel appartient aux stéréotypies envahissantes liées au TSA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Errer dans les couloirs et ouvrir toutes les portes</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Se lever souvent et tapoter la table en continu</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Aligner des objets, faire tourner des objets, se balancer</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Cracher les médicaments et fermer la bouche lors des soins</a:t>
            </a:r>
            <a:endParaRPr lang="en-US" sz="1350"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51">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75</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Aligner des objets, faire tourner des objets, se balancer</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Les stéréotypies TSA incluent des comportements répétitifs et ritualisés comme l'alignement d'objets, les faire tourner, les balancements du corps, les battements de mains. Ces comportements ont une fonction de régulation sensorielle et émotionnelle.</a:t>
            </a:r>
            <a:endParaRPr lang="en-US" sz="1400" dirty="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52">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76</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76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Lequel de ces comportements correspond à une hypersensibilité sensorielle pouvant devenir perturbatrice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Manger très vite et avaler sans mâcher</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Se boucher les oreilles, réagir intensément à la lumière, refuser les vêtements avec étiquettes</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Se lever la nuit pour marcher</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Répéter la même phrase en boucle (écholalie)</a:t>
            </a:r>
            <a:endParaRPr lang="en-US" sz="1350"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53">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76</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 boucher les oreilles, réagir intensément à la lumière, refuser les vêtements avec étiquettes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Les comportements d'hypersensibilité sensorielle incluent le fait de se boucher les oreilles, les réactions intenses à la lumière, le refus de vêtements ou d'étiquettes, les réactions fortes aux odeurs. Ces comportements relèvent de la sensori-réactivité qui peut évoluer vers des troubles perturbateurs.</a:t>
            </a:r>
            <a:endParaRPr lang="en-US" sz="1400"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54">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77</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77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Lequel de ces comportements N'est PAS une forme d'agressivité envers le matériel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Casser un jeu intentionnellement</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Déchirer des feuilles ou des livres</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Se gratter jusqu'au sang</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Frapper une table ou une porte avec le poing</a:t>
            </a:r>
            <a:endParaRPr lang="en-US" sz="1350" dirty="0"/>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55">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77</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 gratter jusqu'au sang</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Se gratter jusqu'au sang est un comportement d'auto-agressivité, car il est dirigé vers soi-même. L'agressivité envers le matériel concerne les objets et l'environnement : casser, déchirer, frapper les surfaces, renverser.</a:t>
            </a:r>
            <a:endParaRPr lang="en-US" sz="1400" dirty="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56">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78</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78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 résident refuse systématiquement la douche : il se débat pendant le soin, fuit au moment de l'entrée dans la salle de bain et retire ses vêtements après l'habillage. Quelle catégorie de trouble perturbateur cela illustre-t-il principalement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Opposition active</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Opposition hygiène / soins</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Troubles instinctuels / alimentation</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Sensori-réactivité</a:t>
            </a:r>
            <a:endParaRPr lang="en-US" sz="1350"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57">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78</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Opposition hygiène / soins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Ce tableau clinique correspond à l'opposition hygiène/soins : refus de la douche, fuite au moment du soin, résistance pendant le soin, retrait des vêtements après habillage. Une composante sensorielle (hyper-réactivité à l'eau, au toucher) peut coexister mais la catégorie principale est l'opposition soins.</a:t>
            </a:r>
            <a:endParaRPr lang="en-US" sz="1400" dirty="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58">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79</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79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Parmi les troubles perturbateurs suivants, lesquels sont spécifiquement liés au TSA selon la classification utilisée en ESSMS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Agitation motrice et hétéro-agressivité physique</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Stéréotypies envahissantes et rigidité / intolérance au changement</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Troubles du sommeil et troubles alimentaires</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Déambulation et cris</a:t>
            </a:r>
            <a:endParaRPr lang="en-US" sz="1350" dirty="0"/>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159">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79</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Stéréotypies envahissantes et rigidité / intolérance au changement</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Deux catégories de troubles perturbateurs sont spécifiquement classées sous « Troubles liés au TSA » : les stéréotypies envahissantes et la rigidité/intolérance au changement. Les autres catégories peuvent survenir dans tous les contextes de DI.</a:t>
            </a:r>
            <a:endParaRPr lang="en-US" sz="1400" dirty="0"/>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160">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80</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80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 professionnel observe qu'un résident se met sur la pointe des pieds, produit des vocalisations répétées et fait tourner des objets en boucle lors des moments libres. À quelle catégorie ces comportements appartiennent-ils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Agitation motrice</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Stéréotypies envahissantes (troubles TSA)</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Troubles de sensori-réactivité</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Troubles instinctuels</a:t>
            </a:r>
            <a:endParaRPr lang="en-US" sz="1350" dirty="0"/>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161">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80</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Stéréotypies envahissantes (troubles TSA)</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Ces comportements (pointe des pieds, vocalisations répétées, faire tourner des objets) sont des stéréotypies envahissantes, classées parmi les troubles liés au TSA. Ils ont une fonction auto-régulatrice et sont distincts de l'agitation motrice non ritualisée.</a:t>
            </a:r>
            <a:endParaRPr lang="en-US" sz="1400" dirty="0"/>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lide 162">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81</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81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 type de comportement observé chez un résident (lèche et touche systématiquement tous les objets) relève de la sensori-réactivité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Hypersensibilité olfactive</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Hyposensibilité gustative et tactile (recherche de stimulations orales et tactiles)</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Stéréotypie TSA envahissante</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Trouble instinctuel alimentaire (pica)</a:t>
            </a:r>
            <a:endParaRPr lang="en-US" sz="1350" dirty="0"/>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Slide 163">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81</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Hyposensibilité gustative et tactile (recherche de stimulations orales et tactiles)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Lécher et toucher systématiquement les objets traduit une recherche active de stimulations orales et tactiles, signe d'hyposensibilité. Ce comportement relève de la sensori-réactivité et doit être distingué de la pica (ingestion de matières non alimentaires).</a:t>
            </a:r>
            <a:endParaRPr lang="en-US" sz="1400" dirty="0"/>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Slide 164">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82</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82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Parmi les comportements d'hétéro-agressivité physique, lequel présente un risque de contamination biologique pour le professionnel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Pousser</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Cracher</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Bloquer le passage</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Bousculer volontairement</a:t>
            </a:r>
            <a:endParaRPr lang="en-US" sz="1350" dirty="0"/>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name="Slide 165">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82</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Cracher</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Cracher sur un professionnel ou un autre résident présente un risque de contamination biologique direct. Ce comportement, classé dans l'hétéro-agressivité physique, nécessite des précautions spécifiques et un protocole de gestion adapté.</a:t>
            </a:r>
            <a:endParaRPr lang="en-US" sz="1400" dirty="0"/>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name="Slide 166">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83</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83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Lequel de ces troubles perturbateurs implique une surveillance prioritaire de l'environnement physique pour prévenir les accidents (chutes, accès aux sorties)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L'agitation verbale</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Les stéréotypies envahissantes</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déambulation</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L'opposition médication</a:t>
            </a:r>
            <a:endParaRPr lang="en-US" sz="1350" dirty="0"/>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name="Slide 167">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83</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La déambulation</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déambulation (errance dans les couloirs, recherche des sorties, aller-retours nocturnes) nécessite une vigilance environnementale particulière : risque de chute, de sortie non sécurisée, de confusion avec les affaires d'autrui. L'aménagement de l'espace est une réponse prioritaire.</a:t>
            </a:r>
            <a:endParaRPr lang="en-US" sz="1400" dirty="0"/>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name="Slide 168">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84</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84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Dans une approche TNmP globale, le repérage des comportements non perturbateurs est important car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Ils sont plus faciles à traiter que les comportements perturbateurs</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Ils constituent souvent des précurseurs de troubles perturbateurs et permettent une intervention précoce</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Ils ne nécessitent pas d'intervention formalisée et se résorbent spontanément</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Ils sont toujours causés par des problèmes somatiques sous-jacents</a:t>
            </a:r>
            <a:endParaRPr lang="en-US" sz="1350" dirty="0"/>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name="Slide 169">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84</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Ils constituent souvent des précurseurs de troubles perturbateurs et permettent une intervention précoce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 repérage précoce des comportements non perturbateurs (anxiété discrète, repli sur soi, apathie) est fondamental dans la prévention. Ces signes peuvent précéder l'apparition de comportements perturbateurs ; une intervention adaptée à ce stade précoce peut éviter l'escalade.</a:t>
            </a:r>
            <a:endParaRPr lang="en-US" sz="1400" dirty="0"/>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name="Slide 170">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85</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85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Lequel des comportements suivants peut relever simultanément de plusieurs catégories de troubles perturbateurs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clinophilie</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ralentissement</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L'errance nocturne (se lever la nuit pour marcher)</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mutisme situationnel</a:t>
            </a:r>
            <a:endParaRPr lang="en-US" sz="1350" dirty="0"/>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name="Slide 171">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85</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L'errance nocturne (se lever la nuit pour marcher)</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L'errance nocturne peut relever à la fois des troubles du sommeil (se lever la nuit) et de la déambulation (errer dans les couloirs). Ce chevauchement est fréquent en ESSMS et illustre l'importance d'une observation clinique précise et pluridimensionnelle.</a:t>
            </a:r>
            <a:endParaRPr lang="en-US" sz="1400" dirty="0"/>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name="Slide 172">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86</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86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 professionnel observe qu'un résident réagit intensément à certaines odeurs (fuite, agitation), refuse le port de vêtements avec étiquettes et se bouche les oreilles dans les espaces bruyants. Quelle catégorie de trouble décrit le mieux ce tableau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Troubles liés au TSA / rigidité</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Sensori-réactivité / hypersensibilité</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Agitation motrice</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Opposition soins / hygiène</a:t>
            </a:r>
            <a:endParaRPr lang="en-US" sz="1350" dirty="0"/>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name="Slide 173">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86</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Sensori-réactivité / hypersensibilité</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Ce tableau décrit une hypersensibilité multi-sensorielle (olfactive, tactile, auditive), classée dans la catégorie sensori-réactivité. L'adaptation de l'environnement sensoriel (réduction des stimulations) est la réponse TNmP principale.</a:t>
            </a:r>
            <a:endParaRPr lang="en-US" sz="1400" dirty="0"/>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name="Slide 174">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87</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87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 niveau de priorité doit accorder l'équipe aux comportements d'auto-agressivité répétés (se cogner la tête au sol) en termes de gestion du risque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Faible, car la personne ne met pas autrui en danger</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Élevé, car il y a risque de traumatisme crânien et atteinte à l'intégrité physique</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Modéré, car ce comportement disparaît toujours spontanément avec l'âge</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Nul, si la personne ne semble pas souffrir</a:t>
            </a:r>
            <a:endParaRPr lang="en-US" sz="1350" dirty="0"/>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name="Slide 175">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87</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Élevé, car il y a risque de traumatisme crânien et atteinte à l'intégrité physique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L'auto-agressivité avec impacts crâniens représente un niveau de risque élevé pour l'intégrité physique de la personne. Elle nécessite une réponse prioritaire incluant la protection physique immédiate, l'analyse fonctionnelle et l'élaboration d'un plan d'intervention.</a:t>
            </a:r>
            <a:endParaRPr lang="en-US" sz="1400" dirty="0"/>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name="Slide 176">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88</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88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Lequel de ces comportements d'opposition concernant la médication pose un problème spécifique de santé qui dépasse le simple cadre comportemental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Cacher le médicament dans la bouche puis le cracher</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Refuser de boire l'eau pour avaler le médicament</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Dire « non » lors de la présentation du médicament</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Tourner la tête lorsque le soignant s'approche</a:t>
            </a:r>
            <a:endParaRPr lang="en-US" sz="1350" dirty="0"/>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name="Slide 177">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88</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Cacher le médicament dans la bouche puis le cracher</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Cacher le médicament dans la bouche (cheek pouch) puis le cracher est particulièrement problématique car le professionnel peut croire que la prise a bien eu lieu. Ce comportement entraîne une non-observance médicamenteuse avec des risques pour la santé (déséquilibre d'un traitement psychiatrique, épilepsie, etc.).</a:t>
            </a:r>
            <a:endParaRPr lang="en-US" sz="1400" dirty="0"/>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name="Slide 178">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89</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89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Qu'est-ce qui distingue principalement les 9 catégories de comportements non perturbateurs des 18 catégories de comportements perturbateurs dans une perspective clinique ESSMS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Les comportements non perturbateurs ne nécessitent jamais d'intervention TNmP</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Les comportements perturbateurs sont exclusivement d'origine neurologique</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Les comportements non perturbateurs n'entravent pas directement le fonctionnement collectif mais peuvent signaler une souffrance ; les comportements perturbateurs ont un impact direct sur l'environnement et la sécurité</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Les comportements perturbateurs concernent uniquement les personnes avec TSA</a:t>
            </a:r>
            <a:endParaRPr lang="en-US" sz="1350" dirty="0"/>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name="Slide 179">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89</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Les comportements non perturbateurs n'entravent pas directement le fonctionnement collectif mais peuvent signaler une souffrance ; les comportements perturbateurs ont un impact direct sur l'environnement et la sécurité</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distinction repose sur l'impact environnemental : les comportements non perturbateurs (dépression, apathie, anxiété discrète) expriment une souffrance intérieure sans perturber directement le collectif. Les comportements perturbateurs (agitation, agressivité, cris) impactent directement l'environnement humain et matériel et la sécurité de tous.</a:t>
            </a:r>
            <a:endParaRPr lang="en-US" sz="1400" dirty="0"/>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name="Slide 180">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90</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90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Une équipe constate que plusieurs résidents présentent des signes d'anxiété discrète (se gratter, se figer, éviter certaines zones) dans un même espace de l'établissement. Quelle TNmP doit être envisagée en priorité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groupe d'entraînement aux habiletés sociales</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évaluation et une adaptation de l'environnement sensoriel (approche sensorielle)</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Des séances individuelles de thérapie de réminiscence</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mise en place de tableaux de comportement comportementaux</a:t>
            </a:r>
            <a:endParaRPr lang="en-US" sz="1350" dirty="0"/>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name="Slide 181">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90</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Une évaluation et une adaptation de l'environnement sensoriel (approche sensorielle)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Quand plusieurs personnes réagissent de façon anxieuse dans un même espace, l'hypothèse d'une surcharge sensorielle environnementale doit être explorée. La thérapie sensorielle / approche Snoezelen et l'adaptation des espaces sensoriels sont la réponse TNmP la plus directement ciblée.</a:t>
            </a:r>
            <a:endParaRPr lang="en-US" sz="1400" dirty="0"/>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name="Slide 182">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91</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91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Quelle TNmP est la plus indiquée pour accompagner une personne présentant une hétéro-agressivité liée à une incapacité à exprimer ses besoins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Thérapie de réminiscence</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EMDR / Tapping</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CAA (Communication Alternative et Améliorée)</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Méthode Montessori adaptée</a:t>
            </a:r>
            <a:endParaRPr lang="en-US" sz="1350" dirty="0"/>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name="Slide 183">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91</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CAA (Communication Alternative et Améliorée)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Lorsque l'hétéro-agressivité est fonctionnellement liée à la frustration communicationnelle (la personne n'a pas d'autre moyen d'exprimer ses besoins ou sa détresse), la CAA est l'intervention de première intention. Elle traite la cause fonctionnelle du comportement.</a:t>
            </a:r>
            <a:endParaRPr lang="en-US" sz="1400" dirty="0"/>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name="Slide 184">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92</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92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La cohérence interprofessionnelle est citée comme précaution dans plusieurs TNmP. Pourquoi est-elle particulièrement cruciale en ESSMS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Parce qu'elle simplifie les protocoles administratifs</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Parce que les professionnels se relayant auprès de la même personne, toute incohérence dans l'application des TNmP annule leurs effets et déstabilise la personne</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Parce qu'elle évite les conflits entre professionnels lors des transmissions</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Parce qu'elle est exigée par les référentiels HAS pour la certification des établissements</a:t>
            </a:r>
            <a:endParaRPr lang="en-US" sz="1350" dirty="0"/>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name="Slide 185">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92</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Parce que les professionnels se relayant auprès de la même personne, toute incohérence dans l'application des TNmP annule leurs effets et déstabilise la personne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En ESSMS, de nombreux professionnels interviennent successivement auprès de la même personne. Si les TNmP (réorientation, CAA, TCC) ne sont pas appliquées de façon cohérente par tous, leurs effets se neutralisent et la personne est exposée à des incohérences déstabilisantes.</a:t>
            </a:r>
            <a:endParaRPr lang="en-US" sz="1400" dirty="0"/>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name="Slide 186">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93</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93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Lequel des comportements non perturbateurs peut le plus facilement être méconnu ou sous-estimé par une équipe non formée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Les cris répétitifs lors des activités</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L'agitation motrice dans les espaces communs</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L'apathie et les signes discrets d'anxiété</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masturbation en public</a:t>
            </a:r>
            <a:endParaRPr lang="en-US" sz="1350" dirty="0"/>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name="Slide 187">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93</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L'apathie et les signes discrets d'anxiété</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L'apathie (qui ne dérange personne) et les signes discrets d'anxiété (signes subtils et non bruyants) sont facilement méconnus ou interprétés à tort comme des comportements normaux ou de la bonne adaptation. Une formation spécifique est nécessaire pour les repérer.</a:t>
            </a:r>
            <a:endParaRPr lang="en-US" sz="1400" dirty="0"/>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name="Slide 188">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94</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94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les données disponibles, quelle TNmP mobilise à la fois la mémoire autobiographique ET les connexions émotionnelles pour produire un effet apaisant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Entraînement aux habiletés sociales</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TCC adaptées</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Thérapie de réminiscence</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Méthode Montessori adaptée</a:t>
            </a:r>
            <a:endParaRPr lang="en-US" sz="1350" dirty="0"/>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name="Slide 189">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94</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Thérapie de réminiscence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thérapie de réminiscence active les réseaux mnésiques autobiographiques ET leurs connexions émotionnelles. Cette activation simultanée produit un effet apaisant, renforce la continuité identitaire et valorise l'histoire personnelle de la personne.</a:t>
            </a:r>
            <a:endParaRPr lang="en-US" sz="1400" dirty="0"/>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name="Slide 190">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95</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95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Quelle TNmP est la plus susceptible de prévenir les comportements d'hétéro-agressivité liés à l'imprévisibilité des événements de la journée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EMDR / Tapping</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Thérapie par médiation</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Réorientation thérapeutique (structuration du temps et routines)</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Thérapie de réminiscence</a:t>
            </a:r>
            <a:endParaRPr lang="en-US" sz="1350" dirty="0"/>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name="Slide 191">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95</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Réorientation thérapeutique (structuration du temps et routines)</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L'imprévisibilité est une source majeure d'anxiété et de comportements-défis en DI et TSA. La réorientation thérapeutique, par la structuration du temps (plannings visuels), les routines fixes et l'anticipation des changements, est la TNmP la plus directement préventive de cette anxiété.</a:t>
            </a:r>
            <a:endParaRPr lang="en-US" sz="1400" dirty="0"/>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name="Slide 192">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96</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96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Selon les données sur les TNmP, lequel des objectifs suivants est partagé par la thérapie par validation ET par la thérapie sensorielle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Développer les compétences sociales</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Réduire l'agitation et améliorer la régulation émotionnelle</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Stimuler la mémoire autobiographique</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Renforcer l'estime de soi par la valorisation des réussites</a:t>
            </a:r>
            <a:endParaRPr lang="en-US" sz="1350" dirty="0"/>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name="Slide 193">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96</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Réduire l'agitation et améliorer la régulation émotionnelle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réduction de l'agitation et l'amélioration de la régulation émotionnelle sont des objectifs communs à la thérapie sensorielle (via la régulation du SNA) et à la thérapie par validation (via la réduction de l'activation émotionnelle par la reconnaissance empathique).</a:t>
            </a:r>
            <a:endParaRPr lang="en-US" sz="1400" dirty="0"/>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name="Slide 194">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97</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97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Lequel de ces comportements perturbateurs peut avoir une fonction de communication non verbale chez une personne avec DI sévère et communication limitée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déambulation nocturne</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Les stéréotypies envahissantes</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L'auto-agressivité</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Les troubles du sommeil</a:t>
            </a:r>
            <a:endParaRPr lang="en-US" sz="1350" dirty="0"/>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name="Slide 195">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97</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L'auto-agressivité</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L'auto-agressivité peut avoir une fonction de communication chez les personnes avec DI sévère et communication très limitée : la personne peut se frapper pour signaler une douleur, une frustration ou un besoin non satisfait. Cette lecture fonctionnelle est essentielle pour choisir l'intervention adaptée (souvent la CAA).</a:t>
            </a:r>
            <a:endParaRPr lang="en-US" sz="1400" dirty="0"/>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name="Slide 196">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98</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98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Parmi les 10 TNmP présentées, laquelle requiert le plus de précaution quant au consentement éclairé de la personne avec DI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Méthode Montessori adaptée</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Réorientation thérapeutique</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EMDR / Tapping / Brainspotting</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Entraînement aux habiletés sociales</a:t>
            </a:r>
            <a:endParaRPr lang="en-US" sz="1350" dirty="0"/>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name="Slide 197">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98</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EMDR / Tapping / Brainspotting</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L'EMDR, le Tapping et le Brainspotting sont des techniques de retraitement traumatique pouvant générer des réactions émotionnelles intenses. En DI, leur indication est prudente et requiert spécifiquement un consentement éclairé adapté aux capacités de la personne, dans un cadre sécurisé.</a:t>
            </a:r>
            <a:endParaRPr lang="en-US" sz="1400" dirty="0"/>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name="Slide 198">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99</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99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Lequel de ces comportements d'opposition constitue le défi le plus direct pour la santé physique de la personne à court terme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Refuser de participer aux activités éducatives</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Refuser la prise de médicaments essentiels (traitement épileptique, psychiatrique)</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Refuser de se coiffer</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Refuser de changer de place lors des activités</a:t>
            </a:r>
            <a:endParaRPr lang="en-US" sz="1350" dirty="0"/>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name="Slide 199">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99</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Refuser la prise de médicaments essentiels (traitement épileptique, psychiatrique)</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 refus de prise médicamenteuse est l'opposition au potentiel le plus grave à court terme : pour un traitement antiépileptique ou psychiatrique, une non-prise entraîne des risques de décompensation rapide. Ce comportement doit déclencher une évaluation médicale immédiate.</a:t>
            </a:r>
            <a:endParaRPr lang="en-US" sz="1400" dirty="0"/>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name="Slide 200">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F4A261"/>
          </a:solidFill>
          <a:ln w="12700">
            <a:solidFill>
              <a:srgbClr val="F4A261"/>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164592" y="201168"/>
            <a:ext cx="1024128" cy="1024128"/>
          </a:xfrm>
          <a:prstGeom prst="ellipse">
            <a:avLst/>
          </a:prstGeom>
          <a:solidFill>
            <a:srgbClr val="2EC4B6"/>
          </a:solidFill>
          <a:ln w="12700">
            <a:solidFill>
              <a:srgbClr val="2EC4B6"/>
            </a:solidFill>
            <a:prstDash val="solid"/>
          </a:ln>
        </p:spPr>
      </p:sp>
      <p:sp>
        <p:nvSpPr>
          <p:cNvPr id="5" name="Text 3"/>
          <p:cNvSpPr/>
          <p:nvPr/>
        </p:nvSpPr>
        <p:spPr>
          <a:xfrm>
            <a:off x="164592" y="347472"/>
            <a:ext cx="1024128"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100</a:t>
            </a:r>
            <a:endParaRPr lang="en-US" sz="2800" dirty="0"/>
          </a:p>
        </p:txBody>
      </p:sp>
      <p:sp>
        <p:nvSpPr>
          <p:cNvPr id="6" name="Text 4"/>
          <p:cNvSpPr/>
          <p:nvPr/>
        </p:nvSpPr>
        <p:spPr>
          <a:xfrm>
            <a:off x="164592" y="219456"/>
            <a:ext cx="1024128" cy="274320"/>
          </a:xfrm>
          <a:prstGeom prst="rect">
            <a:avLst/>
          </a:prstGeom>
          <a:noFill/>
          <a:ln/>
        </p:spPr>
        <p:txBody>
          <a:bodyPr wrap="square" lIns="0" tIns="0" rIns="0" bIns="0" rtlCol="0" anchor="ctr"/>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7" name="Text 5"/>
          <p:cNvSpPr/>
          <p:nvPr/>
        </p:nvSpPr>
        <p:spPr>
          <a:xfrm>
            <a:off x="10241280" y="182880"/>
            <a:ext cx="1737360" cy="256032"/>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100 / 100</a:t>
            </a:r>
            <a:endParaRPr lang="en-US" sz="1100" dirty="0"/>
          </a:p>
        </p:txBody>
      </p:sp>
      <p:sp>
        <p:nvSpPr>
          <p:cNvPr id="8" name="Text 6"/>
          <p:cNvSpPr/>
          <p:nvPr/>
        </p:nvSpPr>
        <p:spPr>
          <a:xfrm>
            <a:off x="1353312" y="182880"/>
            <a:ext cx="10579608" cy="157276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Quelle différence fondamentale distingue l'auto-agressivité de l'hétéro-agressivité physique ?</a:t>
            </a:r>
            <a:endParaRPr lang="en-US" sz="1700" dirty="0"/>
          </a:p>
        </p:txBody>
      </p:sp>
      <p:sp>
        <p:nvSpPr>
          <p:cNvPr id="9" name="Shape 7"/>
          <p:cNvSpPr/>
          <p:nvPr/>
        </p:nvSpPr>
        <p:spPr>
          <a:xfrm>
            <a:off x="164592" y="1865376"/>
            <a:ext cx="11832336" cy="36576"/>
          </a:xfrm>
          <a:prstGeom prst="rect">
            <a:avLst/>
          </a:prstGeom>
          <a:solidFill>
            <a:srgbClr val="2EC4B6">
              <a:alpha val="70000"/>
            </a:srgbClr>
          </a:solidFill>
          <a:ln w="12700">
            <a:solidFill>
              <a:srgbClr val="2EC4B6">
                <a:alpha val="70000"/>
              </a:srgbClr>
            </a:solidFill>
            <a:prstDash val="solid"/>
          </a:ln>
        </p:spPr>
      </p:sp>
      <p:sp>
        <p:nvSpPr>
          <p:cNvPr id="10" name="Shape 8"/>
          <p:cNvSpPr/>
          <p:nvPr/>
        </p:nvSpPr>
        <p:spPr>
          <a:xfrm>
            <a:off x="164592" y="1956816"/>
            <a:ext cx="11832336" cy="987552"/>
          </a:xfrm>
          <a:prstGeom prst="rect">
            <a:avLst/>
          </a:prstGeom>
          <a:solidFill>
            <a:srgbClr val="1A2F5E"/>
          </a:solidFill>
          <a:ln w="9525">
            <a:solidFill>
              <a:srgbClr val="F4A261"/>
            </a:solidFill>
            <a:prstDash val="solid"/>
          </a:ln>
        </p:spPr>
      </p:sp>
      <p:sp>
        <p:nvSpPr>
          <p:cNvPr id="11" name="Shape 9"/>
          <p:cNvSpPr/>
          <p:nvPr/>
        </p:nvSpPr>
        <p:spPr>
          <a:xfrm>
            <a:off x="164592" y="1956816"/>
            <a:ext cx="73152" cy="987552"/>
          </a:xfrm>
          <a:prstGeom prst="rect">
            <a:avLst/>
          </a:prstGeom>
          <a:solidFill>
            <a:srgbClr val="F4A261"/>
          </a:solidFill>
          <a:ln w="12700">
            <a:solidFill>
              <a:srgbClr val="F4A261"/>
            </a:solidFill>
            <a:prstDash val="solid"/>
          </a:ln>
        </p:spPr>
      </p:sp>
      <p:sp>
        <p:nvSpPr>
          <p:cNvPr id="12" name="Shape 10"/>
          <p:cNvSpPr/>
          <p:nvPr/>
        </p:nvSpPr>
        <p:spPr>
          <a:xfrm>
            <a:off x="320040" y="2130552"/>
            <a:ext cx="640080" cy="640080"/>
          </a:xfrm>
          <a:prstGeom prst="ellipse">
            <a:avLst/>
          </a:prstGeom>
          <a:solidFill>
            <a:srgbClr val="F4A261"/>
          </a:solidFill>
          <a:ln w="12700">
            <a:solidFill>
              <a:srgbClr val="F4A261"/>
            </a:solidFill>
            <a:prstDash val="solid"/>
          </a:ln>
        </p:spPr>
      </p:sp>
      <p:sp>
        <p:nvSpPr>
          <p:cNvPr id="13" name="Text 11"/>
          <p:cNvSpPr/>
          <p:nvPr/>
        </p:nvSpPr>
        <p:spPr>
          <a:xfrm>
            <a:off x="320040" y="2130552"/>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115568" y="2029968"/>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L'auto-agressivité concerne les objets, l'hétéro-agressivité concerne les personnes</a:t>
            </a:r>
            <a:endParaRPr lang="en-US" sz="1350" dirty="0"/>
          </a:p>
        </p:txBody>
      </p:sp>
      <p:sp>
        <p:nvSpPr>
          <p:cNvPr id="15" name="Shape 13"/>
          <p:cNvSpPr/>
          <p:nvPr/>
        </p:nvSpPr>
        <p:spPr>
          <a:xfrm>
            <a:off x="164592" y="3026664"/>
            <a:ext cx="11832336" cy="987552"/>
          </a:xfrm>
          <a:prstGeom prst="rect">
            <a:avLst/>
          </a:prstGeom>
          <a:solidFill>
            <a:srgbClr val="1A2F5E"/>
          </a:solidFill>
          <a:ln w="9525">
            <a:solidFill>
              <a:srgbClr val="9B5DE5"/>
            </a:solidFill>
            <a:prstDash val="solid"/>
          </a:ln>
        </p:spPr>
      </p:sp>
      <p:sp>
        <p:nvSpPr>
          <p:cNvPr id="16" name="Shape 14"/>
          <p:cNvSpPr/>
          <p:nvPr/>
        </p:nvSpPr>
        <p:spPr>
          <a:xfrm>
            <a:off x="164592" y="3026664"/>
            <a:ext cx="73152" cy="987552"/>
          </a:xfrm>
          <a:prstGeom prst="rect">
            <a:avLst/>
          </a:prstGeom>
          <a:solidFill>
            <a:srgbClr val="9B5DE5"/>
          </a:solidFill>
          <a:ln w="12700">
            <a:solidFill>
              <a:srgbClr val="9B5DE5"/>
            </a:solidFill>
            <a:prstDash val="solid"/>
          </a:ln>
        </p:spPr>
      </p:sp>
      <p:sp>
        <p:nvSpPr>
          <p:cNvPr id="17" name="Shape 15"/>
          <p:cNvSpPr/>
          <p:nvPr/>
        </p:nvSpPr>
        <p:spPr>
          <a:xfrm>
            <a:off x="320040" y="3200400"/>
            <a:ext cx="640080" cy="640080"/>
          </a:xfrm>
          <a:prstGeom prst="ellipse">
            <a:avLst/>
          </a:prstGeom>
          <a:solidFill>
            <a:srgbClr val="9B5DE5"/>
          </a:solidFill>
          <a:ln w="12700">
            <a:solidFill>
              <a:srgbClr val="9B5DE5"/>
            </a:solidFill>
            <a:prstDash val="solid"/>
          </a:ln>
        </p:spPr>
      </p:sp>
      <p:sp>
        <p:nvSpPr>
          <p:cNvPr id="18" name="Text 16"/>
          <p:cNvSpPr/>
          <p:nvPr/>
        </p:nvSpPr>
        <p:spPr>
          <a:xfrm>
            <a:off x="320040" y="3200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115568" y="3099816"/>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L'auto-agressivité est dirigée vers soi-même, l'hétéro-agressivité est dirigée vers autrui</a:t>
            </a:r>
            <a:endParaRPr lang="en-US" sz="1350" dirty="0"/>
          </a:p>
        </p:txBody>
      </p:sp>
      <p:sp>
        <p:nvSpPr>
          <p:cNvPr id="20" name="Shape 18"/>
          <p:cNvSpPr/>
          <p:nvPr/>
        </p:nvSpPr>
        <p:spPr>
          <a:xfrm>
            <a:off x="164592" y="4096512"/>
            <a:ext cx="11832336" cy="987552"/>
          </a:xfrm>
          <a:prstGeom prst="rect">
            <a:avLst/>
          </a:prstGeom>
          <a:solidFill>
            <a:srgbClr val="1A2F5E"/>
          </a:solidFill>
          <a:ln w="9525">
            <a:solidFill>
              <a:srgbClr val="2EC4B6"/>
            </a:solidFill>
            <a:prstDash val="solid"/>
          </a:ln>
        </p:spPr>
      </p:sp>
      <p:sp>
        <p:nvSpPr>
          <p:cNvPr id="21" name="Shape 19"/>
          <p:cNvSpPr/>
          <p:nvPr/>
        </p:nvSpPr>
        <p:spPr>
          <a:xfrm>
            <a:off x="164592" y="4096512"/>
            <a:ext cx="73152" cy="987552"/>
          </a:xfrm>
          <a:prstGeom prst="rect">
            <a:avLst/>
          </a:prstGeom>
          <a:solidFill>
            <a:srgbClr val="2EC4B6"/>
          </a:solidFill>
          <a:ln w="12700">
            <a:solidFill>
              <a:srgbClr val="2EC4B6"/>
            </a:solidFill>
            <a:prstDash val="solid"/>
          </a:ln>
        </p:spPr>
      </p:sp>
      <p:sp>
        <p:nvSpPr>
          <p:cNvPr id="22" name="Shape 20"/>
          <p:cNvSpPr/>
          <p:nvPr/>
        </p:nvSpPr>
        <p:spPr>
          <a:xfrm>
            <a:off x="320040" y="4270248"/>
            <a:ext cx="640080" cy="640080"/>
          </a:xfrm>
          <a:prstGeom prst="ellipse">
            <a:avLst/>
          </a:prstGeom>
          <a:solidFill>
            <a:srgbClr val="2EC4B6"/>
          </a:solidFill>
          <a:ln w="12700">
            <a:solidFill>
              <a:srgbClr val="2EC4B6"/>
            </a:solidFill>
            <a:prstDash val="solid"/>
          </a:ln>
        </p:spPr>
      </p:sp>
      <p:sp>
        <p:nvSpPr>
          <p:cNvPr id="23" name="Text 21"/>
          <p:cNvSpPr/>
          <p:nvPr/>
        </p:nvSpPr>
        <p:spPr>
          <a:xfrm>
            <a:off x="320040" y="4270248"/>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115568" y="4169664"/>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L'auto-agressivité est toujours intentionnelle, l'hétéro-agressivité non</a:t>
            </a:r>
            <a:endParaRPr lang="en-US" sz="1350" dirty="0"/>
          </a:p>
        </p:txBody>
      </p:sp>
      <p:sp>
        <p:nvSpPr>
          <p:cNvPr id="25" name="Shape 23"/>
          <p:cNvSpPr/>
          <p:nvPr/>
        </p:nvSpPr>
        <p:spPr>
          <a:xfrm>
            <a:off x="164592" y="5166360"/>
            <a:ext cx="11832336" cy="987552"/>
          </a:xfrm>
          <a:prstGeom prst="rect">
            <a:avLst/>
          </a:prstGeom>
          <a:solidFill>
            <a:srgbClr val="1A2F5E"/>
          </a:solidFill>
          <a:ln w="9525">
            <a:solidFill>
              <a:srgbClr val="FF6B6B"/>
            </a:solidFill>
            <a:prstDash val="solid"/>
          </a:ln>
        </p:spPr>
      </p:sp>
      <p:sp>
        <p:nvSpPr>
          <p:cNvPr id="26" name="Shape 24"/>
          <p:cNvSpPr/>
          <p:nvPr/>
        </p:nvSpPr>
        <p:spPr>
          <a:xfrm>
            <a:off x="164592" y="5166360"/>
            <a:ext cx="73152" cy="987552"/>
          </a:xfrm>
          <a:prstGeom prst="rect">
            <a:avLst/>
          </a:prstGeom>
          <a:solidFill>
            <a:srgbClr val="FF6B6B"/>
          </a:solidFill>
          <a:ln w="12700">
            <a:solidFill>
              <a:srgbClr val="FF6B6B"/>
            </a:solidFill>
            <a:prstDash val="solid"/>
          </a:ln>
        </p:spPr>
      </p:sp>
      <p:sp>
        <p:nvSpPr>
          <p:cNvPr id="27" name="Shape 25"/>
          <p:cNvSpPr/>
          <p:nvPr/>
        </p:nvSpPr>
        <p:spPr>
          <a:xfrm>
            <a:off x="320040" y="5340096"/>
            <a:ext cx="640080" cy="640080"/>
          </a:xfrm>
          <a:prstGeom prst="ellipse">
            <a:avLst/>
          </a:prstGeom>
          <a:solidFill>
            <a:srgbClr val="FF6B6B"/>
          </a:solidFill>
          <a:ln w="12700">
            <a:solidFill>
              <a:srgbClr val="FF6B6B"/>
            </a:solidFill>
            <a:prstDash val="solid"/>
          </a:ln>
        </p:spPr>
      </p:sp>
      <p:sp>
        <p:nvSpPr>
          <p:cNvPr id="28" name="Text 26"/>
          <p:cNvSpPr/>
          <p:nvPr/>
        </p:nvSpPr>
        <p:spPr>
          <a:xfrm>
            <a:off x="320040" y="5340096"/>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115568" y="5239512"/>
            <a:ext cx="1083564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L'auto-agressivité est un trouble non perturbateur, l'hétéro-agressivité est perturbatrice</a:t>
            </a:r>
            <a:endParaRPr lang="en-US" sz="1350" dirty="0"/>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name="Slide 201">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61520" cy="118872"/>
          </a:xfrm>
          <a:prstGeom prst="rect">
            <a:avLst/>
          </a:prstGeom>
          <a:solidFill>
            <a:srgbClr val="2EC4B6"/>
          </a:solidFill>
          <a:ln w="12700">
            <a:solidFill>
              <a:srgbClr val="2EC4B6"/>
            </a:solidFill>
            <a:prstDash val="solid"/>
          </a:ln>
        </p:spPr>
      </p:sp>
      <p:sp>
        <p:nvSpPr>
          <p:cNvPr id="3" name="Shape 1"/>
          <p:cNvSpPr/>
          <p:nvPr/>
        </p:nvSpPr>
        <p:spPr>
          <a:xfrm>
            <a:off x="0" y="6739128"/>
            <a:ext cx="12161520" cy="118872"/>
          </a:xfrm>
          <a:prstGeom prst="rect">
            <a:avLst/>
          </a:prstGeom>
          <a:solidFill>
            <a:srgbClr val="2EC4B6"/>
          </a:solidFill>
          <a:ln w="12700">
            <a:solidFill>
              <a:srgbClr val="2EC4B6"/>
            </a:solidFill>
            <a:prstDash val="solid"/>
          </a:ln>
        </p:spPr>
      </p:sp>
      <p:sp>
        <p:nvSpPr>
          <p:cNvPr id="4" name="Shape 2"/>
          <p:cNvSpPr/>
          <p:nvPr/>
        </p:nvSpPr>
        <p:spPr>
          <a:xfrm>
            <a:off x="0" y="0"/>
            <a:ext cx="201168" cy="6858000"/>
          </a:xfrm>
          <a:prstGeom prst="rect">
            <a:avLst/>
          </a:prstGeom>
          <a:solidFill>
            <a:srgbClr val="2EC4B6"/>
          </a:solidFill>
          <a:ln w="12700">
            <a:solidFill>
              <a:srgbClr val="2EC4B6"/>
            </a:solidFill>
            <a:prstDash val="solid"/>
          </a:ln>
        </p:spPr>
      </p:sp>
      <p:sp>
        <p:nvSpPr>
          <p:cNvPr id="5" name="Shape 3"/>
          <p:cNvSpPr/>
          <p:nvPr/>
        </p:nvSpPr>
        <p:spPr>
          <a:xfrm>
            <a:off x="320040" y="182880"/>
            <a:ext cx="548640" cy="548640"/>
          </a:xfrm>
          <a:prstGeom prst="ellipse">
            <a:avLst/>
          </a:prstGeom>
          <a:solidFill>
            <a:srgbClr val="2EC4B6"/>
          </a:solidFill>
          <a:ln w="12700">
            <a:solidFill>
              <a:srgbClr val="2EC4B6"/>
            </a:solidFill>
            <a:prstDash val="solid"/>
          </a:ln>
        </p:spPr>
      </p:sp>
      <p:sp>
        <p:nvSpPr>
          <p:cNvPr id="6" name="Text 4"/>
          <p:cNvSpPr/>
          <p:nvPr/>
        </p:nvSpPr>
        <p:spPr>
          <a:xfrm>
            <a:off x="320040" y="182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5840" y="237744"/>
            <a:ext cx="4114800" cy="438912"/>
          </a:xfrm>
          <a:prstGeom prst="rect">
            <a:avLst/>
          </a:prstGeom>
          <a:noFill/>
          <a:ln/>
        </p:spPr>
        <p:txBody>
          <a:bodyPr wrap="square" lIns="0" tIns="0" rIns="0" bIns="0" rtlCol="0" anchor="ctr"/>
          <a:lstStyle/>
          <a:p>
            <a:pPr indent="0" marL="0">
              <a:buNone/>
            </a:pPr>
            <a:r>
              <a:rPr lang="en-US" sz="1400" b="1" spc="200" kern="0" dirty="0">
                <a:solidFill>
                  <a:srgbClr val="2EC4B6"/>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744"/>
            <a:ext cx="1417320" cy="320040"/>
          </a:xfrm>
          <a:prstGeom prst="rect">
            <a:avLst/>
          </a:prstGeom>
          <a:noFill/>
          <a:ln/>
        </p:spPr>
        <p:txBody>
          <a:bodyPr wrap="square" lIns="0" tIns="0" rIns="0" bIns="0"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100</a:t>
            </a:r>
            <a:endParaRPr lang="en-US" sz="1100" dirty="0"/>
          </a:p>
        </p:txBody>
      </p:sp>
      <p:sp>
        <p:nvSpPr>
          <p:cNvPr id="9" name="Shape 7"/>
          <p:cNvSpPr/>
          <p:nvPr/>
        </p:nvSpPr>
        <p:spPr>
          <a:xfrm>
            <a:off x="201168" y="822960"/>
            <a:ext cx="11960352" cy="1078992"/>
          </a:xfrm>
          <a:prstGeom prst="rect">
            <a:avLst/>
          </a:prstGeom>
          <a:solidFill>
            <a:srgbClr val="0A3D3B"/>
          </a:solidFill>
          <a:ln w="9525">
            <a:solidFill>
              <a:srgbClr val="2EC4B6"/>
            </a:solidFill>
            <a:prstDash val="solid"/>
          </a:ln>
        </p:spPr>
      </p:sp>
      <p:sp>
        <p:nvSpPr>
          <p:cNvPr id="10" name="Shape 8"/>
          <p:cNvSpPr/>
          <p:nvPr/>
        </p:nvSpPr>
        <p:spPr>
          <a:xfrm>
            <a:off x="347472" y="1042416"/>
            <a:ext cx="640080" cy="640080"/>
          </a:xfrm>
          <a:prstGeom prst="ellipse">
            <a:avLst/>
          </a:prstGeom>
          <a:solidFill>
            <a:srgbClr val="2EC4B6"/>
          </a:solidFill>
          <a:ln w="12700">
            <a:solidFill>
              <a:srgbClr val="2EC4B6"/>
            </a:solidFill>
            <a:prstDash val="solid"/>
          </a:ln>
        </p:spPr>
      </p:sp>
      <p:sp>
        <p:nvSpPr>
          <p:cNvPr id="11" name="Text 9"/>
          <p:cNvSpPr/>
          <p:nvPr/>
        </p:nvSpPr>
        <p:spPr>
          <a:xfrm>
            <a:off x="347472" y="1042416"/>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5568" y="877824"/>
            <a:ext cx="10835640" cy="9692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L'auto-agressivité est dirigée vers soi-même, l'hétéro-agressivité est dirigée vers autrui</a:t>
            </a:r>
            <a:endParaRPr lang="en-US" sz="1700" dirty="0"/>
          </a:p>
        </p:txBody>
      </p:sp>
      <p:sp>
        <p:nvSpPr>
          <p:cNvPr id="13" name="Text 11"/>
          <p:cNvSpPr/>
          <p:nvPr/>
        </p:nvSpPr>
        <p:spPr>
          <a:xfrm>
            <a:off x="347472" y="2048256"/>
            <a:ext cx="274320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168" y="2350008"/>
            <a:ext cx="11960352" cy="4389120"/>
          </a:xfrm>
          <a:prstGeom prst="rect">
            <a:avLst/>
          </a:prstGeom>
          <a:solidFill>
            <a:srgbClr val="1C2F5A"/>
          </a:solidFill>
          <a:ln w="12700">
            <a:solidFill>
              <a:srgbClr val="1C2F5A"/>
            </a:solidFill>
            <a:prstDash val="solid"/>
          </a:ln>
        </p:spPr>
      </p:sp>
      <p:sp>
        <p:nvSpPr>
          <p:cNvPr id="15" name="Shape 13"/>
          <p:cNvSpPr/>
          <p:nvPr/>
        </p:nvSpPr>
        <p:spPr>
          <a:xfrm>
            <a:off x="201168" y="2350008"/>
            <a:ext cx="54864" cy="4389120"/>
          </a:xfrm>
          <a:prstGeom prst="rect">
            <a:avLst/>
          </a:prstGeom>
          <a:solidFill>
            <a:srgbClr val="2EC4B6"/>
          </a:solidFill>
          <a:ln w="12700">
            <a:solidFill>
              <a:srgbClr val="2EC4B6"/>
            </a:solidFill>
            <a:prstDash val="solid"/>
          </a:ln>
        </p:spPr>
      </p:sp>
      <p:sp>
        <p:nvSpPr>
          <p:cNvPr id="16" name="Text 14"/>
          <p:cNvSpPr/>
          <p:nvPr/>
        </p:nvSpPr>
        <p:spPr>
          <a:xfrm>
            <a:off x="411480" y="2423160"/>
            <a:ext cx="11521440" cy="4233672"/>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distinction fondamentale est la direction : l'auto-agressivité est tournée vers soi (se frapper, se mordre, se griffer), tandis que l'hétéro-agressivité physique est dirigée vers une autre personne (pousser, mordre, cracher sur autrui).</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201</Slides>
  <Notes>201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201</vt:i4>
      </vt:variant>
    </vt:vector>
  </HeadingPairs>
  <TitlesOfParts>
    <vt:vector size="20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lpstr>Slide 159</vt:lpstr>
      <vt:lpstr>Slide 160</vt:lpstr>
      <vt:lpstr>Slide 161</vt:lpstr>
      <vt:lpstr>Slide 162</vt:lpstr>
      <vt:lpstr>Slide 163</vt:lpstr>
      <vt:lpstr>Slide 164</vt:lpstr>
      <vt:lpstr>Slide 165</vt:lpstr>
      <vt:lpstr>Slide 166</vt:lpstr>
      <vt:lpstr>Slide 167</vt:lpstr>
      <vt:lpstr>Slide 168</vt:lpstr>
      <vt:lpstr>Slide 169</vt:lpstr>
      <vt:lpstr>Slide 170</vt:lpstr>
      <vt:lpstr>Slide 171</vt:lpstr>
      <vt:lpstr>Slide 172</vt:lpstr>
      <vt:lpstr>Slide 173</vt:lpstr>
      <vt:lpstr>Slide 174</vt:lpstr>
      <vt:lpstr>Slide 175</vt:lpstr>
      <vt:lpstr>Slide 176</vt:lpstr>
      <vt:lpstr>Slide 177</vt:lpstr>
      <vt:lpstr>Slide 178</vt:lpstr>
      <vt:lpstr>Slide 179</vt:lpstr>
      <vt:lpstr>Slide 180</vt:lpstr>
      <vt:lpstr>Slide 181</vt:lpstr>
      <vt:lpstr>Slide 182</vt:lpstr>
      <vt:lpstr>Slide 183</vt:lpstr>
      <vt:lpstr>Slide 184</vt:lpstr>
      <vt:lpstr>Slide 185</vt:lpstr>
      <vt:lpstr>Slide 186</vt:lpstr>
      <vt:lpstr>Slide 187</vt:lpstr>
      <vt:lpstr>Slide 188</vt:lpstr>
      <vt:lpstr>Slide 189</vt:lpstr>
      <vt:lpstr>Slide 190</vt:lpstr>
      <vt:lpstr>Slide 191</vt:lpstr>
      <vt:lpstr>Slide 192</vt:lpstr>
      <vt:lpstr>Slide 193</vt:lpstr>
      <vt:lpstr>Slide 194</vt:lpstr>
      <vt:lpstr>Slide 195</vt:lpstr>
      <vt:lpstr>Slide 196</vt:lpstr>
      <vt:lpstr>Slide 197</vt:lpstr>
      <vt:lpstr>Slide 198</vt:lpstr>
      <vt:lpstr>Slide 199</vt:lpstr>
      <vt:lpstr>Slide 200</vt:lpstr>
      <vt:lpstr>Slide 201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Thérapies Non Médicamenteuses</dc:title>
  <dc:subject>PptxGenJS Presentation</dc:subject>
  <dc:creator>PptxGenJS</dc:creator>
  <cp:lastModifiedBy>PptxGenJS</cp:lastModifiedBy>
  <cp:revision>1</cp:revision>
  <dcterms:created xsi:type="dcterms:W3CDTF">2026-04-05T09:54:11Z</dcterms:created>
  <dcterms:modified xsi:type="dcterms:W3CDTF">2026-04-05T09:54:11Z</dcterms:modified>
</cp:coreProperties>
</file>