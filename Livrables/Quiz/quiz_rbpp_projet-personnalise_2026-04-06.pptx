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</p:sldIdLst>
  <p:notesMasterIdLst>
    <p:notesMasterId r:id="rId1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notesMaster" Target="notesMasters/notesMaster1.xml"/><Relationship Id="rId200" Type="http://schemas.openxmlformats.org/officeDocument/2006/relationships/presProps" Target="presProps.xml"/><Relationship Id="rId201" Type="http://schemas.openxmlformats.org/officeDocument/2006/relationships/viewProps" Target="viewProps.xml"/><Relationship Id="rId202" Type="http://schemas.openxmlformats.org/officeDocument/2006/relationships/theme" Target="theme/theme1.xml"/><Relationship Id="rId2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20800" cy="685800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547200"/>
            <a:ext cx="2926800" cy="292680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4800" y="4572000"/>
            <a:ext cx="2559600" cy="2559600"/>
          </a:xfrm>
          <a:prstGeom prst="ellipse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7200" y="5029200"/>
            <a:ext cx="2012400" cy="2012400"/>
          </a:xfrm>
          <a:prstGeom prst="ellipse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200" y="1098000"/>
            <a:ext cx="5040000" cy="306000"/>
          </a:xfrm>
          <a:prstGeom prst="roundRect">
            <a:avLst>
              <a:gd name="adj" fmla="val 1494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200" y="1098000"/>
            <a:ext cx="5040000" cy="30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· Projet Personnalisé d'Accompagnement — HAS/ANESM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7200" y="2952000"/>
            <a:ext cx="68580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200" y="1512000"/>
            <a:ext cx="7200000" cy="1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Personnalisé d'Accompagnement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7200" y="2664000"/>
            <a:ext cx="720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de bonnes pratiques — HAS/ANESM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7200" y="3168000"/>
            <a:ext cx="36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questions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7200" y="3546000"/>
            <a:ext cx="648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professionnel médico-social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7200" y="5760000"/>
            <a:ext cx="172800" cy="172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200" y="5760000"/>
            <a:ext cx="172800" cy="172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7200" y="5760000"/>
            <a:ext cx="172800" cy="172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200" y="5760000"/>
            <a:ext cx="172800" cy="172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200" y="6192000"/>
            <a:ext cx="720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HAS/ANESM — Recommandations de bonnes pratiques professionnelles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loi a institué l'obligation du projet personnalisé dans les établissements médico-sociaux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2 janvier 2002 rénovant l'action sociale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11 février 2005 pour l'égalité des droits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HPST du 21 juillet 2009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26 janvier 1984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2 janvier 2002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2002-2 a créé une série de droits pour les usagers, dont le droit à un projet individualisé (article L.311-3 du CASF).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article du CASF figure le droit au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L.311-1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L.311-3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L.312-1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L.313-4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L.311-3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L.311-3 du CASF énumère les droits fondamentaux des usagers, dont le droit à un projet personnalisé.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formalise le contrat entre l'ESSMS et la personne accompagnée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CPOM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individuel de prise en charge (DIPC)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règlement de fonctionnement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livret d'accueil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DIPC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DIPC est le contrat entre l'établissement et la personne ; il constitue le cadre contractuel du projet personnalisé.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a publié la RBPP sur le projet personnalisé en décembre 2008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L'ANESM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L'ANESM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'Les attentes de la personne et le projet personnalisé' a été publiée par l'ANESM en décembre 2008.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quelle date l'ANESM a-t-elle été fusionnée avec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janvier 2018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avril 2018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janvier 2020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avril 2019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avril 2018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L'ANESM a été intégrée à la HAS le 1er avril 2018, qui reprend ses missions d'évaluation médico-sociale.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fréquence minimale le projet personnalisé doit-il être révisé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3 ans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2 ans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une fois par an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5 ans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une fois par 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révision annuelle minimum, avec des réévaluations plus fréquentes si la situation le nécessite.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fondamental de la loi 2002-2 est au cœur du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collective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de la dignité et de l'individualité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L'optimisation des coûts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standardisation des pratiques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de la dignité et de l'individualité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2002-2 place la personne au centre du dispositif, avec le respect de sa dignité, de son intégrité et de son individualité.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du Conseil de la Vie Sociale (CVS) dans le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chaque projet personnalisé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projets individuels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à la définition des orientations générales de l'ESSMS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Financer les projets personnalisés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aux orientations générales de l'ESSMS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CVS est une instance de participation collective qui contribue aux orientations de l'établissement.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d'autodétermination dans le projet personnalisé signifie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choisit seule sans soutien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exerce ses droits à faire des choix éclairés sur sa vie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L'établissement décide du projet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déterminé par la famille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exerce ses droits à faire des choix éclairés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reconnaît la capacité de la personne à être acteur de sa propre vie, avec le soutien nécessaire.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signé par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directeur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(et/ou représentant légal) et l'établissement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pluridisciplinaire seule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L'ARS et l'établissement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l'établissement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est co-signé, attestant l'accord et l'engagement des deux parties.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valeur juridique du refus de signer le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annulé automatiquement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L'accompagnement cesse immédiatement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est acté et noté, l'accompagnement se poursuit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mesure de protection judiciaire est demandée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est acté, l'accompagnement se poursuit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au refus est un droit des usagers. Il est tracé dans le dossier mais ne peut conduire à l'arrêt de l'accompagnement.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2025 sur le PPA numérique fait suite à une saisine de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CNSA seule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DGCS, DNS et CNSA conjointement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Ministère de la Santé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fédérations du médico-social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DGCS, DNS et CNSA conjointement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saisine de novembre 2023 émane de la DGCS, de la DNS et de la CNSA.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prévue de validation du référentiel HAS sur la numérisation du PPA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2025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d'avril 2025 indique une validation du référentiel final en 2026.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contribue à prévenir la maltraitance car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surveille les professionnels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formalise les attentes et droits, créant un référentiel protecteur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remplace le signalement obligatoire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sanctionne les professionnels maltraitants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formalise les attentes et droits, créant un référentiel protecteur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personnalisé bien construit rend visibles les droits et préférences de la personne, réduisant les dérives.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sur le projet personnalisé s'applique à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aux FAM et MAS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ESSMS de l'article L.312-1 CASF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aux structures pour adultes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aux établissements de plus de 50 places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ESSMS de l'article L.312-1 CASF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 vocation universelle : elle s'applique à tout établissement ou service médico-social.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principal de la phase 1 'Premiers contacts'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le DIPC immédiatement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premières attentes et préparer l'accueil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capacités cognitives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les objectifs annuels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premières attentes et préparer l'accueil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1 vise à initier la relation, recueillir les informations essentielles et préparer un accueil adapté.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être présent lors du premier entretien d'accueil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directeur et le médecin coordonnateur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et, si elle le souhaite, un proche ou représentant légal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soignante au complet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 travailleur social référent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un proche si souhaité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l'acteur principal. Ses proches peuvent l'accompagner selon ses vœux.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'période d'observation' dans le cadre de l'accueil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surveillance médicale intensive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temps pour se connaître avant de formaliser le projet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délai légal obligatoire de 6 mois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phase d'évaluation psychologique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temps pour se connaître avant de formaliser le projet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période d'observation est un temps de découverte mutuelle permettant de construire un projet sur des bases réelles.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recueillies lors des premiers contacts doivent être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Diffusées à toute l'équipe sans restriction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Traitées avec respect de la confidentialité et du secret professionnel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Transmises systématiquement à la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Publiées dans le rapport d'activité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Traitées avec confidentialité et secret professionnel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personnelles sont soumises au secret professionnel. Leur partage est limité au besoin de l'accompagnement.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obligatoire doit être remis à la personne dès son arrivée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d'établissement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livret d'accueil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d'évaluation interne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prévisionnel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livret d'accueil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livret d'accueil est obligatoire (loi 2002-2) et doit être remis lors de l'admission.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recueillir les attentes d'une personne avec des difficultés de communication verbale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uniquement à la famille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outils alternatifs : pictogrammes, FALC, observation, AAC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la phase à plus tard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fier uniquement au diagnostic médical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outils alternatifs adaptés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l'adaptation des moyens de communication pour garantir l'expression authentique.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visite de pré-admission a pour objectif principal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 financement possible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la personne de découvrir l'établissement et d'exprimer ses premières impressions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l'orientation MDPH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le contrat d'admission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l'établissement et exprimer ses premières impressions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visite de pré-admission permet à la personne d'évaluer si l'établissement répond à ses attentes.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2 'Analyse de la situation' s'appuie principalement sur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seuls antécédents médicaux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pluridisciplinaire et globale de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de la MDPH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L'avis de la famille exclusivement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pluridisciplinaire et globale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mobilise différents professionnels pour une vision complète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en compte l'histoire de vie de la personne signifie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Reconstituer son arbre généalogique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son parcours, ses valeurs et ses habitudes pour personnaliser l'accompagnement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ses antécédents judiciaires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ses résultats scolaires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parcours, les valeurs, les habitudes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de vie permet de contextualiser la situation actuelle et de respecter la continuité de l'identité.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dimensions doivent être explorées lors de l'évaluation globale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médicale et paramédicale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Médicale, sociale, psychologique, éducative, environnementale et relationnelle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capacités fonctionnelles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et financière seulement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dimensions : médicale, sociale, psychologique, éducative, environnementale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prône une approche globale qui prend en compte toutes les dimensions de la vie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distinction entre 'besoins' et 'attentes' est importante car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besoins sont subjectifs, les attentes objectives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attentes expriment ce que la personne désire ; les besoins ce dont elle a besoin — les deux comptent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besoins médicaux comptent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attentes sont ignorées si elles semblent irréalistes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et besoins sont distincts et tous deux légitimes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distingue les besoins (objectifs, évalués) des attentes (subjectives, exprimées). Les deux sont légitimes.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prendre en compte les attentes de la famille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remplacent les attentes de la personne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sont recueillies mais ne se substituent pas aux attentes de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ne sont pas pertinentes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déterminent seules les objectifs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Recueillies mais ne se substituent pas à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est un partenaire précieux, mais ses attentes ne doivent pas éclipser celles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 la situation doit conduire à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rédigé uniquement par le médecin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synthèse pluridisciplinaire partagée avec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confidentiel non communiqué à la personne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externalisé à un prestataire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synthèse pluridisciplinaire partagée avec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synthèse est un outil collectif. Elle doit être accessible à la personne pour qu'elle puisse y contribuer.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analyser l'environnement de la personne (famille, réseau, logement)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facturer les prestations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l'environnement influence directement l'accompagnement et les objectifs atteignables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rédiger le rapport d'évaluation externe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déterminer le financement MDPH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L'environnement influence l'accompagnement et les objectifs atteignables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adopte une approche écologique : la personne ne peut être comprise sans son contexte de vie.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entre évaluation fonctionnelle et évaluation des potentialités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sont identiques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fonctionnelle mesure les limites ; celle des potentialités identifie les capacités et ressources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fonctionnelle est réservée aux médecins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des potentialités n'est pas recommandée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vs capacités et ressources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une approche centrée sur les capacités (modèle CIF) plutôt que sur le seul déficit.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'co-construire' le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construisent et la personne accepte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les professionnels élaborent ensemble les objectifs et modalités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établissements collaborent sur un même projet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et la MDPH définissent les objectifs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les professionnels élaborent ensemble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co-construction est le principe central : la personne n'est pas objet mais acteur de son projet.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formuler un objectif de projet personnalisé de qualité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façon vague pour garder de la flexibilité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façon précise, mesurable, réaliste, temporellement défini et centré sur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termes médicaux complexes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délai pour ne pas mettre de pression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Précis, mesurable, réaliste, temporel, centré sur la personne (SMART)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objectif SMART permet l'évaluation et l'ajustement. Il doit refléter les aspirations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lorsque les attentes de la personne semblent irréalisables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la demande et imposer un objectif adapté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un dialogue bienveillant pour explorer les possibilités et ajustements nécessaires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uniquement la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juge des tutelles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bienveillant pour explorer les possibilités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 ne jamais écarter une attente sans dialogue.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garantir la compréhension des objectifs par une personne ayant un trouble cognitif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objectifs en termes techniques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FALC, les pictogrammes, les supports visuels et reformuler en langage simple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entièrement à la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la co-construction</a:t>
            </a:r>
            <a:endParaRPr lang="en-US" sz="13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FALC, pictogrammes, supports visuels, langage simple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l'adaptation des supports. FALC (Facile À Lire et à Comprendre) est une méthode recommandée.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réunion pluridisciplinaire de co-construction doit être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 aux seuls professionnels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Ouverte à la participation de la personne, avec une préparation adaptée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Présidée uniquement par le médecin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à 15 minutes maximum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Ouverte à la participation de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de la personne à la réunion de projet est une recommandation forte.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 de projet a pour rôle principal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Diriger médicalement la prise en charge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les actions des intervenants et maintenir le lien avec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budget individuel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seul le projet personnalisé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et maintenir le lien avec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 assure la cohérence du projet et est l'interlocuteur privilégié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s'applique la notion de 'risque acceptable' dans le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risque doit être éliminé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peut être accepté si la personne est informée, le risque mesuré et des sauvegardes existent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médecin évalue les risques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décide seule du niveau de risque</a:t>
            </a:r>
            <a:endParaRPr lang="en-US" sz="13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accepté si personne informée, risque mesuré, sauvegardes en place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le droit à prendre des risques dans le cadre de l'autonomie.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objectifs du projet personnalisé doivent être en lien avec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seules contraintes institutionnelles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de vie de la personne, ses aspirations et ses droits fondamentaux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exigences des financeurs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seuls objectifs médicaux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de vie, les aspirations et les droits fondamentaux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est au service du projet de vie. Les contraintes institutionnelles s'adaptent à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éviter une participation de façade dans la co-construction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choix proposés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information complète, du temps, des supports adaptés et donner suite aux demandes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signer le document rapidement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à la famille de valider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complète, temps, supports adaptés, suivi des demandes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participation authentique nécessite des conditions : information, temps, outils adaptés et suivi.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préférences exprimées par la personne sur ses habitudes de vie doivent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mentionnées pour mémoire sans conséquence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intégrées comme données fondamentales et respectées au quotidien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filtrées par l'équipe médicale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concerner que les loisirs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Intégrées et respectées au quotidien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habitudes, goûts et préférences sont constitutifs de l'identité et doivent guider l'accompagnement.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désaccord persistant sur un objectif du projet, la RBPP recommande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impose sa vision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 le désaccord et trouver un tiers médiateur si nécessaire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arbitre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suspendu</a:t>
            </a:r>
            <a:endParaRPr lang="en-US" sz="13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 le désaccord et trouver un tiers médiateur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désaccord est géré avec transparence. Le recours à un médiateur est prévu par la loi.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Lorsqu'une personne formule une attente jugée inadaptée, on doit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noter comme non recevable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motivations et chercher des réponses créatives adaptées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la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médicaments pour calmer la demande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motivations et chercher des réponses créatives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Derrière une attente apparemment inadaptée se cache souvent un besoin légitime.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doit contenir le document formalisant le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objectifs médicaux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objectifs, modalités, responsabilités, échéances et indicateurs d'évaluation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de l'établissement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décisions de l'équipe</a:t>
            </a:r>
            <a:endParaRPr lang="en-US" sz="13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modalités, responsabilités, échéances, indicateurs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de projet est un véritable contrat d'accompagnement qui engage les parties.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personne refuse de signer son projet, la conduite à tenir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Suspendre l'accompagnement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refus, l'inscrire au dossier et continuer à proposer la participation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au représentant légal de signer à sa place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l'incident à la MDPH</a:t>
            </a:r>
            <a:endParaRPr lang="en-US" sz="13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refus, l'inscrire au dossier, continuer à proposer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de signer est un droit. Il est tracé et respecté. L'accompagnement se poursuit.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de décision implique de hiérarchiser les objectifs. Comment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décident seuls des priorités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les professionnels définissent ensemble les priorités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fixe les priorités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L'ARS détermine les priorités via le CPOM</a:t>
            </a:r>
            <a:endParaRPr lang="en-US" sz="13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 les professionnels définissent ensemble les priorités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priorisation est elle-même une étape de co-construction.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indicateur d'évaluation dans le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critère financier de gestion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élément observable permettant de mesurer l'atteinte d'un objectif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satisfaction du personnel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de performance de l'ARS</a:t>
            </a:r>
            <a:endParaRPr lang="en-US" sz="13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élément observable mesurant l'atteinte d'un objectif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traduit l'objectif en quelque chose de mesurable, permettant l'évaluation et l'ajustement.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d'échéance dans le projet personnalisé sert à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pression sur la personne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temps de l'accompagnement et planifier les révisions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la durée maximale de séjour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la date de sortie obligatoire</a:t>
            </a:r>
            <a:endParaRPr lang="en-US" sz="13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temps et planifier les révisions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échéances donnent un rythme à l'accompagnement et maintiennent la dynamique du projet.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s'assurer que la personne comprend ses engagements dans le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lui faisant signer rapidement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lui restituant les engagements dans un format accessible et en vérifiant sa compréhension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lui remettant la version technique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demandant à la famille de lui expliquer</a:t>
            </a:r>
            <a:endParaRPr lang="en-US" sz="13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accessible et vérification de la compréhension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n'est pas synonyme de compréhension. La RBPP insiste sur la vérification réelle.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Lorsque les objectifs sont nombreux, il est recommandé de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aborder tous simultanément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organiser par priorité et travailler par étapes séquentielles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N'en retenir qu'un seul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confier chacun à un professionnel différent sans coordination</a:t>
            </a:r>
            <a:endParaRPr lang="en-US" sz="13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par priorité et travailler par étapes séquentielles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route structurée avec des priorités claires est plus efficace.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désaccord persistant entre la personne et l'équipe sur un objectif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impose sa vision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 le désaccord et trouver un tiers médiateur si nécessaire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arbitre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suspendu</a:t>
            </a:r>
            <a:endParaRPr lang="en-US" sz="13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 le désaccord et trouver un tiers médiateur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désaccord est géré avec transparence. Le recours à un médiateur est prévu.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œuvre du projet personnalisé nécessite avant tout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financement complémentaire de l'ARS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de l'ensemble des intervenants autour d'objectifs partagés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L'accord préalable du conseil départemental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spécifique de 40h pour chaque professionnel</a:t>
            </a:r>
            <a:endParaRPr lang="en-US" sz="13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autour d'objectifs partagés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L'efficacité repose sur la cohérence des interventions. Tous les professionnels doivent connaître les objectifs.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projet personnalisé doit-il être accessible aux professionnels de terrain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uniquement dans le bureau du directeur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dans le dossier avec une synthèse opérationnelle pour les équipes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référent y a accès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 uniquement lors des réunions annuelles</a:t>
            </a:r>
            <a:endParaRPr lang="en-US" sz="13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dans le dossier avec une synthèse opérationnelle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de terrain doivent pouvoir s'y référer quotidiennement.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un intervenant externe (kiné, orthophoniste) au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travaille de façon indépendante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objectifs sont articulés avec ceux du PPA et une coordination est assurée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une copie du dossier médical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consulté uniquement lors de la révision annuelle</a:t>
            </a:r>
            <a:endParaRPr lang="en-US" sz="13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articulés avec le PPA et coordination assurée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l'intégration de tous les intervenants dans une logique de cohérence.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tracer la mise en œuvre du projet au quotidien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 rapport mensuel du directeur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 transmissions régulières, des observations au dossier et des CR de réunion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seules factures de prestations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 n'est nécessaire en dehors de la révision annuelle</a:t>
            </a:r>
            <a:endParaRPr lang="en-US" sz="13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Transmissions régulières, observations au dossier, CR de réunion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traçabilité est une obligation professionnelle et un outil de suivi.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un objectif du PPA n'est manifestement plus adapté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la révision annuelle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révision anticipée pour ajuster les objectifs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cet objectif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la MDPH pour une nouvelle orientation</a:t>
            </a:r>
            <a:endParaRPr lang="en-US" sz="13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révision anticipée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est un outil vivant. Toute évolution significative justifie une révision anticipée.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cohérence entre les interventions de différents professionnels est assurée par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planning rigide imposé par la direction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temps de coordination pluridisciplinaire réguliers et des transmissions structurées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L'intuition des professionnels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recours à des protocoles standardisés</a:t>
            </a:r>
            <a:endParaRPr lang="en-US" sz="13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pluridisciplinaire régulière et transmissions structurées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est la clé de la cohérence.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peut-elle modifier une modalité de mise en œuvre en cours de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 projet signé est définitif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ses demandes doivent être entendues et traitées dans des délais raisonnables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mais uniquement avec l'accord de sa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mais uniquement pour les aspects médicaux</a:t>
            </a:r>
            <a:endParaRPr lang="en-US" sz="13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ses demandes doivent être entendues et traitées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le droit de la personne à faire évoluer son projet à tout moment.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des équipes sur le projet personnalisé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pour garantir une mise en œuvre de qualité et un positionnement éthique cohérent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 aux cadres de direction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uniquement pour le personnel médical</a:t>
            </a:r>
            <a:endParaRPr lang="en-US" sz="13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pour la qualité et la cohérence éthique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nécessité d'une culture commune autour du projet personnalisé.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gérer le refus d'une intervention prévue dans le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Imposer l'intervention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 refus, le noter, comprendre les raisons et adapter l'approche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Sanctionner la personne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le représentant légal</a:t>
            </a:r>
            <a:endParaRPr lang="en-US" sz="13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Respecter, noter, comprendre et adapter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ponctuel est une expression de l'autonomie. Il doit être respecté et tracé.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contribue au projet d'établissement en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remplaçant dans les faits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Permettant d'identifier les besoins collectifs qui alimentent les orientations stratégiques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Fixant le budget de chaque section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Déterminant les profils de poste</a:t>
            </a:r>
            <a:endParaRPr lang="en-US" sz="13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besoins collectifs qui alimentent les orientations stratégiques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L'agrégation des projets personnalisés fait émerger des tendances qui guident l'établissement.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co-évaluation du projet personnalisé consiste à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uniquement la satisfaction de l'équipe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ensemble l'atteinte des objectifs et la pertinence du projet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la conformité aux normes ARS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compétences des professionnels</a:t>
            </a:r>
            <a:endParaRPr lang="en-US" sz="13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ensemble l'atteinte des objectifs et la pertinence du projet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co-évaluation est une évaluation partagée incluant le regard de la personne sur son propre parcours.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indicateurs signalent le besoin d'une révision anticipée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de personnel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évolution de santé, un événement de vie majeur, une demande de la personne ou non-atteinte des objectifs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L'arrivée d'un nouvel inspecteur ARS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 de tarification MDPH</a:t>
            </a:r>
            <a:endParaRPr lang="en-US" sz="13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 santé, événement de vie, demande de la personne, non-atteinte des objectifs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situations peuvent modifier significativement les besoins et attentes de la personne.</a:t>
            </a:r>
            <a:endParaRPr 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mesurer l'atteinte d'un objectif immatériel comme 'améliorer l'estime de soi'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impossible à mesurer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 indicateurs comportementaux observables et le ressenti exprimé par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 test psychologique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l'avis du psychiatre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comportementaux observables et ressenti de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objectif peut être décliné en indicateurs observables. Le ressenti de la personne est un indicateur précieux.</a:t>
            </a:r>
            <a:endParaRPr lang="en-US" sz="1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lorsqu'un objectif n'est pas atteint à la révision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Sanctionner la personne pour manque de motivation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obstacles, ajuster les modalités et redéfinir l'approche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l'objectif du projet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référent de projet</a:t>
            </a:r>
            <a:endParaRPr lang="en-US" sz="13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obstacles, ajuster les modalités, redéfinir l'approche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non-atteinte est une information précieuse qui invite à questionner l'objectif et les méthodes.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doit-elle être présente lors de la réunion d'évaluation de son projet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les professionnels évaluent entre eux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dans la mesure du possible, avec les adaptations nécessaires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si elle en fait la demande écrite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personnes sans représentant légal</a:t>
            </a:r>
            <a:endParaRPr lang="en-US" sz="13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dans la mesure du possible, avec les adaptations nécessaires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de la personne à l'évaluation de son propre projet est une recommandation forte.</a:t>
            </a:r>
            <a:endParaRPr 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recueillir l'avis d'une personne ayant des difficultés à s'exprimer verbalement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fier aux observations de la famille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outils adaptés : échelles visuelles, pictogrammes de satisfaction, observation comportementale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solliciter son avis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à l'évaluation suivante</a:t>
            </a:r>
            <a:endParaRPr lang="en-US" sz="13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adaptés : échelles visuelles, pictogrammes, observation comportementale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être humain est capable d'exprimer une préférence. Les professionnels adaptent les outils.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rendu de la réunion de co-évaluation doit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confidentiel dans le bureau du directeur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versé au dossier et accessible à la personne, avec une version compréhensible si nécessaire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transmis uniquement à la MDPH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N'être conservé que 6 mois</a:t>
            </a:r>
            <a:endParaRPr lang="en-US" sz="13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Versé au dossier et accessible à la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transparence et l'accès au dossier sont des droits des usagers.</a:t>
            </a:r>
            <a:endParaRPr lang="en-US" sz="14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satisfaction globale de la personne par rapport à son accompagnement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parmi d'autres, complémentaire aux évaluations objectives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indicateur qui compte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pertinente car subjective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recueillir uniquement lors des enquêtes annuelles</a:t>
            </a:r>
            <a:endParaRPr lang="en-US" sz="13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parmi d'autres, complémentaire aux évaluations objectives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satisfaction est précieuse mais doit être croisée avec l'évaluation des objectifs.</a:t>
            </a:r>
            <a:endParaRPr lang="en-US" sz="1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du PPA contribue à la démarche qualité de l'ESSMS en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Alourdissant inutilement les procédures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Fournissant des données sur l'adéquation des accompagnements et nourrissant les plans d'amélioration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Remplaçant l'évaluation externe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Déterminant les augmentations de salaire</a:t>
            </a:r>
            <a:endParaRPr lang="en-US" sz="13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sur l'adéquation des accompagnements et plans d'amélioration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des co-évaluations sont une source précieuse pour le pilotage qualité.</a:t>
            </a:r>
            <a:endParaRPr lang="en-US" sz="14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du consensus formalisé utilisée par l'ANESM pour élaborer la RBPP consiste en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vote majoritaire des professionnels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combinant revue de littérature, groupe d'experts et validation par consensus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unilatérale du directeur de l'ANESM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sondage en ligne auprès des ESSMS</a:t>
            </a:r>
            <a:endParaRPr lang="en-US" sz="13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littérature, groupe d'experts et validation par consensus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consensus formalisé garantit la robustesse des recommandations en croisant données probantes et expertise.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rédaction du projet personnalisé doit être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 entièrement par le médecin coordonnateur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Compréhensible par la personne concernée, avec un langage clair et non technique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 aux juristes de l'établissement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 longue et détaillée que possible</a:t>
            </a:r>
            <a:endParaRPr lang="en-US" sz="13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Compréhensible par la personne, langage clair et non technique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POUR la personne. Sa rédaction doit être accessible.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modalités d'accompagnement dans le PPA doivent mentionner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du directeur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d'intervention, leur fréquence, les professionnels impliqués et les supports utilisés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montage financier de la prise en charge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des placements antérieurs</a:t>
            </a:r>
            <a:endParaRPr lang="en-US" sz="13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d'intervention, fréquence, professionnels impliqués, supports utilisés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modalités doivent être suffisamment précises pour guider l'action quotidienne.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archiver et sécuriser les projets personnalisés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classeur accessible à tous les visiteurs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dossier sécurisé de la personne, avec des droits d'accès limités aux professionnels habilités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réseaux sociaux professionnels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serveur non protégé</a:t>
            </a:r>
            <a:endParaRPr lang="en-US" sz="13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sécurisé, droits d'accès limités aux professionnels habilités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et le secret professionnel imposent une sécurisation des données personnelles.</a:t>
            </a:r>
            <a:endParaRPr lang="en-US" sz="14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minimum les projets personnalisés doivent-ils être conservés après la sortie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(10 ans pour les données médicales)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Indéfiniment</a:t>
            </a:r>
            <a:endParaRPr lang="en-US" sz="13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(10 ans pour les données médicales)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sociales sont conservées 5 ans. Les données médicales suivent le code de la santé publique (10 ans).</a:t>
            </a:r>
            <a:endParaRPr lang="en-US" sz="1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a-t-elle le droit d'accéder à son dossier complet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le dossier est confidentiel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elle peut demander la communication de son dossier à tout moment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mais uniquement en présence du directeur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mais seulement après 2 ans de présence</a:t>
            </a:r>
            <a:endParaRPr lang="en-US" sz="13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à tout moment dans les délais réglementaires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d'accès au dossier est garanti par la loi dans les délais prévus (48h à 8 jours).</a:t>
            </a:r>
            <a:endParaRPr lang="en-US" sz="14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numérique (DUI) présente comme avantage principal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du consentement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meilleure accessibilité, traçabilité et partageabilité inter-professionnelle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complète de l'accompagnement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réduction du personnel nécessaire</a:t>
            </a:r>
            <a:endParaRPr lang="en-US" sz="13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accessibilité, traçabilité et partageabilité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numérisation facilite la coordination et la continuité, à condition de respecter la confidentialité.</a:t>
            </a:r>
            <a:endParaRPr lang="en-US" sz="14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au traitement des données personnelles dans le PPA doit être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Implicite — la présence dans l'établissement vaut consentement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Explicite, éclairé et documenté, avec possibilité de le retirer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 une seule fois à l'admission sans possibilité de retrait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 uniquement par le représentant légal</a:t>
            </a:r>
            <a:endParaRPr lang="en-US" sz="13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Explicite, éclairé et documenté, avec possibilité de retrait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impose un consentement libre, spécifique, éclairé et univoque.</a:t>
            </a:r>
            <a:endParaRPr lang="en-US" sz="1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synthèse opérationnelle du PPA pour les équipes de terrain doit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intégralement le projet de 20 pages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en une page les objectifs prioritaires, modalités clés et points de vigilance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mentionner que les aspects médicaux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rédigée en anglais pour des raisons de confidentialité</a:t>
            </a:r>
            <a:endParaRPr lang="en-US" sz="13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: objectifs prioritaires, modalités clés, points de vigilance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synthèse courte et lisible est plus utile au quotidien qu'un document exhaustif.</a:t>
            </a:r>
            <a:endParaRPr lang="en-US" sz="1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désigne le 'Ségur numérique' dans le contexte du PPA médico-social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de financement des locaux informatiques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national de numérisation des données de santé et médico-sociales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social pour professionnels de santé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logiciel de gestion RH</a:t>
            </a:r>
            <a:endParaRPr lang="en-US" sz="13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national de numérisation des données de santé et médico-sociales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Ségur numérique vise l'interopérabilité des systèmes d'information de santé, avec des volets médico-sociaux.</a:t>
            </a:r>
            <a:endParaRPr lang="en-US" sz="14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DUI dans les ESSMS doit respecter quel cadre réglementaire principal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1901 sur les associations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et le Code de l'action sociale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HADOPI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du commerce</a:t>
            </a:r>
            <a:endParaRPr lang="en-US" sz="13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et le Code de l'action sociale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DUI traite des données de santé (catégorie sensible au sens du RGPD) et doit respecter le CASF.</a:t>
            </a:r>
            <a:endParaRPr lang="en-US" sz="14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L'interopérabilité des DUI entre établissements permettrait principalement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personnel administratif de 50%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continuité des données lors des transitions (ESSMS, hôpital, changement d'établissement)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décisions d'admission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projets personnalisés papier</a:t>
            </a:r>
            <a:endParaRPr lang="en-US" sz="13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des données lors des transitions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L'interopérabilité garantit que les informations essentielles suivent la personne lors de ses transitions.</a:t>
            </a:r>
            <a:endParaRPr lang="en-US" sz="14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2025 vise principalement à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projets personnalisés papier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une structuration standardisée des données du PPA pour leur numérisation et interopérabilité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professionnels par l'IA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tous les DUI au niveau national</a:t>
            </a:r>
            <a:endParaRPr lang="en-US" sz="13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une structuration standardisée des données du PPA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pose les bases d'une structuration commune pour les systèmes interopérables.</a:t>
            </a:r>
            <a:endParaRPr lang="en-US" sz="14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'Mon Espace Santé' peut potentiellement être utilisé dans le cadre du PPA pour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finances de la personne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la personne d'accéder à certaines données de son parcours de santé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dossier médical en établissement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 les paiements des prestations</a:t>
            </a:r>
            <a:endParaRPr lang="en-US" sz="13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l'accès et le partage de données du parcours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'Mon Espace Santé' est le DMP évolué. Il pourrait être un point d'accès pour certaines données du parcours.</a:t>
            </a:r>
            <a:endParaRPr lang="en-US" sz="14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principal risque éthique lié à la numérisation du PPA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sera trop contraignant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déshumanisation, la réduction de la personne à des données et les risques de sécurité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L'augmentation du temps de travail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des réunions de co-évaluation</a:t>
            </a:r>
            <a:endParaRPr lang="en-US" sz="13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Déshumanisation, réduction à des données et risques de sécurité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numérisation présente des risques : standardisation excessive et piratage de données très sensibles.</a:t>
            </a:r>
            <a:endParaRPr lang="en-US" sz="14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structuration des données du PPA numérique doit intégrer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données médicales codées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médicales, sociales, éducatives, environnementales et les préférences de la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actes facturables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RH des professionnels intervenants</a:t>
            </a:r>
            <a:endParaRPr lang="en-US" sz="13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dimensions : médicale, sociale, éducative, environnementale, préférences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une structuration multidimensionnelle reflétant la globalité du PPA.</a:t>
            </a:r>
            <a:endParaRPr lang="en-US" sz="14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 (Classification Internationale du Fonctionnement) est envisagée pour le PPA numérique car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seule norme disponible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offre un cadre standardisé et interopérable pour décrire le fonctionnement et le handicap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obligatoire depuis 2020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simplifie la facturation</a:t>
            </a:r>
            <a:endParaRPr lang="en-US" sz="13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standardisé et interopérable pour décrire le fonctionnement et le handicap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 (OMS) permet une description standardisée adaptée au contexte médico-social.</a:t>
            </a:r>
            <a:endParaRPr lang="en-US" sz="14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numérique du PPA doit être accompagnée par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réduction des effectifs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des professionnels et des personnes accompagnées aux outils numériques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remplacement des réunions par des messageries automatiques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du dossier papier dès 2025</a:t>
            </a:r>
            <a:endParaRPr lang="en-US" sz="13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professionnels et des personnes accompagnées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insiste sur l'accompagnement au changement pour éviter la fracture numérique.</a:t>
            </a:r>
            <a:endParaRPr lang="en-US" sz="14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de fracture numérique pour les personnes accompagnées signifie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de casser leur tablette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que certaines personnes soient exclues des bénéfices de la numérisation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 de connexion internet en zones rurales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de piratage des données</a:t>
            </a:r>
            <a:endParaRPr lang="en-US" sz="13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personnes risquent d'être exclues des bénéfices de la numérisation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fracture numérique touche de nombreuses personnes en situation de handicap. Le PPA numérique doit être inclusif.</a:t>
            </a:r>
            <a:endParaRPr lang="en-US" sz="14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projets personnalisés alimentent-ils le projet d'établissement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indépendants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agrégée fait émerger des besoins collectifs qui orientent les axes stratégiques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remplacent le projet d'établissement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déterminent le budget annuel</a:t>
            </a:r>
            <a:endParaRPr lang="en-US" sz="13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agrégée fait émerger des besoins collectifs qui orientent les axes stratégiques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individuels, lus ensemble, révèlent des tendances qui alimentent la réflexion collective.</a:t>
            </a:r>
            <a:endParaRPr lang="en-US" sz="14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durée maximale d'un projet d'établissement dans un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ans</a:t>
            </a:r>
            <a:endParaRPr lang="en-US" sz="13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d'établissement est obligatoire et doit être révisé au moins tous les 5 ans (art. L.311-8 CASF).</a:t>
            </a:r>
            <a:endParaRPr lang="en-US" sz="1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bientraitance, telle que définie par la HAS/ANESM,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de maltraitance physique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culture de l'action positive visant le bien-être, le respect des droits et l'autonomie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protocole de gestion des incidents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label qualité attribué par l'ARS</a:t>
            </a:r>
            <a:endParaRPr lang="en-US" sz="13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de l'action positive visant bien-être, droits et autonomie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bientraitance dépasse la simple absence de maltraitance. Elle implique une attention active à la qualité relationnelle.</a:t>
            </a:r>
            <a:endParaRPr lang="en-US" sz="1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instance externe contrôle la qualité des projets personnalisés dans les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L'inspection du travail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 Autorité de Santé (HAS) lors des évaluations de la qualité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des RH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conseil d'administration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lors des évaluations de la qualité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évaluations de la qualité examinent notamment les pratiques d'accompagnement, y compris les projets personnalisés.</a:t>
            </a:r>
            <a:endParaRPr lang="en-US" sz="1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référentiel d'évaluation de la HAS 2022 pour les ESSMS inclut des critères sur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la gestion financière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personnalisé, l'expression des droits, la bientraitance et la qualité des prestations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conformité réglementaire des locaux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sportives des personnes</a:t>
            </a:r>
            <a:endParaRPr lang="en-US" sz="13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PPA, droits, bientraitance et qualité des prestations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référentiel HAS 2022 évalue la qualité de l'accompagnement dans sa globalité.</a:t>
            </a:r>
            <a:endParaRPr lang="en-US" sz="14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participation des personnes accompagnées à la démarche qualité est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Découragée car trop complexe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recommandée : enquêtes de satisfaction, CVS, groupes de travail qualité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 aux directeurs d'associations d'usagers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consultative sans effet sur les décisions</a:t>
            </a:r>
            <a:endParaRPr lang="en-US" sz="13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recommandée : enquêtes, CVS, groupes de travail qualité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et la RBPP encouragent l'implication active des personnes dans la démarche qualité.</a:t>
            </a:r>
            <a:endParaRPr lang="en-US" sz="14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maintenir la qualité des projets personnalisés, les actions recommandées en continu sont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logiciel de gestion tous les 2 ans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continue, supervisions cliniques, analyse des pratiques et groupes pluridisciplinaires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Externaliser la rédaction à un prestataire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réunions pour réduire les coûts</a:t>
            </a:r>
            <a:endParaRPr lang="en-US" sz="13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95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continue, supervisions, analyse des pratiques, groupes pluridisciplinaires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des PPA repose sur une culture professionnelle continue : formation et réflexivité.</a:t>
            </a:r>
            <a:endParaRPr lang="en-US" sz="14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valeur fondamentale doit guider l'ensemble de la démarche de projet personnalisé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L'efficience économique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primauté de la personne : bien-être, dignité, autodétermination et droits fondamentaux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standardisation des pratiques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stricte aux procédures administratives</a:t>
            </a:r>
            <a:endParaRPr lang="en-US" sz="13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96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primauté de la personne : bien-être, dignité, autodétermination, droits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cœur de la RBPP figure la personne. Tous les outils ne sont que des moyens au service de cette valeur.</a:t>
            </a:r>
            <a:endParaRPr lang="en-US" sz="14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devez retenir UN principe essentiel de la RBPP sur le projet personnalisé, lequel est-ce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 procédurale prime sur la relation humaine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principal de son projet ; l'équipe l'accompagne dans cette démarche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est avant tout un document administratif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objectifs médicaux priment toujours</a:t>
            </a:r>
            <a:endParaRPr lang="en-US" sz="13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97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principal de son projet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démarche RBPP repose sur ce principe : la personne n'est pas l'objet d'un projet, mais son auteur principal.</a:t>
            </a:r>
            <a:endParaRPr lang="en-US" sz="14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régulièrement la qualité des PPA nécessite des indicateurs quantitatifs ET qualitatifs. Ces deux types d'indicateurs sont 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Redondants, un seul type suffit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Complémentaires et nécessaires pour une vision complète de la qualité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Réservés à l'évaluation externe HAS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Optionnels si la démarche qualité est bien établie</a:t>
            </a:r>
            <a:endParaRPr lang="en-US" sz="13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98 / 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Complémentaires et nécessaires pour une vision complète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quantitatifs mesurent le déploiement ; les qualitatifs mesurent la pertinence et l'impact sur la personne.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197</Slides>
  <Notes>197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197</vt:i4>
      </vt:variant>
    </vt:vector>
  </HeadingPairs>
  <TitlesOfParts>
    <vt:vector size="2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2026-04-07T19:45:23Z</dcterms:created>
  <dcterms:modified xsi:type="dcterms:W3CDTF">2026-04-07T19:45:23Z</dcterms:modified>
</cp:coreProperties>
</file>