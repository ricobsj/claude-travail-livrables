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</p:sldIdLst>
  <p:notesMasterIdLst>
    <p:notesMasterId r:id="rId20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notesMaster" Target="notesMasters/notesMaster1.xml"/><Relationship Id="rId204" Type="http://schemas.openxmlformats.org/officeDocument/2006/relationships/presProps" Target="presProps.xml"/><Relationship Id="rId205" Type="http://schemas.openxmlformats.org/officeDocument/2006/relationships/viewProps" Target="viewProps.xml"/><Relationship Id="rId206" Type="http://schemas.openxmlformats.org/officeDocument/2006/relationships/theme" Target="theme/theme1.xml"/><Relationship Id="rId2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21124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546811"/>
            <a:ext cx="2926994" cy="292699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4606" y="4572000"/>
            <a:ext cx="2559406" cy="255940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7589" y="5029200"/>
            <a:ext cx="2012594" cy="20125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811" y="1098194"/>
            <a:ext cx="5040173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" y="749808"/>
            <a:ext cx="71999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· TDI Volet 2 — Scolarité, Travail, Loisirs — HAS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6811" y="1234440"/>
            <a:ext cx="719998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Volet 2 — Scolarité, Travail, Loisirs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6811" y="2606040"/>
            <a:ext cx="71999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de bonnes pratiques — HAS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6811" y="2926080"/>
            <a:ext cx="6858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" y="3090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6811" y="3566160"/>
            <a:ext cx="64803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professionnel médico-social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6811" y="5760720"/>
            <a:ext cx="172822" cy="17282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5" y="5760720"/>
            <a:ext cx="172822" cy="17282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7358" y="5760720"/>
            <a:ext cx="172822" cy="17282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5760720"/>
            <a:ext cx="172822" cy="17282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" y="6144768"/>
            <a:ext cx="7199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TDI Volet 2 (2024)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trouble du développement intellectuel (TDI)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maladie neurologique dégénérative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limitation des fonctions intellectuelles ET des comportements adaptatifs apparaissant pendant le développement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trouble du spectre autistique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déficit attentionnel avec hyperactivité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limitation des fonctions intellectuelles ET des comportements adaptatifs apparaissant pendant le développement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se définit par deux critères : limitations des fonctions intellectuelles (raisonnement, planification) ET déficits adaptatifs dans la vie quotidienne, apparaissant pendant la période développementale.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ancien terme désignait le trouble du développement intellectuel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Psychose infantile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Déficience intellectuelle ou retard mental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dysexécutif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envahissant du développement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Déficience intellectuelle ou retard mental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remplace des termes anciens comme 'déficience intellectuelle' ou 'retard mental', jugés stigmatisants. La terminologie évolue pour mieux refléter la perspective du développement.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volets composent la RBPP HAS sur l'accompagnement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volet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volets complémentaires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volets thématiques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volets par âge de vie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volets complémentaires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1 (2022, mis à jour 2025) couvre les fondamentaux. Le Volet 2 (novembre 2025) couvre la scolarité, le travail et les loisirs.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domaines sont couverts par le Volet 2 de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cognition, sensorialité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Scolarité, travail et vie active, loisirs et temps libre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 médicaux, nutrition, mobilité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Famille, logement, citoyenneté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Scolarité, travail et vie active, loisirs et temps libre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2 porte spécifiquement sur les trois grandes sphères de la vie quotidienne : scolarité, activité professionnelle et loisirs.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de validation du Volet 2 de la RBPP TDI par la HAS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juillet 2022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octobre 2023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septembre 2025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février 2026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septembre 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2 a été validé par la Commission en charge du social et médico-social (CSMS) le 16 septembre 2025.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international fonde les principes de la RBPP TDI Volet 2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Charte européenne des droits fondamentaux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Convention ONU relative aux droits des personnes handicapées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HPST de 2009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Déclaration universelle des droits de l'homme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Convention ONU relative aux droits des personnes handicapées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s'appuie sur la CDPH (Convention des Nations Unies relative aux droits des personnes handicapées), ratifiée par la France, qui promeut l'inclusion et l'autodétermination.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peut se présenter à des niveaux de sévérité différents. Combien de niveaux distingue-t-on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niveaux (léger et sévère)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(léger, modéré, sévère)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(léger, moyen, grave, profond)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niveaux selon le QI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(léger, moyen, grave, profond)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est classé en 4 niveaux de sévérité : léger, moyen, grave et profond. Chaque niveau implique des besoins d'accompagnement différents.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l'approche fondamentale recommandée par la RBPP TDI face à la diversité des profils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personnes par niveau de QI pour faciliter l'accompagnement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un protocole standardisé pour tous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Individualiser l'accompagnement selon les besoins singuliers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systématiquement vers des établissements spécialisés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Individualiser l'accompagnement selon les besoins singuliers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singularité de chaque personne avec TDI. L'approche standardisée est à éviter. Chaque projet personnalisé doit être construit sur les besoins, ressources et aspirations de la personne.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livrets thématiques professionnels accompagnent le Volet 2 de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livret de synthèse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livrets thématiques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livrets par compétence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fiches pratiques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livrets thématiques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2 est accompagné de 3 livrets professionnels : Scolarité, Travail et vie active, Loisirs et temps libre.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FALC dans le contexte de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à l'accompagnement des langages cognitifs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Lire et Comprendre — format adapté aux personnes avec TDI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automatisé de liaison coordonnée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d'admission pour les listes de candidature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Lire et Comprendre — format adapté aux personnes avec TDI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FALC est une méthode de communication simplifiée permettant aux personnes avec TDI d'accéder aux informations. Le Volet 2 propose 12 fiches FALC destinées aux personnes accompagnées.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dispositif favorise la scolarisation des élèves avec TDI en milieu ordinaire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ITEP — Institut Thérapeutique Éducatif et Pédagogique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ULIS — Unité Localisée pour l'Inclusion Scolaire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— Institut Médico-Éducatif uniquement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— Service d'Éducation Spéciale et de Soins à Domicile uniquement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ULIS — Unité Localisée pour l'Inclusion Scolaire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ULIS permettent aux élèves en situation de handicap, dont le TDI, d'être scolarisés en milieu ordinaire avec des aménagements pédagogiques adaptés.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recommandation de la RBPP TDI concernant la scolarisation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prioritairement vers les 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la scolarisation en milieu ordinaire autant que possible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l'école ordinaire pour préserver l'enfant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la scolarisation aux activités manuelles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la scolarisation en milieu ordinaire autant que possible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 favoriser la scolarisation inclusive en milieu ordinaire, avec les soutiens nécessaires (AESH, ULIS, adaptations pédagogiques).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l'AESH dans la scolarisation des élèves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l'enseignant pendant ses absences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et soutenir l'élève dans ses activités scolaires au quotidien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niveau intellectuel de l'élève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des orientations scolaires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et soutenir l'élève dans ses activités scolaires au quotidien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L'Accompagnant des Élèves en Situation de Handicap (AESH) assiste l'élève avec TDI dans ses activités d'apprentissage, facilitant son inclusion dans la classe ordinaire.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de communication est recommandé pour les élèves avec TDI ayant des difficultés de langage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langue des signes française uniquement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Alternative et Améliorée (CAA)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braille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Montessori exclusivement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Alternative et Améliorée (CAA)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(pictogrammes, PECS, classeurs de communication, tablettes) est recommandée pour soutenir la communication des élèves avec TDI qui ont des difficultés langagières.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adaptation pédagogique est particulièrement recommandée pour les élèves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cours plus longs pour favoriser la concentration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supports visuels, pictogrammes et format FALC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exclusion des activités collectives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académique standard sans modification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supports visuels, pictogrammes et format FALC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supports visuels, pictogrammes et documents en FALC facilitent la compréhension et l'apprentissage chez les élèves avec TDI.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 préparer les transitions scolaires. Quelle transition doit être particulièrement anticipée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de la maternelle au CP uniquement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du primaire au collège, du collège au lycée/ULIS, et de l'école à la formation/emploi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 passage à l'enseignement supérieur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vers l'IME en cas de difficultés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du primaire au collège, du collège au lycée/ULIS, et de l'école à la formation/emploi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transition scolaire doit être anticipée et accompagnée : primaire/collège, collège/lycée ou ULIS, école/formation ou emploi. Ces passages sont des moments fragilisants.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être impliqué dans la coordination pour la scolarisation d'un élève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l'enseignant référent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professionnel de santé exclusivement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pluridisciplinaire, les familles et l'Éducation Nationale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la MDPH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pluridisciplinaire, les familles et l'Éducation Nationale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coordination étroite entre l'équipe pluridisciplinaire de l'ESSMS, les familles et les acteurs de l'Éducation Nationale pour soutenir la scolarisation.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officiel formalise les aménagements scolaires d'un élève en situation de handicap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carnet de liaison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d'Accompagnement Personnalisé (PAP)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de Scolarisation (PPS)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médical de l'élève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de Scolarisation (PPS)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PPS est le document qui formalise les aménagements scolaires pour les élèves en situation de handicap orientés par la MDPH. Il précise les modalités d'accompagnement et les adaptations nécessaires.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TDI préconise de former les équipes scolaires aux spécificités du TDI. Pourquoi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remplacer les professionnels spécialisés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permettre aux enseignants de poser un diagnostic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les enseignants comprennent les besoins et sachent adapter leurs pratiques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surveiller les comportements de l'élève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les enseignants comprennent les besoins et sachent adapter leurs pratiques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équipes scolaires permet d'améliorer la qualité de l'inclusion : les enseignants mieux informés adaptent leurs méthodes pédagogiques et favorisent un accueil bienveillant.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vision de la RBPP concernant l'objectif de la scolarisation pour les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 diplôme académique standard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apprentissages fonctionnels et participation sociale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 les difficultés pour s'intégrer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le niveau de la classe ordinaire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apprentissages fonctionnels et participation sociale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n'est pas la performance académique mais l'acquisition de compétences fonctionnelles utiles à la vie quotidienne et la participation à la vie sociale.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 l'ESSMS dans la scolarisation d'un jeune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l'école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substituer aux enseignants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et soutenir la scolarisation via le SESSAD ou le CAMSP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seul de l'orientation scolaire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et soutenir la scolarisation via le SESSAD ou le CAMSP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médico-sociaux (SESSAD, CAMSP) interviennent en complément de l'école pour apporter un soutien thérapeutique, éducatif et pédagogique adapté.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apprentissages de la littératie et de la numératie sont-ils accessibles aux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ils sont hors de portée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avec des approches adaptées à leur rythme et style d'apprentissage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TDI légers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en milieu spécialisé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avec des approches adaptées à leur rythme et style d'apprentissage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Volet 1 affirme que la littératie et la numératie sont accessibles avec des adaptations : supports visuels, découpage des tâches, répétitions et apprentissages fonctionnels.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recommande-t-elle de gérer les absences scolaires liées aux prises en charge thérapeutiques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thérapies doivent se dérouler exclusivement pendant les vacances scolaires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les emplois du temps pour limiter les ruptures pédagogiques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systématiquement les thérapies sur les cours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Suspendre les thérapies pendant l'année scolaire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les emplois du temps pour limiter les ruptures pédagogiques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coordination entre les acteurs pour que les interventions thérapeutiques interfèrent le moins possible avec les apprentissages scolaires.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instance est chargée d'évaluer les besoins scolaires d'un élève avec TDI et de proposer une orientation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médecin traitant seul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MDPH — Maison Départementale des Personnes Handicapées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d'établissement scolaire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CAF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MDPH — Maison Départementale des Personnes Handicapées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MDPH évalue les besoins de compensation de l'élève et propose une orientation via le PPS. Elle peut attribuer une notification AESH, orienter vers une ULIS ou un IME.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RBPP, quel est l'impact de la qualité de la scolarisation sur la vie adulte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aucun lien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scolarisation favorise l'inclusion sociale, la vie professionnelle et l'autonomie à l'âge adulte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dépasse les capacités des personnes avec TDI sévère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est uniquement scolaire, sans répercussion sur la vie adulte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scolarisation favorise l'inclusion sociale, la vie professionnelle et l'autonomie à l'âge adulte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la scolarisation a un impact direct sur les trajectoires de vie. Un accompagnement scolaire adapté prépare à l'emploi, à l'autonomie et à la participation sociale.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principaux types de structures d'emploi accessibles aux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ESAT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ESAT, entreprises adaptées, emploi en milieu ordinaire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ateliers en 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privées seulement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ESAT, entreprises adaptées, emploi en milieu ordinaire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distingue plusieurs environnements de travail : ESAT (Établissement et Service d'Aide par le Travail), entreprises adaptées et emploi en milieu ordinaire.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ESAT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Social d'Accompagnement Travail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et Service d'Aide par le Travail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Spécialisée d'Apprentissage et de Travail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Soutien aux Adultes en Travail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et Service d'Aide par le Travail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L'ESAT est une structure médico-sociale qui offre aux personnes handicapées un emploi adapté, une formation professionnelle et un accompagnement social.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recommande-t-elle d'orienter systématiquement les personnes avec TDI vers l'ESAT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c'est la meilleure solution pour tous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il faut explorer toutes les options selon le projet de vie de la personne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mais seulement pour les TDI légers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les ESAT ne sont pas adaptés aux personnes avec TDI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il faut explorer toutes les options selon le projet de vie de la personne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l'importance de ne pas présumer des capacités. Le choix de l'environnement de travail doit être guidé par les aspirations, compétences et besoins de la personne.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accompagne les personnes en situation de handicap vers l'emploi en milieu ordinaire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CNAV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Emploi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Caisse d'Épargne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Habitat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Emploi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Emploi est le réseau national spécialisé dans l'insertion professionnelle des personnes en situation de handicap. Il accompagne vers l'emploi en milieu ordinaire.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aménagement raisonnable du poste de travail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réduction du salaire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modification de l'environnement ou des conditions de travail pour permettre à la personne avec handicap d'exercer son emploi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à durée déterminée obligatoire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de métier imposé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modification de l'environnement ou des conditions de travail pour permettre à la personne avec handicap d'exercer son emploi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aménagements raisonnables sont des modifications accessibles de l'organisation, du poste ou des outils de travail, sans charge disproportionnée pour l'employeur, permettant l'emploi d'une personne handicapée.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permet à la personne avec TDI de connaître ses droits et obligations lors d'un emploi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complexe en format juridique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informations en FALC sur ses droits au travail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manuel de l'employé standard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spécifique n'est recommandé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informations en FALC sur ses droits au travail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l'utilisation du format FALC pour communiquer avec les personnes avec TDI sur leurs droits, leur contrat et leurs obligations professionnelles.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la mise en situation professionnelle dans l'accompagnement vers l'emploi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contre-indiquée pour les personnes avec TDI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permet de tester les compétences en conditions réelles avant une insertion professionnelle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remplace définitivement le contrat de travail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réservée aux personnes valides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permet de tester les compétences en conditions réelles avant une insertion professionnelle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stages et mises en situation professionnelle permettent à la personne avec TDI d'expérimenter différents environnements de travail et d'identifier ses préférences et capacités.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aborde-t-elle la question des aspirations professionnelles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choisissent l'emploi à la place de la personne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demande pas leur avis aux personnes avec TDI sévère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recueille et respecte les aspirations professionnelles de la personne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aspirations ne sont pas prises en compte pour des raisons pratiques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recueille et respecte les aspirations professionnelles de la personne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est un principe fondamental. La personne avec TDI doit être consultée sur ses préférences professionnelles, même si des adaptations sont nécessaires.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l'ESAT et l'entreprise adaptée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aucune différence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L'ESAT est un établissement médico-social, l'entreprise adaptée est une entreprise du milieu ordinaire employing mainly workers with disabilities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L'ESAT est public, l'entreprise adaptée est privée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 adaptée est réservée aux TDI légers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L'ESAT est un établissement médico-social, l'entreprise adaptée est une entreprise du milieu ordinaire employant majoritairement des travailleurs handicapés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L'ESAT dépend du secteur médico-social avec statut d'usager. L'entreprise adaptée est une vraie entreprise avec statut de salarié, mais dont au moins 55% des effectifs sont des travailleurs handicapés.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formalise l'orientation vers l'ESAT ou l'entreprise adaptée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courrier du médecin traitant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MDPH (Maison Départementale des Personnes Handicapées)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accord verbal de l'employeur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de Pôle Emploi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MDPH (Maison Départementale des Personnes Handicapées)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L'orientation vers l'ESAT nécessite une Reconnaissance de la Qualité de Travailleur Handicapé (RQTH) et une orientation MDPH. La MDPH évalue l'eligibilité et notifie l'orientation.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concernant l'évaluation des compétences professionnelles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tests de QI pour déterminer les capacités professionnelles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outils d'évaluation adaptés au TDI en situation réelle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évaluer pour éviter de stigmatiser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baser uniquement sur le diagnostic médical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outils d'évaluation adaptés au TDI en situation réelle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des évaluations fonctionnelles en situation réelle de travail, adaptées aux spécificités du TDI, plutôt que des tests standardisés.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 une personne avec TDI à sa retraite selon la RBPP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préparation spécifique n'est nécessaire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la transition travail-retraite, identifier des activités de loisirs et maintenir le lien social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mettre directement en EHPAD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 travail au-delà de l'âge légal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la transition travail-retraite, identifier des activités de loisirs et maintenir le lien social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vers la retraite doit être anticipée pour éviter les ruptures brutales. Des activités de loisirs et des liens sociaux doivent être développés en amont.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loi garantit l'obligation d'emploi des personnes handicapées dans les entreprises de plus de 20 salariés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5 mars 2014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10 juillet 1987 et ses révisions, notamment la loi de 2005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HPST de 2009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ASV de 2015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10 juillet 1987 et ses révisions, notamment la loi de 2005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10 juillet 1987, renforcée par la loi du 11 février 2005, oblige les entreprises de 20 salariés et plus à employer au moins 6% de travailleurs handicapés.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accompagnement spécifique peut être mis en place pour soutenir une personne avec TDI dans un emploi en milieu ordinaire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médical mensuel obligatoire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Job Coach ou un service d'accompagnement à l'emploi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remplacement régulier par un professionnel de l'ESSMS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présence de la famille sur le lieu de travail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Job Coach ou un service d'accompagnement à l'emploi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Job Coaching est une méthode d'accompagnement qui soutient la personne dans l'apprentissage de son poste de travail et dans son intégration dans l'entreprise.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RBPP, les personnes avec TDI profond peuvent-elles bénéficier d'activités à finalité professionnelle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c'est contre-indiqué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via des activités occupationnelles adaptées à leurs capacités et intérêts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dans les 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adultes de moins de 30 ans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via des activités occupationnelles adaptées à leurs capacités et intérêts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pour les TDI graves ou profonds, des activités à visée occupationnelle adaptées permettent de maintenir des compétences, une routine et un sentiment d'utilité.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RQTH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la Qualité du Travail en Habitat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la Qualité de Travailleur Handicapé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Qualification des Travailleurs en Handicap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Qualifications des Travailleurs Hautement spécialisés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la Qualité de Travailleur Handicapé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RQTH est attribuée par la MDPH. Elle ouvre des droits spécifiques : aménagement du poste, accompagnement vers l'emploi, obligation d'emploi des entreprises.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jouent les équipes de l'ESSMS dans le suivi d'une personne avec TDI en emploi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se désengagent complètement une fois l'emploi trouvé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assurent un suivi régulier et soutiennent la personne et l'employeur si nécessaire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remplacent le salarié en cas d'absence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évaluent les performances professionnelles à la place de l'employeur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assurent un suivi régulier et soutiennent la personne et l'employeur si nécessaire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L'accompagnement ne s'arrête pas à l'insertion professionnelle. Un suivi régulier permet d'ajuster l'accompagnement, de prévenir les difficultés et de soutenir l'employeur.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l'apprentissage dans le contexte de l'insertion professionnelle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réservé aux personnes sans handicap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en alternance permettant d'acquérir une qualification professionnelle avec aménagements possibles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stage non rémunéré en ESAT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obligation scolaire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en alternance permettant d'acquérir une qualification professionnelle avec aménagements possibles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est accessible aux personnes avec TDI avec des aménagements spécifiques. Il peut conduire à un diplôme professionnel et à une insertion en milieu ordinaire.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recommandation de la RBPP concernant la transition entre l'IME et le monde du travail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doit être rapide et sans accompagnement intermédiaire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doit être progressivement préparée avec des mises en situation, des stages et un accompagnement coordonné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L'IME se désengage dès les 18 ans de la personne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doit être évitée pour préserver la personne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doit être progressivement préparée avec des mises en situation, des stages et un accompagnement coordonné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IME/emploi est un moment critique qui doit être anticipé dès 14-16 ans avec des stages, des mises en situation et une coordination entre l'IME, la MDPH et les structures d'emploi.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formation professionnelle continue la RBPP recommande-t-elle pour les personnes avec TDI en emploi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formation après l'insertion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continues adaptées aux besoins spécifiques, accessibles et en FALC si nécessaire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des formations en présentiel avec groupes ordinaires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académiques théoriques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continues adaptées aux besoins spécifiques, accessibles et en FALC si nécessaire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l'accès à la formation continue pour les personnes avec TDI, avec des adaptations : supports FALC, rythme adapté, formats accessibles.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position de la RBPP concernant les loisirs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loisirs sont un luxe non prioritaire pour les ESSMS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aux loisirs, activités culturelles et sportives est un droit fondamental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loisirs doivent être exclusivement intra-établissement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loisirs sont réservés aux personnes avec TDI léger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aux loisirs, activités culturelles et sportives est un droit fondamental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affirme que les loisirs sont un droit et non un privilège. Les ESSMS doivent garantir l'accès à des loisirs diversifiés, y compris dans la cité.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critique la RBPP concernant les activités de loisirs proposées dans certains ESSMS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sont trop diverses et fatigantes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se limitent souvent aux activités intra-muros et spécialisées, sans ouverture sur la cité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sont trop axées sur les sorties extérieures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coûtent trop cher aux familles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se limitent souvent aux activités intra-muros et spécialisées, sans ouverture sur la cité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critique le repli sur les activités exclusivement intra-établissement. Elle encourage l'accès aux associations ordinaires, clubs sportifs, lieux culturels et événements communautaires.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envisage-t-elle la participation sportive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sport est contre-indiqué pour les personnes avec TDI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sportive en milieu ordinaire ou adapté est encouragée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JO paralympiques sont accessibles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sport est réservé aux personnes valides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sportive en milieu ordinaire ou adapté est encouragée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sportive est bénéfique pour la santé physique et mentale. La RBPP encourage l'accès aux clubs sportifs ordinaires ou adaptés selon les préférences.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l'EVRAS dans le contexte de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risque d'automutilation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à la Vie Relationnelle, Affective et Sexuelle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de Vie en Résidence Autonome Spécialisée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Vie Récréative et Artistique pour les Séniors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à la Vie Relationnelle, Affective et Sexuelle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L'EVRAS est une éducation complète à la vie affective et sexuelle, adaptée aux besoins spécifiques des personnes avec TDI. La RBPP recommande de l'intégrer au projet personnalisé.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recommande-t-elle d'intégrer la vie relationnelle et sexuelle dans le projet personnalisé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c'est un sujet tabou en ESSMS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l'EVRAS doit faire partie du projet de vie global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si la famille en fait la demande explicite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personnes avec TDI léger de plus de 25 ans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l'EVRAS doit faire partie du projet de vie global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relationnelle, affective et sexuelle est un aspect de la vie humaine que les ESSMS doivent intégrer dans l'accompagnement, avec une éducation adaptée aux spécificités du TDI.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types de sorties la RBPP recommande-t-elle pour les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sorties thérapeutiques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sorties diversifiées : culture, sport, loisirs, événements communautaires, vacances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sorties uniquement avec les parents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sorties limitées au voisinage immédiat de l'établissement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sorties diversifiées : culture, sport, loisirs, événements communautaires, vacances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une diversification des sorties : cinéma, musées, concerts, fêtes locales, sports, associations... pour favoriser l'inclusion et l'enrichissement des expériences.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recommande-t-elle les séjours de vacances pour les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les séjours sont trop risqués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les séjours de vacances sont une composante importante de la vie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TDI légers accompagnant leurs familles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dans des établissements médicalisés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les séjours de vacances sont une composante importante de la vie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séjours de vacances sont reconnus comme un droit et contribuent au bien-être. La RBPP encourage les ESSMS à faciliter l'accès aux vacances, avec ou sans la famille.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respecter les intérêts et préférences de loisirs d'une personne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uniquement des activités thérapeutiques validées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Observer, écouter, recueillir les préférences et laisser choisir la personne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les activités à sa place pour des raisons de sécurité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Imposer des activités culturellement valorisantes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Observer, écouter, recueillir les préférences et laisser choisir la personne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s'applique aussi aux loisirs. Les professionnels doivent recueillir les goûts et préférences de la personne et les respecter dans la programmation des activités.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bénéfice la vie associative apporte-t-elle aux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bénéfice particulier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favorise le lien social, la participation citoyenne et l'inclusion dans la communauté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réservée aux personnes sans handicap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aggrave les comportements-problèmes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favorise le lien social, la participation citoyenne et l'inclusion dans la communauté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dans des associations ordinaires (clubs sportifs, associations culturelles, bénévolat) favorise l'inclusion, le sentiment d'appartenance et le développement de compétences sociales.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RBPP, comment doit être organisé le temps libre à l'intérieur d'un ESSMS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manière totalement libre sans aucune 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organisation qui laisse place aux choix personnels et à des activités diversifiées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par des activités thérapeutiques encadrées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suivant un programme identique pour tous les résidents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organisation qui laisse place aux choix personnels et à des activités diversifiées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libre en ESSMS doit permettre des choix individuels : repos, activités préférées, moments de solitude ou de sociabilité. La rigidité des programmes imposés est à éviter.</a:t>
            </a:r>
            <a:endParaRPr lang="en-US" sz="13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aborde-t-elle la question des amitiés et des liens sociaux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amitiés ne sont pas prioritaires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liens d'amitié sont essentiels au bien-être et doivent être soutenus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relations sociales doivent être limitées aux pairs du même ESSMS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doivent éviter de se lier d'amitié avec les résidents</a:t>
            </a:r>
            <a:endParaRPr lang="en-US" sz="13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liens d'amitié sont essentiels au bien-être et doivent être soutenus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l'importance des liens sociaux et d'amitié pour le bien-être. Les ESSMS doivent favoriser les occasions de rencontres et soutenir le maintien des liens existants.</a:t>
            </a:r>
            <a:endParaRPr lang="en-US" sz="13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 le numérique dans les loisirs des personnes avec TDI selon la RBPP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est déconseillé pour les personnes avec TDI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peut être un outil de loisir, de communication et d'accès à la culture, avec un accompagnement adapté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au numérique est réservé aux professionnels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aggrave les troubles du comportement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peut être un outil de loisir, de communication et d'accès à la culture, avec un accompagnement adapté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numériques (tablettes, internet, réseaux sociaux) ouvrent des possibilités de loisirs, de communication et de participation culturelle. Un accompagnement adapté est nécessaire.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envisage-t-elle les loisirs pour les personnes avec TDI profond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loisirs ne sont pas accessibles aux TDI profonds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activités sensorielles, artistiques et de bien-être adaptées à leurs capacités sont recommandées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soins médicaux sont prioritaires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profond exclut toute forme de loisir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activités sensorielles, artistiques et de bien-être adaptées à leurs capacités sont recommandées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pour les personnes avec TDI profond, des activités adaptées (Snoezelen, activités sensorielles, musique, art-thérapie) contribuent au bien-être et à la qualité de vie.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mentionne-t-elle la participation des personnes avec TDI aux décisions sur leurs activités de loisirs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les professionnels décident seuls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les personnes avec TDI doivent être associées aux choix de leurs activités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TDI légers peuvent exprimer des préférences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décide à la place de la personne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les personnes avec TDI doivent être associées aux choix de leurs activités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s'applique pleinement aux loisirs. Les préférences de la personne doivent être recueillies via des outils adaptés (FALC, pictogrammes) et respectées.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Snoezelen et quel est son intérêt pour les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sport collectif adapté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sensoriel contrôlé favorisant la relaxation et le bien-être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pédagogique d'apprentissage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de réadaptation motrice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sensoriel contrôlé favorisant la relaxation et le bien-être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Snoezelen est un espace et une approche de stimulation sensorielle douce, particulièrement adaptée aux personnes avec TDI et troubles associés. Il favorise la relaxation et le bien-être.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l'autodétermination dans le contexte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L'indépendance totale sans accompagnement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faire ses propres choix et à avoir le contrôle sur sa vie, avec le soutien nécessaire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financière complète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de toute aide professionnelle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faire ses propres choix et à avoir le contrôle sur sa vie, avec le soutien nécessaire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ne signifie pas l'absence d'aide, mais la capacité à choisir, décider et orienter sa vie avec le soutien adapté. C'est un principe fondamental de la RBPP TDI.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professionnels peuvent-ils soutenir l'autodétermination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faisant les choix à leur place pour gagner du temps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leur proposant des choix réels, en les informant et en respectant leurs décisions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évitant de les confronter à des décisions pour les protéger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sollicitant uniquement l'avis des familles</a:t>
            </a:r>
            <a:endParaRPr lang="en-US" sz="13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leur proposant des choix réels, en les informant et en respectant leurs décisions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l'autodétermination implique de créer des situations de choix réels, d'informer en FALC, de respecter les décisions de la personne même si elles diffèrent des préférences des professionnels.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la RBPP identifie-t-elle pour les personnes avec TDI en termes d'autodétermination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Qu'elles prennent trop de décisions sans aide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surprotection et la prise de décision à leur place par les proches ou professionnels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Qu'elles refusent tous les accompagnements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L'excès d'autonomie dans des domaines dangereux</a:t>
            </a:r>
            <a:endParaRPr lang="en-US" sz="13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surprotection et la prise de décision à leur place par les proches ou professionnels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alerte sur la tendance à surprotéger les personnes avec TDI, à décider à leur place et à limiter leur autodétermination, parfois avec de bonnes intentions mais des effets négatifs.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formuler une question à une personne avec TDI pour faciliter un choix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ouvertes complexes avec de nombreuses options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simples avec deux ou trois options présentées en FALC ou avec des pictogrammes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demandant uniquement à la famille ce que la personne préfère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proposant uniquement ce que le professionnel juge adapté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simples avec deux ou trois options présentées en FALC ou avec des pictogrammes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simples avec peu d'options, présentées visuellement, facilitent la compréhension et le choix. Les questions complexes et ouvertes peuvent être déstabilisantes.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concerne-t-elle aussi les personnes avec TDI sévère ou profond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l'autodétermination est réservée aux TDI légers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même adaptée, elle s'applique à toutes les personnes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adultes de plus de 18 ans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si la famille donne son accord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même adaptée, elle s'applique à toutes les personnes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s'applique à toutes les personnes avec TDI, quel que soit le niveau de sévérité. Elle peut prendre des formes différentes (expression non verbale, choix simples) mais reste un droit fondamental.</a:t>
            </a:r>
            <a:endParaRPr lang="en-US" sz="13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l'autonomie et l'autodétermination selon la RBPP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aucune différence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concerne les capacités pratiques, l'autodétermination concerne le droit à choisir et diriger sa vie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concerne uniquement les choix médicaux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est un objectif, l'autodétermination est une contrainte</a:t>
            </a:r>
            <a:endParaRPr lang="en-US" sz="1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concerne les capacités pratiques, l'autodétermination concerne le droit à choisir et diriger sa vie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est liée aux compétences concrètes. L'autodétermination est un droit à décider de sa vie, indépendamment du niveau d'autonomie pratique.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RBPP, comment le projet personnalisé doit-il intégrer l'autodétermination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élaboré par les professionnels et présenté à la personne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co-construit son projet avec les professionnels, avec ses aspirations au centre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rédigent le projet en accord avec les professionnels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standardisé selon le niveau de TDI</a:t>
            </a:r>
            <a:endParaRPr lang="en-US" sz="13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co-construit son projet avec les professionnels, avec ses aspirations au centre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co-construit avec la personne. Ses aspirations, souhaits et valeurs sont le point de départ. Les professionnels facilitent et soutiennent, sans imposer.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sur la prise de risque et l'autodétermination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prise de risque doit être évitée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acceptable peut être consenti si la personne en est informée et le comprend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décident seuls du niveau de risque acceptable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a le dernier mot sur la prise de risque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acceptable peut être consenti si la personne en est informée et le comprend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le droit à un risque consenti. Les professionnels informent la personne des risques, mais ne peuvent pas systématiquement interdire des activités au nom de la sécurité.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spécifique la RBPP mentionne-t-elle pour faciliter la participation des personnes avec TDI aux réunions et décisions les concernant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questionnaires complexes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de communication visuelle, le FALC et des supports adaptés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réunions uniquement avec les familles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délibérations exclusivement entre professionnels</a:t>
            </a:r>
            <a:endParaRPr lang="en-US" sz="13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de communication visuelle, le FALC et des supports adaptés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les personnes avec TDI participent réellement aux réunions de projet, des supports adaptés sont nécessaires : pictogrammes, FALC, schémas, outils numériques.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'ne pas présumer des limites' dans le contexte de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difficultés réelles des personnes avec TDI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décider à l'avance des incapacités d'une personne avant de l'avoir évaluée et accompagnée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les personnes sans soutien pour développer leur autonomie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des responsabilités au-delà des capacités</a:t>
            </a:r>
            <a:endParaRPr lang="en-US" sz="13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décider à l'avance des incapacités d'une personne avant de l'avoir évaluée et accompagnée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présumer des limites signifie partir d'un regard positif sur les capacités de la personne, évaluer ses compétences réelles et ne pas exclure d'emblée des opportunités au nom du diagnostic.</a:t>
            </a:r>
            <a:endParaRPr lang="en-US" sz="13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acteurs la RBPP identifie-t-elle comme partenaires clés de l'ESSMS pour l'accompagnement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médecins spécialistes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MDPH, Cap Emploi, Éducation Nationale, associations, familles, collectivités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parents et représentants légaux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ESSMS de la même association gestionnaire</a:t>
            </a:r>
            <a:endParaRPr lang="en-US" sz="13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MDPH, Cap Emploi, Éducation Nationale, associations, familles, collectivités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un travail en réseau élargi : MDPH pour les droits, Cap Emploi pour l'insertion, Éducation Nationale pour la scolarisation, familles, collectivités pour l'inclusion.</a:t>
            </a:r>
            <a:endParaRPr lang="en-US" sz="13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l'importance de la coordination entre l'ESSMS et la famille selon la RBPP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n'a pas sa place dans la démarche professionnelle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collaboration famille-professionnels est indispensable pour la cohérence de l'accompagnement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doit uniquement signer les documents officiels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et la famille travaillent en parallèle sans coordination</a:t>
            </a:r>
            <a:endParaRPr lang="en-US" sz="13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collaboration famille-professionnels est indispensable pour la cohérence de l'accompagnement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le partenariat avec les familles. Elles connaissent la personne, partagent des informations précieuses et doivent être associées à l'élaboration du projet personnalisé.</a:t>
            </a:r>
            <a:endParaRPr lang="en-US" sz="13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aborde-t-elle la question des transitions entre ESSMS (par exemple IME vers ESAT)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transitions doivent être évitées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transitions doivent être accompagnées avec une transmission coordonnée des informations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gère seule la transition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organise la transition sans l'ESSMS</a:t>
            </a:r>
            <a:endParaRPr lang="en-US" sz="13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transitions doivent être accompagnées avec une transmission coordonnée des informations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coordination rigoureuse lors des transitions entre structures pour garantir la continuité de l'accompagnement et éviter les ruptures de parcours.</a:t>
            </a:r>
            <a:endParaRPr lang="en-US" sz="13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favorise la coordination des interventions autour d'une personne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médical seul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d'accompagnement (PPA) co-construit et partagé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rendu de réunion d'équipe interne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bulletin de santé mensuel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d'accompagnement (PPA) co-construit et partagé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est le document pivot qui coordonne les interventions des différents acteurs autour de la personne avec TDI. Il doit être co-construit et partagé avec la personne et les familles.</a:t>
            </a:r>
            <a:endParaRPr lang="en-US" sz="13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jouent les associations représentant les personnes avec TDI et leurs familles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rôle dans l'accompagnement institutionnel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de soutien, de défense des droits et de partenariat avec les ESSMS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uniquement financier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de contrôle des ESSMS</a:t>
            </a:r>
            <a:endParaRPr lang="en-US" sz="13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de soutien, de défense des droits et de partenariat avec les ESSMS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associations comme UNAPEI jouent un rôle essentiel : soutien aux familles, défense des droits des personnes, plaidoyer politique et partenariat avec les ESSMS.</a:t>
            </a:r>
            <a:endParaRPr lang="en-US" sz="13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concernant la réunion de projet personnalisé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doit se tenir sans la personne pour garantir la neutralité des échanges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avec TDI doit y être présente et participer activement avec des supports adaptés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réservée aux professionnels de santé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 tient une seule fois lors de l'admission</a:t>
            </a:r>
            <a:endParaRPr lang="en-US" sz="13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avec TDI doit y être présente et participer activement avec des supports adaptés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présence active de la personne lors des réunions de projet, avec des supports adaptés (FALC, pictogrammes) pour faciliter sa participation et ses contributions.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l'ESSMS doit-il collaborer avec les services de psychiatrie pour les personnes avec TDI présentant des comorbidités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L'ESSMS gère tout seul les comorbidités psychiatriques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 conventions, des équipes mobiles et des protocoles de coordination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renvoyant la personne uniquement vers la psychiatrie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 collaboration recommandée</a:t>
            </a:r>
            <a:endParaRPr lang="en-US" sz="13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 conventions, des équipes mobiles et des protocoles de coordination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collaboration structurée entre les ESSMS et les services de psychiatrie, notamment via des équipes mobiles psychiatrie-handicap et des protocoles partagés.</a:t>
            </a:r>
            <a:endParaRPr lang="en-US" sz="13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aborde-t-elle la question de la coordination en cas de protection de l'enfance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c'est hors du périmètre de la RBPP TDI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elle recommande une coordination inter-institutionnelle entre protection de l'enfance et secteur médico-social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personnes mineures avec TDI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si la famille est incapable de s'occuper de l'enfant</a:t>
            </a:r>
            <a:endParaRPr lang="en-US" sz="13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elle recommande une coordination inter-institutionnelle entre protection de l'enfance et secteur médico-social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identifie les enjeux spécifiques des enfants avec TDI dans le système de protection de l'enfance et recommande une coordination étroite entre les acteurs.</a:t>
            </a:r>
            <a:endParaRPr lang="en-US" sz="13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pour prévenir les ruptures de parcours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personnes le plus longtemps possible dans la même 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transitions, coordonner les acteurs et préparer avec la personne les changements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tout changement d'établissement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la personne gérer seule ses transitions</a:t>
            </a:r>
            <a:endParaRPr lang="en-US" sz="13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transitions, coordonner les acteurs et préparer avec la personne les changements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prévention des ruptures de parcours nécessite une anticipation des transitions, une coordination forte entre acteurs et une préparation progressive de la personne aux changements.</a:t>
            </a:r>
            <a:endParaRPr lang="en-US" sz="13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fréquence recommandée par la RBPP pour la révision du projet personnalisé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5 ans minimum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une fois par an, ou lors de changements significatifs dans la vie de la personne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lors de l'entrée et de la sortie de l'ESSMS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3 ans en dehors des crises</a:t>
            </a:r>
            <a:endParaRPr lang="en-US" sz="13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une fois par an, ou lors de changements significatifs dans la vie de la personne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révisé régulièrement (au minimum annuellement) et lors de tout changement significatif : entrée dans l'emploi, transition vers l'âge adulte, changement de situation familiale.</a:t>
            </a:r>
            <a:endParaRPr lang="en-US" sz="13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l'inclusion selon la RBPP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dans des structures spécialisées séparées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participation pleine et entière à la vie de la société dans les environnements ordinaires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L'acceptation du handicap par la famille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normalisation des comportements</a:t>
            </a:r>
            <a:endParaRPr lang="en-US" sz="13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participation pleine et entière à la vie de la société dans les environnements ordinaires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L'inclusion dépasse la simple intégration. Elle signifie une participation réelle à la vie ordinaire de la société : école, emploi, loisirs, vie de quartier, avec les soutiens nécessaires.</a:t>
            </a:r>
            <a:endParaRPr lang="en-US" sz="13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distingue-t-elle l'intégration et l'inclusion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ce sont des synonymes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: l'intégration adapte la personne au milieu, l'inclusion adapte le milieu à la personne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L'inclusion est un terme dépassé remplacé par intégration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est une étape vers l'exclusion</a:t>
            </a:r>
            <a:endParaRPr lang="en-US" sz="13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: l'intégration adapte la personne au milieu, l'inclusion adapte le milieu à la personne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exige de la personne handicapée qu'elle s'adapte. L'inclusion exige que la société, les institutions et les environnements s'adaptent pour accueillir chacun.</a:t>
            </a:r>
            <a:endParaRPr lang="en-US" sz="13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droit à la citoyenneté pour les personnes avec TDI selon la RBPP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avec TDI ne peuvent pas voter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ont droit à la citoyenneté pleine, y compris le vote, même sous mesure de protection juridique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de vote dépend du niveau de TDI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citoyenneté est suspendue sous mesure de tutelle</a:t>
            </a:r>
            <a:endParaRPr lang="en-US" sz="13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ont droit à la citoyenneté pleine, y compris le vote, même sous mesure de protection juridique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loi de 2019, toutes les personnes sous mesure de protection juridique ont le droit de vote. La RBPP rappelle ce droit et encourage les ESSMS à le faciliter.</a:t>
            </a:r>
            <a:endParaRPr lang="en-US" sz="13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changement législatif récent a renforcé les droits civiques des personnes sous protection juridique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2009 sur le logement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2019 qui a rétabli le droit de vote pour toutes les personnes sous protection juridique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HPST de 2010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2002 sur les droits des usagers</a:t>
            </a:r>
            <a:endParaRPr lang="en-US" sz="13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2019 qui a rétabli le droit de vote pour toutes les personnes sous protection juridique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23 mars 2019 de programmation et de réforme pour la justice a rétabli le droit de vote pour l'ensemble des personnes sous protection juridique (tutelle ou curatelle).</a:t>
            </a:r>
            <a:endParaRPr lang="en-US" sz="13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envisage-t-elle la participation des personnes avec TDI à la vie démocratique de l'établissement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ne peuvent pas participer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 Conseils de la Vie Sociale (CVS) accessibles avec des supports adaptés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via leurs représentants légaux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TDI légers peuvent participer au CVS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 Conseils de la Vie Sociale (CVS) accessibles avec des supports adaptés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CVS est un droit légal (loi 2002-2). La RBPP recommande de rendre ces instances accessibles aux personnes avec TDI via des supports FALC et des animateurs formés.</a:t>
            </a:r>
            <a:endParaRPr lang="en-US" sz="13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la RBPP identifie-t-elle concernant la maltraitance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TDI ne génère pas de risque spécifique de maltraitance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avec TDI sont plus vulnérables à la maltraitance et doivent être particulièrement protégées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personnes avec TDI profond sont à risque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maltraitance est uniquement un risque familial</a:t>
            </a:r>
            <a:endParaRPr lang="en-US" sz="13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avec TDI sont plus vulnérables à la maltraitance et doivent être particulièrement protégées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la vulnérabilité accrue des personnes avec TDI face à toutes formes de maltraitance. La prévention et la détection de la maltraitance doivent être intégrées dans toute démarche d'accompagnement.</a:t>
            </a:r>
            <a:endParaRPr lang="en-US" sz="13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concernant le consentement aux soins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est systématiquement délégué au représentant légal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de la personne doit être recherché, avec des supports adaptés, même en cas de protection juridique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médecin décide seul des soins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n'est pas applicable aux personnes avec TDI</a:t>
            </a:r>
            <a:endParaRPr lang="en-US" sz="13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de la personne doit être recherché, avec des supports adaptés, même en cas de protection juridique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rappelle que le consentement de la personne doit toujours être recherché, même sous protection juridique. Des outils adaptés (FALC, pictogrammes) facilitent la compréhension des soins proposés.</a:t>
            </a:r>
            <a:endParaRPr lang="en-US" sz="13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recommande-t-elle de répondre au droit à l'information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est réservée aux représentants légaux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doit être accessible en FALC, avec des pictogrammes et un langage simple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n'est pas nécessaire si la personne ne peut pas la comprendre entièrement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famille doit être informée</a:t>
            </a:r>
            <a:endParaRPr lang="en-US" sz="13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doit être accessible en FALC, avec des pictogrammes et un langage simple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à l'information est un droit fondamental. Pour les personnes avec TDI, l'information doit être accessible : format FALC, langage simple, pictogrammes, répétitions si nécessaire.</a:t>
            </a:r>
            <a:endParaRPr lang="en-US" sz="13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mesure de protection juridique adaptée (habilitation familiale, curatelle, tutelle)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qui supprime tous les droits civiques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légal de soutien aux actes juridiques et civils pour les personnes dont les capacités sont altérées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mesure administrative décidée par l'ESSMS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statut uniquement pour les personnes sans famille</a:t>
            </a:r>
            <a:endParaRPr lang="en-US" sz="13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légal de soutien aux actes juridiques et civils pour les personnes dont les capacités sont altérées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mesures de protection juridique (tutelle, curatelle, habilitation familiale) visent à protéger la personne dans ses actes juridiques et patrimoniaux, tout en préservant au maximum ses droits.</a:t>
            </a:r>
            <a:endParaRPr lang="en-US" sz="13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RBPP, la citoyenneté des personnes avec TDI inclut-elle la possibilité de contracter un mariage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 mariage est interdit aux personnes sous tutelle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avec l'autorisation du juge des tutelles pour les personnes sous tutelle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TDI légers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en dehors de tout dispositif de protection</a:t>
            </a:r>
            <a:endParaRPr lang="en-US" sz="13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avec l'autorisation du juge des tutelles pour les personnes sous tutelle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au mariage existe pour les personnes avec TDI. Pour celles sous tutelle, l'autorisation du juge est requise. La RBPP rappelle que ce droit doit être respecté et facilité.</a:t>
            </a:r>
            <a:endParaRPr lang="en-US" sz="13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TDI concernant la formation initiale des professionnels des ESSMS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uniquement à l'hygiène et aux soins de 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aux spécificités du TDI, à l'autodétermination et aux outils d'accompagnement adaptés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formation spécifique n'est nécessaire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uniquement médicale</a:t>
            </a:r>
            <a:endParaRPr lang="en-US" sz="13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aux spécificités du TDI, à l'autodétermination et aux outils d'accompagnement adaptés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que tous les professionnels des ESSMS reçoivent une formation aux spécificités du TDI, aux principes d'autodétermination, aux outils CAA et aux pratiques inclusives.</a:t>
            </a:r>
            <a:endParaRPr lang="en-US" sz="13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de supervision de pratiques la RBPP identifie-t-elle comme un levier de formation continue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audits externes uniquement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d'équipe et les espaces de réflexion collective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formations en ligne sans retour terrain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évaluations individuelles annuelles</a:t>
            </a:r>
            <a:endParaRPr lang="en-US" sz="13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d'équipe et les espaces de réflexion collective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d'organiser des espaces de supervision de pratiques, permettant aux équipes d'analyser leurs interventions, de partager des situations difficiles et d'améliorer leurs pratiques.</a:t>
            </a:r>
            <a:endParaRPr lang="en-US" sz="13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RBPP recommande-t-elle de former les professionnels à la Communication Alternative et Améliorée (CAA)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remplacer la parole verbale chez les résidents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permettre aux professionnels de soutenir la communication de personnes avec TDI ayant des difficultés langagières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est réservée aux orthophonistes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documenter les dossiers de manière simplifiée</a:t>
            </a:r>
            <a:endParaRPr lang="en-US" sz="13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permettre aux professionnels de soutenir la communication de personnes avec TDI ayant des difficultés langagières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ne remplace pas la parole : elle la complète ou la soutient. Former les professionnels permet d'utiliser des supports visuels, des pictogrammes et des outils numériques pour faciliter la communication.</a:t>
            </a:r>
            <a:endParaRPr lang="en-US" sz="13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recommande-t-elle la formation au FALC pour les professionnels des ESSMS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 FALC est réservé aux documentalistes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pour que les professionnels puissent produire des supports accessibles aux personnes accompagnées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directeurs d'ESSMS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professionnels en contact avec les familles</a:t>
            </a:r>
            <a:endParaRPr lang="en-US" sz="13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pour que les professionnels puissent produire des supports accessibles aux personnes accompagnées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professionnels au FALC leur permet de créer des supports adaptés : documents d'information, contrats, plannings et consignes accessibles aux personnes avec TDI.</a:t>
            </a:r>
            <a:endParaRPr lang="en-US" sz="13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aborde-t-elle la question des comportements-problèmes des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 mesures de contention systématiques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analyse fonctionnelle et des interventions comportementales positives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médication immédiate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ignorant ces comportements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analyse fonctionnelle et des interventions comportementales positives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approche PBS (Positive Behavior Support) : analyser les causes des comportements-problèmes, comprendre leurs fonctions et mettre en place des interventions positives.</a:t>
            </a:r>
            <a:endParaRPr lang="en-US" sz="13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la RBPP recommande-t-elle pour prévenir les comportements-problèmes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L'isolement préventif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L'adaptation de l'environnement et la réponse aux besoins non exprimés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médication préventive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restriction des activités</a:t>
            </a:r>
            <a:endParaRPr lang="en-US" sz="13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L'adaptation de l'environnement et la réponse aux besoins non exprimés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nombreux comportements-problèmes sont des tentatives de communication de besoins non satisfaits. Adapter l'environnement et répondre aux besoins prévient ces comportements.</a:t>
            </a:r>
            <a:endParaRPr lang="en-US" sz="13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RBPP concernant le travail pluridisciplinaire dans les ESSMS pour les personnes avec TDI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professionnel travaille de manière indépendante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en équipe pluridisciplinaire coordonnée est indispensable pour la cohérence des accompagnements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médecin coordonne les interventions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pluridisciplinarité est optionnelle</a:t>
            </a:r>
            <a:endParaRPr lang="en-US" sz="13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en équipe pluridisciplinaire coordonnée est indispensable pour la cohérence des accompagnements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pluridisciplinarité : éducateurs, psychologues, orthophonistes, ergothérapeutes, médecins et travailleurs sociaux doivent coordonner leurs interventions autour du projet de la personne.</a:t>
            </a:r>
            <a:endParaRPr lang="en-US" sz="13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recommande-t-elle d'impliquer les familles dans la formation des équipes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n'ont pas à interférer dans la formation professionnelle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peuvent partager leur expertise d'usage lors de formations et journées d'échange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forment les professionnels à leur place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participent uniquement aux évaluations externes</a:t>
            </a:r>
            <a:endParaRPr lang="en-US" sz="13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peuvent partager leur expertise d'usage lors de formations et journées d'échange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sont détentrices d'une expertise d'usage précieuse. La RBPP encourage leur participation à des formations, des journées d'échange et à des instances représentatives.</a:t>
            </a:r>
            <a:endParaRPr lang="en-US" sz="13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99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recommandation de la RBPP concernant la formation à l'autodétermination pour les professionnels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est intuitive et ne nécessite pas de 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spécifique à l'autodétermination est recommandée pour tous les professionnels en contact avec des personnes avec TDI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psychologues doivent être formés à l'autodétermination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est facultative pour le personnel soignant</a:t>
            </a:r>
            <a:endParaRPr lang="en-US" sz="13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99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spécifique à l'autodétermination est recommandée pour tous les professionnels en contact avec des personnes avec TDI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formation de tous les professionnels aux principes de l'autodétermination, aux attitudes bienveillantes et aux techniques facilitant les choix des personnes accompagnées.</a:t>
            </a:r>
            <a:endParaRPr lang="en-US" sz="13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100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9966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aborde-t-elle la prévention de l'épuisement professionnel des équipes ESSMS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ce n'est pas dans le champ de la RBPP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indirectement via les recommandations sur la supervision, la formation et le travail d'équipe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directions d'établissements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soignants</a:t>
            </a:r>
            <a:endParaRPr lang="en-US" sz="13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04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063B29"/>
          </a:solidFill>
          <a:ln w="12700">
            <a:solidFill>
              <a:srgbClr val="063B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indirectement via les recommandations sur la supervision, la formation et le travail d'équipe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430000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RBPP, en recommandant la supervision d'équipe, la formation continue et le travail pluridisciplinaire, contribue à prévenir l'épuisement professionnel et à soutenir la qualité de vie au travail des équipes.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201</Slides>
  <Notes>201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201</vt:i4>
      </vt:variant>
    </vt:vector>
  </HeadingPairs>
  <TitlesOfParts>
    <vt:vector size="20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2026-04-18T08:14:12Z</dcterms:created>
  <dcterms:modified xsi:type="dcterms:W3CDTF">2026-04-18T08:14:12Z</dcterms:modified>
</cp:coreProperties>
</file>