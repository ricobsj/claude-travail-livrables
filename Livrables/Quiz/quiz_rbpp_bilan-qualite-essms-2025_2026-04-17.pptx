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Lst>
  <p:notesMasterIdLst>
    <p:notesMasterId r:id="rId2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notesMaster" Target="notesMasters/notesMaster1.xml"/><Relationship Id="rId204" Type="http://schemas.openxmlformats.org/officeDocument/2006/relationships/presProps" Target="presProps.xml"/><Relationship Id="rId205" Type="http://schemas.openxmlformats.org/officeDocument/2006/relationships/viewProps" Target="viewProps.xml"/><Relationship Id="rId206" Type="http://schemas.openxmlformats.org/officeDocument/2006/relationships/theme" Target="theme/theme1.xml"/><Relationship Id="rId2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7772400" y="0"/>
            <a:ext cx="4421124" cy="6858000"/>
          </a:xfrm>
          <a:prstGeom prst="rect">
            <a:avLst/>
          </a:prstGeom>
          <a:solidFill>
            <a:srgbClr val="8B5CF6"/>
          </a:solidFill>
          <a:ln w="12700">
            <a:solidFill>
              <a:srgbClr val="8B5CF6"/>
            </a:solidFill>
            <a:prstDash val="solid"/>
          </a:ln>
        </p:spPr>
      </p:sp>
      <p:sp>
        <p:nvSpPr>
          <p:cNvPr id="3" name="Shape 1"/>
          <p:cNvSpPr/>
          <p:nvPr/>
        </p:nvSpPr>
        <p:spPr>
          <a:xfrm>
            <a:off x="8686800" y="-546811"/>
            <a:ext cx="2926994" cy="2926994"/>
          </a:xfrm>
          <a:prstGeom prst="ellipse">
            <a:avLst/>
          </a:prstGeom>
          <a:solidFill>
            <a:srgbClr val="8B5CF6"/>
          </a:solidFill>
          <a:ln w="12700">
            <a:solidFill>
              <a:srgbClr val="8B5CF6"/>
            </a:solidFill>
            <a:prstDash val="solid"/>
          </a:ln>
        </p:spPr>
      </p:sp>
      <p:sp>
        <p:nvSpPr>
          <p:cNvPr id="4" name="Shape 2"/>
          <p:cNvSpPr/>
          <p:nvPr/>
        </p:nvSpPr>
        <p:spPr>
          <a:xfrm>
            <a:off x="9874606" y="4572000"/>
            <a:ext cx="2559406" cy="2559406"/>
          </a:xfrm>
          <a:prstGeom prst="ellipse">
            <a:avLst/>
          </a:prstGeom>
          <a:solidFill>
            <a:srgbClr val="F59E0B"/>
          </a:solidFill>
          <a:ln w="12700">
            <a:solidFill>
              <a:srgbClr val="F59E0B"/>
            </a:solidFill>
            <a:prstDash val="solid"/>
          </a:ln>
        </p:spPr>
      </p:sp>
      <p:sp>
        <p:nvSpPr>
          <p:cNvPr id="5" name="Shape 3"/>
          <p:cNvSpPr/>
          <p:nvPr/>
        </p:nvSpPr>
        <p:spPr>
          <a:xfrm>
            <a:off x="-367589" y="5029200"/>
            <a:ext cx="2012594" cy="2012594"/>
          </a:xfrm>
          <a:prstGeom prst="ellipse">
            <a:avLst/>
          </a:prstGeom>
          <a:solidFill>
            <a:srgbClr val="F59E0B"/>
          </a:solidFill>
          <a:ln w="12700">
            <a:solidFill>
              <a:srgbClr val="F59E0B"/>
            </a:solidFill>
            <a:prstDash val="solid"/>
          </a:ln>
        </p:spPr>
      </p:sp>
      <p:sp>
        <p:nvSpPr>
          <p:cNvPr id="6" name="Shape 4"/>
          <p:cNvSpPr/>
          <p:nvPr/>
        </p:nvSpPr>
        <p:spPr>
          <a:xfrm>
            <a:off x="546811" y="1098194"/>
            <a:ext cx="5040173" cy="54864"/>
          </a:xfrm>
          <a:prstGeom prst="rect">
            <a:avLst/>
          </a:prstGeom>
          <a:solidFill>
            <a:srgbClr val="8B5CF6"/>
          </a:solidFill>
          <a:ln w="12700">
            <a:solidFill>
              <a:srgbClr val="8B5CF6"/>
            </a:solidFill>
            <a:prstDash val="solid"/>
          </a:ln>
        </p:spPr>
      </p:sp>
      <p:sp>
        <p:nvSpPr>
          <p:cNvPr id="7" name="Text 5"/>
          <p:cNvSpPr/>
          <p:nvPr/>
        </p:nvSpPr>
        <p:spPr>
          <a:xfrm>
            <a:off x="546811" y="749808"/>
            <a:ext cx="7199986" cy="329184"/>
          </a:xfrm>
          <a:prstGeom prst="rect">
            <a:avLst/>
          </a:prstGeom>
          <a:noFill/>
          <a:ln/>
        </p:spPr>
        <p:txBody>
          <a:bodyPr wrap="square" rtlCol="0" anchor="ctr"/>
          <a:lstStyle/>
          <a:p>
            <a:pPr indent="0" marL="0">
              <a:buNone/>
            </a:pPr>
            <a:r>
              <a:rPr lang="en-US" sz="1100" dirty="0">
                <a:solidFill>
                  <a:srgbClr val="9D88C4"/>
                </a:solidFill>
                <a:latin typeface="Calibri" pitchFamily="34" charset="0"/>
                <a:ea typeface="Calibri" pitchFamily="34" charset="-122"/>
                <a:cs typeface="Calibri" pitchFamily="34" charset="-120"/>
              </a:rPr>
              <a:t>RBPP · Bilan Qualité ESSMS 2025 — HAS</a:t>
            </a:r>
            <a:endParaRPr lang="en-US" sz="1100" dirty="0"/>
          </a:p>
        </p:txBody>
      </p:sp>
      <p:sp>
        <p:nvSpPr>
          <p:cNvPr id="8" name="Text 6"/>
          <p:cNvSpPr/>
          <p:nvPr/>
        </p:nvSpPr>
        <p:spPr>
          <a:xfrm>
            <a:off x="546811" y="1234440"/>
            <a:ext cx="7199986" cy="14173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Bilan Qualité ESSMS 2025</a:t>
            </a:r>
            <a:endParaRPr lang="en-US" sz="3200" dirty="0"/>
          </a:p>
        </p:txBody>
      </p:sp>
      <p:sp>
        <p:nvSpPr>
          <p:cNvPr id="9" name="Text 7"/>
          <p:cNvSpPr/>
          <p:nvPr/>
        </p:nvSpPr>
        <p:spPr>
          <a:xfrm>
            <a:off x="546811" y="2606040"/>
            <a:ext cx="7199986" cy="329184"/>
          </a:xfrm>
          <a:prstGeom prst="rect">
            <a:avLst/>
          </a:prstGeom>
          <a:noFill/>
          <a:ln/>
        </p:spPr>
        <p:txBody>
          <a:bodyPr wrap="square" rtlCol="0" anchor="ctr"/>
          <a:lstStyle/>
          <a:p>
            <a:pPr indent="0" marL="0">
              <a:buNone/>
            </a:pPr>
            <a:r>
              <a:rPr lang="en-US" sz="1500" dirty="0">
                <a:solidFill>
                  <a:srgbClr val="8B5CF6"/>
                </a:solidFill>
                <a:latin typeface="Calibri" pitchFamily="34" charset="0"/>
                <a:ea typeface="Calibri" pitchFamily="34" charset="-122"/>
                <a:cs typeface="Calibri" pitchFamily="34" charset="-120"/>
              </a:rPr>
              <a:t>Recommandations de bonnes pratiques — HAS</a:t>
            </a:r>
            <a:endParaRPr lang="en-US" sz="1500" dirty="0"/>
          </a:p>
        </p:txBody>
      </p:sp>
      <p:sp>
        <p:nvSpPr>
          <p:cNvPr id="10" name="Shape 8"/>
          <p:cNvSpPr/>
          <p:nvPr/>
        </p:nvSpPr>
        <p:spPr>
          <a:xfrm>
            <a:off x="546811" y="2926080"/>
            <a:ext cx="6858000" cy="45720"/>
          </a:xfrm>
          <a:prstGeom prst="rect">
            <a:avLst/>
          </a:prstGeom>
          <a:solidFill>
            <a:srgbClr val="F59E0B"/>
          </a:solidFill>
          <a:ln w="12700">
            <a:solidFill>
              <a:srgbClr val="F59E0B"/>
            </a:solidFill>
            <a:prstDash val="solid"/>
          </a:ln>
        </p:spPr>
      </p:sp>
      <p:sp>
        <p:nvSpPr>
          <p:cNvPr id="11" name="Text 9"/>
          <p:cNvSpPr/>
          <p:nvPr/>
        </p:nvSpPr>
        <p:spPr>
          <a:xfrm>
            <a:off x="546811" y="3090672"/>
            <a:ext cx="4114800" cy="475488"/>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100 questions</a:t>
            </a:r>
            <a:endParaRPr lang="en-US" sz="2600" dirty="0"/>
          </a:p>
        </p:txBody>
      </p:sp>
      <p:sp>
        <p:nvSpPr>
          <p:cNvPr id="12" name="Text 10"/>
          <p:cNvSpPr/>
          <p:nvPr/>
        </p:nvSpPr>
        <p:spPr>
          <a:xfrm>
            <a:off x="546811" y="3566160"/>
            <a:ext cx="6480353" cy="292608"/>
          </a:xfrm>
          <a:prstGeom prst="rect">
            <a:avLst/>
          </a:prstGeom>
          <a:noFill/>
          <a:ln/>
        </p:spPr>
        <p:txBody>
          <a:bodyPr wrap="square" rtlCol="0" anchor="ctr"/>
          <a:lstStyle/>
          <a:p>
            <a:pPr indent="0" marL="0">
              <a:buNone/>
            </a:pPr>
            <a:r>
              <a:rPr lang="en-US" sz="1300" dirty="0">
                <a:solidFill>
                  <a:srgbClr val="9D88C4"/>
                </a:solidFill>
                <a:latin typeface="Calibri" pitchFamily="34" charset="0"/>
                <a:ea typeface="Calibri" pitchFamily="34" charset="-122"/>
                <a:cs typeface="Calibri" pitchFamily="34" charset="-120"/>
              </a:rPr>
              <a:t>Niveau professionnel médico-social</a:t>
            </a:r>
            <a:endParaRPr lang="en-US" sz="1300" dirty="0"/>
          </a:p>
        </p:txBody>
      </p:sp>
      <p:sp>
        <p:nvSpPr>
          <p:cNvPr id="13" name="Shape 11"/>
          <p:cNvSpPr/>
          <p:nvPr/>
        </p:nvSpPr>
        <p:spPr>
          <a:xfrm>
            <a:off x="546811" y="5760720"/>
            <a:ext cx="172822" cy="172822"/>
          </a:xfrm>
          <a:prstGeom prst="rect">
            <a:avLst/>
          </a:prstGeom>
          <a:solidFill>
            <a:srgbClr val="8B5CF6"/>
          </a:solidFill>
          <a:ln w="12700">
            <a:solidFill>
              <a:srgbClr val="8B5CF6"/>
            </a:solidFill>
            <a:prstDash val="solid"/>
          </a:ln>
        </p:spPr>
      </p:sp>
      <p:sp>
        <p:nvSpPr>
          <p:cNvPr id="14" name="Shape 12"/>
          <p:cNvSpPr/>
          <p:nvPr/>
        </p:nvSpPr>
        <p:spPr>
          <a:xfrm>
            <a:off x="907085" y="5760720"/>
            <a:ext cx="172822" cy="172822"/>
          </a:xfrm>
          <a:prstGeom prst="rect">
            <a:avLst/>
          </a:prstGeom>
          <a:solidFill>
            <a:srgbClr val="F59E0B"/>
          </a:solidFill>
          <a:ln w="12700">
            <a:solidFill>
              <a:srgbClr val="F59E0B"/>
            </a:solidFill>
            <a:prstDash val="solid"/>
          </a:ln>
        </p:spPr>
      </p:sp>
      <p:sp>
        <p:nvSpPr>
          <p:cNvPr id="15" name="Shape 13"/>
          <p:cNvSpPr/>
          <p:nvPr/>
        </p:nvSpPr>
        <p:spPr>
          <a:xfrm>
            <a:off x="1267358" y="5760720"/>
            <a:ext cx="172822" cy="172822"/>
          </a:xfrm>
          <a:prstGeom prst="rect">
            <a:avLst/>
          </a:prstGeom>
          <a:solidFill>
            <a:srgbClr val="F87171"/>
          </a:solidFill>
          <a:ln w="12700">
            <a:solidFill>
              <a:srgbClr val="F87171"/>
            </a:solidFill>
            <a:prstDash val="solid"/>
          </a:ln>
        </p:spPr>
      </p:sp>
      <p:sp>
        <p:nvSpPr>
          <p:cNvPr id="16" name="Shape 14"/>
          <p:cNvSpPr/>
          <p:nvPr/>
        </p:nvSpPr>
        <p:spPr>
          <a:xfrm>
            <a:off x="1627632" y="5760720"/>
            <a:ext cx="172822" cy="172822"/>
          </a:xfrm>
          <a:prstGeom prst="rect">
            <a:avLst/>
          </a:prstGeom>
          <a:solidFill>
            <a:srgbClr val="2DD4BF"/>
          </a:solidFill>
          <a:ln w="12700">
            <a:solidFill>
              <a:srgbClr val="2DD4BF"/>
            </a:solidFill>
            <a:prstDash val="solid"/>
          </a:ln>
        </p:spPr>
      </p:sp>
      <p:sp>
        <p:nvSpPr>
          <p:cNvPr id="17" name="Text 15"/>
          <p:cNvSpPr/>
          <p:nvPr/>
        </p:nvSpPr>
        <p:spPr>
          <a:xfrm>
            <a:off x="546811" y="6144768"/>
            <a:ext cx="7199986" cy="274320"/>
          </a:xfrm>
          <a:prstGeom prst="rect">
            <a:avLst/>
          </a:prstGeom>
          <a:noFill/>
          <a:ln/>
        </p:spPr>
        <p:txBody>
          <a:bodyPr wrap="square" rtlCol="0" anchor="ctr"/>
          <a:lstStyle/>
          <a:p>
            <a:pPr indent="0" marL="0">
              <a:buNone/>
            </a:pPr>
            <a:r>
              <a:rPr lang="en-US" sz="1000" dirty="0">
                <a:solidFill>
                  <a:srgbClr val="9D88C4"/>
                </a:solidFill>
                <a:latin typeface="Calibri" pitchFamily="34" charset="0"/>
                <a:ea typeface="Calibri" pitchFamily="34" charset="-122"/>
                <a:cs typeface="Calibri" pitchFamily="34" charset="-120"/>
              </a:rPr>
              <a:t>Source : HAS — Bilan qualité des ESSMS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Combien de critères le référentiel HAS d'évaluation de la qualité des ESSMS comprend-il au total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12 critères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18 critères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157 critères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42 critères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157 critères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référentiel HAS comprend 157 critères regroupés en grandes thématiques. Parmi eux, 18 sont qualifiés d'« impératifs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Combien de critères dits « impératifs » le référentiel HAS comporte-t-il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critères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 critères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18 critères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24 critères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18 critères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18 critères sont qualifiés d'impératifs. Leur non-satisfaction peut conduire à un plan d'amélioration obligatoire ou à des mesures de protection renforcées.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taux de validation moyen observé pour les critères impératifs dans le bilan 2025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5,2 %</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10,5 %</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22,3 %</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37 %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10,5 %</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En moyenne, seulement 10,5 % des ESSMS évalués valident l'ensemble des 18 critères impératifs, ce qui témoigne d'un écart significatif avec les attendus.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proportion des 47 700 ESSMS recensés a fait l'objet d'une évaluation dans le cadre du bilan 2025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10 %</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20 %</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37 %</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52 %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37 %</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Environ 37 % des 47 700 établissements et services médico-sociaux avaient été évalués au moment du bilan 2025, soit environ 17 650 structures.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Combien de thématiques principales structure le référentiel HAS pour l'évaluation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thématiques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thématiques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 thématiques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12 thématiques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thématiques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référentiel s'organise autour de 5 thématiques : les droits, l'accompagnement personnalisé, la prévention des risques, la gouvernance, et l'ouverture sur l'environnement.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instance a publié le référentiel national d'évaluation de la qualité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L'ANESM</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CNSA</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HAS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L'ANAP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HAS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Haute Autorité de Santé (HAS) a publié le référentiel national d'évaluation après fusion avec l'ANESM en 2018. La première version est entrée en vigueur le 1er janvier 2022.</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À quelle date la nouvelle obligation d'évaluation de la qualité pour les ESSMS est-elle entrée en vigueur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1er janvier 2018</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1er juillet 2021</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1er janvier 2022</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1er janvier 2025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1er janvier 2022</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Depuis le 1er janvier 2022, tous les ESSMS sont soumis à la nouvelle obligation d'évaluation selon le référentiel HAS, avec une périodicité de 5 ans.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périodicité de l'évaluation externe obligatoire pour les ESSMS selon le cadre réglementaire actuel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2 ans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3 ans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5 ans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7 ans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Tous les 5 ans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ESSMS doivent réaliser une évaluation externe tous les 5 ans, conformément au décret du 12 novembre 2021. Le rapport est transmis à l'autorité de tarification.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organisme est chargé d'habiliter les organismes évaluateurs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DGCS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HAS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COFRAC</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COFRAC</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Comité français d'accréditation (COFRAC) est chargé d'accréditer les organismes évaluateurs selon la norme ISO 17021. La HAS fixe le référentiel et les méthodes.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Parmi les éléments suivants, lequel fait partie des 18 critères impératifs du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présence d'un site internet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mise en œuvre d'un projet personnalisé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labellisation Qualité+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certification ISO 9001</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mise en œuvre d'un projet personnalisé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projet personnalisé figure parmi les critères impératifs. Il est coévalué avec la personne accompagnée et ses aidants et constitue une exigence fondamentale du référentiel.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Comment se nomme le document synthétique transmis à l'autorité de tarification à l'issue de l'évaluation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bilan annuel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rapport d'évaluation externe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tableau de bord de la performance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CPOM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rapport d'évaluation externe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rapport d'évaluation externe, rédigé par l'organisme accrédité, est transmis à l'autorité de tarification (ARS, Conseil départemental) dans les 3 mois suivant l'évaluation.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Dans quel texte législatif a été inscrite la réforme de l'évaluation des ESSMS en vigueur depuis 2022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2002-2</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du 28 décembre 2015 (ASV)</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du 26 août 2021 (3DS)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L'article L312-8 du CASF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L'article L312-8 du CASF</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L'article L312-8 du Code de l'action sociale et des familles (CASF), modifié par la loi du 26 août 2021, fixe l'obligation d'évaluation tous les 5 ans avec accréditation COFRAC.</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Lequel de ces droits est explicitement protégé par le référentiel HAS dans sa thématique « droits »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au télétravail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à l'autodétermination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à la propriété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à la mobilité européenne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droit à l'autodétermination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L'autodétermination — droit de faire ses propres choix — est un axe central du référentiel HAS. Les critères évaluent si la personne est actrice de son projet et de ses décisions.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projet de vie » dans le cadre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comptable annuel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exprimant les aspirations et objectifs de la personne accompagnée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formation du personnel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fiche technique de sécurité</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document exprimant les aspirations et objectifs de la personne accompagnée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projet de vie traduit les aspirations, valeurs et objectifs de la personne. Il est distinct du projet personnalisé d'accompagnement et constitue la base à partir de laquelle ce dernier est élaboré.</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loi a fondé les droits des usagers dans les établissements médico-sociaux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2002-2 du 2 janvier 2002</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2005-102 du 11 février 2005</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ASV de 2015</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loi 3DS de 2021</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loi 2002-2 du 2 janvier 2002</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loi 2002-2 rénovant l'action sociale et médico-sociale a instauré 7 droits fondamentaux (dignité, intégrité, vie privée, libre choix, confidentialité, accès à l'information, participation).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Quels sont les 7 documents listés par la loi 2002-2 que tout ESSMS doit remettre à l'usager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Livret d'accueil, DIPC, règlement de fonctionnement, contrat de séjour, CVS, accès aux soins, plan d'urgence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Livret d'accueil, charte des droits, contrat de séjour, règlement de fonctionnement, DIPC, RBPP, CPOM</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Livret d'accueil, charte des droits et libertés, contrat de séjour, règlement de fonctionnement, liste des associations, conseil d'établissement, bilan social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Livret d'accueil, charte des droits et libertés, contrat de séjour, règlement de fonctionnement, DIPC, liste des associations représentant les usagers, CVS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Livret d'accueil, charte des droits et libertés, contrat de séjour, règlement de fonctionnement, DIPC, liste des associations représentant les usagers, CVS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loi 2002-2 impose 7 outils : livret d'accueil, charte des droits et libertés, contrat de séjour ou DIPC, règlement de fonctionnement, liste d'associations, CVS, projet d'établissement.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DIPC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Dossier individuel de prise en charge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Document individuel de prise en charge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Dispositif institutionnel de participation continue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Document d'intervention pluridisciplinaire coordonné</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Document individuel de prise en charge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DIPC (Document Individuel de Prise en Charge) se substitue au contrat de séjour dans certaines structures (SAVS, SAMSAH…). Il détaille les objectifs et modalités de l'accompagnement.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instance représente les usagers au sein d'un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comité d'entreprise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CVS (Conseil de la Vie Sociale)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CSE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commission médicale d'établissement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CVS (Conseil de la Vie Sociale)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Conseil de la Vie Sociale (CVS) associe les personnes accompagnées et leurs familles à la vie de l'établissement. Il est obligatoire dans la plupart des ESSMS accueillant des résidents.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Selon le bilan 2025, quelle thématique liée aux droits présente les plus faibles taux de satisfaction des critères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L'accueil et l'admission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participation à la vie sociale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L'intimité et la vie affective et sexuelle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sécurité des biens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L'intimité et la vie affective et sexuelle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bilan 2025 pointe que les critères relatifs à l'intimité et à la vie affective et sexuelle des personnes accompagnées restent parmi les moins bien satisfaits dans les ESSMS évalués.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personne de confiance » dans le secteur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professionnel désigné par la direction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personne choisie par l'usager pour l'accompagner dans ses démarches et être consultée en cas d'incapacité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représentant légal obligatoirement désigné par le juge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bénévole d'association partenaire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personne choisie par l'usager pour l'accompagner dans ses démarches et être consultée en cas d'incapacité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personne de confiance est librement choisie par l'usager. Elle peut être un proche, un parent ou un professionnel de santé et peut être consultée si la personne est hors d'état d'exprimer sa volonté.</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obligation s'impose à un ESSMS en matière de traitement des réclamations des usagers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Publier les réclamations sur le site internet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Transmettre toutes les réclamations à l'ARS dans les 24 heures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Disposer d'une procédure de traitement et répondre dans un délai raisonnable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Créer un registre des réclamations accessible uniquement aux inspecteurs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Disposer d'une procédure de traitement et répondre dans un délai raisonnable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ESSMS doivent disposer d'une procédure formalisée de traitement des plaintes et réclamations, garantissant une réponse écrite et tracée. C'est un critère évalué par le référentiel HAS.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prévoit la loi concernant l'accès d'un usager à son dossier d'accompagnement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L'accès est réservé aux tuteurs et curateurs uniquement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L'usager peut accéder à son dossier dans un délai de 8 jours (48h pour séjour récent)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L'accès est possible uniquement sur décision judiciaire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L'accès est limité aux données médicales, excluant les données sociales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L'usager peut accéder à son dossier dans un délai de 8 jours (48h pour séjour récent)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Selon la loi, toute personne peut accéder à son dossier : dans les 48 heures si le séjour date de moins de 5 ans, sinon dans les 8 jours ouvrables suivant la demande.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projet personnalisé d'accompagnement (PPA)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administratif d'admission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formalisé et co-construit définissant les objectifs et modalités d'accompagnement individualisés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rapport annuel de l'équipe soignante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de travail adapté pour les usagers en ESAT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plan formalisé et co-construit définissant les objectifs et modalités d'accompagnement individualisés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PPA formalise la réponse personnalisée aux besoins de la personne. Il est co-construit avec elle, régulièrement révisé et évalué. C'est un critère impératif du référentiel HAS.</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À quelle fréquence minimale le projet personnalisé doit-il être réévalué selon les recommandations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6 mois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fois par an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Tous les 3 ans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en cas d'incident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fois par an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recommandations HAS préconisent une révision annuelle du projet personnalisé, ou plus fréquente en cas de changement significatif dans la situation de la personne.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approche est préconisée pour évaluer les besoins d'une personne accompagnée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L'approche exclusivement médicale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L'approche par les capacités (CIF — Classification Internationale du Fonctionnement)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L'approche par les actes de la vie quotidienne uniquement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L'approche budgétaire SERAFIN-PH</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L'approche par les capacités (CIF — Classification Internationale du Fonctionnement)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CIF (OMS) est l'outil de référence pour analyser les besoins : elle prend en compte les fonctions organiques, les activités, la participation et les facteurs environnementaux.</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SERAFIN-PH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label qualité pour les ESSMS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nomenclature de besoins et de prestations pour les personnes handicapées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logiciel de gestion des dossiers médicaux</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réseau de chercheurs en sciences humaines médico-sociales</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nomenclature de besoins et de prestations pour les personnes handicapées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SERAFIN-PH (Services et Établissements : Réforme pour une Adéquation des FINancements) est une nomenclature visant à décrire les besoins des personnes handicapées et les prestations des ESSMS.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principe guide la personnalisation de l'accompagnement dans le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standardisation des protocoles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réponse aux besoins spécifiques de chaque personne dans sa globalité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réduction des coûts de prise en charge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conformité aux normes ISO</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réponse aux besoins spécifiques de chaque personne dans sa globalité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L'accompagnement doit être individualisé, global (médical, social, éducatif, relationnel), et prendre en compte les aspirations, les habitudes de vie et l'environnement de chaque personne.</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pair-aidance » dans le secteur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protocole d'aide entre deux ESSMS voisins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L'accompagnement par une personne ayant vécu une expérience similaire (maladie, handicap)</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mode de financement partagé entre ARS et Conseil départemental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double signature des projets personnalisés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L'accompagnement par une personne ayant vécu une expérience similaire (maladie, handicap)</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pair-aidance mobilise l'expérience vécue d'une personne rétablie ou vivant avec un handicap pour soutenir une autre personne. Elle est encouragée par les recommandations HAS.</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signification du sigle « FAM »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Foyer d'Accueil Mixte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Foyer d'Accompagnement Médicalisé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Foyer d'Accueil Médicalisé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Foyer d'Aide Mutuelle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29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Foyer d'Accueil Médicalisé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FAM (Foyer d'Accueil Médicalisé) accueille des adultes en situation de polyhandicap ou de troubles sévères. Il est cofinancé par l'ARS (soins) et le Conseil départemental (hébergement/accompagnement social).</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qu'une MAS (Maison d'Accueil Spécialisée)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service ambulatoire léger pour adultes autonomes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établissement accueillant des adultes dont le handicap nécessite une surveillance médicale constante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résidence autonomie pour personnes âgées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établissement scolaire spécialisé</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établissement accueillant des adultes dont le handicap nécessite une surveillance médicale constante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MAS accueille des personnes adultes gravement handicapées nécessitant des soins médicaux constants. Elle est financée à 100 % par l'ARS au titre de l'assurance maladie.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signifie SAVS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Service d'Aide à la Vie Sociale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Service d'Accompagnement à la Vie Sociale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Structure d'Accueil et de Valorisation Sociale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Système d'Assistance Virtuelle Spécialisée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Service d'Accompagnement à la Vie Sociale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SAVS (Service d'Accompagnement à la Vie Sociale) accompagne des adultes handicapés vivant à domicile dans leurs démarches de la vie quotidienne, sans soins médicaux intégrés.</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différence principale entre un SAVS et un SAMSAH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SAVS est réservé aux enfants, le SAMSAH aux adultes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SAMSAH intègre un volet de soins médicaux et paramédicaux, pas le SAVS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SAVS est géré par l'ARS, le SAMSAH par le Conseil départemental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SAMSAH accueille uniquement des personnes en situation de handicap psychique</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SAMSAH intègre un volet de soins médicaux et paramédicaux, pas le SAVS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SAMSAH (Service d'Accompagnement Médico-Social pour Adultes Handicapés) combine accompagnement social et prestations de soins, là où le SAVS se limite à l'accompagnement social.</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finalité principale du « plan de compensation » dans le secteur du handicap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Compenser financièrement les établissements sous-dotés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Identifier et financer les réponses aux besoins de compensation de la personne handicapée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Réorganiser les postes de travail des personnels soignants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Planifier les travaux de mise aux normes des bâtiments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Identifier et financer les réponses aux besoins de compensation de la personne handicapée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plan de compensation de la MDPH évalue les besoins (aides humaines, techniques, aménagement) et ouvre droit à des prestations comme la PCH (Prestation de Compensation du Handicap).</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Prestation de Compensation du Handicap (PCH)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aide financière pour les familles d'accueil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prestation permettant de financer les besoins de compensation liés au handicap</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complément de retraite pour personnes handicapées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aide au logement spécifique aux résidents d'ESSMS</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prestation permettant de financer les besoins de compensation liés au handicap</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PCH finance les aides humaines, techniques, animalières, aménagement du logement et du véhicule, surcoûts liés au transport. Elle est accordée par la MDPH et versée par le Conseil départemental.</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définition la HAS donne-t-elle de la maltraitance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Tout acte intentionnel causant un préjudice physique à une personne vulnérable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Tout acte ou omission commis par une personne en situation de confiance, de responsabilité ou d'autorité causant un tort à la personne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les violences physiques documentées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seuls manquements aux soins médicaux</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Tout acte ou omission commis par une personne en situation de confiance, de responsabilité ou d'autorité causant un tort à la personne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définition HAS (inspirée du Conseil de l'Europe) inclut les violences physiques, psychologiques, financières, sexuelles, les négligences actives et passives, et les traitements inhumains ou dégradants.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Quels sont les 6 types de maltraitance généralement reconnus dans le secteur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Physique, verbale, émotionnelle, administrative, alimentaire, médicale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Physique, psychologique/morale, financière/matérielle, sexuelle, négligence, institutionnelle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Corporelle, mentale, patrimoniale, relationnelle, environnementale, numérique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Active, passive, directe, indirecte, intentionnelle, systémique</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Physique, psychologique/morale, financière/matérielle, sexuelle, négligence, institutionnelle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6 types reconnus sont : maltraitances physiques, psychologiques/morales, financières/matérielles, sexuelles, négligences (actives ou passives) et maltraitances institutionnelles.</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bientraitance » selon la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L'absence totale de tout acte de maltraitance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culture institutionnelle visant le bien-être et la dignité des personnes, allant au-delà de la simple absence de maltraitance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label qualité délivré aux établissements sans incident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respect strict des protocoles de soins</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culture institutionnelle visant le bien-être et la dignité des personnes, allant au-delà de la simple absence de maltraitance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bientraitance est une démarche proactive qui vise à promouvoir le bien-être, la dignité et l'autodétermination. Elle n'est pas seulement l'absence de maltraitance mais une culture positive à développer.</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numéro d'appel national permet de signaler des situations de maltraitance envers les personnes vulnérables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15 (SAMU)</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3114 (crise suicidaire)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3977 (Allô maltraitance)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115 (urgence sociale)</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3977 (Allô maltraitance)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3977 est le numéro national contre la maltraitance des personnes âgées et adultes handicapés. Il est géré par la Fédération 3977 et oriente vers les dispositifs locaux de protection.</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Qu'impose le référentiel HAS aux ESSMS concernant la prévention et la gestion des situations de maltraitance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l'affichage de la charte des droits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mise en place d'une procédure de signalement, de traitement et de prévention formalisée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recours systématique à la police en cas de suspicion</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suppression des soins de contention sans exception</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39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mise en place d'une procédure de signalement, de traitement et de prévention formalisée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référentiel impose une procédure de signalement interne et externe, un registre des événements indésirables, une analyse systémique des incidents, et une formation des professionnels.</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prévoit la loi concernant l'obligation de signalement d'une situation de maltraitance par un professionnel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signalement est facultatif et laissé à l'appréciation du responsable hiérarchique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signalement est obligatoire pour les professionnels témoins ou informés, sous peine de sanctions pénales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Seul le médecin coordinateur peut effectuer un signalement officiel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signalement doit être validé par l'ensemble de l'équipe pluridisciplinaire</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signalement est obligatoire pour les professionnels témoins ou informés, sous peine de sanctions pénales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L'article 434-3 du Code pénal impose à toute personne ayant connaissance de mauvais traitements ou privations envers une personne vulnérable d'en informer les autorités judiciaires ou administratives.</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violence institutionnelle »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agression physique commise dans les locaux de l'établissement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Des pratiques collectives ou organisationnelles qui portent atteinte à la dignité ou aux droits des personnes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violence perpétrée par un professionnel en dehors du temps de travail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conflit entre salariés au sein de l'institution</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 pratiques collectives ou organisationnelles qui portent atteinte à la dignité ou aux droits des personnes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violence institutionnelle résulte de dysfonctionnements systémiques : organisation rigide, manque de personnalisation, routines mortifères, absence d'intimité. Elle peut être invisible car banalisée.</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outil recommande la HAS pour analyser les causes profondes d'un événement indésirable grave (EIG)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L'audit qualité annuel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L'analyse des causes racines (méthode RCA/ALARM/REMED)</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L'inspection inopinée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rapport d'activité mensuel</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L'analyse des causes racines (méthode RCA/ALARM/REMED)</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méthode d'analyse des causes racines (Root Cause Analysis) est recommandée pour tout EIG. Elle permet d'identifier les facteurs systémiques et d'éviter la récidive, sans se limiter à la faute individuelle.</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 plan bleu » dans un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communication interne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continuité de l'activité en cas de crise sanitaire ou climatique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protocole de décontamination des équipements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financement exceptionnel</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plan de continuité de l'activité en cas de crise sanitaire ou climatique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plan bleu est un dispositif de gestion de crise (canicule, épidémie, catastrophe) permettant à l'ESSMS de maintenir la continuité des soins et de l'accompagnement en toutes circonstances.</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Quelles sont les principales mesures de prévention de la maltraitance préconisées par la HAS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Formations, procédures de signalement, analyse des pratiques professionnelles, culture de bientraitance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Installation de caméras de surveillance dans toutes les chambres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Licenciement immédiat de tout professionnel signalé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Mise en place d'une permanence téléphonique 24h/24 par les usagers</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Formations, procédures de signalement, analyse des pratiques professionnelles, culture de bientraitance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prévention repose sur : la formation de tous les professionnels, des procédures claires, des temps d'APP (Analyse des Pratiques Professionnelles), et la promotion d'une culture institutionnelle de bientraitance.</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 événement indésirable grave » (EIG)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Tout incident mineur documenté dans le registre qualité</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événement imprévu ayant entraîné ou risquant d'entraîner un dommage significatif pour l'usager</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plainte d'un usager déposée auprès de l'ARS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dysfonctionnement informatique affectant les soins</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événement imprévu ayant entraîné ou risquant d'entraîner un dommage significatif pour l'usager</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Un EIG est un événement ou situation évitable ayant conduit ou susceptible de conduire à un dommage important pour la personne accompagnée (chute grave, erreur médicamenteuse, décès inattendu…).</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l'obligation légale des ESSMS concernant la déclaration des événements indésirables graves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Déclaration facultative auprès de la HAS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Déclaration obligatoire auprès de l'ARS dans les délais réglementaires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Déclaration uniquement au Parquet du Tribunal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Signalement annuel groupé dans le rapport d'activité</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Déclaration obligatoire auprès de l'ARS dans les délais réglementaires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EIG doivent être déclarés à l'ARS dans les délais fixés par la réglementation. Le portail de déclaration est géré par l'ARS et la HAS peut être associée selon la nature de l'événement.</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gestion des risques a priori »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L'analyse des incidents après qu'ils se sont produits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L'identification et la prévention des risques potentiels avant leur survenue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traitement des plaintes des usagers après leur dépôt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L'audit annuel des pratiques professionnelles</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L'identification et la prévention des risques potentiels avant leur survenue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gestion des risques a priori consiste à cartographier les risques potentiels (via une cartographie des risques), évaluer leur probabilité et impact, et mettre en place des mesures préventives.</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document formalise la politique de gestion des risques d'un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contrat pluriannuel d'objectifs et de moyens (CPOM)</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programme d'amélioration de la qualité et de la sécurité des soins (PAQSS) ou équivalent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rapport d'évaluation externe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livret d'accueil</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programme d'amélioration de la qualité et de la sécurité des soins (PAQSS) ou équivalent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PAQSS ou plan d'amélioration de la qualité formalise les axes d'amélioration prioritaires, les actions, les responsables et les délais. Il découle de l'évaluation et des analyses de risques.</a:t>
            </a:r>
            <a:endParaRPr lang="en-US" sz="13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continuité de l'accompagnement »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présence d'au moins un professionnel par usager en permanence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capacité de l'ESSMS à maintenir un accompagnement cohérent malgré les absences, congés, changements de personnel</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de ne jamais modifier le projet personnalisé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présence médicale 24h/24</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49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capacité de l'ESSMS à maintenir un accompagnement cohérent malgré les absences, congés, changements de personnel</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continuité de l'accompagnement est un critère impératif. Elle s'appuie sur des transmissions structurées, des protocoles clairs, un dossier usager accessible et une organisation prévoyant les remplacements.</a:t>
            </a:r>
            <a:endParaRPr lang="en-US" sz="13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couvre la notion de « gestion documentaire » dans le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l'archivage des dossiers médicaux</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L'ensemble des procédures, protocoles et documents de l'ESSMS, leur mise à jour et leur accessibilité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gestion des contrats des prestataires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comptabilité et les budgets prévisionnels</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L'ensemble des procédures, protocoles et documents de l'ESSMS, leur mise à jour et leur accessibilité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gestion documentaire concerne la création, la validation, la diffusion, la mise à jour et l'archivage de tous les documents qualité (procédures, protocoles, fiches de poste). Elle doit être tracée.</a:t>
            </a:r>
            <a:endParaRPr lang="en-US" sz="13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risque de chute » dans un ESSMS et comment est-il évalué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risque uniquement pour les personnes âgées, évalué à l'entrée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risque pour toute personne vulnérable, évalué par des échelles standardisées (ex. Morse, Tinetti) et intégré au PPA</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risque géré uniquement par le service maintenance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risque couvert par l'assurance de l'établissement</a:t>
            </a:r>
            <a:endParaRPr lang="en-US" sz="13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risque pour toute personne vulnérable, évalué par des échelles standardisées (ex. Morse, Tinetti) et intégré au PPA</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risque de chute concerne toutes les populations vulnérables. Il est évalué à l'aide d'outils validés, intégré au projet personnalisé et fait l'objet de mesures préventives documentées.</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protocole de contention ? Quelle est la règle fondamentale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protocole utilisable librement par les soignants sans conditions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mesure exceptionnelle, médicalement prescrite, temporaire, et soumise à un consentement éclairé ou à décision collégiale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outil préventif systématique pour tous les résidents agités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procédure uniquement applicable en psychiatrie</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mesure exceptionnelle, médicalement prescrite, temporaire, et soumise à un consentement éclairé ou à décision collégiale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contention doit rester exceptionnelle, proportionnée, médicalement prescrite, révisée régulièrement et documentée. Elle est considérée comme une atteinte aux droits fondamentaux si utilisée de façon abusive.</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bilan médicamenteux optimisé » (BMO) dans le secteur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audit annuel des dépenses pharmaceutiques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révision systématique des traitements d'un patient pour limiter la polymédication et les risques iatrogènes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logiciel de gestion des stocks de médicaments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procédure de commande groupée auprès des pharmacies</a:t>
            </a:r>
            <a:endParaRPr lang="en-US" sz="13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révision systématique des traitements d'un patient pour limiter la polymédication et les risques iatrogènes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BMO est recommandé pour les personnes polymédicamentées en ESSMS. Il consiste à analyser l'ensemble des traitements, identifier les redondances, contre-indications et risques d'interactions médicamenteuses.</a:t>
            </a:r>
            <a:endParaRPr lang="en-US" sz="13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principal enjeu de la gestion des « troubles du comportement » en ESSMS selon la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sédation rapide pour garantir la sécurité du personnel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compréhension des causes (communication, douleur, environnement) et la réponse non médicamenteuse en priorité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L'isolement systématique dès l'apparition du trouble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transfert vers une unité psychiatrique spécialisée</a:t>
            </a:r>
            <a:endParaRPr lang="en-US" sz="13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compréhension des causes (communication, douleur, environnement) et la réponse non médicamenteuse en priorité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HAS recommande d'analyser les causes des troubles (douleur, besoin non comblé, anxiété, environnement inadapté) et de privilégier les interventions non médicamenteuses (TNmP) avant toute médication.</a:t>
            </a:r>
            <a:endParaRPr lang="en-US" sz="13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pouvoir d'agir » (empowerment) des personnes accompagnées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capacité des professionnels à décider à la place des usagers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capacité des personnes à exercer un contrôle sur leur vie et leurs décisions, soutenue par l'ESSMS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L'autorité du directeur de l'établissement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des familles à superviser le travail des équipes</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capacité des personnes à exercer un contrôle sur leur vie et leurs décisions, soutenue par l'ESSMS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L'empowerment vise à renforcer les capacités d'agir des personnes en situation de vulnérabilité. L'ESSMS doit créer les conditions pour que chaque personne puisse exercer ses droits et faire ses propres choix.</a:t>
            </a:r>
            <a:endParaRPr lang="en-US" sz="13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Quels sont les modes de participation des usagers reconnus au-delà du CVS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les réunions mensuelles obligatoires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Groupes de parole, enquêtes de satisfaction, co-construction du projet d'établissement, groupes d'usagers experts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vote électronique pour les décisions du directeur</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participation aux réunions de l'ARS</a:t>
            </a:r>
            <a:endParaRPr lang="en-US" sz="13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Groupes de parole, enquêtes de satisfaction, co-construction du projet d'établissement, groupes d'usagers experts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participation des usagers peut prendre de multiples formes : CVS, enquêtes de satisfaction, groupes de parole, co-rédaction du livret d'accueil, usagers-pairs, participation aux recrutements…</a:t>
            </a:r>
            <a:endParaRPr lang="en-US" sz="13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À quelle fréquence minimale le CVS doit-il se réunir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fois par mois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Deux fois par an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Trois fois par an</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fois par an</a:t>
            </a:r>
            <a:endParaRPr lang="en-US" sz="13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Trois fois par an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Selon le décret du 25 mars 2004, le CVS doit se réunir au minimum trois fois par an. Il est présidé par un représentant des usagers ou de leurs familles.</a:t>
            </a:r>
            <a:endParaRPr lang="en-US" sz="13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qu'une enquête de satisfaction en ESSMS et quel est son objectif principal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outil de contrôle administratif imposé par l'ARS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outil permettant de recueillir l'avis des usagers pour améliorer les prestations et l'accompagnement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procédure de certification par un organisme externe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comptable annuel</a:t>
            </a:r>
            <a:endParaRPr lang="en-US" sz="13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outil permettant de recueillir l'avis des usagers pour améliorer les prestations et l'accompagnement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L'enquête de satisfaction est un outil de pilotage de la qualité. Elle doit être adaptée aux capacités des personnes (FALC, pictogrammes), garantir l'anonymat et conduire à des plans d'action concrets.</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FALC (Facile À Lire et à Comprendre)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format de document réservé aux enfants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méthode de simplification des textes pour les rendre accessibles aux personnes ayant des difficultés de compréhension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logiciel de traduction automatique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label de qualité des communications institutionnelles</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59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méthode de simplification des textes pour les rendre accessibles aux personnes ayant des difficultés de compréhension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FALC est une norme européenne (EN 17210) permettant de rendre l'information accessible aux personnes en situation de handicap cognitif, intellectuel ou psychique, ou à toute personne en difficulté de lecture.</a:t>
            </a:r>
            <a:endParaRPr lang="en-US" sz="13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Comment le référentiel HAS intègre-t-il la participation des aidants familiaux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aidants n'ont aucun rôle dans le cadre réglementaire des ESSMS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aidants sont associés à l'élaboration et à l'évaluation du projet personnalisé, dans le respect des droits de la personne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aidants sont seuls décisionnaires en cas d'incapacité de la personne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participation des aidants est limitée aux situations d'urgence</a:t>
            </a:r>
            <a:endParaRPr lang="en-US" sz="13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Les aidants sont associés à l'élaboration et à l'évaluation du projet personnalisé, dans le respect des droits de la personne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référentiel HAS prévoit l'association des aidants au projet personnalisé, tout en veillant à respecter la volonté de la personne accompagnée, notamment en cas de désaccord entre l'usager et ses proches.</a:t>
            </a:r>
            <a:endParaRPr lang="en-US" sz="13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droit à aller et venir librement » pour une personne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droit de sortir sans aucune contrainte ni information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droit fondamental permettant à la personne de circuler librement, pouvant être limité uniquement par décision judiciaire ou médicale justifiée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droit applicable uniquement en milieu ouvert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droit subordonné à l'accord du directeur de l'établissement</a:t>
            </a:r>
            <a:endParaRPr lang="en-US" sz="13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droit fondamental permettant à la personne de circuler librement, pouvant être limité uniquement par décision judiciaire ou médicale justifiée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liberté d'aller et venir est un droit fondamental. Toute restriction doit être proportionnée, documentée, médicalement ou judiciairement fondée, et régulièrement réévaluée. Les fermetures abusives constituent une maltraitance.</a:t>
            </a:r>
            <a:endParaRPr lang="en-US" sz="13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rôle du « médiateur » dans le dispositif de protection des droits des usagers d'ESSMS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représente l'établissement lors des inspections ARS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intervient pour résoudre les conflits entre l'usager et l'établissement de manière amiable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est chargé d'évaluer le projet personnalisé annuellement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assure la formation continue du personnel</a:t>
            </a:r>
            <a:endParaRPr lang="en-US" sz="13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Il intervient pour résoudre les conflits entre l'usager et l'établissement de manière amiable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médiateur (interne ou externe) facilite la résolution amiable des litiges entre la personne accompagnée (ou ses représentants) et l'établissement, avant tout recours contentieux.</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CPOM (Contrat Pluriannuel d'Objectifs et de Moyens)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de travail pour les cadres de direction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pluriannuel entre l'ESSMS et l'autorité de tarification fixant des objectifs et des financements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formation pluriannuel du personnel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accord de financement entre l'ARS et la CNSA</a:t>
            </a:r>
            <a:endParaRPr lang="en-US" sz="13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contrat pluriannuel entre l'ESSMS et l'autorité de tarification fixant des objectifs et des financements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CPOM est signé entre l'ESSMS (ou l'organisme gestionnaire) et l'ARS et/ou le Conseil départemental. Il fixe des objectifs d'activité et de qualité sur 5 ans, avec des financements en contrepartie.</a:t>
            </a:r>
            <a:endParaRPr lang="en-US" sz="13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rôle du projet d'établissement ou de service dans un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Définir le budget annuel de l'établissement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Formaliser les valeurs, la vision, les missions et les modalités d'accompagnement de l'ESSMS sur 5 ans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Recenser les besoins en formation du personnel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Planifier les travaux d'aménagement des locaux</a:t>
            </a:r>
            <a:endParaRPr lang="en-US" sz="13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Formaliser les valeurs, la vision, les missions et les modalités d'accompagnement de l'ESSMS sur 5 ans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projet d'établissement ou de service est obligatoire et révisé tous les 5 ans. Il définit les orientations stratégiques, les valeurs et les modalités d'accompagnement. Il est co-construit avec les parties prenantes.</a:t>
            </a:r>
            <a:endParaRPr lang="en-US" sz="13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indicateur est utilisé pour mesurer la performance des ESSMS dans le tableau de bord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chiffre d'affaires annuel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Des indicateurs de qualité, d'activité, de ressources humaines et financiers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le taux d'occupation des places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nombre de plaintes déposées à l'ARS</a:t>
            </a:r>
            <a:endParaRPr lang="en-US" sz="13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 indicateurs de qualité, d'activité, de ressources humaines et financiers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tableau de bord de la performance médico-sociale (ANAP/CNSA) comprend plusieurs domaines : qualité, ressources humaines, finance, activité. Il permet un pilotage et une comparaison entre établissements.</a:t>
            </a:r>
            <a:endParaRPr lang="en-US" sz="13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démarche qualité »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audit annuel imposé par l'ARS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approche structurée et continue d'amélioration des pratiques et des prestations, impliquant toutes les parties prenantes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certification ISO obligatoire de l'établissement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seule production de documents qualité réglementaires</a:t>
            </a:r>
            <a:endParaRPr lang="en-US" sz="13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approche structurée et continue d'amélioration des pratiques et des prestations, impliquant toutes les parties prenantes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démarche qualité est un processus continu (roue de Deming : Planifier-Déployer-Évaluer-Améliorer) impliquant professionnels, usagers et direction. Elle vise l'amélioration constante de la qualité de service.</a:t>
            </a:r>
            <a:endParaRPr lang="en-US" sz="13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outil symbolise la démarche d'amélioration continue de la qualité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diagramme de Gantt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roue de Deming (PDCA : Plan-Do-Check-Act)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matrice SWOT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balanced scorecard</a:t>
            </a:r>
            <a:endParaRPr lang="en-US" sz="13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roue de Deming (PDCA : Plan-Do-Check-Act)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roue de Deming (PDCA) représente le cycle d'amélioration continue : Plan (planifier), Do (mettre en œuvre), Check (évaluer), Act (améliorer). Elle est au cœur de toute démarche qualité en ESSMS.</a:t>
            </a:r>
            <a:endParaRPr lang="en-US" sz="13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mission principale d'une direction d'ESSMS selon le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Maximiser le taux d'occupation pour optimiser le budget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Garantir la qualité et la sécurité des accompagnements, développer les compétences et piloter la démarche qualité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Négocier les tarifications avec l'ARS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Assurer uniquement la conformité réglementaire</a:t>
            </a:r>
            <a:endParaRPr lang="en-US" sz="13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Garantir la qualité et la sécurité des accompagnements, développer les compétences et piloter la démarche qualité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direction est garante de la qualité de service, de la culture bientraitante, du développement des compétences, de la prévention des risques et de l'amélioration continue. C'est un critère évalué par la HAS.</a:t>
            </a:r>
            <a:endParaRPr lang="en-US" sz="13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l'APP (Analyse des Pratiques Professionnelles)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audit externe des pratiques cliniques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dispositif de réflexion collective sur des situations de travail vécues, visant l'amélioration des pratiques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entretien annuel d'évaluation des compétences individuelles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procédure disciplinaire après un incident</a:t>
            </a:r>
            <a:endParaRPr lang="en-US" sz="13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69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dispositif de réflexion collective sur des situations de travail vécues, visant l'amélioration des pratiques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L'APP réunit régulièrement des professionnels pour analyser des situations concrètes de leur pratique avec l'appui d'un superviseur externe. Elle renforce les compétences et prévient l'épuisement professionnel.</a:t>
            </a:r>
            <a:endParaRPr lang="en-US" sz="13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différence entre une « procédure » et un « protocole » dans le contexte qualité d'un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Aucune différence, les deux termes sont synonymes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procédure décrit QUI fait QUOI (organisation), le protocole décrit COMMENT faire (étapes techniques)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protocole est réservé aux actes médicaux, la procédure aux actes administratifs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procédure est externe à l'établissement, le protocole est interne</a:t>
            </a:r>
            <a:endParaRPr lang="en-US" sz="13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procédure décrit QUI fait QUOI (organisation), le protocole décrit COMMENT faire (étapes techniques)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En qualité : la procédure définit les responsabilités et le processus global, le protocole détaille les étapes techniques d'une action précise. Les deux sont complémentaires et doivent être validés et mis à jour.</a:t>
            </a:r>
            <a:endParaRPr lang="en-US" sz="13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prévoit le référentiel HAS concernant les conditions de travail des professionnels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conditions de travail ne font pas partie du champ d'évaluation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QVT (Qualité de Vie au Travail) est évaluée car elle impacte directement la qualité de l'accompagnement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Seuls les accidents du travail sont pris en compte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L'évaluation porte uniquement sur le respect des conventions collectives</a:t>
            </a:r>
            <a:endParaRPr lang="en-US" sz="13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QVT (Qualité de Vie au Travail) est évaluée car elle impacte directement la qualité de l'accompagnement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référentiel HAS intègre la QVT comme un facteur de qualité de service. Un personnel épuisé ou en souffrance ne peut assurer un accompagnement de qualité. L'absentéisme, le turnover et le climat social sont des indicateurs indirects.</a:t>
            </a:r>
            <a:endParaRPr lang="en-US" sz="13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CPOM multi-établissements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signé par plusieurs autorités de tarification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unique couvrant plusieurs établissements ou services d'un même organisme gestionnaire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de coopération inter-régionale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européen de financement médico-social</a:t>
            </a:r>
            <a:endParaRPr lang="en-US" sz="13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contrat unique couvrant plusieurs établissements ou services d'un même organisme gestionnaire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CPOM multi-établissements permet à un organisme gestionnaire de signer un seul contrat pour l'ensemble de ses ESSMS avec les autorités. Il simplifie le pilotage et favorise les mutualisations.</a:t>
            </a:r>
            <a:endParaRPr lang="en-US" sz="13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Qu'implique la thématique « ouverture sur l'environnement » du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L'installation de fenêtres dans toutes les chambres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développement de partenariats avec la cité, l'inclusion sociale et la participation à la vie locale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d'avoir un jardin accessible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L'intégration de l'ESSMS dans un réseau de soins régional</a:t>
            </a:r>
            <a:endParaRPr lang="en-US" sz="13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développement de partenariats avec la cité, l'inclusion sociale et la participation à la vie locale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L'ouverture sur l'environnement concerne les partenariats (associations, entreprises, école, services publics), l'accès aux droits communs et la lutte contre l'isolement social des personnes accompagnées.</a:t>
            </a:r>
            <a:endParaRPr lang="en-US" sz="13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l'inclusion sociale dans le contexte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L'intégration des personnes handicapées dans des structures médicales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participation pleine et entière des personnes accompagnées à la vie de la cité, au même titre que les autres citoyens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mise en réseau des ESSMS entre eux</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L'accueil de stagiaires dans les établissements</a:t>
            </a:r>
            <a:endParaRPr lang="en-US" sz="13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participation pleine et entière des personnes accompagnées à la vie de la cité, au même titre que les autres citoyens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L'inclusion sociale est un objectif fondamental : elle vise à permettre aux personnes de vivre dans la société, d'y participer activement (travail, loisirs, culture, vote) et de ne pas être cantonnées à la seule vie institutionnelle.</a:t>
            </a:r>
            <a:endParaRPr lang="en-US" sz="13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virage inclusif » dans la politique médico-sociale française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suppression progressive de tous les établissements médico-sociaux</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L'évolution vers un accompagnement favorisant la vie dans la cité et réduisant l'institutionnalisation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transfert de compétences des ARS vers les Conseils départementaux</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L'ouverture des ESSMS aux personnes âgées</a:t>
            </a:r>
            <a:endParaRPr lang="en-US" sz="13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L'évolution vers un accompagnement favorisant la vie dans la cité et réduisant l'institutionnalisation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virage inclusif (Conférence nationale du handicap 2023, SERAFIN-PH) vise à développer des solutions en milieu ordinaire, renforcer les SAVS/SAMSAH et réduire les placements institutionnels non choisis.</a:t>
            </a:r>
            <a:endParaRPr lang="en-US" sz="13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GEM (Groupe d'Entraide Mutuelle)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établissement médico-social spécialisé pour les troubles psychiques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groupe autogéré, non médicalisé, favorisant l'entraide entre personnes vivant avec un trouble psychique ou un handicap</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groupe de travail professionnel interdisciplinaire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unité de soins psychiatriques ambulatoires</a:t>
            </a:r>
            <a:endParaRPr lang="en-US" sz="13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groupe autogéré, non médicalisé, favorisant l'entraide entre personnes vivant avec un trouble psychique ou un handicap</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GEM sont des espaces de socialisation et de pair-entraide, financés par l'État via l'AGEFIPH et la CNSA. Ils ne sont pas des ESSMS mais constituent des ressources partenariales précieuses pour favoriser l'inclusion.</a:t>
            </a:r>
            <a:endParaRPr lang="en-US" sz="13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l'objectif du « plan de sauvegarde » dans un ESSMS résidentiel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Sauvegarder les données informatiques de l'établissement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Assurer l'évacuation rapide et sécurisée des résidents en cas d'urgence (incendie, catastrophe)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Protéger les biens des résidents en cas de fermeture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Garantir la continuité financière de l'établissement</a:t>
            </a:r>
            <a:endParaRPr lang="en-US" sz="13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Assurer l'évacuation rapide et sécurisée des résidents en cas d'urgence (incendie, catastrophe)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plan de sauvegarde prévoit les procédures d'évacuation, les responsabilités, les points de rassemblement et les moyens d'alerte. Il est obligatoire et doit être régulièrement exercé.</a:t>
            </a:r>
            <a:endParaRPr lang="en-US" sz="13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répit » dans le secteur de l'aide aux aidants familiaux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période de suspension du contrat de travail de l'aidant professionnel</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dispositif permettant aux aidants familiaux de se reposer temporairement en confiant la personne aidée à un tiers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aide financière accordée aux familles d'usagers en ESSMS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procédure de médiation en cas de conflit familial</a:t>
            </a:r>
            <a:endParaRPr lang="en-US" sz="13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dispositif permettant aux aidants familiaux de se reposer temporairement en confiant la personne aidée à un tiers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répit (accueil temporaire, accueil de jour, garde à domicile) permet aux aidants de souffler, prévenant l'épuisement. La loi Grand Age et la SNS (Stratégie nationale pour les aidants) y consacrent des financements.</a:t>
            </a:r>
            <a:endParaRPr lang="en-US" sz="13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principe du « domicile partagé » dans le secteur du handicap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colocation entre professionnels de santé</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habitat inclusif où des personnes handicapées partagent un logement avec un projet de vie commun et un accompagnement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fusion de deux ESSMS sous une même direction</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partage d'un même dossier médical entre plusieurs établissements</a:t>
            </a:r>
            <a:endParaRPr lang="en-US" sz="13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79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habitat inclusif où des personnes handicapées partagent un logement avec un projet de vie commun et un accompagnement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L'habitat inclusif (art. L281-1 du CASF) propose un entre-deux entre domicile ordinaire et institution. Plusieurs personnes partagent un logement avec projet de vie commun et bénéficient d'un Aide à la Vie Partagée (AVP).</a:t>
            </a:r>
            <a:endParaRPr lang="en-US" sz="13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fonction d'un ESMS dit « pivot » dans un territoire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établissement de grande capacité servant de référence budgétaire régionale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structure ressource coordonnant les parcours, orientant vers les services adaptés et évitant les ruptures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centre de formation professionnelle pour le secteur médico-social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ESSMS gérant la liste d'attente départementale</a:t>
            </a:r>
            <a:endParaRPr lang="en-US" sz="13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structure ressource coordonnant les parcours, orientant vers les services adaptés et évitant les ruptures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L'ESSMS pivot (ou structure ressource) joue un rôle de coordination territoriale : il facilite les parcours sans rupture, soutient les équipes, et oriente vers les dispositifs de droit commun ou spécialisés.</a:t>
            </a:r>
            <a:endParaRPr lang="en-US" sz="13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distinction entre « auto-évaluation » et « évaluation externe »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L'auto-évaluation est réalisée par l'ARS, l'évaluation externe par la HAS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L'auto-évaluation est conduite en interne par l'établissement ; l'évaluation externe est réalisée par un organisme accrédité COFRAC indépendant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L'auto-évaluation remplace l'évaluation externe si les résultats sont satisfaisants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L'évaluation externe est uniquement quantitative, l'auto-évaluation est qualitative</a:t>
            </a:r>
            <a:endParaRPr lang="en-US" sz="13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L'auto-évaluation est conduite en interne par l'établissement ; l'évaluation externe est réalisée par un organisme accrédité COFRAC indépendant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L'auto-évaluation (tous les 5 ans) prépare l'évaluation externe. Elle est conduite par l'ESSMS avec la participation des usagers. L'évaluation externe est obligatoire et réalisée par un organisme COFRAC indépendant.</a:t>
            </a:r>
            <a:endParaRPr lang="en-US" sz="13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suivi post-évaluation » prévu par le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contrôle réalisé par l'ARS 6 mois après l'évaluation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d'amélioration formalisé par l'ESSMS suite aux recommandations de l'évaluation externe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nouvelle évaluation rapide si le premier rapport est insuffisant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audit comptable post-évaluation</a:t>
            </a:r>
            <a:endParaRPr lang="en-US" sz="13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plan d'amélioration formalisé par l'ESSMS suite aux recommandations de l'évaluation externe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Suite à l'évaluation externe, l'ESSMS doit produire un plan d'amélioration de la qualité répondant aux recommandations. Ce plan est soumis à l'autorité de tarification et fait l'objet d'un suivi.</a:t>
            </a:r>
            <a:endParaRPr lang="en-US" sz="13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méthode d'investigation est spécifiquement recommandée par la HAS pour recueillir le point de vue des usagers lors de l'évaluation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questionnaires standardisés uniquement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patient-traceur adapté aux ESSMS (« personne traceur »)</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audits de dossiers exclusivement</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focus groups réservés aux professionnels</a:t>
            </a:r>
            <a:endParaRPr lang="en-US" sz="13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patient-traceur adapté aux ESSMS (« personne traceur »)</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méthode « personne traceur » (adaptation du patient-traceur hospitalier) suit le parcours d'une personne accompagnée de bout en bout pour évaluer la qualité réelle de l'accompagnement, au-delà des documents.</a:t>
            </a:r>
            <a:endParaRPr lang="en-US" sz="13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Combien de jours minimum l'évaluation externe dure-t-elle en général sur site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jour</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à 5 jours selon la taille de l'ESSMS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 jours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30 jours</a:t>
            </a:r>
            <a:endParaRPr lang="en-US" sz="13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à 5 jours selon la taille de l'ESSMS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durée de l'évaluation sur site varie selon la taille et la complexité de l'ESSMS : généralement 2 à 5 jours, avec des entretiens individuels, observations et analyses documentaires.</a:t>
            </a:r>
            <a:endParaRPr lang="en-US" sz="13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délai de transmission du rapport d'évaluation externe à l'autorité de tarification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30 jours après l'évaluation</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mois après l'évaluation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mois après l'évaluation</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an après l'évaluation</a:t>
            </a:r>
            <a:endParaRPr lang="en-US" sz="13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mois après l'évaluation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L'organisme évaluateur dispose de 3 mois après la fin de l'évaluation pour transmettre le rapport à l'autorité de tarification (ARS et/ou Conseil départemental selon le financement de l'ESSMS).</a:t>
            </a:r>
            <a:endParaRPr lang="en-US" sz="13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 cotation » des critères dans le référentiel HAS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note numérique de 0 à 10 attribuée à chaque critère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système d'appréciation à plusieurs niveaux (ex. : Non, Partiellement, Oui) évaluant le degré de satisfaction de chaque critère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classement national des ESSMS par performance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code couleur uniquement esthétique dans les rapports</a:t>
            </a:r>
            <a:endParaRPr lang="en-US" sz="13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système d'appréciation à plusieurs niveaux (ex. : Non, Partiellement, Oui) évaluant le degré de satisfaction de chaque critère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Chaque critère est coté selon une échelle qualitative (Non / Partiellement / Oui, ou équivalent). Les critères impératifs doivent être cotés « Oui » pour valider l'évaluation sans réserve majeure.</a:t>
            </a:r>
            <a:endParaRPr lang="en-US" sz="13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qu'un « plan d'amélioration de la qualité » (PAQ)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budget prévisionnel annuel d'investissement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formalisé listant les actions d'amélioration prioritaires, leurs responsables et délais, suite à l'évaluation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plan de formation obligatoire</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contrat d'objectifs entre la direction et le personnel</a:t>
            </a:r>
            <a:endParaRPr lang="en-US" sz="13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document formalisé listant les actions d'amélioration prioritaires, leurs responsables et délais, suite à l'évaluation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PAQ est le document opérationnel issu de l'évaluation. Il priorise les axes d'amélioration, désigne des responsables, fixe des échéances et des indicateurs de suivi. Il est révisé annuellement.</a:t>
            </a:r>
            <a:endParaRPr lang="en-US" sz="13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 signifie ANAP dans le secteur médico-social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Association Nationale d'Aide aux Personnes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Agence Nationale d'Appui à la Performance des établissements de santé et médico-sociaux</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Autorité Nationale d'Accréditation et de Préconisation</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Administration Nationale de l'Action Publique</a:t>
            </a:r>
            <a:endParaRPr lang="en-US" sz="13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Agence Nationale d'Appui à la Performance des établissements de santé et médico-sociaux</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L'ANAP (Agence Nationale d'Appui à la Performance) accompagne les établissements de santé et médico-sociaux dans leur transformation. Elle développe des outils de pilotage, dont le tableau de bord médico-social.</a:t>
            </a:r>
            <a:endParaRPr lang="en-US" sz="13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rapport d'activité » d'un ESSMS et à qui est-il destiné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interne réservé aux équipes soignantes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document annuel de bilan transmis aux autorités de tarification, au CVS et rendu public</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rapport financier adressé uniquement au commissaire aux comptes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bilan statistique transmis à la CNSA</a:t>
            </a:r>
            <a:endParaRPr lang="en-US" sz="13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89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 document annuel de bilan transmis aux autorités de tarification, au CVS et rendu public</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rapport d'activité annuel présente le bilan de l'ESSMS : activité, ressources humaines, projets menés, événements indésirables, résultats des enquêtes de satisfaction. Il est transmis aux autorités et présenté au CVS.</a:t>
            </a:r>
            <a:endParaRPr lang="en-US" sz="13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Qu'implique la notion d'« amélioration continue » dans le contexte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d'obtenir un meilleur score à chaque évaluation externe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Une démarche permanente d'identification des points faibles et de mise en place d'actions correctives, impliquant tous les acteurs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L'augmentation annuelle du budget qualité</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certification systématique de tous les processus</a:t>
            </a:r>
            <a:endParaRPr lang="en-US" sz="13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Une démarche permanente d'identification des points faibles et de mise en place d'actions correctives, impliquant tous les acteurs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L'amélioration continue est un état d'esprit collectif : chaque professionnel, usager et dirigeant participe à l'identification des dysfonctionnements et à la construction des solutions. Elle ne s'arrête jamais.</a:t>
            </a:r>
            <a:endParaRPr lang="en-US" sz="13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91</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91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est le rôle de l'ARS (Agence Régionale de Santé) vis-à-vis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Financement exclusif de tous les ESSMS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Autorisation, contrôle, inspection, tarification des ESSMS relevant de l'assurance maladie et de l'État</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Formation initiale de tous les professionnels médico-sociaux</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Gestion des ressources humaines de tous les établissements</a:t>
            </a:r>
            <a:endParaRPr lang="en-US" sz="13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91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Autorisation, contrôle, inspection, tarification des ESSMS relevant de l'assurance maladie et de l'État</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L'ARS délivre les autorisations de création/extension, finance les ESSMS relevant de l'assurance maladie (MAS, SAMSAH, SSIAD…), réalise les inspections et peut prendre des mesures de protection urgentes.</a:t>
            </a:r>
            <a:endParaRPr lang="en-US" sz="13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92</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92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 organisme finance principalement les ESSMS relevant du « champ social et médico-social » lié au handicap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Exclusivement l'ARS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Conseil départemental (pour l'hébergement/accompagnement) et l'ARS (pour les soins), selon la nature de la prestation</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Uniquement la CNSA</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ministère des Affaires sociales directement</a:t>
            </a:r>
            <a:endParaRPr lang="en-US" sz="13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92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 Conseil départemental (pour l'hébergement/accompagnement) et l'ARS (pour les soins), selon la nature de la prestation</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financement des ESSMS est dual : l'ARS finance les prestations de soins (section soins), le Conseil départemental finance l'hébergement et l'accompagnement social. Les MAS sont financées à 100% par l'ARS.</a:t>
            </a:r>
            <a:endParaRPr lang="en-US" sz="13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93</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93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CNSA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Commission Nationale de Sécurité des Actes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Caisse Nationale de Solidarité pour l'Autonomie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Centre National de Soins Ambulatoires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Conseil National de Santé Avancée</a:t>
            </a:r>
            <a:endParaRPr lang="en-US" sz="13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93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Caisse Nationale de Solidarité pour l'Autonomie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CNSA est l'opérateur national qui finance les aides à l'autonomie (personnes âgées et handicapées). Elle redistribue la CASA (Contribution additionnelle de solidarité pour l'autonomie) et la CSA aux départements.</a:t>
            </a:r>
            <a:endParaRPr lang="en-US" sz="13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94</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94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est la fonction de la MDPH (Maison Départementale des Personnes Handicapées)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Gérer les ressources humaines des ESSMS du département</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Évaluer les besoins des personnes handicapées et attribuer les droits et prestations (PCH, RQTH, orientation ESSMS)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Former les professionnels du secteur médico-social</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Inspecter les ESSMS du département</a:t>
            </a:r>
            <a:endParaRPr lang="en-US" sz="13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94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Évaluer les besoins des personnes handicapées et attribuer les droits et prestations (PCH, RQTH, orientation ESSMS)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MDPH (guichet unique) évalue les besoins via l'équipe pluridisciplinaire (EP), oriente vers les ESSMS via la CDAPH, attribue la PCH, l'AAH, la RQTH, les cartes mobilité inclusion et les allocations.</a:t>
            </a:r>
            <a:endParaRPr lang="en-US" sz="13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95</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95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CDAPH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Commission Départementale d'Allocation aux Personnes Handicapées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Commission des Droits et de l'Autonomie des Personnes Handicapées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Centre Départemental d'Action et de Protection de la Handicap</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Comité Directeur de l'Action Publique Handicapée</a:t>
            </a:r>
            <a:endParaRPr lang="en-US" sz="13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95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Commission des Droits et de l'Autonomie des Personnes Handicapées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CDAPH est l'instance décisionnelle de la MDPH. Elle prend les décisions d'orientation vers les ESSMS, attribue les prestations et droits. Elle réunit des représentants de l'État, du département, des usagers et des ESSMS.</a:t>
            </a:r>
            <a:endParaRPr lang="en-US" sz="13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96</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96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tarification « à l'activité » (T2A) et s'applique-t-elle aux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Oui, tous les ESSMS sont tarifés à l'activité depuis 2015</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Non, les ESSMS sont majoritairement financés par des dotations globales ; la T2A concerne principalement les hôpitaux</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Oui, depuis la loi 2021 tous les ESSMS sont passés à la T2A</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T2A est un mode de financement européen sans lien avec le secteur médico-social</a:t>
            </a:r>
            <a:endParaRPr lang="en-US" sz="13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96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Non, les ESSMS sont majoritairement financés par des dotations globales ; la T2A concerne principalement les hôpitaux</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Les ESSMS sont financés principalement par des dotations globales (forfaits soins, dotations d'hébergement). La T2A est le modèle hospitalier. SERAFIN-PH explore une modulation des financements selon les besoins, mais pas une T2A classique.</a:t>
            </a:r>
            <a:endParaRPr lang="en-US" sz="13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97</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97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le « reste à charge » pour un résident en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 du budget de l'établissement non couverte par les dotations publiques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part des frais d'hébergement restant à la charge de la personne ou de sa famille après déduction des aides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coût des équipements médicaux non remboursés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 honoraires de l'organisme évaluateur</a:t>
            </a:r>
            <a:endParaRPr lang="en-US" sz="13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97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part des frais d'hébergement restant à la charge de la personne ou de sa famille après déduction des aides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Le reste à charge correspond aux frais d'hébergement non couverts par l'APA, l'APL ou l'aide sociale à l'hébergement (ASH). Il peut être supporté par l'usager, sa famille (obligation alimentaire) ou pris en charge par le département.</a:t>
            </a:r>
            <a:endParaRPr lang="en-US" sz="13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98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l'obligation alimentaire dans le contexte du financement des ESSMS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pour l'ESSMS de fournir 3 repas équilibrés par jour</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légale pour certains membres de la famille de contribuer aux frais d'hébergement d'un proche</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fourniture gratuite de repas dans les structures d'accueil de jour</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L'obligation d'afficher les menus hebdomadaires dans l'établissement</a:t>
            </a:r>
            <a:endParaRPr lang="en-US" sz="13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98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L'obligation légale pour certains membres de la famille de contribuer aux frais d'hébergement d'un proche</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L'obligation alimentaire (art. 205 à 211 du Code civil) peut être invoquée par le département pour récupérer une partie des frais d'aide sociale à l'hébergement auprès des descendants, ascendants et alliés au 1er degré.</a:t>
            </a:r>
            <a:endParaRPr lang="en-US" sz="13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99</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99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Qu'est-ce que la loi ELAN a changé pour les ESSMS en matière d'accessibilité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Elle a supprimé l'obligation d'accessibilité pour les nouveaux ESSMS</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Elle a introduit les Agendas d'Accessibilité Programmée (Ad'AP) pour planifier les mises en conformité</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Elle a rendu obligatoire la certification Qualibat pour tous les ESSMS</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Elle a imposé un quota de logements accessibles dans chaque résidence</a:t>
            </a:r>
            <a:endParaRPr lang="en-US" sz="13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99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Elle a introduit les Agendas d'Accessibilité Programmée (Ad'AP) pour planifier les mises en conformité</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La loi ELAN et ses textes d'application ont notamment reconduit les Ad'AP permettant aux établissements recevant du public (ERP, dont les ESSMS) de planifier leurs travaux d'accessibilité sur plusieurs années.</a:t>
            </a:r>
            <a:endParaRPr lang="en-US" sz="13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8B5CF6"/>
          </a:solidFill>
          <a:ln w="12700">
            <a:solidFill>
              <a:srgbClr val="8B5CF6"/>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165506" y="201168"/>
            <a:ext cx="1022299" cy="1022299"/>
          </a:xfrm>
          <a:prstGeom prst="rect">
            <a:avLst/>
          </a:prstGeom>
          <a:solidFill>
            <a:srgbClr val="F59E0B"/>
          </a:solidFill>
          <a:ln w="12700">
            <a:solidFill>
              <a:srgbClr val="F59E0B"/>
            </a:solidFill>
            <a:prstDash val="solid"/>
          </a:ln>
        </p:spPr>
      </p:sp>
      <p:sp>
        <p:nvSpPr>
          <p:cNvPr id="5" name="Text 3"/>
          <p:cNvSpPr/>
          <p:nvPr/>
        </p:nvSpPr>
        <p:spPr>
          <a:xfrm>
            <a:off x="165506" y="201168"/>
            <a:ext cx="1022299" cy="310896"/>
          </a:xfrm>
          <a:prstGeom prst="rect">
            <a:avLst/>
          </a:prstGeom>
          <a:noFill/>
          <a:ln/>
        </p:spPr>
        <p:txBody>
          <a:bodyPr wrap="square" rtlCol="0" anchor="ctr"/>
          <a:lstStyle/>
          <a:p>
            <a:pPr algn="ctr" indent="0" marL="0">
              <a:buNone/>
            </a:pPr>
            <a:r>
              <a:rPr lang="en-US" sz="1100" b="1" dirty="0">
                <a:solidFill>
                  <a:srgbClr val="0D0920"/>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506" y="475488"/>
            <a:ext cx="1022299"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100</a:t>
            </a:r>
            <a:endParaRPr lang="en-US" sz="2800" dirty="0"/>
          </a:p>
        </p:txBody>
      </p:sp>
      <p:sp>
        <p:nvSpPr>
          <p:cNvPr id="7" name="Text 5"/>
          <p:cNvSpPr/>
          <p:nvPr/>
        </p:nvSpPr>
        <p:spPr>
          <a:xfrm>
            <a:off x="10080346" y="183794"/>
            <a:ext cx="1979676" cy="256032"/>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100 / 100</a:t>
            </a:r>
            <a:endParaRPr lang="en-US" sz="1000" dirty="0"/>
          </a:p>
        </p:txBody>
      </p:sp>
      <p:sp>
        <p:nvSpPr>
          <p:cNvPr id="8" name="Text 6"/>
          <p:cNvSpPr/>
          <p:nvPr/>
        </p:nvSpPr>
        <p:spPr>
          <a:xfrm>
            <a:off x="1353312" y="183794"/>
            <a:ext cx="9966960" cy="15727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 réforme majeure est en cours concernant le financement des ESSMS pour personnes handicapées ?</a:t>
            </a:r>
            <a:endParaRPr lang="en-US" sz="1600" dirty="0"/>
          </a:p>
        </p:txBody>
      </p:sp>
      <p:sp>
        <p:nvSpPr>
          <p:cNvPr id="9" name="Shape 7"/>
          <p:cNvSpPr/>
          <p:nvPr/>
        </p:nvSpPr>
        <p:spPr>
          <a:xfrm>
            <a:off x="165506" y="1864462"/>
            <a:ext cx="11861597" cy="28346"/>
          </a:xfrm>
          <a:prstGeom prst="rect">
            <a:avLst/>
          </a:prstGeom>
          <a:solidFill>
            <a:srgbClr val="F59E0B"/>
          </a:solidFill>
          <a:ln w="12700">
            <a:solidFill>
              <a:srgbClr val="F59E0B"/>
            </a:solidFill>
            <a:prstDash val="solid"/>
          </a:ln>
        </p:spPr>
      </p:sp>
      <p:sp>
        <p:nvSpPr>
          <p:cNvPr id="10" name="Shape 8"/>
          <p:cNvSpPr/>
          <p:nvPr/>
        </p:nvSpPr>
        <p:spPr>
          <a:xfrm>
            <a:off x="0" y="1958645"/>
            <a:ext cx="12193524" cy="1176833"/>
          </a:xfrm>
          <a:prstGeom prst="rect">
            <a:avLst/>
          </a:prstGeom>
          <a:solidFill>
            <a:srgbClr val="1A083A"/>
          </a:solidFill>
          <a:ln w="12700">
            <a:solidFill>
              <a:srgbClr val="1A083A"/>
            </a:solidFill>
            <a:prstDash val="solid"/>
          </a:ln>
        </p:spPr>
      </p:sp>
      <p:sp>
        <p:nvSpPr>
          <p:cNvPr id="11" name="Shape 9"/>
          <p:cNvSpPr/>
          <p:nvPr/>
        </p:nvSpPr>
        <p:spPr>
          <a:xfrm>
            <a:off x="0" y="1958645"/>
            <a:ext cx="72238" cy="1176833"/>
          </a:xfrm>
          <a:prstGeom prst="rect">
            <a:avLst/>
          </a:prstGeom>
          <a:solidFill>
            <a:srgbClr val="8B5CF6"/>
          </a:solidFill>
          <a:ln w="12700">
            <a:solidFill>
              <a:srgbClr val="8B5CF6"/>
            </a:solidFill>
            <a:prstDash val="solid"/>
          </a:ln>
        </p:spPr>
      </p:sp>
      <p:sp>
        <p:nvSpPr>
          <p:cNvPr id="12" name="Shape 10"/>
          <p:cNvSpPr/>
          <p:nvPr/>
        </p:nvSpPr>
        <p:spPr>
          <a:xfrm>
            <a:off x="143561" y="2131466"/>
            <a:ext cx="640994" cy="640994"/>
          </a:xfrm>
          <a:prstGeom prst="rect">
            <a:avLst/>
          </a:prstGeom>
          <a:solidFill>
            <a:srgbClr val="8B5CF6"/>
          </a:solidFill>
          <a:ln w="12700">
            <a:solidFill>
              <a:srgbClr val="8B5CF6"/>
            </a:solidFill>
            <a:prstDash val="solid"/>
          </a:ln>
        </p:spPr>
      </p:sp>
      <p:sp>
        <p:nvSpPr>
          <p:cNvPr id="13" name="Text 11"/>
          <p:cNvSpPr/>
          <p:nvPr/>
        </p:nvSpPr>
        <p:spPr>
          <a:xfrm>
            <a:off x="143561" y="2131466"/>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7669" y="2029968"/>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fusion de toutes les dotations en une enveloppe unique nationale</a:t>
            </a:r>
            <a:endParaRPr lang="en-US" sz="1300" dirty="0"/>
          </a:p>
        </p:txBody>
      </p:sp>
      <p:sp>
        <p:nvSpPr>
          <p:cNvPr id="15" name="Shape 13"/>
          <p:cNvSpPr/>
          <p:nvPr/>
        </p:nvSpPr>
        <p:spPr>
          <a:xfrm>
            <a:off x="0" y="3153766"/>
            <a:ext cx="12193524" cy="1176833"/>
          </a:xfrm>
          <a:prstGeom prst="rect">
            <a:avLst/>
          </a:prstGeom>
          <a:solidFill>
            <a:srgbClr val="1A083A"/>
          </a:solidFill>
          <a:ln w="12700">
            <a:solidFill>
              <a:srgbClr val="1A083A"/>
            </a:solidFill>
            <a:prstDash val="solid"/>
          </a:ln>
        </p:spPr>
      </p:sp>
      <p:sp>
        <p:nvSpPr>
          <p:cNvPr id="16" name="Shape 14"/>
          <p:cNvSpPr/>
          <p:nvPr/>
        </p:nvSpPr>
        <p:spPr>
          <a:xfrm>
            <a:off x="0" y="3153766"/>
            <a:ext cx="72238" cy="1176833"/>
          </a:xfrm>
          <a:prstGeom prst="rect">
            <a:avLst/>
          </a:prstGeom>
          <a:solidFill>
            <a:srgbClr val="F59E0B"/>
          </a:solidFill>
          <a:ln w="12700">
            <a:solidFill>
              <a:srgbClr val="F59E0B"/>
            </a:solidFill>
            <a:prstDash val="solid"/>
          </a:ln>
        </p:spPr>
      </p:sp>
      <p:sp>
        <p:nvSpPr>
          <p:cNvPr id="17" name="Shape 15"/>
          <p:cNvSpPr/>
          <p:nvPr/>
        </p:nvSpPr>
        <p:spPr>
          <a:xfrm>
            <a:off x="143561" y="3326587"/>
            <a:ext cx="640994" cy="640994"/>
          </a:xfrm>
          <a:prstGeom prst="rect">
            <a:avLst/>
          </a:prstGeom>
          <a:solidFill>
            <a:srgbClr val="F59E0B"/>
          </a:solidFill>
          <a:ln w="12700">
            <a:solidFill>
              <a:srgbClr val="F59E0B"/>
            </a:solidFill>
            <a:prstDash val="solid"/>
          </a:ln>
        </p:spPr>
      </p:sp>
      <p:sp>
        <p:nvSpPr>
          <p:cNvPr id="18" name="Text 16"/>
          <p:cNvSpPr/>
          <p:nvPr/>
        </p:nvSpPr>
        <p:spPr>
          <a:xfrm>
            <a:off x="143561" y="3326587"/>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7669" y="3225089"/>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réforme SERAFIN-PH, visant à mieux relier les besoins des personnes aux prestations et à terme aux financements</a:t>
            </a:r>
            <a:endParaRPr lang="en-US" sz="1300" dirty="0"/>
          </a:p>
        </p:txBody>
      </p:sp>
      <p:sp>
        <p:nvSpPr>
          <p:cNvPr id="20" name="Shape 18"/>
          <p:cNvSpPr/>
          <p:nvPr/>
        </p:nvSpPr>
        <p:spPr>
          <a:xfrm>
            <a:off x="0" y="4348886"/>
            <a:ext cx="12193524" cy="1176833"/>
          </a:xfrm>
          <a:prstGeom prst="rect">
            <a:avLst/>
          </a:prstGeom>
          <a:solidFill>
            <a:srgbClr val="1A083A"/>
          </a:solidFill>
          <a:ln w="12700">
            <a:solidFill>
              <a:srgbClr val="1A083A"/>
            </a:solidFill>
            <a:prstDash val="solid"/>
          </a:ln>
        </p:spPr>
      </p:sp>
      <p:sp>
        <p:nvSpPr>
          <p:cNvPr id="21" name="Shape 19"/>
          <p:cNvSpPr/>
          <p:nvPr/>
        </p:nvSpPr>
        <p:spPr>
          <a:xfrm>
            <a:off x="0" y="4348886"/>
            <a:ext cx="72238" cy="1176833"/>
          </a:xfrm>
          <a:prstGeom prst="rect">
            <a:avLst/>
          </a:prstGeom>
          <a:solidFill>
            <a:srgbClr val="F87171"/>
          </a:solidFill>
          <a:ln w="12700">
            <a:solidFill>
              <a:srgbClr val="F87171"/>
            </a:solidFill>
            <a:prstDash val="solid"/>
          </a:ln>
        </p:spPr>
      </p:sp>
      <p:sp>
        <p:nvSpPr>
          <p:cNvPr id="22" name="Shape 20"/>
          <p:cNvSpPr/>
          <p:nvPr/>
        </p:nvSpPr>
        <p:spPr>
          <a:xfrm>
            <a:off x="143561" y="4521708"/>
            <a:ext cx="640994" cy="640994"/>
          </a:xfrm>
          <a:prstGeom prst="rect">
            <a:avLst/>
          </a:prstGeom>
          <a:solidFill>
            <a:srgbClr val="F87171"/>
          </a:solidFill>
          <a:ln w="12700">
            <a:solidFill>
              <a:srgbClr val="F87171"/>
            </a:solidFill>
            <a:prstDash val="solid"/>
          </a:ln>
        </p:spPr>
      </p:sp>
      <p:sp>
        <p:nvSpPr>
          <p:cNvPr id="23" name="Text 21"/>
          <p:cNvSpPr/>
          <p:nvPr/>
        </p:nvSpPr>
        <p:spPr>
          <a:xfrm>
            <a:off x="143561" y="4521708"/>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7669" y="442021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 privatisation progressive des MAS et FAM</a:t>
            </a:r>
            <a:endParaRPr lang="en-US" sz="1300" dirty="0"/>
          </a:p>
        </p:txBody>
      </p:sp>
      <p:sp>
        <p:nvSpPr>
          <p:cNvPr id="25" name="Shape 23"/>
          <p:cNvSpPr/>
          <p:nvPr/>
        </p:nvSpPr>
        <p:spPr>
          <a:xfrm>
            <a:off x="0" y="5544007"/>
            <a:ext cx="12193524" cy="1176833"/>
          </a:xfrm>
          <a:prstGeom prst="rect">
            <a:avLst/>
          </a:prstGeom>
          <a:solidFill>
            <a:srgbClr val="1A083A"/>
          </a:solidFill>
          <a:ln w="12700">
            <a:solidFill>
              <a:srgbClr val="1A083A"/>
            </a:solidFill>
            <a:prstDash val="solid"/>
          </a:ln>
        </p:spPr>
      </p:sp>
      <p:sp>
        <p:nvSpPr>
          <p:cNvPr id="26" name="Shape 24"/>
          <p:cNvSpPr/>
          <p:nvPr/>
        </p:nvSpPr>
        <p:spPr>
          <a:xfrm>
            <a:off x="0" y="5544007"/>
            <a:ext cx="72238" cy="1176833"/>
          </a:xfrm>
          <a:prstGeom prst="rect">
            <a:avLst/>
          </a:prstGeom>
          <a:solidFill>
            <a:srgbClr val="2DD4BF"/>
          </a:solidFill>
          <a:ln w="12700">
            <a:solidFill>
              <a:srgbClr val="2DD4BF"/>
            </a:solidFill>
            <a:prstDash val="solid"/>
          </a:ln>
        </p:spPr>
      </p:sp>
      <p:sp>
        <p:nvSpPr>
          <p:cNvPr id="27" name="Shape 25"/>
          <p:cNvSpPr/>
          <p:nvPr/>
        </p:nvSpPr>
        <p:spPr>
          <a:xfrm>
            <a:off x="143561" y="5716829"/>
            <a:ext cx="640994" cy="640994"/>
          </a:xfrm>
          <a:prstGeom prst="rect">
            <a:avLst/>
          </a:prstGeom>
          <a:solidFill>
            <a:srgbClr val="2DD4BF"/>
          </a:solidFill>
          <a:ln w="12700">
            <a:solidFill>
              <a:srgbClr val="2DD4BF"/>
            </a:solidFill>
            <a:prstDash val="solid"/>
          </a:ln>
        </p:spPr>
      </p:sp>
      <p:sp>
        <p:nvSpPr>
          <p:cNvPr id="28" name="Text 26"/>
          <p:cNvSpPr/>
          <p:nvPr/>
        </p:nvSpPr>
        <p:spPr>
          <a:xfrm>
            <a:off x="143561" y="5716829"/>
            <a:ext cx="640994" cy="64099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7669" y="5615330"/>
            <a:ext cx="10980115" cy="10332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transfert du financement de l'ARS aux mutuelles de santé</a:t>
            </a:r>
            <a:endParaRPr lang="en-US" sz="13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0D0920"/>
        </a:solidFill>
      </p:bgPr>
    </p:bg>
    <p:spTree>
      <p:nvGrpSpPr>
        <p:cNvPr id="1" name=""/>
        <p:cNvGrpSpPr/>
        <p:nvPr/>
      </p:nvGrpSpPr>
      <p:grpSpPr>
        <a:xfrm>
          <a:off x="0" y="0"/>
          <a:ext cx="0" cy="0"/>
          <a:chOff x="0" y="0"/>
          <a:chExt cx="0" cy="0"/>
        </a:xfrm>
      </p:grpSpPr>
      <p:sp>
        <p:nvSpPr>
          <p:cNvPr id="2" name="Shape 0"/>
          <p:cNvSpPr/>
          <p:nvPr/>
        </p:nvSpPr>
        <p:spPr>
          <a:xfrm>
            <a:off x="0" y="0"/>
            <a:ext cx="12193524" cy="118872"/>
          </a:xfrm>
          <a:prstGeom prst="rect">
            <a:avLst/>
          </a:prstGeom>
          <a:solidFill>
            <a:srgbClr val="A78BFA"/>
          </a:solidFill>
          <a:ln w="12700">
            <a:solidFill>
              <a:srgbClr val="A78BFA"/>
            </a:solidFill>
            <a:prstDash val="solid"/>
          </a:ln>
        </p:spPr>
      </p:sp>
      <p:sp>
        <p:nvSpPr>
          <p:cNvPr id="3" name="Shape 1"/>
          <p:cNvSpPr/>
          <p:nvPr/>
        </p:nvSpPr>
        <p:spPr>
          <a:xfrm>
            <a:off x="0" y="6739128"/>
            <a:ext cx="12193524" cy="118872"/>
          </a:xfrm>
          <a:prstGeom prst="rect">
            <a:avLst/>
          </a:prstGeom>
          <a:solidFill>
            <a:srgbClr val="F59E0B"/>
          </a:solidFill>
          <a:ln w="12700">
            <a:solidFill>
              <a:srgbClr val="F59E0B"/>
            </a:solidFill>
            <a:prstDash val="solid"/>
          </a:ln>
        </p:spPr>
      </p:sp>
      <p:sp>
        <p:nvSpPr>
          <p:cNvPr id="4" name="Shape 2"/>
          <p:cNvSpPr/>
          <p:nvPr/>
        </p:nvSpPr>
        <p:spPr>
          <a:xfrm>
            <a:off x="0" y="0"/>
            <a:ext cx="201168" cy="6858000"/>
          </a:xfrm>
          <a:prstGeom prst="rect">
            <a:avLst/>
          </a:prstGeom>
          <a:solidFill>
            <a:srgbClr val="A78BFA"/>
          </a:solidFill>
          <a:ln w="12700">
            <a:solidFill>
              <a:srgbClr val="A78BFA"/>
            </a:solidFill>
            <a:prstDash val="solid"/>
          </a:ln>
        </p:spPr>
      </p:sp>
      <p:sp>
        <p:nvSpPr>
          <p:cNvPr id="5" name="Shape 3"/>
          <p:cNvSpPr/>
          <p:nvPr/>
        </p:nvSpPr>
        <p:spPr>
          <a:xfrm>
            <a:off x="320040" y="183794"/>
            <a:ext cx="546811" cy="546811"/>
          </a:xfrm>
          <a:prstGeom prst="rect">
            <a:avLst/>
          </a:prstGeom>
          <a:solidFill>
            <a:srgbClr val="A78BFA"/>
          </a:solidFill>
          <a:ln w="12700">
            <a:solidFill>
              <a:srgbClr val="A78BFA"/>
            </a:solidFill>
            <a:prstDash val="solid"/>
          </a:ln>
        </p:spPr>
      </p:sp>
      <p:sp>
        <p:nvSpPr>
          <p:cNvPr id="6" name="Text 4"/>
          <p:cNvSpPr/>
          <p:nvPr/>
        </p:nvSpPr>
        <p:spPr>
          <a:xfrm>
            <a:off x="320040" y="183794"/>
            <a:ext cx="546811" cy="546811"/>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011" y="237744"/>
            <a:ext cx="5400446" cy="32369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40180" cy="252374"/>
          </a:xfrm>
          <a:prstGeom prst="rect">
            <a:avLst/>
          </a:prstGeom>
          <a:noFill/>
          <a:ln/>
        </p:spPr>
        <p:txBody>
          <a:bodyPr wrap="square" rtlCol="0" anchor="ctr"/>
          <a:lstStyle/>
          <a:p>
            <a:pPr algn="r" indent="0" marL="0">
              <a:buNone/>
            </a:pPr>
            <a:r>
              <a:rPr lang="en-US" sz="1000" dirty="0">
                <a:solidFill>
                  <a:srgbClr val="6B489A"/>
                </a:solidFill>
                <a:latin typeface="Calibri" pitchFamily="34" charset="0"/>
                <a:ea typeface="Calibri" pitchFamily="34" charset="-122"/>
                <a:cs typeface="Calibri" pitchFamily="34" charset="-120"/>
              </a:rPr>
              <a:t>Q 100 / 100</a:t>
            </a:r>
            <a:endParaRPr lang="en-US" sz="1000" dirty="0"/>
          </a:p>
        </p:txBody>
      </p:sp>
      <p:sp>
        <p:nvSpPr>
          <p:cNvPr id="9" name="Shape 7"/>
          <p:cNvSpPr/>
          <p:nvPr/>
        </p:nvSpPr>
        <p:spPr>
          <a:xfrm>
            <a:off x="201168" y="719633"/>
            <a:ext cx="11879885" cy="1079906"/>
          </a:xfrm>
          <a:prstGeom prst="rect">
            <a:avLst/>
          </a:prstGeom>
          <a:solidFill>
            <a:srgbClr val="1E0A5A"/>
          </a:solidFill>
          <a:ln w="12700">
            <a:solidFill>
              <a:srgbClr val="1E0A5A"/>
            </a:solidFill>
            <a:prstDash val="solid"/>
          </a:ln>
        </p:spPr>
      </p:sp>
      <p:sp>
        <p:nvSpPr>
          <p:cNvPr id="10" name="Shape 8"/>
          <p:cNvSpPr/>
          <p:nvPr/>
        </p:nvSpPr>
        <p:spPr>
          <a:xfrm>
            <a:off x="349301" y="899770"/>
            <a:ext cx="640994" cy="640994"/>
          </a:xfrm>
          <a:prstGeom prst="rect">
            <a:avLst/>
          </a:prstGeom>
          <a:solidFill>
            <a:srgbClr val="A78BFA"/>
          </a:solidFill>
          <a:ln w="12700">
            <a:solidFill>
              <a:srgbClr val="A78BFA"/>
            </a:solidFill>
            <a:prstDash val="solid"/>
          </a:ln>
        </p:spPr>
      </p:sp>
      <p:sp>
        <p:nvSpPr>
          <p:cNvPr id="11" name="Text 9"/>
          <p:cNvSpPr/>
          <p:nvPr/>
        </p:nvSpPr>
        <p:spPr>
          <a:xfrm>
            <a:off x="349301" y="899770"/>
            <a:ext cx="640994" cy="640994"/>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773582"/>
            <a:ext cx="10799978" cy="972007"/>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réforme SERAFIN-PH, visant à mieux relier les besoins des personnes aux prestations et à terme aux financements</a:t>
            </a:r>
            <a:endParaRPr lang="en-US" sz="1500" dirty="0"/>
          </a:p>
        </p:txBody>
      </p:sp>
      <p:sp>
        <p:nvSpPr>
          <p:cNvPr id="13" name="Text 11"/>
          <p:cNvSpPr/>
          <p:nvPr/>
        </p:nvSpPr>
        <p:spPr>
          <a:xfrm>
            <a:off x="349301" y="1944014"/>
            <a:ext cx="2880360" cy="215798"/>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232050"/>
            <a:ext cx="11879885" cy="4388206"/>
          </a:xfrm>
          <a:prstGeom prst="rect">
            <a:avLst/>
          </a:prstGeom>
          <a:solidFill>
            <a:srgbClr val="150530"/>
          </a:solidFill>
          <a:ln w="12700">
            <a:solidFill>
              <a:srgbClr val="150530"/>
            </a:solidFill>
            <a:prstDash val="solid"/>
          </a:ln>
        </p:spPr>
      </p:sp>
      <p:sp>
        <p:nvSpPr>
          <p:cNvPr id="15" name="Shape 13"/>
          <p:cNvSpPr/>
          <p:nvPr/>
        </p:nvSpPr>
        <p:spPr>
          <a:xfrm>
            <a:off x="201168" y="2232050"/>
            <a:ext cx="53950" cy="4388206"/>
          </a:xfrm>
          <a:prstGeom prst="rect">
            <a:avLst/>
          </a:prstGeom>
          <a:solidFill>
            <a:srgbClr val="F59E0B"/>
          </a:solidFill>
          <a:ln w="12700">
            <a:solidFill>
              <a:srgbClr val="F59E0B"/>
            </a:solidFill>
            <a:prstDash val="solid"/>
          </a:ln>
        </p:spPr>
      </p:sp>
      <p:sp>
        <p:nvSpPr>
          <p:cNvPr id="16" name="Text 14"/>
          <p:cNvSpPr/>
          <p:nvPr/>
        </p:nvSpPr>
        <p:spPr>
          <a:xfrm>
            <a:off x="395935" y="2304288"/>
            <a:ext cx="11430000" cy="4280306"/>
          </a:xfrm>
          <a:prstGeom prst="rect">
            <a:avLst/>
          </a:prstGeom>
          <a:noFill/>
          <a:ln/>
        </p:spPr>
        <p:txBody>
          <a:bodyPr wrap="square" rtlCol="0" anchor="t"/>
          <a:lstStyle/>
          <a:p>
            <a:pPr indent="0" marL="0">
              <a:buNone/>
            </a:pPr>
            <a:r>
              <a:rPr lang="en-US" sz="1300" dirty="0">
                <a:solidFill>
                  <a:srgbClr val="DDDDDD"/>
                </a:solidFill>
                <a:latin typeface="Calibri" pitchFamily="34" charset="0"/>
                <a:ea typeface="Calibri" pitchFamily="34" charset="-122"/>
                <a:cs typeface="Calibri" pitchFamily="34" charset="-120"/>
              </a:rPr>
              <a:t>SERAFIN-PH (débuté en 2014) vise à réformer le financement des ESSMS PH en partant des besoins réels des personnes (nomenclature de besoins et prestations) pour mieux calibrer les dotations. La réforme est progressive et toujours en cours.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201</Slides>
  <Notes>201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201</vt:i4>
      </vt:variant>
    </vt:vector>
  </HeadingPairs>
  <TitlesOfParts>
    <vt:vector size="2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2026-04-18T08:14:11Z</dcterms:created>
  <dcterms:modified xsi:type="dcterms:W3CDTF">2026-04-18T08:14:11Z</dcterms:modified>
</cp:coreProperties>
</file>