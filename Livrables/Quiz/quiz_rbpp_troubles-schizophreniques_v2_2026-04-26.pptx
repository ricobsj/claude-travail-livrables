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</p:sldIdLst>
  <p:notesMasterIdLst>
    <p:notesMasterId r:id="rId20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notesMaster" Target="notesMasters/notesMaster1.xml"/><Relationship Id="rId205" Type="http://schemas.openxmlformats.org/officeDocument/2006/relationships/presProps" Target="presProps.xml"/><Relationship Id="rId206" Type="http://schemas.openxmlformats.org/officeDocument/2006/relationships/viewProps" Target="viewProps.xml"/><Relationship Id="rId207" Type="http://schemas.openxmlformats.org/officeDocument/2006/relationships/theme" Target="theme/theme1.xml"/><Relationship Id="rId20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548640"/>
            <a:ext cx="2926080" cy="292608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572000"/>
            <a:ext cx="2560320" cy="256032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5029200"/>
            <a:ext cx="2011680" cy="201168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038344" cy="301752"/>
          </a:xfrm>
          <a:prstGeom prst="roundRect">
            <a:avLst>
              <a:gd name="adj" fmla="val 121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50383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· Troubles schizophréniques — HAS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71963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évaluation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troubles schizophréniques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71963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HAS — Adoptée le 8 avril 2026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953512"/>
            <a:ext cx="68580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86000" y="3108960"/>
            <a:ext cx="5458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QCM — Professionnels ESSMS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Synapse Violet · 26 avril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prévalence mondiale de la schizophrénie selon la note de cadrage HAS 2026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0,43 % (23 millions)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1,2 % (86 millions)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0,1 % (7 millions)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2,0 % (154 millions)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0,43 % (23 millions)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touche environ 23 millions de personnes dans le monde, soit 0,43 % de la population.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personnes sont atteintes de schizophrénie en France selon les estimations HAS 2026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235 000 (3,7 ‰)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 (7,5 ‰)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(1,5 ‰)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(15 ‰)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235 000 (3,7 ‰)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235 000 personnes en France, soit 3,7 pour mille habitants.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nombre de personnes reconnues en ALD psychiatrique pour la schizophrénie en France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294 000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294 000 personnes sont reconnues en ALD pour la schizophrénie (données CNAMTS).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délai diagnostique (DUP) moyen pour la schizophrénie selon les méta-analyses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42,6 semaines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semaines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semaines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42,6 semaines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DUP (Duration of Untreated Psychosis) moyen est de 42,6 semaines selon les méta-analyses.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l'enquête UNAFAM 2023, quelle proportion de personnes atteintes de schizophrénie attend plus de 2 ans avant d'avoir un diagnostic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47 % des personnes atteintes de schizophrénie attendent plus de 2 ans pour obtenir un diagnostic.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quelle proportion de cas la schizophrénie s'installe-t-elle de façon insidieuse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70 % des cas, l'installation de la schizophrénie est insidieuse, ce qui rend le diagnostic précoce difficile.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sex-ratio pour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plus fréquent chez les hommes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plus fréquent chez les femmes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 chez les deux sexes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plus fréquent chez les femmes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plus fréquent chez les hommes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est environ 2 fois plus fréquente chez les hommes, avec un début plus précoce.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part du budget de l'Assurance Maladie la schizophrénie représente-t-elle en France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0,5 %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représente environ 3 % du budget de l'Assurance Maladie, un impact économique considérable.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combien d'années l'espérance de vie est-elle réduite pour les personnes atteintes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à 18 ans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5 ans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à 30 ans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3 ans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à 18 ans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 de vie est réduite de 11 à 18 ans par rapport à la population générale.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taux de rémission à 20 ans pour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24,2 % des personnes atteintes de schizophrénie sont en rémission à 20 ans d'évolution.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pourcentage de patients atteints de schizophrénie présente une résistance aux traitements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30 % des patients présentent une résistance thérapeutique aux antipsychotiques conventionnels.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risque de décès par suicide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13 %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à 30 %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3 %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13 %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13 % des personnes atteintes de schizophrénie décèdent par suicide, nécessitant des protocoles de prévention rigoureux.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étude française a fourni des données épidémiologiques importantes sur la schizophrénie citées dans la note de cadrage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ETUDE-MH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PSYCH-FR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FACE-SZ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L'étude FACE-SZ (FondaMental Academic Centers of Excellence - Schizophrenia) a fourni des données épidémiologiques françaises.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prévalence du syndrome métabolique chez les personnes atteintes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41,3 % des personnes atteintes de schizophrénie présentent un syndrome métabolique, une comorbidité majeure.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du diabète de type 2 chez les personnes atteintes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2,15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0,5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5,0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1,1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2,15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diabète de type 2 est 2,15 fois plus fréquent chez les personnes atteintes de schizophrénie (OR 2,15).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associé à la consommation de cannabis pour le risque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2,88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0,5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10,0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1,2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2,88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consommation de cannabis multiplie le risque de schizophrénie par 2,88 (OR 2,88 en méta-analyse).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facteur environnemental présente un OR de 2,37 pour le risque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milieu urbain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pauvreté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tabagisme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sédentarité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milieu urbain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Vivre en milieu urbain est associé à un odds ratio de 2,37 pour le développement de la schizophrénie.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associé au statut migratoire pour le risque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2,22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1,05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4,5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0,8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2,22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migrantes présentent un risque 2,22 fois plus élevé de développer une schizophrénie.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des traumatismes précoces pour le développement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2,81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1,3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7,0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0,6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2,81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traumatismes précoces (maltraitance, abus) multiplient le risque par 2,81 (OR 2,81).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l'héritabilité estimée de la schizophrénie selon les études de jumeaux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à 80 %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à 40 %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à 99 %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à 80 %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L'héritabilité de la schizophrénie est estimée entre 60 et 80 % selon les études de jumeaux.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facteurs suivants, lequel présente le plus haut odds ratio pour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(OR 2,88)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(OR 2,22)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urbain (OR 2,37)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Traumatismes (OR 2,81)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(OR 2,88)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facteurs environnementaux mesurés, le cannabis présente le plus haut OR (2,88).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contexte les facteurs de risque environnementaux s'expriment-ils principalement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avec une vulnérabilité génétique préexistante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Indépendamment de tout facteur génétique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en cas d'antécédents familiaux directs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Exclusivement pendant l'enfance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avec une vulnérabilité génétique préexistante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facteurs environnementaux interagissent avec une vulnérabilité génétique préexistante (modèle stress-vulnérabilité).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type de cannabis est le plus fortement associé au risque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à haute teneur en THC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à haute teneur en CBD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thérapeutique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types à égalité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à haute teneur en THC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cannabis à haute teneur en THC est le plus fortement associé au risque de psychose et de schizophrénie.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moment de la vie les traumatismes augmentent-ils le plus le risque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 l'enfance et l'adolescence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l'âge adulte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 la grossesse de la mère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naissance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 l'enfance et l'adolescence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traumatismes survenant durant l'enfance et l'adolescence (période de développement cérébral) augmentent le plus le risque.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terme désigne la période entre l'apparition des premiers symptômes et l'instauration du traitement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(Duration of Untreated Psychosis)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(Durée Unique de Psychose)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(Temps Avant Prise en charge)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 (Intervalle Pre-Traitement)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(Duration of Untreated Psychosis)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= Duration of Untreated Psychosis, délai entre premiers symptômes psychotiques et début du traitement.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milieu urbain est-il un facteur de risque pour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de facteurs : stress social, isolement, substances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atmosphérique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réduit aux soins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chronique seul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de facteurs : stress social, isolement, substances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milieu urbain cumule plusieurs facteurs : stress social, isolement relatif, densité de population, et exposition à des substances.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ESSMS accompagnant des personnes atteintes de schizophrénie, quelle surveillance est prioritaire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métabolique et prévention du risque suicidaire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neurologique annuel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Dépistage auditif annuel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la vue uniquement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métabolique et prévention du risque suicidaire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syndrome métabolique (41,3 %) et le risque suicidaire (5-13 %) sont les priorités de surveillance en ESSMS.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des symptômes 'positifs'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Ajouts pathologiques à l'expérience normale (hallucinations, délires)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du fonctionnement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adaptatifs renforcés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sociales accrues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Ajouts pathologiques à l'expérience normale (hallucinations, délires)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positifs représentent des ajouts à l'expérience normale : hallucinations, idées délirantes, désorganisation.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modalité d'hallucination est la plus fréquente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auditives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visuelles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tactiles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olfactives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auditives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hallucinations auditives (voix, bruits) sont de loin les plus fréquentes dans la schizophrénie.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l'anhédonie dans le cadre des symptômes négatifs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la capacité à ressentir du plaisir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agréables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Pensées intrusives positives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excessivement joyeux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la capacité à ressentir du plaisir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L'anhédonie est la réduction ou l'absence de la capacité à ressentir du plaisir, un symptôme négatif central.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l'alogie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Appauvrissement du discours et du contenu de pensée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langage due à une atteinte neurologique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de la mémoire des mots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parler par opposition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Appauvrissement du discours et du contenu de pensée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L'alogie est un symptôme négatif caractérisé par l'appauvrissement du discours et de la pensée.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l'aboulie dans le contexte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la motivation à initier des activités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Peur excessive de l'avenir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Agitation incontrôlable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de l'équilibre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la motivation à initier des activités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L'aboulie est un déficit de la motivation qui empêche d'initier et de maintenir des activités orientées vers un but.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cognitifs de la schizophrénie concernent principalement quel domaine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travail, attention, fonctions exécutives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procédurale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générale (QI)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autobiographique ancienne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travail, attention, fonctions exécutives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déficits cognitifs touchent principalement la mémoire de travail, l'attention, la vitesse de traitement et les fonctions exécutives.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comportement catatonique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Immobilité ou agitation motrice extrême, postures rigides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répétitif adapté à la situation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impulsif lié à l'anxiété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Tics moteurs involontaires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Immobilité ou agitation motrice extrême, postures rigides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catatonie se manifeste par une immobilité motrice, des postures rigides, un négativisme ou une agitation extrême.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les symptômes négatifs primaires et secondaires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Primaires : inhérents à la maladie ; secondaires : liés aux traitements ou dépression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Primaires : moins graves ; secondaires : plus invalidants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Primaires : apparus après ; secondaires : apparus avant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distinction clinique reconnue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Primaires : inhérents à la maladie ; secondaires : liés aux traitements ou dépression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négatifs primaires sont intrinsèques à la maladie ; les secondaires résultent des antipsychotiques, de la dépression ou de l'environnement.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association de symptômes est la plus caractéristique d'un épisode psychotique aigu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auditives + idées délirantes + désorganisation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 + anhédonie + insomnie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Anxiété + agitation + compulsions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Apathie + alogie + isolement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auditives + idées délirantes + désorganisation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L'épisode psychotique aigu associe classiquement hallucinations auditives, idées délirantes et désorganisation formelle de la pensée.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Qu'entend-on par 'désorganisation formelle de la pensée'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dans la logique du discours, coq-à-l'âne, néologismes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Pensées trop rapides et organisées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Pensées trop lentes et cohérentes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totale de pensées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dans la logique du discours, coq-à-l'âne, néologismes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désorganisation formelle de la pensée se manifeste par une incohérence du discours, des digressions, des coq-à-l'âne.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schizophrénie affecte-t-elle le fonctionnement social des personnes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social, difficultés relationnelles, perte d'emploi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Hyperactivité sociale compensatoire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des relations intimes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atteinte du fonctionnement social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social, difficultés relationnelles, perte d'emploi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altère significativement le fonctionnement social : retrait, difficultés relationnelles, perte d'emploi, isolement.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dimension de l'affect est souvent altérée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émotionnelle aplatie ou inappropriée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émotionnelle exacerbée à tout stimulus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Incapacité totale à reconnaître les émotions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Hypersensibilité aux émotions positives uniquement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émotionnelle aplatie ou inappropriée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 peut être émoussé (peu d'expression) ou inapproprié (décalé par rapport à la situation).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standardisé évalue les symptômes positifs, négatifs et généraux de la schizophrénie (30 items)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 (Positive and Negative Syndrome Scale)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GHQ-28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 (Positive and Negative Syndrome Scale)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PANSS évalue 30 items couvrant les symptômes positifs, négatifs et la psychopathologie générale.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l'acronyme BNSS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Negative Symptom Scale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Neuropsychological Screening Scale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Neurological Symptom Score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Negative Symptom Survey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Negative Symptom Scale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 = Brief Negative Symptom Scale, outil validé pour l'évaluation précise des symptômes négatifs.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 la CAINS dans l'évaluation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symptômes négatifs (motivation et plaisir)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symptômes positifs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risque suicidaire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fonctions cognitives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symptômes négatifs (motivation et plaisir)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CAINS (Clinical Assessment Interview for Negative Symptoms) évalue spécifiquement la motivation et le plaisir.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d'entretien structuré est recommandé pour le diagnostic selon le DSM-5-TR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(Mini International Neuropsychiatric Interview)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(Mini International Neuropsychiatric Interview)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 est un entretien structuré validé pour le diagnostic selon le DSM-5-TR et la CIM-11.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mesure le niveau global de fonctionnement en psychiatrie (score de 0 à 100)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 (Échelle Globale de Fonctionnement)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 (Échelle Globale de Fonctionnement)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L'EGF cote sur 100 le niveau de fonctionnement global de la personne (psychologique, social, professionnel).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Qu'évalue la PSP (Personal and Social Performance scale)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personnelles et sociales dans 4 domaines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positifs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de rechute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L'efficacité du traitement médicamenteux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personnelles et sociales dans 4 domaines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PSP évalue le fonctionnement dans 4 domaines : activités sociales, relations personnelles, auto-soins, comportements perturbateurs.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de l'outil STORI dans le cadre du rétablissement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les stades de rétablissement personnel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symptômes positifs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dose optimale d'antipsychotiques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l'insight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les stades de rétablissement personnel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STORI (Stages of Recovery Instrument) identifie le stade de rétablissement de la personne (moratoire → croissance).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 la SERS dans l'évaluation des personnes en rétablissement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L'estime de soi et le sentiment d'efficacité personnelle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de résistance au traitement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sévérité des hallucinations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compliance médicamenteuse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L'estime de soi et le sentiment d'efficacité personnelle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SERS (Self Esteem Rating Scale) mesure l'estime de soi, un indicateur du rétablissement psychosocial.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l'ISMI et à quoi sert cet outil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Internalized Stigma of Mental Illness — mesure la stigmatisation intériorisée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Scale for Mental Illness — classification diagnostique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 Sévérité des Maladies Mentales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Suivi des Médicaments Injectables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Internalized Stigma of Mental Illness — mesure la stigmatisation intériorisée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L'ISMI mesure la stigmatisation intériorisée, indicateur clé pour le rétablissement identitaire.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permet à la personne elle-même d'évaluer sa qualité de vie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ELADEB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ELADEB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L'ELADEB est un outil d'auto-évaluation permettant la parole de la personne sur sa propre qualité de vie.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 le mini-Zarit dans le contexte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fardeau des proches aidants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fatigue des professionnels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effets secondaires des traitements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compliance du patient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fardeau des proches aidants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mini-Zarit évalue le fardeau ressenti par les proches aidants de personnes atteintes de schizophrénie.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la résilience et les ressources des aidants familiaux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(échelle de résilience familiale)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(échelle de résilience familiale)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mesure les forces et la résilience du système familial autour de la personne accompagnée.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Qu'évalue la CGI (Clinical Global Impression)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L'impression clinique globale sur la sévérité et l'amélioration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critères diagnostiques du DSM-5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de fonctionnement social uniquement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compliance médicamenteuse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L'impression clinique globale sur la sévérité et l'amélioration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CGI évalue l'impression clinique globale : sévérité de la maladie (CGI-S) et amélioration depuis le traitement (CGI-I).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spécifiquement les symptômes positifs selon une grille structurée (hallucinations, délires)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SAPS (Scale for the Assessment of Positive Symptoms)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SAPS (Scale for the Assessment of Positive Symptoms)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SAPS évalue de façon structurée les hallucinations, délires, troubles formels de la pensée et comportements bizarres.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spécifiquement les symptômes négatifs selon la classification d'Andreasen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(Scale for the Assessment of Negative Symptoms)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(Scale for the Assessment of Negative Symptoms)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SANS évalue : alogie, anhédonie, avolition, affect émoussé, inattention.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classification diagnostique internationale est recommandée en Europe et citée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CIM-11 (Classification Internationale des Maladies, 11e révision)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CCMD-3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ICD-9</a:t>
            </a:r>
            <a:endParaRPr 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CIM-11 (Classification Internationale des Maladies, 11e révision)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CIM-11 (OMS) est la classification internationale utilisée en Europe, aux côtés du DSM-5-TR en recherche.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FLII-11 est associé à quel outil dans la note de cadrage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MINI pour le diagnostic selon la CIM-11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PANSS pour les symptômes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l'EGF pour le fonctionnement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PSP pour l'évaluation sociale</a:t>
            </a:r>
            <a:endParaRPr 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MINI pour le diagnostic selon la CIM-11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FLII-11 est mentionné avec le MINI comme outil d'entretien structuré pour le diagnostic selon la CIM-11.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cas l'utilisation d'une batterie standardisée est-elle particulièrement recommandée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l'élaboration et révision du projet personnalisé d'accompagnement (PPA)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lors des épisodes aigus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Exclusivement lors des évaluations ARS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l'admission uniquement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l'élaboration et révision du projet personnalisé d'accompagnement (PPA)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d'évaluation standardisés doivent alimenter le PPA à son élaboration et lors de ses révisions annuelles.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5 stades du rétablissement identifiés par le STORI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Moratoire, sensibilisation, préparation, reconstruction, croissance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Déni, colère, marchandage, dépression, acceptation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Crise, stabilisation, réhabilitation, intégration, autonomie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Choc, réaction, mobilisation, intégration, adaptation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Moratoire, sensibilisation, préparation, reconstruction, croissance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STORI identifie 5 stades : moratoire (espoir absent), sensibilisation, préparation, reconstruction (identité), croissance.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sont les 4 dimensions du rétablissement selon le modèle de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Espoir, identité positive, sens de la vie, responsabilité personnelle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Médication, hospitalisation, réhabilitation, autonomie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Symptômes, insight, compliance, socialisation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Logement, emploi, famille, soins</a:t>
            </a:r>
            <a:endParaRPr lang="en-US" sz="1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Espoir, identité positive, sens de la vie, responsabilité personnelle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s'appuie sur : espoir, construction d'une identité positive, sens donné à l'expérience, et prise de responsabilité personnelle.</a:t>
            </a:r>
            <a:endParaRPr 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l'insight en psychiatrie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conscience qu'a la personne d'être malade et de ses symptômes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résoudre des problèmes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émotionnelle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connaissance des traitements disponibles</a:t>
            </a:r>
            <a:endParaRPr 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conscience qu'a la personne d'être malade et de ses symptômes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L'insight est la conscience de la maladie et de ses symptômes par la personne elle-même. Son déficit (anosognosie) complique l'adhésion au traitement.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est recommandée pour les personnes présentant une anosognosie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avec l'entourage et alliance thérapeutique progressive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Forcer la prise de médicaments sans explication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l'absence d'insight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les hospitalisations sans consentement</a:t>
            </a:r>
            <a:endParaRPr lang="en-US" sz="14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avec l'entourage et alliance thérapeutique progressive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L'anosognosie requiert un travail relationnel progressif, l'implication de l'entourage et une alliance thérapeutique patiente.</a:t>
            </a:r>
            <a:endParaRPr 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l'importance du PPA pour les personnes atteintes de schizophrénie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intègre les outils d'évaluation standardisés et soutient le rétablissement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 limite à la gestion des médicaments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remplace le suivi psychiatrique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réservé aux personnes en rémission complète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intègre les outils d'évaluation standardisés et soutient le rétablissement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doit intégrer les évaluations standardisées et les objectifs de rétablissement (espoir, identité, sens, responsabilité).</a:t>
            </a:r>
            <a:endParaRPr lang="en-US" sz="1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ESSMS peuvent-ils soutenir le rétablissement des personnes atteintes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signifiantes, pair-aidance, habitat adapté, lien social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médicale exclusive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des sorties pour la sécurité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systématique de médicaments injectables</a:t>
            </a:r>
            <a:endParaRPr lang="en-US" sz="1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signifiantes, pair-aidance, habitat adapté, lien social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passe par des activités signifiantes, la pair-aidance, un habitat adapté et le maintien du lien social.</a:t>
            </a:r>
            <a:endParaRPr lang="en-US" sz="1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pair-aidance dans le contexte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par des personnes ayant elles-mêmes vécu la maladie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apportée par deux professionnels en binôme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entre proches aidants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animés par des infirmières</a:t>
            </a:r>
            <a:endParaRPr lang="en-US" sz="14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par des personnes ayant elles-mêmes vécu la maladie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pair-aidance mobilise des personnes ayant vécu la maladie comme soutien et modèle d'espoir.</a:t>
            </a:r>
            <a:endParaRPr 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l'UNAFAM dans le contexte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nationale de familles — source de données épidémiologiques et de plaidoyer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hospitalière spécialisée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gouvernementale de soins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de formation des psychiatres</a:t>
            </a:r>
            <a:endParaRPr lang="en-US" sz="14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nationale de familles — source de données épidémiologiques et de plaidoyer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L'UNAFAM est l'union nationale de familles et amis de personnes malades psychiques, ayant fourni des données d'enquête citées dans la note HAS.</a:t>
            </a:r>
            <a:endParaRPr lang="en-US" sz="1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réduction de la stigmatisation est-elle un enjeu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intériorisée freine le rétablissement et l'accès aux soins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n'a pas d'impact sur le rétablissement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aide à distinguer les patients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est uniquement un problème social extérieur</a:t>
            </a:r>
            <a:endParaRPr lang="en-US" sz="14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intériorisée freine le rétablissement et l'accès aux soins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intériorisée (mesurée par l'ISMI) réduit l'estime de soi, freine la demande de soins et compromet le rétablissement.</a:t>
            </a:r>
            <a:endParaRPr 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du rétablissement selon l'approche orientée rétablissement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personnel de vie satisfaisante malgré les symptômes persistants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totale de symptômes psychiatriques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fonctionnement pré-morbide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des médicaments avec stabilisation</a:t>
            </a:r>
            <a:endParaRPr lang="en-US" sz="1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personnel de vie satisfaisante malgré les symptômes persistants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est un processus personnel permettant de vivre une vie satisfaisante et digne malgré les symptômes.</a:t>
            </a:r>
            <a:endParaRPr lang="en-US" sz="14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professionnels d'ESSMS peuvent-ils soutenir l'estime de soi des personnes atteintes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compétences, les réussites, les projets personnels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avant la maladie et les limitations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toute prise de décision autonome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responsabilités pour préserver la personne</a:t>
            </a:r>
            <a:endParaRPr lang="en-US" sz="14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compétences, les réussites, les projets personnels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compétences et les petites réussites quotidiennes renforce l'estime de soi (SERS) et soutient le rétablissement.</a:t>
            </a:r>
            <a:endParaRPr lang="en-US" sz="1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réglementaire garantit le droit des personnes à participer à l'élaboration de leur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 rénovant l'action sociale et médico-sociale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Léonetti de 2005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de 1838 sur l'aliénation mentale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NOTRe de 2015</a:t>
            </a:r>
            <a:endParaRPr lang="en-US" sz="14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 rénovant l'action sociale et médico-sociale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2002-2 garantit le droit des personnes à participer à l'élaboration de leur projet personnalisé d'accompagnement.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RBPP et quel est son statut réglementaire pour les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Bonnes Pratiques Professionnelles — opposable lors des évaluations HAS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Budgétaire et de Pratiques — obligatoire sous peine de sanction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 Base Pédagogique — indicatif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Pharmaceutiques — réservé aux médecins</a:t>
            </a:r>
            <a:endParaRPr lang="en-US" sz="14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Bonnes Pratiques Professionnelles — opposable lors des évaluations HAS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RBPP sont des recommandations opposables lors des évaluations HAS des ESSMS depuis la réforme 2021-2022.</a:t>
            </a:r>
            <a:endParaRPr lang="en-US" sz="1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d'adoption de la note de cadrage HAS sur les troubles schizophréniques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avril 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avril 2025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janvier 2026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avril 2024</a:t>
            </a:r>
            <a:endParaRPr lang="en-US" sz="14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avril 2026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sur le diagnostic et l'évaluation des troubles schizophréniques a été adoptée le 8 avril 2026.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limite prévue pour la réception des commentaires (consultation publique)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 2027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2028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2027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précise une date limite de fin novembre 2027 pour la réception des commentaires.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principal de la note de cadrage HAS sur les troubles schizophréniques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la future RBPP — définir le périmètre et les questions clés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immédiatement les pratiques actuelles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 protocole de traitement médicamenteux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Réglementer le financement des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la future RBPP — définir le périmètre et les questions clés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définit le périmètre de la future recommandation, les questions clés et la méthode retenue.</a:t>
            </a:r>
            <a:endParaRPr lang="en-US" sz="14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organisme produit les RBPP destinées aux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(Haute Autorité de Santé)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</a:t>
            </a:r>
            <a:endParaRPr lang="en-US" sz="14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(Haute Autorité de Santé)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RBPP sont produites par la HAS depuis 2018, qui a repris cette mission de l'ANESM.</a:t>
            </a:r>
            <a:endParaRPr lang="en-US" sz="1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ESSMS doivent-ils s'approprier une note de cadrage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dès maintenant l'évolution des pratiques avant la RBPP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la publication de la RBPP pour agir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notes de cadrage car non opposables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immédiatement la note comme si c'était une RBPP</a:t>
            </a:r>
            <a:endParaRPr lang="en-US" sz="14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dès maintenant l'évolution des pratiques avant la RBPP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permet d'anticiper les évolutions et de préparer les équipes avant la publication officielle de la RBPP.</a:t>
            </a:r>
            <a:endParaRPr lang="en-US" sz="14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enjeu SERAFIN-PH 2027 est particulièrement pertinent pour les ESSMS accompagnant des personnes atteintes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besoins individuels fondée sur des outils standardisés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automatique des dotations financières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projets personnalisés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compétences aux ARS</a:t>
            </a:r>
            <a:endParaRPr lang="en-US" sz="14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besoins individuels fondée sur des outils standardisés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SERAFIN-PH exige une évaluation fine des besoins individuels — les outils PSP, EGF, ELADEB s'inscrivent directement dans cette logique.</a:t>
            </a:r>
            <a:endParaRPr lang="en-US" sz="14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l'évaluation HAS des ESSMS, quels éléments liés à la schizophrénie sont examinés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RBPP, qualité des PPA, respect des droits, protocoles de crise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résultats des bilans médicaux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d'hospitalisations évitées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compliance médicamenteuse des résidents</a:t>
            </a:r>
            <a:endParaRPr lang="en-US" sz="14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RBPP, qualité des PPA, respect des droits, protocoles de crise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HAS examine l'application des RBPP, la qualité des PPA, le respect des droits et les protocoles de prévention.</a:t>
            </a:r>
            <a:endParaRPr lang="en-US" sz="14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encadre les soins psychiatriques sans consentement en France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du 5 juillet 2011 modifiée en 2013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Jardé de 2012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 déontologie médicale</a:t>
            </a:r>
            <a:endParaRPr lang="en-US" sz="14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du 5 juillet 2011 modifiée en 2013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5 juillet 2011 (modifiée en 2013) encadre les soins psychiatriques sans consentement : SPDT, SPDRE.</a:t>
            </a:r>
            <a:endParaRPr lang="en-US" sz="14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du CASF vis-à-vis des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législatif organisant les droits des personnes et les obligations des établissements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applicable uniquement aux services financiers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réservée aux établissements hospitaliers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pédagogique non contraignant</a:t>
            </a:r>
            <a:endParaRPr lang="en-US" sz="14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législatif organisant les droits des personnes et les obligations des établissements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CASF est le code de référence pour les ESSMS : droits des personnes, obligations des structures, autorisation, évaluation.</a:t>
            </a:r>
            <a:endParaRPr lang="en-US" sz="14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responsabilité du chef de service éducatif face à une note de cadrage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 l'équipe, anticiper les besoins en formation, adapter les pratiques dans les PPA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rien changer car ce n'est pas encore une RBPP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uniquement à la direction sans suite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immédiatement tous les outils cités</a:t>
            </a:r>
            <a:endParaRPr lang="en-US" sz="14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 l'équipe, anticiper les besoins en formation, adapter les pratiques dans les PPA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de service doit informer l'équipe, identifier les besoins de formation et adapter progressivement les pratiques.</a:t>
            </a:r>
            <a:endParaRPr lang="en-US" sz="14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traitement médicamenteux est la pierre angulaire du traitement de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antipsychotiques (neuroleptiques)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anxiolytiques benzodiazépines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antidépresseurs ISRS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thymorégulateurs</a:t>
            </a:r>
            <a:endParaRPr lang="en-US" sz="14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antipsychotiques (neuroleptiques)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antipsychotiques sont le traitement de référence de la schizophrénie, agissant principalement sur les récepteurs dopaminergiques.</a:t>
            </a:r>
            <a:endParaRPr lang="en-US" sz="14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traitement antipsychotique de longue action (TALA)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retard mensuelle ou bimestrielle évitant les oublis de comprimés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oral pris une fois par semaine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Perfusion intraveineuse quotidienne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cutané renouvelé chaque jour</a:t>
            </a:r>
            <a:endParaRPr lang="en-US" sz="14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retard mensuelle ou bimestrielle évitant les oublis de comprimés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TALA (injectables retard) évitent les oublis de traitement oral, améliorant l'observance et réduisant les rechutes.</a:t>
            </a:r>
            <a:endParaRPr lang="en-US" sz="14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critère définit la résistance thérapeutique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symptômes malgré deux essais d'antipsychotiques bien conduits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prendre les médicaments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Intolérance aux effets secondaires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Impossibilité de prendre des médicaments oraux</a:t>
            </a:r>
            <a:endParaRPr lang="en-US" sz="14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symptômes malgré deux essais d'antipsychotiques bien conduits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résistance est définie par la persistance des symptômes malgré au moins deux essais d'antipsychotiques à doses adéquates.</a:t>
            </a:r>
            <a:endParaRPr lang="en-US" sz="14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médicament est recommandé en cas de résistance thérapeutique avérée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clozapine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rispéridone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L'halopéridol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quetiapine</a:t>
            </a:r>
            <a:endParaRPr lang="en-US" sz="14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clozapine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clozapine est le seul antipsychotique ayant prouvé son efficacité dans les schizophrénies résistantes, mais nécessite une surveillance hématologique.</a:t>
            </a:r>
            <a:endParaRPr lang="en-US" sz="14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approches non médicamenteuses sont recommandées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Remédiation cognitive, psychoéducation, TCC, entraînement aux habiletés sociales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Hypnose seule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sensoriel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alimentaires spécifiques uniquement</a:t>
            </a:r>
            <a:endParaRPr lang="en-US" sz="14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Remédiation cognitive, psychoéducation, TCC, entraînement aux habiletés sociales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interventions non médicamenteuses incluent : remédiation cognitive, psychoéducation, TCC, entraînement aux habiletés sociales.</a:t>
            </a:r>
            <a:endParaRPr lang="en-US" sz="14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psychoéducation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structuré d'information de la personne et de ses proches sur la maladie et les traitements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professionnels en psychiatrie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scolaire adapté aux personnes malades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relaxation</a:t>
            </a:r>
            <a:endParaRPr lang="en-US" sz="14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structuré d'information de la personne et de ses proches sur la maladie et les traitements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psychoéducation permet à la personne et ses proches de mieux comprendre la maladie, ses traitements et de gérer les symptômes.</a:t>
            </a:r>
            <a:endParaRPr lang="en-US" sz="14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remédiation cognitive dans la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Rééducation des fonctions cognitives affectées (mémoire, attention, fonctions exécutives)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médicaments cognitifs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chirurgical des troubles cognitifs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de techniques de mémorisation uniquement</a:t>
            </a:r>
            <a:endParaRPr lang="en-US" sz="14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Rééducation des fonctions cognitives affectées (mémoire, attention, fonctions exécutives)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remédiation cognitive est une intervention structurée visant à améliorer les performances cognitives par des exercices répétés.</a:t>
            </a:r>
            <a:endParaRPr lang="en-US" sz="14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des professionnels ESSMS dans le suivi médicamenteux des résidents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la prise, signaler les oublis et effets secondaires, ne pas modifier les prescriptions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doses selon l'état de la personne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le traitement si la personne va mieux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psychiatre dans les décisions médicales</a:t>
            </a:r>
            <a:endParaRPr lang="en-US" sz="14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la prise, signaler les oublis et effets secondaires, ne pas modifier les prescriptions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ESSMS observent la prise, signalent oublis et effets secondaires, mais ne modifient jamais les prescriptions.</a:t>
            </a:r>
            <a:endParaRPr lang="en-US" sz="14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signes doivent alerter sur une décompensation imminente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Insomnie, irritabilité, retrait social, discours incohérent, comportements inhabituels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soudaine de l'humeur uniquement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 l'appétit seule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signe précurseur identifiable</a:t>
            </a:r>
            <a:endParaRPr lang="en-US" sz="14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Insomnie, irritabilité, retrait social, discours incohérent, comportements inhabituels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signes précurseurs de décompensation incluent : insomnie, irritabilité, retrait, discours incohérent, comportements inhabituels.</a:t>
            </a:r>
            <a:endParaRPr lang="en-US" sz="14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continuité des soins psychiatriques est-elle cruciale pour les personnes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ruptures de soins augmentent le risque de rechute et d'hospitalisation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continuité des soins est uniquement un confort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rechutes sont sans danger si brèves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médication est facultative en période de stabilité</a:t>
            </a:r>
            <a:endParaRPr lang="en-US" sz="14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ruptures de soins augmentent le risque de rechute et d'hospitalisation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ruptures de soins sont la principale cause de rechute et d'hospitalisation psychiatrique. La continuité du lien thérapeutique est protectrice.</a:t>
            </a:r>
            <a:endParaRPr lang="en-US" sz="14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résident présente soudainement un discours incohérent et affirme entendre des voix. Quelle est la première étape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le psychiatre référent et sécuriser l'environnement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Administrer des médicaments de la dotation de garde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en AGEVAL et attendre la réunion d'équipe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directement le SAMU</a:t>
            </a:r>
            <a:endParaRPr lang="en-US" sz="14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le psychiatre référent et sécuriser l'environnement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étape est de contacter le psychiatre référent pour évaluation et de sécuriser l'environnement. L'AGEVAL sera rempli ensuite.</a:t>
            </a:r>
            <a:endParaRPr lang="en-US" sz="1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professionnel remarque qu'un résident se retire progressivement des activités et cesse de s'alimenter. À quoi pense-t-on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Exacerbation des symptômes négatifs ou début de décompensation — alerter l'équipe soignante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mauvaise humeur passagère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changer d'activités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d'intégration au groupe</a:t>
            </a:r>
            <a:endParaRPr lang="en-US" sz="14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Exacerbation des symptômes négatifs ou début de décompensation — alerter l'équipe soignante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retrait progressif et l'anorexie peuvent signaler une exacerbation des symptômes négatifs ou une décompensation imminente.</a:t>
            </a:r>
            <a:endParaRPr lang="en-US" sz="14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utiliser la PSP lors de la révision annuelle du PPA d'un résident atteint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Coter les 4 domaines avec la personne et l'équipe, objectiver les progrès et fixer des objectifs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compléter par la personne seule sans guidance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L'utiliser uniquement en cas de crise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réserver au psychiatre lors des consultations</a:t>
            </a:r>
            <a:endParaRPr lang="en-US" sz="14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Coter les 4 domaines avec la personne et l'équipe, objectiver les progrès et fixer des objectifs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PSP se cote en impliquant la personne et l'équipe, permettant d'objectiver les évolutions et de coconstruire les objectifs du PPA.</a:t>
            </a:r>
            <a:endParaRPr lang="en-US" sz="14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aidant familial exprime un épuisement lors d'un entretien. Quel outil peut être proposé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mini-Zarit (fardeau) et SCORE (résilience familiale)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PANSS (symptômes du proche)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 (fonctionnement du proche)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 (rétablissement de l'aidant)</a:t>
            </a:r>
            <a:endParaRPr lang="en-US" sz="14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mini-Zarit (fardeau) et SCORE (résilience familiale)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mini-Zarit évalue le fardeau, le SCORE évalue la résilience familiale. Les deux orientent les soutiens à mettre en place.</a:t>
            </a:r>
            <a:endParaRPr lang="en-US" sz="14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95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adapter la communication avec une personne présentant des symptômes cognitifs importants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courtes, une consigne à la fois, répétition, supports visuels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 rapide pour maintenir l'attention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uniquement par écrit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tout contact et laisser la personne seule</a:t>
            </a:r>
            <a:endParaRPr lang="en-US" sz="14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95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courtes, une consigne à la fois, répétition, supports visuels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déficits cognitifs requièrent une communication adaptée : phrases courtes, consignes simples et répétées, supports visuels.</a:t>
            </a:r>
            <a:endParaRPr lang="en-US" sz="14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96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un refus de traitement médicamenteux d'un résident, quelle posture adopter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raisons du refus, dialoguer avec le psychiatre, soutenir l'alliance thérapeutique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Forcer l'administration sans explication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 refus et ne pas le signaler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immédiatement les forces de l'ordre</a:t>
            </a:r>
            <a:endParaRPr lang="en-US" sz="14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96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raisons du refus, dialoguer avec le psychiatre, soutenir l'alliance thérapeutique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de traitement nécessite une écoute des raisons, un dialogue avec le psychiatre référent et un travail sur l'alliance thérapeutique.</a:t>
            </a:r>
            <a:endParaRPr lang="en-US" sz="14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97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poids et le tour de taille d'un résident atteint de schizophrénie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syndrome métabolique (41,3 %) lié aux antipsychotiques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réglementaire sans lien avec la maladie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 la dénutrition uniquement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d'admission à l'ALD</a:t>
            </a:r>
            <a:endParaRPr lang="en-US" sz="14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97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syndrome métabolique (41,3 %) lié aux antipsychotiques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antipsychotiques favorisent le syndrome métabolique. La surveillance du poids et du tour de taille fait partie du suivi somatique recommandé.</a:t>
            </a:r>
            <a:endParaRPr lang="en-US" sz="14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98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intégrer la notion de rétablissement dans les activités quotidiennes d'un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signifiantes choisies par la personne, valorisation des compétences, soutien aux projets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Imposer un programme d'activités standardisé à tous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activités pour éviter les échecs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les activités aux personnes en rémission totale</a:t>
            </a:r>
            <a:endParaRPr lang="en-US" sz="14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98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signifiantes choisies par la personne, valorisation des compétences, soutien aux projets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se soutient en laissant la personne choisir des activités signifiantes, en valorisant ses compétences et en accompagnant ses projets.</a:t>
            </a:r>
            <a:endParaRPr lang="en-US" sz="14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99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ESSMS est le plus directement impacté par les outils d'évaluation recommandés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d'Accompagnement (PPA)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règlement de fonctionnement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d'activité annuel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budget prévisionnel</a:t>
            </a:r>
            <a:endParaRPr lang="en-US" sz="14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99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d'Accompagnement (PPA)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est l'outil central qui doit intégrer les évaluations standardisées (PSP, EGF, ELADEB, STORI...) pour personnaliser l'accompagnement.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" y="201168"/>
            <a:ext cx="1022299" cy="1022299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506" y="201168"/>
            <a:ext cx="1022299" cy="2734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506" y="475488"/>
            <a:ext cx="1022299" cy="719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346" y="183794"/>
            <a:ext cx="19796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100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83794"/>
            <a:ext cx="10439705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l'autodétermination (RBPP HAS), quel principe doit guider l'accompagnement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506" y="1864462"/>
            <a:ext cx="11861597" cy="2834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645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645"/>
            <a:ext cx="72238" cy="117683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1" y="2131466"/>
            <a:ext cx="640994" cy="64099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1" y="2131466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9" y="2029968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les choix même imparfaits, accompagner dans les risques calculés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315376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766"/>
            <a:ext cx="72238" cy="117683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1" y="3326587"/>
            <a:ext cx="640994" cy="64099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1" y="3326587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669" y="3225089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toutes les décisions à sa place pour la protéger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348886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86"/>
            <a:ext cx="72238" cy="11768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61" y="4521708"/>
            <a:ext cx="640994" cy="64099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1" y="4521708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669" y="442021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ses sorties et ses contacts sociaux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544007"/>
            <a:ext cx="12193524" cy="1176833"/>
          </a:xfrm>
          <a:prstGeom prst="rect">
            <a:avLst/>
          </a:prstGeom>
          <a:solidFill>
            <a:srgbClr val="1418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7"/>
            <a:ext cx="72238" cy="117683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1" y="5716829"/>
            <a:ext cx="640994" cy="64099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1" y="5716829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669" y="5615330"/>
            <a:ext cx="10980115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l'informer de son diagnostic pour éviter la stigmatisation</a:t>
            </a:r>
            <a:endParaRPr lang="en-US" sz="14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3794"/>
            <a:ext cx="546811" cy="546811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3794"/>
            <a:ext cx="546811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4011" y="237744"/>
            <a:ext cx="5400446" cy="323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237744"/>
            <a:ext cx="144018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100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19633"/>
            <a:ext cx="11879885" cy="1079906"/>
          </a:xfrm>
          <a:prstGeom prst="rect">
            <a:avLst/>
          </a:prstGeom>
          <a:solidFill>
            <a:srgbClr val="1E0A45"/>
          </a:solidFill>
          <a:ln w="12700">
            <a:solidFill>
              <a:srgbClr val="1E0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19633"/>
            <a:ext cx="53950" cy="107990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1" y="899770"/>
            <a:ext cx="640994" cy="64099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1" y="899770"/>
            <a:ext cx="640994" cy="640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773582"/>
            <a:ext cx="10799978" cy="972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les choix même imparfaits, accompagner dans les risques calculés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1" y="1944014"/>
            <a:ext cx="288036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232050"/>
            <a:ext cx="11879885" cy="4388206"/>
          </a:xfrm>
          <a:prstGeom prst="rect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232050"/>
            <a:ext cx="53950" cy="438820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" y="2304288"/>
            <a:ext cx="11556187" cy="428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(RBPP HAS 2022) implique de respecter les choix de la personne et de l'accompagner dans des prises de risques calculées et consenties.</a:t>
            </a:r>
            <a:endParaRPr lang="en-US" sz="14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524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3524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47488" y="1188720"/>
            <a:ext cx="2103120" cy="21031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47488" y="11887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terminé 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questions — Note de cadrage HAS · Troubles schizophréniques · 8 avril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B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Synapse Violet · 26 avril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202</Slides>
  <Notes>202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202</vt:i4>
      </vt:variant>
    </vt:vector>
  </HeadingPairs>
  <TitlesOfParts>
    <vt:vector size="2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2026-04-26T14:57:34Z</dcterms:created>
  <dcterms:modified xsi:type="dcterms:W3CDTF">2026-04-26T14:57:34Z</dcterms:modified>
</cp:coreProperties>
</file>